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Retail interior / coordinated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Design intent, measured geometry and assembly strategies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pic>
        <p:nvPicPr>
          <p:cNvPr id="20" name="Picture 19" descr="born-fragrance-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000" y="1944000"/>
            <a:ext cx="8930854" cy="7812000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3060000" y="10080000"/>
            <a:ext cx="90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REFERENCE RENDER · DESIGN INTENT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Overall plan / setting-out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Setting-out / coordinated interfaces · 1:20 · finish-face dimensions; site verification pending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315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6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0000" y="2887199"/>
            <a:ext cx="4500000" cy="900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EOM:internal-envelope"/>
          <p:cNvSpPr/>
          <p:nvPr/>
        </p:nvSpPr>
        <p:spPr>
          <a:xfrm>
            <a:off x="3240000" y="2977199"/>
            <a:ext cx="4320000" cy="5590800"/>
          </a:xfrm>
          <a:prstGeom prst="rect">
            <a:avLst/>
          </a:prstGeom>
          <a:solidFill>
            <a:srgbClr val="F5F1E9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240000" y="79416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240000" y="68580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240000" y="57744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240000" y="46908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240000" y="3607199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5400000" y="2977199"/>
            <a:ext cx="0" cy="5590801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324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24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24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324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711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11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711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711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324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5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9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8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364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53" name="Rectangle 52"/>
          <p:cNvSpPr/>
          <p:nvPr/>
        </p:nvSpPr>
        <p:spPr>
          <a:xfrm>
            <a:off x="715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751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373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5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GEOM:counter-plan"/>
          <p:cNvSpPr/>
          <p:nvPr/>
        </p:nvSpPr>
        <p:spPr>
          <a:xfrm>
            <a:off x="4500000" y="4687200"/>
            <a:ext cx="1800000" cy="810000"/>
          </a:xfrm>
          <a:prstGeom prst="rect">
            <a:avLst/>
          </a:prstGeom>
          <a:solidFill>
            <a:srgbClr val="D6CEC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36000" y="4723200"/>
            <a:ext cx="1728000" cy="738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4536000" y="4759200"/>
            <a:ext cx="1728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5400000" y="4374000"/>
            <a:ext cx="0" cy="1404000"/>
          </a:xfrm>
          <a:prstGeom prst="line">
            <a:avLst/>
          </a:prstGeom>
          <a:ln w="5715">
            <a:solidFill>
              <a:srgbClr val="737871"/>
            </a:solidFill>
            <a:prstDash val="dash"/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4057200" y="8568000"/>
            <a:ext cx="8784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4942800" y="8568000"/>
            <a:ext cx="18000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4057200" y="8546400"/>
            <a:ext cx="8784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4942800" y="8546400"/>
            <a:ext cx="18000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4942800" y="8488510"/>
            <a:ext cx="1951" cy="794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4944751" y="8409212"/>
            <a:ext cx="5849" cy="7929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950600" y="8330296"/>
            <a:ext cx="9734" cy="7891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960334" y="8251953"/>
            <a:ext cx="13593" cy="783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973927" y="8174372"/>
            <a:ext cx="17422" cy="7758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4991349" y="8097738"/>
            <a:ext cx="21207" cy="766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5012556" y="8022238"/>
            <a:ext cx="24942" cy="7550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5037498" y="7948052"/>
            <a:ext cx="28617" cy="7418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5066115" y="7875360"/>
            <a:ext cx="32222" cy="726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5098337" y="7804337"/>
            <a:ext cx="35750" cy="710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5134087" y="7735153"/>
            <a:ext cx="39192" cy="691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5173279" y="7667976"/>
            <a:ext cx="42540" cy="6717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5215819" y="7602967"/>
            <a:ext cx="45784" cy="6500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5261603" y="7540282"/>
            <a:ext cx="48920" cy="6268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5310523" y="7480074"/>
            <a:ext cx="51936" cy="6020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5362459" y="7422487"/>
            <a:ext cx="54828" cy="575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5417287" y="7367659"/>
            <a:ext cx="57587" cy="5482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5474874" y="7315723"/>
            <a:ext cx="60208" cy="5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5535082" y="7266803"/>
            <a:ext cx="62685" cy="489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5597767" y="7221019"/>
            <a:ext cx="65009" cy="457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5662776" y="7178479"/>
            <a:ext cx="67177" cy="4254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5729953" y="7139287"/>
            <a:ext cx="69184" cy="391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5799137" y="7103537"/>
            <a:ext cx="71023" cy="357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5870160" y="7071315"/>
            <a:ext cx="72692" cy="322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5942852" y="7042698"/>
            <a:ext cx="74186" cy="286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6017038" y="7017756"/>
            <a:ext cx="75500" cy="2494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1" name="Connector 100"/>
          <p:cNvCxnSpPr/>
          <p:nvPr/>
        </p:nvCxnSpPr>
        <p:spPr>
          <a:xfrm flipV="1">
            <a:off x="6092538" y="6996549"/>
            <a:ext cx="76634" cy="2120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6169172" y="6979127"/>
            <a:ext cx="77581" cy="174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3" name="Connector 102"/>
          <p:cNvCxnSpPr/>
          <p:nvPr/>
        </p:nvCxnSpPr>
        <p:spPr>
          <a:xfrm flipV="1">
            <a:off x="6246753" y="6965534"/>
            <a:ext cx="78343" cy="1359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6325096" y="6955800"/>
            <a:ext cx="78916" cy="97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5" name="Connector 104"/>
          <p:cNvCxnSpPr/>
          <p:nvPr/>
        </p:nvCxnSpPr>
        <p:spPr>
          <a:xfrm flipV="1">
            <a:off x="6404012" y="6949951"/>
            <a:ext cx="79298" cy="584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6483310" y="6948000"/>
            <a:ext cx="79490" cy="195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7" name="Connector 106"/>
          <p:cNvCxnSpPr/>
          <p:nvPr/>
        </p:nvCxnSpPr>
        <p:spPr>
          <a:xfrm flipH="1">
            <a:off x="6742583" y="8568000"/>
            <a:ext cx="217" cy="883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8" name="Connector 107"/>
          <p:cNvCxnSpPr/>
          <p:nvPr/>
        </p:nvCxnSpPr>
        <p:spPr>
          <a:xfrm flipH="1">
            <a:off x="6741933" y="8576832"/>
            <a:ext cx="650" cy="881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9" name="Connector 108"/>
          <p:cNvCxnSpPr/>
          <p:nvPr/>
        </p:nvCxnSpPr>
        <p:spPr>
          <a:xfrm flipH="1">
            <a:off x="6740851" y="8585643"/>
            <a:ext cx="1082" cy="876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0" name="Connector 109"/>
          <p:cNvCxnSpPr/>
          <p:nvPr/>
        </p:nvCxnSpPr>
        <p:spPr>
          <a:xfrm flipH="1">
            <a:off x="6739341" y="8594411"/>
            <a:ext cx="1510" cy="870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1" name="Connector 110"/>
          <p:cNvCxnSpPr/>
          <p:nvPr/>
        </p:nvCxnSpPr>
        <p:spPr>
          <a:xfrm flipH="1">
            <a:off x="6737405" y="8603116"/>
            <a:ext cx="1936" cy="86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2" name="Connector 111"/>
          <p:cNvCxnSpPr/>
          <p:nvPr/>
        </p:nvCxnSpPr>
        <p:spPr>
          <a:xfrm flipH="1">
            <a:off x="6735049" y="8611736"/>
            <a:ext cx="2356" cy="851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3" name="Connector 112"/>
          <p:cNvCxnSpPr/>
          <p:nvPr/>
        </p:nvCxnSpPr>
        <p:spPr>
          <a:xfrm flipH="1">
            <a:off x="6732277" y="8620251"/>
            <a:ext cx="2772" cy="838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4" name="Connector 113"/>
          <p:cNvCxnSpPr/>
          <p:nvPr/>
        </p:nvCxnSpPr>
        <p:spPr>
          <a:xfrm flipH="1">
            <a:off x="6729098" y="8628640"/>
            <a:ext cx="3179" cy="82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5" name="Connector 114"/>
          <p:cNvCxnSpPr/>
          <p:nvPr/>
        </p:nvCxnSpPr>
        <p:spPr>
          <a:xfrm flipH="1">
            <a:off x="6725518" y="8636883"/>
            <a:ext cx="3580" cy="807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6" name="Connector 115"/>
          <p:cNvCxnSpPr/>
          <p:nvPr/>
        </p:nvCxnSpPr>
        <p:spPr>
          <a:xfrm flipH="1">
            <a:off x="6721545" y="8644959"/>
            <a:ext cx="3973" cy="78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7" name="Connector 116"/>
          <p:cNvCxnSpPr/>
          <p:nvPr/>
        </p:nvCxnSpPr>
        <p:spPr>
          <a:xfrm flipH="1">
            <a:off x="6717191" y="8652851"/>
            <a:ext cx="4354" cy="76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8" name="Connector 117"/>
          <p:cNvCxnSpPr/>
          <p:nvPr/>
        </p:nvCxnSpPr>
        <p:spPr>
          <a:xfrm flipH="1">
            <a:off x="6712464" y="8660538"/>
            <a:ext cx="4727" cy="746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9" name="Connector 118"/>
          <p:cNvCxnSpPr/>
          <p:nvPr/>
        </p:nvCxnSpPr>
        <p:spPr>
          <a:xfrm flipH="1">
            <a:off x="6707377" y="8668002"/>
            <a:ext cx="5087" cy="72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0" name="Connector 119"/>
          <p:cNvCxnSpPr/>
          <p:nvPr/>
        </p:nvCxnSpPr>
        <p:spPr>
          <a:xfrm flipH="1">
            <a:off x="6701941" y="8675225"/>
            <a:ext cx="5436" cy="696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1" name="Connector 120"/>
          <p:cNvCxnSpPr/>
          <p:nvPr/>
        </p:nvCxnSpPr>
        <p:spPr>
          <a:xfrm flipH="1">
            <a:off x="6696171" y="8682190"/>
            <a:ext cx="5770" cy="66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2" name="Connector 121"/>
          <p:cNvCxnSpPr/>
          <p:nvPr/>
        </p:nvCxnSpPr>
        <p:spPr>
          <a:xfrm flipH="1">
            <a:off x="6690079" y="8688880"/>
            <a:ext cx="6092" cy="639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3" name="Connector 122"/>
          <p:cNvCxnSpPr/>
          <p:nvPr/>
        </p:nvCxnSpPr>
        <p:spPr>
          <a:xfrm flipH="1">
            <a:off x="6683680" y="8695279"/>
            <a:ext cx="6399" cy="60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4" name="Connector 123"/>
          <p:cNvCxnSpPr/>
          <p:nvPr/>
        </p:nvCxnSpPr>
        <p:spPr>
          <a:xfrm flipH="1">
            <a:off x="6676990" y="8701371"/>
            <a:ext cx="6690" cy="577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5" name="Connector 124"/>
          <p:cNvCxnSpPr/>
          <p:nvPr/>
        </p:nvCxnSpPr>
        <p:spPr>
          <a:xfrm flipH="1">
            <a:off x="6670025" y="8707141"/>
            <a:ext cx="6965" cy="54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6" name="Connector 125"/>
          <p:cNvCxnSpPr/>
          <p:nvPr/>
        </p:nvCxnSpPr>
        <p:spPr>
          <a:xfrm flipH="1">
            <a:off x="6662802" y="8712577"/>
            <a:ext cx="7223" cy="50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7" name="Connector 126"/>
          <p:cNvCxnSpPr/>
          <p:nvPr/>
        </p:nvCxnSpPr>
        <p:spPr>
          <a:xfrm flipH="1">
            <a:off x="6655338" y="8717664"/>
            <a:ext cx="7464" cy="472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8" name="Connector 127"/>
          <p:cNvCxnSpPr/>
          <p:nvPr/>
        </p:nvCxnSpPr>
        <p:spPr>
          <a:xfrm flipH="1">
            <a:off x="6647651" y="8722391"/>
            <a:ext cx="7687" cy="435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9" name="Connector 128"/>
          <p:cNvCxnSpPr/>
          <p:nvPr/>
        </p:nvCxnSpPr>
        <p:spPr>
          <a:xfrm flipH="1">
            <a:off x="6639759" y="8726745"/>
            <a:ext cx="7892" cy="397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0" name="Connector 129"/>
          <p:cNvCxnSpPr/>
          <p:nvPr/>
        </p:nvCxnSpPr>
        <p:spPr>
          <a:xfrm flipH="1">
            <a:off x="6631683" y="8730718"/>
            <a:ext cx="8076" cy="358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1" name="Connector 130"/>
          <p:cNvCxnSpPr/>
          <p:nvPr/>
        </p:nvCxnSpPr>
        <p:spPr>
          <a:xfrm flipH="1">
            <a:off x="6623440" y="8734298"/>
            <a:ext cx="8243" cy="317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2" name="Connector 131"/>
          <p:cNvCxnSpPr/>
          <p:nvPr/>
        </p:nvCxnSpPr>
        <p:spPr>
          <a:xfrm flipH="1">
            <a:off x="6615051" y="8737477"/>
            <a:ext cx="8389" cy="277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3" name="Connector 132"/>
          <p:cNvCxnSpPr/>
          <p:nvPr/>
        </p:nvCxnSpPr>
        <p:spPr>
          <a:xfrm flipH="1">
            <a:off x="6606536" y="8740249"/>
            <a:ext cx="8515" cy="235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4" name="Connector 133"/>
          <p:cNvCxnSpPr/>
          <p:nvPr/>
        </p:nvCxnSpPr>
        <p:spPr>
          <a:xfrm flipH="1">
            <a:off x="6597916" y="8742605"/>
            <a:ext cx="8620" cy="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 flipH="1">
            <a:off x="6589211" y="8744541"/>
            <a:ext cx="8705" cy="151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6" name="Connector 135"/>
          <p:cNvCxnSpPr/>
          <p:nvPr/>
        </p:nvCxnSpPr>
        <p:spPr>
          <a:xfrm flipH="1">
            <a:off x="6580443" y="8746051"/>
            <a:ext cx="8768" cy="108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7" name="Connector 136"/>
          <p:cNvCxnSpPr/>
          <p:nvPr/>
        </p:nvCxnSpPr>
        <p:spPr>
          <a:xfrm flipH="1">
            <a:off x="6571632" y="8747133"/>
            <a:ext cx="8811" cy="6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8" name="Connector 137"/>
          <p:cNvCxnSpPr/>
          <p:nvPr/>
        </p:nvCxnSpPr>
        <p:spPr>
          <a:xfrm flipH="1">
            <a:off x="6562800" y="8747783"/>
            <a:ext cx="8832" cy="2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6562800" y="6948000"/>
            <a:ext cx="0" cy="1800000"/>
          </a:xfrm>
          <a:prstGeom prst="line">
            <a:avLst/>
          </a:prstGeom>
          <a:ln w="12700">
            <a:solidFill>
              <a:srgbClr val="466976"/>
            </a:solidFill>
          </a:ln>
          <a:effectLst/>
        </p:spPr>
      </p:cxnSp>
      <p:sp>
        <p:nvSpPr>
          <p:cNvPr id="140" name="Oval 139"/>
          <p:cNvSpPr/>
          <p:nvPr/>
        </p:nvSpPr>
        <p:spPr>
          <a:xfrm>
            <a:off x="6526800" y="8532000"/>
            <a:ext cx="72000" cy="720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324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756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240000" y="9360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20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752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4860000" y="91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324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24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20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310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050000" y="8928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8" name="TextBox 157"/>
          <p:cNvSpPr txBox="1"/>
          <p:nvPr/>
        </p:nvSpPr>
        <p:spPr>
          <a:xfrm>
            <a:off x="4860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756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675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752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64" name="TextBox 163"/>
          <p:cNvSpPr txBox="1"/>
          <p:nvPr/>
        </p:nvSpPr>
        <p:spPr>
          <a:xfrm>
            <a:off x="661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65" name="Connector 164"/>
          <p:cNvCxnSpPr/>
          <p:nvPr/>
        </p:nvCxnSpPr>
        <p:spPr>
          <a:xfrm flipH="1">
            <a:off x="2304000" y="8568000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H="1">
            <a:off x="2304000" y="2977199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2304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2268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2268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0" name="TextBox 169"/>
          <p:cNvSpPr txBox="1"/>
          <p:nvPr/>
        </p:nvSpPr>
        <p:spPr>
          <a:xfrm>
            <a:off x="1872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171" name="Connector 170"/>
          <p:cNvCxnSpPr/>
          <p:nvPr/>
        </p:nvCxnSpPr>
        <p:spPr>
          <a:xfrm flipH="1">
            <a:off x="2808000" y="856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2808000" y="77580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2772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6" name="TextBox 175"/>
          <p:cNvSpPr txBox="1"/>
          <p:nvPr/>
        </p:nvSpPr>
        <p:spPr>
          <a:xfrm>
            <a:off x="2376000" y="8163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77" name="Connector 176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2808000" y="65628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2376000" y="71604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3" name="Connector 182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 flipV="1">
            <a:off x="2808000" y="53676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8" name="TextBox 187"/>
          <p:cNvSpPr txBox="1"/>
          <p:nvPr/>
        </p:nvSpPr>
        <p:spPr>
          <a:xfrm>
            <a:off x="2376000" y="5965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9" name="Connector 188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 flipV="1">
            <a:off x="2808000" y="41724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2376000" y="477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95" name="Connector 194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H="1">
            <a:off x="2808000" y="2977199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 flipV="1">
            <a:off x="2808000" y="2977199"/>
            <a:ext cx="0" cy="11952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2772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2376000" y="35748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201" name="Connector 200"/>
          <p:cNvCxnSpPr/>
          <p:nvPr/>
        </p:nvCxnSpPr>
        <p:spPr>
          <a:xfrm flipV="1">
            <a:off x="324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324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320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292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3690000" y="2725199"/>
            <a:ext cx="34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4860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1900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756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711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752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679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369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>
            <a:off x="45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44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55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63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>
            <a:off x="711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630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62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707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616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6300000" y="46872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>
            <a:off x="6300000" y="342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 flipV="1">
            <a:off x="6660000" y="3427199"/>
            <a:ext cx="0" cy="12600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624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339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6228000" y="4057199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700</a:t>
            </a:r>
          </a:p>
        </p:txBody>
      </p:sp>
      <p:sp>
        <p:nvSpPr>
          <p:cNvPr id="237" name="Oval 236"/>
          <p:cNvSpPr/>
          <p:nvPr/>
        </p:nvSpPr>
        <p:spPr>
          <a:xfrm>
            <a:off x="319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31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A</a:t>
            </a:r>
          </a:p>
        </p:txBody>
      </p:sp>
      <p:sp>
        <p:nvSpPr>
          <p:cNvPr id="239" name="Oval 238"/>
          <p:cNvSpPr/>
          <p:nvPr/>
        </p:nvSpPr>
        <p:spPr>
          <a:xfrm>
            <a:off x="751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63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B</a:t>
            </a:r>
          </a:p>
        </p:txBody>
      </p:sp>
      <p:sp>
        <p:nvSpPr>
          <p:cNvPr id="241" name="Oval 240"/>
          <p:cNvSpPr/>
          <p:nvPr/>
        </p:nvSpPr>
        <p:spPr>
          <a:xfrm>
            <a:off x="751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63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C</a:t>
            </a:r>
          </a:p>
        </p:txBody>
      </p:sp>
      <p:sp>
        <p:nvSpPr>
          <p:cNvPr id="243" name="Oval 242"/>
          <p:cNvSpPr/>
          <p:nvPr/>
        </p:nvSpPr>
        <p:spPr>
          <a:xfrm>
            <a:off x="319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31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D</a:t>
            </a:r>
          </a:p>
        </p:txBody>
      </p:sp>
      <p:cxnSp>
        <p:nvCxnSpPr>
          <p:cNvPr id="245" name="Connector 244"/>
          <p:cNvCxnSpPr/>
          <p:nvPr/>
        </p:nvCxnSpPr>
        <p:spPr>
          <a:xfrm flipH="1" flipV="1">
            <a:off x="1368000" y="4932000"/>
            <a:ext cx="2277000" cy="39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46" name="TextBox 245"/>
          <p:cNvSpPr txBox="1"/>
          <p:nvPr/>
        </p:nvSpPr>
        <p:spPr>
          <a:xfrm>
            <a:off x="1368000" y="5004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250 DEEP DISPLAY</a:t>
            </a:r>
          </a:p>
        </p:txBody>
      </p:sp>
      <p:cxnSp>
        <p:nvCxnSpPr>
          <p:cNvPr id="247" name="Connector 246"/>
          <p:cNvCxnSpPr/>
          <p:nvPr/>
        </p:nvCxnSpPr>
        <p:spPr>
          <a:xfrm flipV="1">
            <a:off x="5580000" y="5040000"/>
            <a:ext cx="2916000" cy="10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48" name="TextBox 247"/>
          <p:cNvSpPr txBox="1"/>
          <p:nvPr/>
        </p:nvSpPr>
        <p:spPr>
          <a:xfrm>
            <a:off x="8496000" y="5112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1000 × 450 COUNTER</a:t>
            </a:r>
          </a:p>
        </p:txBody>
      </p:sp>
      <p:cxnSp>
        <p:nvCxnSpPr>
          <p:cNvPr id="249" name="Connector 248"/>
          <p:cNvCxnSpPr/>
          <p:nvPr/>
        </p:nvCxnSpPr>
        <p:spPr>
          <a:xfrm flipV="1">
            <a:off x="6562800" y="8388000"/>
            <a:ext cx="1933200" cy="180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50" name="TextBox 249"/>
          <p:cNvSpPr txBox="1"/>
          <p:nvPr/>
        </p:nvSpPr>
        <p:spPr>
          <a:xfrm>
            <a:off x="8496000" y="8460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PIVOT GLASS DOOR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2000" y="2160000"/>
            <a:ext cx="216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SET-OUT DATUMS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92000" y="2592000"/>
            <a:ext cx="2160000" cy="15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A  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B  2400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C  2400 / 3106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D  0 / 3106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8136000" y="2880000"/>
            <a:ext cx="2088000" cy="86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N ↓ STOREFRONT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ASSUMED #23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92000" y="7488000"/>
            <a:ext cx="2232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Wall bands graphic only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Thickness TBC #26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Envelope TBC #4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3240000" y="961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>
            <a:off x="32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41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50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61" name="TextBox 260"/>
          <p:cNvSpPr txBox="1"/>
          <p:nvPr/>
        </p:nvSpPr>
        <p:spPr>
          <a:xfrm>
            <a:off x="3240000" y="968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24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00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4" name="Connector 263"/>
          <p:cNvCxnSpPr/>
          <p:nvPr/>
        </p:nvCxnSpPr>
        <p:spPr>
          <a:xfrm>
            <a:off x="328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5" name="Rectangle 264"/>
          <p:cNvSpPr/>
          <p:nvPr/>
        </p:nvSpPr>
        <p:spPr>
          <a:xfrm>
            <a:off x="675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51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679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8" name="Rectangle 267"/>
          <p:cNvSpPr/>
          <p:nvPr/>
        </p:nvSpPr>
        <p:spPr>
          <a:xfrm>
            <a:off x="369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54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21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06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4500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500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264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264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 flipV="1">
            <a:off x="45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 flipV="1">
            <a:off x="63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>
            <a:off x="4500000" y="43632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44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2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1" name="TextBox 280"/>
          <p:cNvSpPr txBox="1"/>
          <p:nvPr/>
        </p:nvSpPr>
        <p:spPr>
          <a:xfrm>
            <a:off x="4860000" y="4183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6300000" y="549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300000" y="468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12000" y="46872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6876000" y="546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876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7" name="TextBox 286"/>
          <p:cNvSpPr txBox="1"/>
          <p:nvPr/>
        </p:nvSpPr>
        <p:spPr>
          <a:xfrm>
            <a:off x="6480000" y="5092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8136000" y="4248000"/>
            <a:ext cx="2232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COUNTER FRAME</a:t>
            </a:r>
          </a:p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20 × 20 black steel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792000" y="6444000"/>
            <a:ext cx="2088000" cy="6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STREET-FACING DISPLAY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Dashed line: shelf above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return toward interior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3242880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3647880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242880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647880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242880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647880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242880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647880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242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647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7112879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7517879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112879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517879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7112879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7517879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7112879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7517879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7112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7517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369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692880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69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692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454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547880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45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547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621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6212879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62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6212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706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7067879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706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7067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10800000" y="20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REAR / SIDE JUNCTION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0800000" y="234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LOCAL PLAN 1:5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0800000" y="2844000"/>
            <a:ext cx="1800000" cy="3600000"/>
          </a:xfrm>
          <a:prstGeom prst="rect">
            <a:avLst/>
          </a:prstGeom>
          <a:solidFill>
            <a:srgbClr val="E5DE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2600000" y="2844000"/>
            <a:ext cx="1800000" cy="1800000"/>
          </a:xfrm>
          <a:prstGeom prst="rect">
            <a:avLst/>
          </a:prstGeom>
          <a:solidFill>
            <a:srgbClr val="E5DE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80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81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242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243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2600000" y="446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2611520" y="4475520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260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261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8" name="Connector 357"/>
          <p:cNvCxnSpPr/>
          <p:nvPr/>
        </p:nvCxnSpPr>
        <p:spPr>
          <a:xfrm flipV="1">
            <a:off x="12420000" y="3024000"/>
            <a:ext cx="0" cy="3420000"/>
          </a:xfrm>
          <a:prstGeom prst="line">
            <a:avLst/>
          </a:prstGeom>
          <a:ln w="10160">
            <a:solidFill>
              <a:srgbClr val="9A825A"/>
            </a:solidFill>
            <a:prstDash val="dash"/>
          </a:ln>
          <a:effectLst/>
        </p:spPr>
      </p:cxnSp>
      <p:cxnSp>
        <p:nvCxnSpPr>
          <p:cNvPr id="359" name="Connector 358"/>
          <p:cNvCxnSpPr/>
          <p:nvPr/>
        </p:nvCxnSpPr>
        <p:spPr>
          <a:xfrm>
            <a:off x="12780000" y="4644000"/>
            <a:ext cx="1620000" cy="0"/>
          </a:xfrm>
          <a:prstGeom prst="line">
            <a:avLst/>
          </a:prstGeom>
          <a:ln w="10160">
            <a:solidFill>
              <a:srgbClr val="9A825A"/>
            </a:solidFill>
            <a:prstDash val="dash"/>
          </a:ln>
          <a:effectLst/>
        </p:spPr>
      </p:cxnSp>
      <p:cxnSp>
        <p:nvCxnSpPr>
          <p:cNvPr id="360" name="Connector 359"/>
          <p:cNvCxnSpPr/>
          <p:nvPr/>
        </p:nvCxnSpPr>
        <p:spPr>
          <a:xfrm>
            <a:off x="10800000" y="644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1" name="Connector 360"/>
          <p:cNvCxnSpPr/>
          <p:nvPr/>
        </p:nvCxnSpPr>
        <p:spPr>
          <a:xfrm>
            <a:off x="12600000" y="644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2" name="Connector 361"/>
          <p:cNvCxnSpPr/>
          <p:nvPr/>
        </p:nvCxnSpPr>
        <p:spPr>
          <a:xfrm>
            <a:off x="10800000" y="6696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3" name="Connector 362"/>
          <p:cNvCxnSpPr/>
          <p:nvPr/>
        </p:nvCxnSpPr>
        <p:spPr>
          <a:xfrm flipV="1">
            <a:off x="10764000" y="666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4" name="Connector 363"/>
          <p:cNvCxnSpPr/>
          <p:nvPr/>
        </p:nvCxnSpPr>
        <p:spPr>
          <a:xfrm flipV="1">
            <a:off x="12564000" y="666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65" name="TextBox 364"/>
          <p:cNvSpPr txBox="1"/>
          <p:nvPr/>
        </p:nvSpPr>
        <p:spPr>
          <a:xfrm>
            <a:off x="11160000" y="651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366" name="Connector 365"/>
          <p:cNvCxnSpPr/>
          <p:nvPr/>
        </p:nvCxnSpPr>
        <p:spPr>
          <a:xfrm flipV="1">
            <a:off x="12600000" y="259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7" name="Connector 366"/>
          <p:cNvCxnSpPr/>
          <p:nvPr/>
        </p:nvCxnSpPr>
        <p:spPr>
          <a:xfrm flipV="1">
            <a:off x="14400000" y="259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8" name="Connector 367"/>
          <p:cNvCxnSpPr/>
          <p:nvPr/>
        </p:nvCxnSpPr>
        <p:spPr>
          <a:xfrm>
            <a:off x="12600000" y="2592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12564000" y="25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 flipV="1">
            <a:off x="14364000" y="25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71" name="TextBox 370"/>
          <p:cNvSpPr txBox="1"/>
          <p:nvPr/>
        </p:nvSpPr>
        <p:spPr>
          <a:xfrm>
            <a:off x="12960000" y="24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372" name="Connector 371"/>
          <p:cNvCxnSpPr/>
          <p:nvPr/>
        </p:nvCxnSpPr>
        <p:spPr>
          <a:xfrm>
            <a:off x="14400000" y="4644000"/>
            <a:ext cx="25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3" name="Connector 372"/>
          <p:cNvCxnSpPr/>
          <p:nvPr/>
        </p:nvCxnSpPr>
        <p:spPr>
          <a:xfrm>
            <a:off x="14400000" y="2844000"/>
            <a:ext cx="25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4" name="Connector 373"/>
          <p:cNvCxnSpPr/>
          <p:nvPr/>
        </p:nvCxnSpPr>
        <p:spPr>
          <a:xfrm flipV="1">
            <a:off x="14652000" y="2844000"/>
            <a:ext cx="0" cy="18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5" name="Connector 374"/>
          <p:cNvCxnSpPr/>
          <p:nvPr/>
        </p:nvCxnSpPr>
        <p:spPr>
          <a:xfrm flipV="1">
            <a:off x="14616000" y="46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6" name="Connector 375"/>
          <p:cNvCxnSpPr/>
          <p:nvPr/>
        </p:nvCxnSpPr>
        <p:spPr>
          <a:xfrm flipV="1">
            <a:off x="14616000" y="28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77" name="TextBox 376"/>
          <p:cNvSpPr txBox="1"/>
          <p:nvPr/>
        </p:nvSpPr>
        <p:spPr>
          <a:xfrm>
            <a:off x="14220000" y="37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0800000" y="6840000"/>
            <a:ext cx="3780000" cy="68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× 25 × 1.6 SHS / 250-deep units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Rear bay continues right; no overlap</a:t>
            </a:r>
          </a:p>
        </p:txBody>
      </p:sp>
      <p:cxnSp>
        <p:nvCxnSpPr>
          <p:cNvPr id="379" name="Connector 378"/>
          <p:cNvCxnSpPr/>
          <p:nvPr/>
        </p:nvCxnSpPr>
        <p:spPr>
          <a:xfrm>
            <a:off x="14328000" y="4608000"/>
            <a:ext cx="144000" cy="14400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cxnSp>
        <p:nvCxnSpPr>
          <p:cNvPr id="380" name="Connector 379"/>
          <p:cNvCxnSpPr/>
          <p:nvPr/>
        </p:nvCxnSpPr>
        <p:spPr>
          <a:xfrm>
            <a:off x="14328000" y="4716000"/>
            <a:ext cx="144000" cy="14400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sp>
        <p:nvSpPr>
          <p:cNvPr id="381" name="TextBox 380"/>
          <p:cNvSpPr txBox="1"/>
          <p:nvPr/>
        </p:nvSpPr>
        <p:spPr>
          <a:xfrm>
            <a:off x="10800000" y="781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DOOR EDGE / PIVOT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0800000" y="810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LOCAL PLAN 1:2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11160000" y="9468000"/>
            <a:ext cx="2700000" cy="216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3932000" y="9234000"/>
            <a:ext cx="450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3960800" y="9262800"/>
            <a:ext cx="392400" cy="39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6" name="Connector 385"/>
          <p:cNvCxnSpPr/>
          <p:nvPr/>
        </p:nvCxnSpPr>
        <p:spPr>
          <a:xfrm flipV="1">
            <a:off x="12060000" y="8694000"/>
            <a:ext cx="0" cy="117000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387" name="Oval 386"/>
          <p:cNvSpPr/>
          <p:nvPr/>
        </p:nvSpPr>
        <p:spPr>
          <a:xfrm>
            <a:off x="12006000" y="9522000"/>
            <a:ext cx="108000" cy="108000"/>
          </a:xfrm>
          <a:prstGeom prst="ellipse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 flipV="1">
            <a:off x="12060000" y="914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9" name="Connector 388"/>
          <p:cNvCxnSpPr/>
          <p:nvPr/>
        </p:nvCxnSpPr>
        <p:spPr>
          <a:xfrm flipV="1">
            <a:off x="13860000" y="914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0" name="Connector 389"/>
          <p:cNvCxnSpPr/>
          <p:nvPr/>
        </p:nvCxnSpPr>
        <p:spPr>
          <a:xfrm>
            <a:off x="12060000" y="9144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V="1">
            <a:off x="12024000" y="91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3824000" y="91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3" name="TextBox 392"/>
          <p:cNvSpPr txBox="1"/>
          <p:nvPr/>
        </p:nvSpPr>
        <p:spPr>
          <a:xfrm>
            <a:off x="12420000" y="896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394" name="Connector 393"/>
          <p:cNvCxnSpPr/>
          <p:nvPr/>
        </p:nvCxnSpPr>
        <p:spPr>
          <a:xfrm>
            <a:off x="13860000" y="968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5" name="Connector 394"/>
          <p:cNvCxnSpPr/>
          <p:nvPr/>
        </p:nvCxnSpPr>
        <p:spPr>
          <a:xfrm>
            <a:off x="13932000" y="968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6" name="Connector 395"/>
          <p:cNvCxnSpPr/>
          <p:nvPr/>
        </p:nvCxnSpPr>
        <p:spPr>
          <a:xfrm>
            <a:off x="13860000" y="9936000"/>
            <a:ext cx="72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 flipV="1">
            <a:off x="13824000" y="99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 flipV="1">
            <a:off x="13896000" y="99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9" name="TextBox 398"/>
          <p:cNvSpPr txBox="1"/>
          <p:nvPr/>
        </p:nvSpPr>
        <p:spPr>
          <a:xfrm>
            <a:off x="13356000" y="97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0800000" y="101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12 glass / 4 gap / 25 SHS · pivot fittings TBC #16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Ceiling / lighting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Reflected ceiling plan · lighting, display footprints and dimensional coordination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internal-envelope"/>
          <p:cNvSpPr/>
          <p:nvPr/>
        </p:nvSpPr>
        <p:spPr>
          <a:xfrm>
            <a:off x="2700000" y="2977199"/>
            <a:ext cx="4320000" cy="55908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7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0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0000" y="4687200"/>
            <a:ext cx="180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87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381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3636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381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3636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381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3636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2" name="Rectangle 31"/>
          <p:cNvSpPr/>
          <p:nvPr/>
        </p:nvSpPr>
        <p:spPr>
          <a:xfrm>
            <a:off x="381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3636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585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579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850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579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850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579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5850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579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5850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3" name="Oval 42"/>
          <p:cNvSpPr/>
          <p:nvPr/>
        </p:nvSpPr>
        <p:spPr>
          <a:xfrm>
            <a:off x="38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8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5" name="Oval 44"/>
          <p:cNvSpPr/>
          <p:nvPr/>
        </p:nvSpPr>
        <p:spPr>
          <a:xfrm>
            <a:off x="47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7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7" name="Oval 46"/>
          <p:cNvSpPr/>
          <p:nvPr/>
        </p:nvSpPr>
        <p:spPr>
          <a:xfrm>
            <a:off x="56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56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3096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6624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70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0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66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274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3870000" y="2689199"/>
            <a:ext cx="19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4320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1100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702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585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698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589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2160000" y="8568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H="1">
            <a:off x="2160000" y="2977199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160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124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124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172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870000" y="7758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3870000" y="378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230000" y="3787199"/>
            <a:ext cx="0" cy="397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194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194000" y="375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379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2206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70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702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700000" y="907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66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698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4320000" y="889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5850000" y="3780000"/>
            <a:ext cx="1746000" cy="468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88" name="Oval 87"/>
          <p:cNvSpPr/>
          <p:nvPr/>
        </p:nvSpPr>
        <p:spPr>
          <a:xfrm>
            <a:off x="5826600" y="4224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68000" y="3636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BLACK TRACK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Adjustable spot heads</a:t>
            </a:r>
          </a:p>
        </p:txBody>
      </p:sp>
      <p:cxnSp>
        <p:nvCxnSpPr>
          <p:cNvPr id="90" name="Connector 89"/>
          <p:cNvCxnSpPr/>
          <p:nvPr/>
        </p:nvCxnSpPr>
        <p:spPr>
          <a:xfrm flipV="1">
            <a:off x="6624000" y="5184000"/>
            <a:ext cx="972000" cy="68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91" name="Oval 90"/>
          <p:cNvSpPr/>
          <p:nvPr/>
        </p:nvSpPr>
        <p:spPr>
          <a:xfrm>
            <a:off x="6600600" y="5844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68000" y="5040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SHELF LEDs BELOW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3000 K concealed light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5760000" y="8028000"/>
            <a:ext cx="1836000" cy="135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94" name="Oval 93"/>
          <p:cNvSpPr/>
          <p:nvPr/>
        </p:nvSpPr>
        <p:spPr>
          <a:xfrm>
            <a:off x="5736600" y="8139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68000" y="7884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ENTRANCE DOWNLIGHTS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Three approved positions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700000" y="952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6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45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2700000" y="959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00000" y="20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UNIT HEAD / CEILING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00000" y="234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60000" y="3060000"/>
            <a:ext cx="180000" cy="28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171520" y="3240000"/>
            <a:ext cx="156960" cy="27000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780000" y="3060000"/>
            <a:ext cx="180000" cy="28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2791520" y="3240000"/>
            <a:ext cx="156960" cy="27000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160000" y="3060000"/>
            <a:ext cx="180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340000" y="3071519"/>
            <a:ext cx="144000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160000" y="5918400"/>
            <a:ext cx="1800000" cy="216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2938400" y="5918400"/>
            <a:ext cx="216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268000" y="5940000"/>
            <a:ext cx="144000" cy="14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279520" y="5951520"/>
            <a:ext cx="120960" cy="120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11052000" y="3060000"/>
            <a:ext cx="21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12866400" y="5796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12866400" y="5508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12866400" y="5220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12866400" y="4932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12866400" y="4644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12866400" y="4356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12866400" y="4068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12866400" y="3780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12866400" y="3492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12866400" y="3204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11160000" y="273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12960000" y="273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11160000" y="2736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11124000" y="27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12924000" y="27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11520000" y="25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2960000" y="5940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12960000" y="3060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13284000" y="3060000"/>
            <a:ext cx="0" cy="28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13248000" y="59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13248000" y="30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37" name="TextBox 136"/>
          <p:cNvSpPr txBox="1"/>
          <p:nvPr/>
        </p:nvSpPr>
        <p:spPr>
          <a:xfrm>
            <a:off x="12852000" y="450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800000" y="6480000"/>
            <a:ext cx="3780000" cy="82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2600 ceiling / frame datum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Mesh zone 2200–2600 at front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Wall fixings TBC #16; no gypsum fixing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224000" y="792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FOLDED TRAY / LIGHT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224000" y="820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141" name="GEOM:active-tray"/>
          <p:cNvSpPr/>
          <p:nvPr/>
        </p:nvSpPr>
        <p:spPr>
          <a:xfrm>
            <a:off x="10224000" y="9306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4670000" y="9306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GEOM:active-support"/>
          <p:cNvSpPr/>
          <p:nvPr/>
        </p:nvSpPr>
        <p:spPr>
          <a:xfrm>
            <a:off x="10494000" y="9360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522800" y="9388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14364000" y="9540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10224000" y="8982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14724000" y="8982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10224000" y="8982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10188000" y="894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14688000" y="894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1" name="TextBox 150"/>
          <p:cNvSpPr txBox="1"/>
          <p:nvPr/>
        </p:nvSpPr>
        <p:spPr>
          <a:xfrm>
            <a:off x="11934000" y="880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224000" y="9936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Storefront / external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storefront · street-facing displays, glazed entrance and halo-lit brand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torefront-envelope"/>
          <p:cNvSpPr/>
          <p:nvPr/>
        </p:nvSpPr>
        <p:spPr>
          <a:xfrm>
            <a:off x="2340000" y="2772000"/>
            <a:ext cx="4320000" cy="576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2772000"/>
            <a:ext cx="432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2904321"/>
            <a:ext cx="1800000" cy="815357"/>
          </a:xfrm>
          <a:prstGeom prst="rect">
            <a:avLst/>
          </a:prstGeom>
          <a:effectLst/>
        </p:spPr>
      </p:pic>
      <p:sp>
        <p:nvSpPr>
          <p:cNvPr id="22" name="Rectangle 21"/>
          <p:cNvSpPr/>
          <p:nvPr/>
        </p:nvSpPr>
        <p:spPr>
          <a:xfrm>
            <a:off x="315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15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15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15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15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15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531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1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531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31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31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31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34" name="Rectangle 33"/>
          <p:cNvSpPr/>
          <p:nvPr/>
        </p:nvSpPr>
        <p:spPr>
          <a:xfrm>
            <a:off x="3600000" y="6912000"/>
            <a:ext cx="1800000" cy="162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4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4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34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234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234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234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234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234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234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234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234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234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234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234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234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234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34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234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234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234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 flipV="1"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280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280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284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284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288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288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291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291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295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295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298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298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302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302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306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>
            <a:off x="306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309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>
            <a:off x="309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313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13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234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0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34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34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38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06" name="Rectangle 105"/>
          <p:cNvSpPr/>
          <p:nvPr/>
        </p:nvSpPr>
        <p:spPr>
          <a:xfrm>
            <a:off x="248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50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249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9" name="Rectangle 108"/>
          <p:cNvSpPr/>
          <p:nvPr/>
        </p:nvSpPr>
        <p:spPr>
          <a:xfrm>
            <a:off x="288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91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289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2" name="Rectangle 111"/>
          <p:cNvSpPr/>
          <p:nvPr/>
        </p:nvSpPr>
        <p:spPr>
          <a:xfrm>
            <a:off x="234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38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14" name="Rectangle 113"/>
          <p:cNvSpPr/>
          <p:nvPr/>
        </p:nvSpPr>
        <p:spPr>
          <a:xfrm>
            <a:off x="248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51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49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7" name="Rectangle 116"/>
          <p:cNvSpPr/>
          <p:nvPr/>
        </p:nvSpPr>
        <p:spPr>
          <a:xfrm>
            <a:off x="288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0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289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0" name="Rectangle 119"/>
          <p:cNvSpPr/>
          <p:nvPr/>
        </p:nvSpPr>
        <p:spPr>
          <a:xfrm>
            <a:off x="234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238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22" name="Rectangle 121"/>
          <p:cNvSpPr/>
          <p:nvPr/>
        </p:nvSpPr>
        <p:spPr>
          <a:xfrm>
            <a:off x="248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50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249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5" name="Rectangle 124"/>
          <p:cNvSpPr/>
          <p:nvPr/>
        </p:nvSpPr>
        <p:spPr>
          <a:xfrm>
            <a:off x="288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90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289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8" name="Rectangle 127"/>
          <p:cNvSpPr/>
          <p:nvPr/>
        </p:nvSpPr>
        <p:spPr>
          <a:xfrm>
            <a:off x="234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238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0" name="Rectangle 129"/>
          <p:cNvSpPr/>
          <p:nvPr/>
        </p:nvSpPr>
        <p:spPr>
          <a:xfrm>
            <a:off x="248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50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249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3" name="Rectangle 132"/>
          <p:cNvSpPr/>
          <p:nvPr/>
        </p:nvSpPr>
        <p:spPr>
          <a:xfrm>
            <a:off x="288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91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289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6" name="Rectangle 135"/>
          <p:cNvSpPr/>
          <p:nvPr/>
        </p:nvSpPr>
        <p:spPr>
          <a:xfrm>
            <a:off x="234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238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8" name="Rectangle 137"/>
          <p:cNvSpPr/>
          <p:nvPr/>
        </p:nvSpPr>
        <p:spPr>
          <a:xfrm>
            <a:off x="585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85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585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585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585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585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585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585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585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585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585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585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585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585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585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585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585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585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585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585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631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631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635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635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639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639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642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642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646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646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649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649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653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653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657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657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660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660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664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664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204" name="Rectangle 203"/>
          <p:cNvSpPr/>
          <p:nvPr/>
        </p:nvSpPr>
        <p:spPr>
          <a:xfrm>
            <a:off x="585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61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5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5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589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09" name="Rectangle 208"/>
          <p:cNvSpPr/>
          <p:nvPr/>
        </p:nvSpPr>
        <p:spPr>
          <a:xfrm>
            <a:off x="599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01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600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2" name="Rectangle 211"/>
          <p:cNvSpPr/>
          <p:nvPr/>
        </p:nvSpPr>
        <p:spPr>
          <a:xfrm>
            <a:off x="639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640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5" name="Rectangle 214"/>
          <p:cNvSpPr/>
          <p:nvPr/>
        </p:nvSpPr>
        <p:spPr>
          <a:xfrm>
            <a:off x="585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589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17" name="Rectangle 216"/>
          <p:cNvSpPr/>
          <p:nvPr/>
        </p:nvSpPr>
        <p:spPr>
          <a:xfrm>
            <a:off x="599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02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>
            <a:off x="600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0" name="Rectangle 219"/>
          <p:cNvSpPr/>
          <p:nvPr/>
        </p:nvSpPr>
        <p:spPr>
          <a:xfrm>
            <a:off x="639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41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>
            <a:off x="640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3" name="Rectangle 222"/>
          <p:cNvSpPr/>
          <p:nvPr/>
        </p:nvSpPr>
        <p:spPr>
          <a:xfrm>
            <a:off x="585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589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25" name="Rectangle 224"/>
          <p:cNvSpPr/>
          <p:nvPr/>
        </p:nvSpPr>
        <p:spPr>
          <a:xfrm>
            <a:off x="599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01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600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8" name="Rectangle 227"/>
          <p:cNvSpPr/>
          <p:nvPr/>
        </p:nvSpPr>
        <p:spPr>
          <a:xfrm>
            <a:off x="639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41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640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1" name="Rectangle 230"/>
          <p:cNvSpPr/>
          <p:nvPr/>
        </p:nvSpPr>
        <p:spPr>
          <a:xfrm>
            <a:off x="585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589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33" name="Rectangle 232"/>
          <p:cNvSpPr/>
          <p:nvPr/>
        </p:nvSpPr>
        <p:spPr>
          <a:xfrm>
            <a:off x="599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01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5" name="Connector 234"/>
          <p:cNvCxnSpPr/>
          <p:nvPr/>
        </p:nvCxnSpPr>
        <p:spPr>
          <a:xfrm>
            <a:off x="600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6" name="Rectangle 235"/>
          <p:cNvSpPr/>
          <p:nvPr/>
        </p:nvSpPr>
        <p:spPr>
          <a:xfrm>
            <a:off x="639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42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8" name="Connector 237"/>
          <p:cNvCxnSpPr/>
          <p:nvPr/>
        </p:nvCxnSpPr>
        <p:spPr>
          <a:xfrm>
            <a:off x="640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9" name="Rectangle 238"/>
          <p:cNvSpPr/>
          <p:nvPr/>
        </p:nvSpPr>
        <p:spPr>
          <a:xfrm>
            <a:off x="585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589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41" name="Rectangle 240"/>
          <p:cNvSpPr/>
          <p:nvPr/>
        </p:nvSpPr>
        <p:spPr>
          <a:xfrm>
            <a:off x="3157200" y="3870000"/>
            <a:ext cx="8784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GEOM:door-leaf"/>
          <p:cNvSpPr/>
          <p:nvPr/>
        </p:nvSpPr>
        <p:spPr>
          <a:xfrm>
            <a:off x="4042800" y="3870000"/>
            <a:ext cx="18000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3" name="Connector 242"/>
          <p:cNvCxnSpPr/>
          <p:nvPr/>
        </p:nvCxnSpPr>
        <p:spPr>
          <a:xfrm flipV="1">
            <a:off x="4194000" y="6282000"/>
            <a:ext cx="0" cy="540000"/>
          </a:xfrm>
          <a:prstGeom prst="line">
            <a:avLst/>
          </a:prstGeom>
          <a:ln w="16510">
            <a:solidFill>
              <a:srgbClr val="252725"/>
            </a:solidFill>
          </a:ln>
          <a:effectLst/>
        </p:spPr>
      </p:cxnSp>
      <p:sp>
        <p:nvSpPr>
          <p:cNvPr id="244" name="Rectangle 243"/>
          <p:cNvSpPr/>
          <p:nvPr/>
        </p:nvSpPr>
        <p:spPr>
          <a:xfrm>
            <a:off x="5598000" y="8442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598000" y="3915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234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66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>
            <a:off x="2340000" y="9036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 flipV="1">
            <a:off x="230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62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1" name="TextBox 250"/>
          <p:cNvSpPr txBox="1"/>
          <p:nvPr/>
        </p:nvSpPr>
        <p:spPr>
          <a:xfrm>
            <a:off x="3960000" y="88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234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234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 flipV="1">
            <a:off x="230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7" name="TextBox 256"/>
          <p:cNvSpPr txBox="1"/>
          <p:nvPr/>
        </p:nvSpPr>
        <p:spPr>
          <a:xfrm>
            <a:off x="220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3150000" y="8784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3" name="TextBox 262"/>
          <p:cNvSpPr txBox="1"/>
          <p:nvPr/>
        </p:nvSpPr>
        <p:spPr>
          <a:xfrm>
            <a:off x="3960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66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>
            <a:off x="585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2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9" name="TextBox 268"/>
          <p:cNvSpPr txBox="1"/>
          <p:nvPr/>
        </p:nvSpPr>
        <p:spPr>
          <a:xfrm>
            <a:off x="571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70" name="Connector 269"/>
          <p:cNvCxnSpPr/>
          <p:nvPr/>
        </p:nvCxnSpPr>
        <p:spPr>
          <a:xfrm flipH="1">
            <a:off x="1872000" y="853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H="1">
            <a:off x="1872000" y="277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872000" y="2772000"/>
            <a:ext cx="0" cy="576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 flipV="1">
            <a:off x="1836000" y="84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1836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5" name="TextBox 274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3200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6660000" y="38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660000" y="27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984000" y="2772000"/>
            <a:ext cx="0" cy="10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6948000" y="38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948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1" name="TextBox 280"/>
          <p:cNvSpPr txBox="1"/>
          <p:nvPr/>
        </p:nvSpPr>
        <p:spPr>
          <a:xfrm>
            <a:off x="6552000" y="33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600</a:t>
            </a:r>
          </a:p>
        </p:txBody>
      </p:sp>
      <p:cxnSp>
        <p:nvCxnSpPr>
          <p:cNvPr id="282" name="Connector 281"/>
          <p:cNvCxnSpPr/>
          <p:nvPr/>
        </p:nvCxnSpPr>
        <p:spPr>
          <a:xfrm flipV="1">
            <a:off x="2745000" y="5076000"/>
            <a:ext cx="4635000" cy="396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83" name="Oval 282"/>
          <p:cNvSpPr/>
          <p:nvPr/>
        </p:nvSpPr>
        <p:spPr>
          <a:xfrm>
            <a:off x="2721600" y="544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7452000" y="4932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FOLDED BLACK SHELF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Warm concealed light</a:t>
            </a:r>
          </a:p>
        </p:txBody>
      </p:sp>
      <p:cxnSp>
        <p:nvCxnSpPr>
          <p:cNvPr id="285" name="Connector 284"/>
          <p:cNvCxnSpPr/>
          <p:nvPr/>
        </p:nvCxnSpPr>
        <p:spPr>
          <a:xfrm>
            <a:off x="5040000" y="5652000"/>
            <a:ext cx="2340000" cy="32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86" name="Oval 285"/>
          <p:cNvSpPr/>
          <p:nvPr/>
        </p:nvSpPr>
        <p:spPr>
          <a:xfrm>
            <a:off x="5016600" y="562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7452000" y="5832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CLEAR TOUGHENED GLASS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12 mm; interior visible beyond</a:t>
            </a:r>
          </a:p>
        </p:txBody>
      </p:sp>
      <p:cxnSp>
        <p:nvCxnSpPr>
          <p:cNvPr id="288" name="Connector 287"/>
          <p:cNvCxnSpPr/>
          <p:nvPr/>
        </p:nvCxnSpPr>
        <p:spPr>
          <a:xfrm flipV="1">
            <a:off x="4860000" y="2988000"/>
            <a:ext cx="2520000" cy="32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89" name="Oval 288"/>
          <p:cNvSpPr/>
          <p:nvPr/>
        </p:nvSpPr>
        <p:spPr>
          <a:xfrm>
            <a:off x="4836600" y="328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7452000" y="2844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HALO-LIT BRAND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1000 wide; 25 stand-offs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2340000" y="9396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>
            <a:off x="23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32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>
            <a:off x="41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97" name="TextBox 296"/>
          <p:cNvSpPr txBox="1"/>
          <p:nvPr/>
        </p:nvSpPr>
        <p:spPr>
          <a:xfrm>
            <a:off x="2340000" y="9468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cxnSp>
        <p:nvCxnSpPr>
          <p:cNvPr id="298" name="Connector 297"/>
          <p:cNvCxnSpPr/>
          <p:nvPr/>
        </p:nvCxnSpPr>
        <p:spPr>
          <a:xfrm flipV="1">
            <a:off x="5850000" y="3096000"/>
            <a:ext cx="4734000" cy="1116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10584000" y="3096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00" name="Oval 299"/>
          <p:cNvSpPr/>
          <p:nvPr/>
        </p:nvSpPr>
        <p:spPr>
          <a:xfrm>
            <a:off x="5830200" y="4192200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0872000" y="2988000"/>
            <a:ext cx="3708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SHS FRAME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872000" y="3240000"/>
            <a:ext cx="3708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× 25 × 1.6 main steel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908000" y="5940000"/>
            <a:ext cx="37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HALO LETTER / BACKING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908000" y="6228000"/>
            <a:ext cx="370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STAND-OFF SECTION 1:2</a:t>
            </a:r>
          </a:p>
        </p:txBody>
      </p:sp>
      <p:cxnSp>
        <p:nvCxnSpPr>
          <p:cNvPr id="305" name="Connector 304"/>
          <p:cNvCxnSpPr/>
          <p:nvPr/>
        </p:nvCxnSpPr>
        <p:spPr>
          <a:xfrm flipV="1">
            <a:off x="11160000" y="7074000"/>
            <a:ext cx="0" cy="1350000"/>
          </a:xfrm>
          <a:prstGeom prst="line">
            <a:avLst/>
          </a:prstGeom>
          <a:ln w="7620">
            <a:solidFill>
              <a:srgbClr val="737871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11610000" y="7074000"/>
            <a:ext cx="0" cy="135000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11160000" y="7794000"/>
            <a:ext cx="450000" cy="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11160000" y="6786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 flipV="1">
            <a:off x="11610000" y="6786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>
            <a:off x="11160000" y="6786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 flipV="1">
            <a:off x="11124000" y="675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2" name="Connector 311"/>
          <p:cNvCxnSpPr/>
          <p:nvPr/>
        </p:nvCxnSpPr>
        <p:spPr>
          <a:xfrm flipV="1">
            <a:off x="11574000" y="675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13" name="TextBox 312"/>
          <p:cNvSpPr txBox="1"/>
          <p:nvPr/>
        </p:nvSpPr>
        <p:spPr>
          <a:xfrm>
            <a:off x="10845000" y="660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0908000" y="8892000"/>
            <a:ext cx="3708000" cy="93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stand-off · halo behind black letters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Backing / wall support / drivers TBC #16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Rear focal wall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Rear focal wall · developed shelving + owner-directed counter front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internal-envelope"/>
          <p:cNvSpPr/>
          <p:nvPr/>
        </p:nvSpPr>
        <p:spPr>
          <a:xfrm>
            <a:off x="2340000" y="3312000"/>
            <a:ext cx="4320000" cy="4680000"/>
          </a:xfrm>
          <a:prstGeom prst="rect">
            <a:avLst/>
          </a:prstGeom>
          <a:solidFill>
            <a:srgbClr val="F0E8D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1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9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9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324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279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9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9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83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293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5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294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" name="Rectangle 35"/>
          <p:cNvSpPr/>
          <p:nvPr/>
        </p:nvSpPr>
        <p:spPr>
          <a:xfrm>
            <a:off x="342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43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279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83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293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6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94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4" name="Rectangle 43"/>
          <p:cNvSpPr/>
          <p:nvPr/>
        </p:nvSpPr>
        <p:spPr>
          <a:xfrm>
            <a:off x="342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4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43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7" name="Rectangle 46"/>
          <p:cNvSpPr/>
          <p:nvPr/>
        </p:nvSpPr>
        <p:spPr>
          <a:xfrm>
            <a:off x="279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83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9" name="Rectangle 48"/>
          <p:cNvSpPr/>
          <p:nvPr/>
        </p:nvSpPr>
        <p:spPr>
          <a:xfrm>
            <a:off x="293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5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94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2" name="Rectangle 51"/>
          <p:cNvSpPr/>
          <p:nvPr/>
        </p:nvSpPr>
        <p:spPr>
          <a:xfrm>
            <a:off x="342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4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43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279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83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57" name="Rectangle 56"/>
          <p:cNvSpPr/>
          <p:nvPr/>
        </p:nvSpPr>
        <p:spPr>
          <a:xfrm>
            <a:off x="293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5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294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0" name="Rectangle 59"/>
          <p:cNvSpPr/>
          <p:nvPr/>
        </p:nvSpPr>
        <p:spPr>
          <a:xfrm>
            <a:off x="342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343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3" name="Rectangle 62"/>
          <p:cNvSpPr/>
          <p:nvPr/>
        </p:nvSpPr>
        <p:spPr>
          <a:xfrm>
            <a:off x="279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283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531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1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1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576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69" name="Rectangle 68"/>
          <p:cNvSpPr/>
          <p:nvPr/>
        </p:nvSpPr>
        <p:spPr>
          <a:xfrm>
            <a:off x="531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6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1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1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535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74" name="Rectangle 73"/>
          <p:cNvSpPr/>
          <p:nvPr/>
        </p:nvSpPr>
        <p:spPr>
          <a:xfrm>
            <a:off x="545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46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77" name="Rectangle 76"/>
          <p:cNvSpPr/>
          <p:nvPr/>
        </p:nvSpPr>
        <p:spPr>
          <a:xfrm>
            <a:off x="594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7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595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0" name="Rectangle 79"/>
          <p:cNvSpPr/>
          <p:nvPr/>
        </p:nvSpPr>
        <p:spPr>
          <a:xfrm>
            <a:off x="531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535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82" name="Rectangle 81"/>
          <p:cNvSpPr/>
          <p:nvPr/>
        </p:nvSpPr>
        <p:spPr>
          <a:xfrm>
            <a:off x="545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8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46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5" name="Rectangle 84"/>
          <p:cNvSpPr/>
          <p:nvPr/>
        </p:nvSpPr>
        <p:spPr>
          <a:xfrm>
            <a:off x="594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96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595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8" name="Rectangle 87"/>
          <p:cNvSpPr/>
          <p:nvPr/>
        </p:nvSpPr>
        <p:spPr>
          <a:xfrm>
            <a:off x="531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535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0" name="Rectangle 89"/>
          <p:cNvSpPr/>
          <p:nvPr/>
        </p:nvSpPr>
        <p:spPr>
          <a:xfrm>
            <a:off x="545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7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546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3" name="Rectangle 92"/>
          <p:cNvSpPr/>
          <p:nvPr/>
        </p:nvSpPr>
        <p:spPr>
          <a:xfrm>
            <a:off x="594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6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595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6" name="Rectangle 95"/>
          <p:cNvSpPr/>
          <p:nvPr/>
        </p:nvSpPr>
        <p:spPr>
          <a:xfrm>
            <a:off x="531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535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8" name="Rectangle 97"/>
          <p:cNvSpPr/>
          <p:nvPr/>
        </p:nvSpPr>
        <p:spPr>
          <a:xfrm>
            <a:off x="545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47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546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594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7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595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4" name="Rectangle 103"/>
          <p:cNvSpPr/>
          <p:nvPr/>
        </p:nvSpPr>
        <p:spPr>
          <a:xfrm>
            <a:off x="531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535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0" y="4327392"/>
            <a:ext cx="1080000" cy="489214"/>
          </a:xfrm>
          <a:prstGeom prst="rect">
            <a:avLst/>
          </a:prstGeom>
          <a:effectLst/>
        </p:spPr>
      </p:pic>
      <p:sp>
        <p:nvSpPr>
          <p:cNvPr id="107" name="GEOM:counter-elevation"/>
          <p:cNvSpPr/>
          <p:nvPr/>
        </p:nvSpPr>
        <p:spPr>
          <a:xfrm>
            <a:off x="3600000" y="6372000"/>
            <a:ext cx="1800000" cy="1620000"/>
          </a:xfrm>
          <a:prstGeom prst="rect">
            <a:avLst/>
          </a:prstGeom>
          <a:solidFill>
            <a:srgbClr val="D9CBB4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636000" y="6444000"/>
            <a:ext cx="594000" cy="1449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3636000" y="64440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>
            <a:off x="3636000" y="78912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 flipV="1">
            <a:off x="3636000" y="64440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>
            <a:off x="3636000" y="78192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 flipV="1">
            <a:off x="3636000" y="64440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>
            <a:off x="3636000" y="77472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 flipV="1">
            <a:off x="3636000" y="64440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3636000" y="76752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3636000" y="64440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>
            <a:off x="3636000" y="76032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3636000" y="64440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>
            <a:off x="3636000" y="75312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3636000" y="64440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>
            <a:off x="3636000" y="74592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3636000" y="64440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>
            <a:off x="3636000" y="73872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3636000" y="64440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3636000" y="73152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3636000" y="64440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3636000" y="72432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3636000" y="64440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>
            <a:off x="3636000" y="71712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 flipV="1">
            <a:off x="3636000" y="64440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3636000" y="70992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 flipV="1">
            <a:off x="3636000" y="64440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3636000" y="70272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3636000" y="64440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3636000" y="69552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 flipV="1">
            <a:off x="3636000" y="64440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3636000" y="68832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3636000" y="64440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3636000" y="68112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 flipV="1">
            <a:off x="3636000" y="64440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3636000" y="67392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 flipV="1">
            <a:off x="3636000" y="6481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>
            <a:off x="3636000" y="6667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3636000" y="6553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3636000" y="6595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3636000" y="6625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3636000" y="6523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3636000" y="6697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3636000" y="6451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3668400" y="67698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>
            <a:off x="3668400" y="64440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 flipV="1">
            <a:off x="3704400" y="68418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3704400" y="64440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 flipV="1">
            <a:off x="3740400" y="69138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3740400" y="64440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3776400" y="69858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3776400" y="64440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 flipV="1">
            <a:off x="3812400" y="70578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3812400" y="64440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 flipV="1">
            <a:off x="3848400" y="71298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>
            <a:off x="3848400" y="64440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3884400" y="72018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>
            <a:off x="3884400" y="64440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 flipV="1">
            <a:off x="3920400" y="72738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>
            <a:off x="3920400" y="64440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3956400" y="73458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>
            <a:off x="3956400" y="64440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3992400" y="74178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>
            <a:off x="3992400" y="64440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 flipV="1">
            <a:off x="4028400" y="74898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>
            <a:off x="4028400" y="64440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4064400" y="75618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>
            <a:off x="4064400" y="64440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4100400" y="76338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>
            <a:off x="4100400" y="64440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 flipV="1">
            <a:off x="4136400" y="77058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>
            <a:off x="4136400" y="64440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4172400" y="77778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>
            <a:off x="4172400" y="64440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4208400" y="78498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>
            <a:off x="4208400" y="64440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83" name="Rectangle 182"/>
          <p:cNvSpPr/>
          <p:nvPr/>
        </p:nvSpPr>
        <p:spPr>
          <a:xfrm>
            <a:off x="3600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212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364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600000" y="7920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600000" y="6408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600000" y="6372000"/>
            <a:ext cx="1800000" cy="36000"/>
          </a:xfrm>
          <a:prstGeom prst="rect">
            <a:avLst/>
          </a:prstGeom>
          <a:solidFill>
            <a:srgbClr val="EEE7DB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>
            <a:off x="234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>
            <a:off x="666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2340000" y="8604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30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662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39600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36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>
            <a:off x="54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3600000" y="8280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35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53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3960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01" name="Connector 200"/>
          <p:cNvCxnSpPr/>
          <p:nvPr/>
        </p:nvCxnSpPr>
        <p:spPr>
          <a:xfrm flipH="1">
            <a:off x="1872000" y="799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H="1">
            <a:off x="1872000" y="331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 flipV="1">
            <a:off x="1872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1836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1836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234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234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230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202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279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270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19" name="Connector 218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2988000"/>
            <a:ext cx="16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96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25" name="Connector 224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31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522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31" name="Connector 230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666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621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589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5400000" y="799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>
            <a:off x="5400000" y="637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 flipV="1">
            <a:off x="5688000" y="6372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652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 flipV="1">
            <a:off x="5652000" y="63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42" name="TextBox 241"/>
          <p:cNvSpPr txBox="1"/>
          <p:nvPr/>
        </p:nvSpPr>
        <p:spPr>
          <a:xfrm>
            <a:off x="5256000" y="718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43" name="Connector 242"/>
          <p:cNvCxnSpPr/>
          <p:nvPr/>
        </p:nvCxnSpPr>
        <p:spPr>
          <a:xfrm flipV="1">
            <a:off x="5850000" y="4716000"/>
            <a:ext cx="1566000" cy="756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44" name="Oval 243"/>
          <p:cNvSpPr/>
          <p:nvPr/>
        </p:nvSpPr>
        <p:spPr>
          <a:xfrm>
            <a:off x="5826600" y="544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488000" y="4572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BLACK TRAY / WARM LED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downstand; 250 depth</a:t>
            </a:r>
          </a:p>
        </p:txBody>
      </p:sp>
      <p:cxnSp>
        <p:nvCxnSpPr>
          <p:cNvPr id="246" name="Connector 245"/>
          <p:cNvCxnSpPr/>
          <p:nvPr/>
        </p:nvCxnSpPr>
        <p:spPr>
          <a:xfrm flipV="1">
            <a:off x="4500000" y="3708000"/>
            <a:ext cx="2916000" cy="86400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sp>
        <p:nvSpPr>
          <p:cNvPr id="247" name="Oval 246"/>
          <p:cNvSpPr/>
          <p:nvPr/>
        </p:nvSpPr>
        <p:spPr>
          <a:xfrm>
            <a:off x="4476600" y="4548600"/>
            <a:ext cx="46800" cy="468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7488000" y="3564000"/>
            <a:ext cx="2376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UNLIT BLACK LOGO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600 wide; centre 1900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2340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>
            <a:off x="23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2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41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55" name="TextBox 254"/>
          <p:cNvSpPr txBox="1"/>
          <p:nvPr/>
        </p:nvSpPr>
        <p:spPr>
          <a:xfrm>
            <a:off x="2340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cxnSp>
        <p:nvCxnSpPr>
          <p:cNvPr id="256" name="Connector 255"/>
          <p:cNvCxnSpPr/>
          <p:nvPr/>
        </p:nvCxnSpPr>
        <p:spPr>
          <a:xfrm>
            <a:off x="3636000" y="7182000"/>
            <a:ext cx="3492000" cy="198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7128000" y="7380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8" name="Oval 257"/>
          <p:cNvSpPr/>
          <p:nvPr/>
        </p:nvSpPr>
        <p:spPr>
          <a:xfrm>
            <a:off x="3616200" y="7162200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416000" y="7272000"/>
            <a:ext cx="2700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 MESH / SOLID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416000" y="7524000"/>
            <a:ext cx="2700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Owner render direction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Panel split / top thickness TBC #16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224000" y="2304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REAR SHELF / FRAME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224000" y="2592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0224000" y="4302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4670000" y="4302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0494000" y="4356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0522800" y="4384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4364000" y="4536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10224000" y="397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 flipV="1">
            <a:off x="14724000" y="397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>
            <a:off x="10224000" y="3978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V="1">
            <a:off x="10188000" y="394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4688000" y="394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3" name="TextBox 272"/>
          <p:cNvSpPr txBox="1"/>
          <p:nvPr/>
        </p:nvSpPr>
        <p:spPr>
          <a:xfrm>
            <a:off x="11934000" y="379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224000" y="4932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872000" y="6984000"/>
            <a:ext cx="37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COUNTER / FOOTPRINT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0872000" y="7272000"/>
            <a:ext cx="370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PLAN 1:10</a:t>
            </a:r>
          </a:p>
        </p:txBody>
      </p:sp>
      <p:sp>
        <p:nvSpPr>
          <p:cNvPr id="277" name="GEOM:active-counter-detail"/>
          <p:cNvSpPr/>
          <p:nvPr/>
        </p:nvSpPr>
        <p:spPr>
          <a:xfrm>
            <a:off x="10872000" y="7848000"/>
            <a:ext cx="3600000" cy="1620000"/>
          </a:xfrm>
          <a:prstGeom prst="rect">
            <a:avLst/>
          </a:prstGeom>
          <a:solidFill>
            <a:srgbClr val="D7CBB8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872000" y="9396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872000" y="7848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4400000" y="9396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4400000" y="7848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 flipV="1">
            <a:off x="10872000" y="756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 flipV="1">
            <a:off x="14472000" y="756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>
            <a:off x="10872000" y="7560000"/>
            <a:ext cx="36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10836000" y="75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14436000" y="75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7" name="TextBox 286"/>
          <p:cNvSpPr txBox="1"/>
          <p:nvPr/>
        </p:nvSpPr>
        <p:spPr>
          <a:xfrm>
            <a:off x="12132000" y="73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88" name="Connector 287"/>
          <p:cNvCxnSpPr/>
          <p:nvPr/>
        </p:nvCxnSpPr>
        <p:spPr>
          <a:xfrm>
            <a:off x="14472000" y="9468000"/>
            <a:ext cx="14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14472000" y="7848000"/>
            <a:ext cx="14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14616000" y="7848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 flipV="1">
            <a:off x="14580000" y="94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14580000" y="781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93" name="TextBox 292"/>
          <p:cNvSpPr txBox="1"/>
          <p:nvPr/>
        </p:nvSpPr>
        <p:spPr>
          <a:xfrm>
            <a:off x="14184000" y="8658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0872000" y="10044000"/>
            <a:ext cx="370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frame · front split TBC #16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Left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360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10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1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5000" y="4932000"/>
            <a:ext cx="684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SOLID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COLUMN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RETURN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DISPLAY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FACES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STREET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4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4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4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264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264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264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64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264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264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264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264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64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264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64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264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64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264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264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264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264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264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707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707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711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711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714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714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718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718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721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721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725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725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729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729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732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732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736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736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739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739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264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81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01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20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264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269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264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269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264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269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264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269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264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269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324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316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91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94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93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308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11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310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91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93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93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308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11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310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443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436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411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14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412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428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430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429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411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413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412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428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431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429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563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555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530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533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532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547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550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549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530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32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532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547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50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549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82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675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650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653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651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667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669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668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650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652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651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667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670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668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269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264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264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261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27036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84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89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503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509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742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623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739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628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318800" y="790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318800" y="736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318800" y="65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318800" y="583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318800" y="51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318800" y="439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318800" y="367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62" name="Connector 461"/>
          <p:cNvCxnSpPr/>
          <p:nvPr/>
        </p:nvCxnSpPr>
        <p:spPr>
          <a:xfrm flipV="1">
            <a:off x="5036400" y="3456000"/>
            <a:ext cx="3099600" cy="21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3" name="TextBox 462"/>
          <p:cNvSpPr txBox="1"/>
          <p:nvPr/>
        </p:nvSpPr>
        <p:spPr>
          <a:xfrm>
            <a:off x="8136000" y="3528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EXPANDED METAL MESH</a:t>
            </a:r>
          </a:p>
        </p:txBody>
      </p:sp>
      <p:cxnSp>
        <p:nvCxnSpPr>
          <p:cNvPr id="464" name="Connector 463"/>
          <p:cNvCxnSpPr/>
          <p:nvPr/>
        </p:nvCxnSpPr>
        <p:spPr>
          <a:xfrm flipV="1">
            <a:off x="6066000" y="5004000"/>
            <a:ext cx="2070000" cy="48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5" name="TextBox 464"/>
          <p:cNvSpPr txBox="1"/>
          <p:nvPr/>
        </p:nvSpPr>
        <p:spPr>
          <a:xfrm>
            <a:off x="8136000" y="507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BLACK TRAY / WARM LED</a:t>
            </a:r>
          </a:p>
        </p:txBody>
      </p:sp>
      <p:cxnSp>
        <p:nvCxnSpPr>
          <p:cNvPr id="466" name="Connector 465"/>
          <p:cNvCxnSpPr/>
          <p:nvPr/>
        </p:nvCxnSpPr>
        <p:spPr>
          <a:xfrm flipV="1">
            <a:off x="5036400" y="7524000"/>
            <a:ext cx="3099600" cy="19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7" name="TextBox 466"/>
          <p:cNvSpPr txBox="1"/>
          <p:nvPr/>
        </p:nvSpPr>
        <p:spPr>
          <a:xfrm>
            <a:off x="8136000" y="759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RECESSED PLINTH / BASE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4212000" y="8964000"/>
            <a:ext cx="61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224000" y="234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SHELF / FRONT EDGE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0224000" y="262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0224000" y="4050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4670000" y="4050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0494000" y="4104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0522800" y="4132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>
            <a:off x="14364000" y="4284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493" name="Connector 492"/>
          <p:cNvCxnSpPr/>
          <p:nvPr/>
        </p:nvCxnSpPr>
        <p:spPr>
          <a:xfrm flipV="1">
            <a:off x="102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4" name="Connector 493"/>
          <p:cNvCxnSpPr/>
          <p:nvPr/>
        </p:nvCxnSpPr>
        <p:spPr>
          <a:xfrm flipV="1">
            <a:off x="147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5" name="Connector 494"/>
          <p:cNvCxnSpPr/>
          <p:nvPr/>
        </p:nvCxnSpPr>
        <p:spPr>
          <a:xfrm>
            <a:off x="10224000" y="3726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6" name="Connector 495"/>
          <p:cNvCxnSpPr/>
          <p:nvPr/>
        </p:nvCxnSpPr>
        <p:spPr>
          <a:xfrm flipV="1">
            <a:off x="101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7" name="Connector 496"/>
          <p:cNvCxnSpPr/>
          <p:nvPr/>
        </p:nvCxnSpPr>
        <p:spPr>
          <a:xfrm flipV="1">
            <a:off x="146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98" name="TextBox 497"/>
          <p:cNvSpPr txBox="1"/>
          <p:nvPr/>
        </p:nvSpPr>
        <p:spPr>
          <a:xfrm>
            <a:off x="11934000" y="354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0224000" y="4680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0980000" y="6372000"/>
            <a:ext cx="36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CABINET / PLINTH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0980000" y="6660000"/>
            <a:ext cx="360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11340000" y="6912000"/>
            <a:ext cx="1800000" cy="1872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340000" y="8784000"/>
            <a:ext cx="1440000" cy="72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>
            <a:off x="12780000" y="9072000"/>
            <a:ext cx="3240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505" name="Connector 504"/>
          <p:cNvCxnSpPr/>
          <p:nvPr/>
        </p:nvCxnSpPr>
        <p:spPr>
          <a:xfrm>
            <a:off x="1278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6" name="Connector 505"/>
          <p:cNvCxnSpPr/>
          <p:nvPr/>
        </p:nvCxnSpPr>
        <p:spPr>
          <a:xfrm>
            <a:off x="1314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7" name="Connector 506"/>
          <p:cNvCxnSpPr/>
          <p:nvPr/>
        </p:nvCxnSpPr>
        <p:spPr>
          <a:xfrm>
            <a:off x="12780000" y="9792000"/>
            <a:ext cx="3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8" name="Connector 507"/>
          <p:cNvCxnSpPr/>
          <p:nvPr/>
        </p:nvCxnSpPr>
        <p:spPr>
          <a:xfrm flipV="1">
            <a:off x="1274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9" name="Connector 508"/>
          <p:cNvCxnSpPr/>
          <p:nvPr/>
        </p:nvCxnSpPr>
        <p:spPr>
          <a:xfrm flipV="1">
            <a:off x="1310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0" name="TextBox 509"/>
          <p:cNvSpPr txBox="1"/>
          <p:nvPr/>
        </p:nvSpPr>
        <p:spPr>
          <a:xfrm>
            <a:off x="12420000" y="96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3140000" y="950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2" name="Connector 511"/>
          <p:cNvCxnSpPr/>
          <p:nvPr/>
        </p:nvCxnSpPr>
        <p:spPr>
          <a:xfrm>
            <a:off x="13140000" y="878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3" name="Connector 512"/>
          <p:cNvCxnSpPr/>
          <p:nvPr/>
        </p:nvCxnSpPr>
        <p:spPr>
          <a:xfrm flipV="1">
            <a:off x="13428000" y="8784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4" name="Connector 513"/>
          <p:cNvCxnSpPr/>
          <p:nvPr/>
        </p:nvCxnSpPr>
        <p:spPr>
          <a:xfrm flipV="1">
            <a:off x="13392000" y="94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5" name="Connector 514"/>
          <p:cNvCxnSpPr/>
          <p:nvPr/>
        </p:nvCxnSpPr>
        <p:spPr>
          <a:xfrm flipV="1">
            <a:off x="13392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6" name="TextBox 515"/>
          <p:cNvSpPr txBox="1"/>
          <p:nvPr/>
        </p:nvSpPr>
        <p:spPr>
          <a:xfrm>
            <a:off x="12996000" y="91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0980000" y="10116000"/>
            <a:ext cx="378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 high · 50 recess · warm toe-kick 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Right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168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18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16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5800" y="4932000"/>
            <a:ext cx="684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SOLID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COLUMN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RETURN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DISPLAY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FACES</a:t>
            </a:r>
          </a:p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STREET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3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3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3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183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83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183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83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183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83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83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83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183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83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183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83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183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83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83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83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183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83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626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626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630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630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633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633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637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637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640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640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644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644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648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648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651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651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655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655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658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658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00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420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39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57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83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188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183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188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183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188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183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188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183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188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243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235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10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13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12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227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30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229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10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12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12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227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230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229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362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355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330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33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331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347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349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348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330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32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331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347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50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348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482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474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449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452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451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466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469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468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449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51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451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466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69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468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01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594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569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572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570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586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588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587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569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71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570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586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589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587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188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183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183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180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1893599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03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08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422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428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661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542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658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547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318800" y="790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318800" y="736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318800" y="65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318800" y="583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318800" y="51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318800" y="439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318800" y="367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62" name="Connector 461"/>
          <p:cNvCxnSpPr/>
          <p:nvPr/>
        </p:nvCxnSpPr>
        <p:spPr>
          <a:xfrm flipV="1">
            <a:off x="4226400" y="3456000"/>
            <a:ext cx="3909600" cy="21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3" name="TextBox 462"/>
          <p:cNvSpPr txBox="1"/>
          <p:nvPr/>
        </p:nvSpPr>
        <p:spPr>
          <a:xfrm>
            <a:off x="8136000" y="3528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EXPANDED METAL MESH</a:t>
            </a:r>
          </a:p>
        </p:txBody>
      </p:sp>
      <p:cxnSp>
        <p:nvCxnSpPr>
          <p:cNvPr id="464" name="Connector 463"/>
          <p:cNvCxnSpPr/>
          <p:nvPr/>
        </p:nvCxnSpPr>
        <p:spPr>
          <a:xfrm flipV="1">
            <a:off x="5256000" y="5004000"/>
            <a:ext cx="2880000" cy="48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5" name="TextBox 464"/>
          <p:cNvSpPr txBox="1"/>
          <p:nvPr/>
        </p:nvSpPr>
        <p:spPr>
          <a:xfrm>
            <a:off x="8136000" y="507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BLACK TRAY / WARM LED</a:t>
            </a:r>
          </a:p>
        </p:txBody>
      </p:sp>
      <p:cxnSp>
        <p:nvCxnSpPr>
          <p:cNvPr id="466" name="Connector 465"/>
          <p:cNvCxnSpPr/>
          <p:nvPr/>
        </p:nvCxnSpPr>
        <p:spPr>
          <a:xfrm flipV="1">
            <a:off x="4226400" y="7524000"/>
            <a:ext cx="3909600" cy="19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7" name="TextBox 466"/>
          <p:cNvSpPr txBox="1"/>
          <p:nvPr/>
        </p:nvSpPr>
        <p:spPr>
          <a:xfrm>
            <a:off x="8136000" y="7596000"/>
            <a:ext cx="2052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RECESSED PLINTH / BASE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4212000" y="8964000"/>
            <a:ext cx="61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224000" y="234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SHELF / FRONT EDGE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0224000" y="262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0224000" y="4050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4670000" y="4050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0494000" y="4104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0522800" y="4132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>
            <a:off x="14364000" y="4284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493" name="Connector 492"/>
          <p:cNvCxnSpPr/>
          <p:nvPr/>
        </p:nvCxnSpPr>
        <p:spPr>
          <a:xfrm flipV="1">
            <a:off x="102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4" name="Connector 493"/>
          <p:cNvCxnSpPr/>
          <p:nvPr/>
        </p:nvCxnSpPr>
        <p:spPr>
          <a:xfrm flipV="1">
            <a:off x="147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5" name="Connector 494"/>
          <p:cNvCxnSpPr/>
          <p:nvPr/>
        </p:nvCxnSpPr>
        <p:spPr>
          <a:xfrm>
            <a:off x="10224000" y="3726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6" name="Connector 495"/>
          <p:cNvCxnSpPr/>
          <p:nvPr/>
        </p:nvCxnSpPr>
        <p:spPr>
          <a:xfrm flipV="1">
            <a:off x="101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7" name="Connector 496"/>
          <p:cNvCxnSpPr/>
          <p:nvPr/>
        </p:nvCxnSpPr>
        <p:spPr>
          <a:xfrm flipV="1">
            <a:off x="146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98" name="TextBox 497"/>
          <p:cNvSpPr txBox="1"/>
          <p:nvPr/>
        </p:nvSpPr>
        <p:spPr>
          <a:xfrm>
            <a:off x="11934000" y="354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0224000" y="4680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0980000" y="6372000"/>
            <a:ext cx="36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CABINET / PLINTH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0980000" y="6660000"/>
            <a:ext cx="360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11340000" y="6912000"/>
            <a:ext cx="1800000" cy="1872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340000" y="8784000"/>
            <a:ext cx="1440000" cy="72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>
            <a:off x="12780000" y="9072000"/>
            <a:ext cx="3240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505" name="Connector 504"/>
          <p:cNvCxnSpPr/>
          <p:nvPr/>
        </p:nvCxnSpPr>
        <p:spPr>
          <a:xfrm>
            <a:off x="1278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6" name="Connector 505"/>
          <p:cNvCxnSpPr/>
          <p:nvPr/>
        </p:nvCxnSpPr>
        <p:spPr>
          <a:xfrm>
            <a:off x="1314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7" name="Connector 506"/>
          <p:cNvCxnSpPr/>
          <p:nvPr/>
        </p:nvCxnSpPr>
        <p:spPr>
          <a:xfrm>
            <a:off x="12780000" y="9792000"/>
            <a:ext cx="3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8" name="Connector 507"/>
          <p:cNvCxnSpPr/>
          <p:nvPr/>
        </p:nvCxnSpPr>
        <p:spPr>
          <a:xfrm flipV="1">
            <a:off x="1274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9" name="Connector 508"/>
          <p:cNvCxnSpPr/>
          <p:nvPr/>
        </p:nvCxnSpPr>
        <p:spPr>
          <a:xfrm flipV="1">
            <a:off x="1310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0" name="TextBox 509"/>
          <p:cNvSpPr txBox="1"/>
          <p:nvPr/>
        </p:nvSpPr>
        <p:spPr>
          <a:xfrm>
            <a:off x="12420000" y="96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3140000" y="950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2" name="Connector 511"/>
          <p:cNvCxnSpPr/>
          <p:nvPr/>
        </p:nvCxnSpPr>
        <p:spPr>
          <a:xfrm>
            <a:off x="13140000" y="878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3" name="Connector 512"/>
          <p:cNvCxnSpPr/>
          <p:nvPr/>
        </p:nvCxnSpPr>
        <p:spPr>
          <a:xfrm flipV="1">
            <a:off x="13428000" y="8784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4" name="Connector 513"/>
          <p:cNvCxnSpPr/>
          <p:nvPr/>
        </p:nvCxnSpPr>
        <p:spPr>
          <a:xfrm flipV="1">
            <a:off x="13392000" y="94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5" name="Connector 514"/>
          <p:cNvCxnSpPr/>
          <p:nvPr/>
        </p:nvCxnSpPr>
        <p:spPr>
          <a:xfrm flipV="1">
            <a:off x="13392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6" name="TextBox 515"/>
          <p:cNvSpPr txBox="1"/>
          <p:nvPr/>
        </p:nvSpPr>
        <p:spPr>
          <a:xfrm>
            <a:off x="12996000" y="91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0980000" y="10116000"/>
            <a:ext cx="378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 high · 50 recess · warm toe-kick 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Spatial assembly / cutaway axonometric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Spatial cutaway · orthographic projection · direct material and interface annotations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pic>
        <p:nvPicPr>
          <p:cNvPr id="7" name="Picture 6" descr="axonometric_re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000" y="2052000"/>
            <a:ext cx="9216000" cy="7956000"/>
          </a:xfrm>
          <a:prstGeom prst="rect">
            <a:avLst/>
          </a:prstGeom>
          <a:effectLst/>
        </p:spPr>
      </p:pic>
      <p:cxnSp>
        <p:nvCxnSpPr>
          <p:cNvPr id="8" name="Connector 7"/>
          <p:cNvCxnSpPr/>
          <p:nvPr/>
        </p:nvCxnSpPr>
        <p:spPr>
          <a:xfrm flipH="1" flipV="1">
            <a:off x="3204000" y="2628000"/>
            <a:ext cx="1949972" cy="1634959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H="1">
            <a:off x="3024000" y="2628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5134172" y="4243159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000" y="2520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772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Upper infill 2200–2600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Approx. 20 × 40 diamonds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204000" y="4500000"/>
            <a:ext cx="1244801" cy="1688994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H="1">
            <a:off x="3024000" y="4500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4429001" y="6169194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4392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TRAYS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0" y="4644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250 depth · 3 mm steel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folded front downstand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3204000" y="6516000"/>
            <a:ext cx="1246126" cy="1067414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 flipH="1">
            <a:off x="3024000" y="6516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" name="Oval 19"/>
          <p:cNvSpPr/>
          <p:nvPr/>
        </p:nvSpPr>
        <p:spPr>
          <a:xfrm>
            <a:off x="4430326" y="7563614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000" y="6408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NEUTRAL BASE DOORS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000" y="6660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1.5 mm PPC steel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600 base incl. 100 plinth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204000" y="7914758"/>
            <a:ext cx="383617" cy="617242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H="1">
            <a:off x="3024000" y="8532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3567817" y="7894958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000" y="8424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STREET DISPLAY CUT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" y="8676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Upper column removed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1500 clear entrance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016185" y="2340000"/>
            <a:ext cx="5079815" cy="1063078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2096000" y="2340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0" name="Oval 29"/>
          <p:cNvSpPr/>
          <p:nvPr/>
        </p:nvSpPr>
        <p:spPr>
          <a:xfrm>
            <a:off x="6996385" y="3383278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84000" y="2232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CEILING TRACKS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4000" y="2484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Exploded above room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Installed at 2600 · 3000 K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Two tracks / four spots each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367956" y="4212000"/>
            <a:ext cx="4728044" cy="38691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12096000" y="4212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5" name="Oval 34"/>
          <p:cNvSpPr/>
          <p:nvPr/>
        </p:nvSpPr>
        <p:spPr>
          <a:xfrm>
            <a:off x="7348156" y="4579111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84000" y="4104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REAR BRAND WALL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84000" y="4356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Raw light plaster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600-wide unlit native logo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510983" y="6408000"/>
            <a:ext cx="5585017" cy="1097964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2096000" y="6408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" name="Oval 39"/>
          <p:cNvSpPr/>
          <p:nvPr/>
        </p:nvSpPr>
        <p:spPr>
          <a:xfrm>
            <a:off x="6491183" y="7486164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4000" y="6300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84000" y="6552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1000 × 450 × 900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Mesh left / neutral panel right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223337" y="7988872"/>
            <a:ext cx="4872663" cy="507128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12096000" y="8496000"/>
            <a:ext cx="1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" name="Oval 44"/>
          <p:cNvSpPr/>
          <p:nvPr/>
        </p:nvSpPr>
        <p:spPr>
          <a:xfrm>
            <a:off x="7203537" y="7969072"/>
            <a:ext cx="39600" cy="396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84000" y="8388000"/>
            <a:ext cx="2232000" cy="25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NEAR-SIDE CUTAWAY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84000" y="8640000"/>
            <a:ext cx="2232000" cy="61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Upper joinery omitted at 600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Full run shown in elevations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2000" y="10152000"/>
            <a:ext cx="73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ORTHOGRAPHIC CUTAWAY · NTS · ceiling plane removed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Material palette / visible finishes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AP-11 · sample-led specification; colours are indicative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720000" y="2196000"/>
            <a:ext cx="4248000" cy="1080000"/>
          </a:xfrm>
          <a:prstGeom prst="rect">
            <a:avLst/>
          </a:prstGeom>
          <a:solidFill>
            <a:srgbClr val="252725"/>
          </a:solidFill>
          <a:ln w="762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BLACK STEEL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 × 25 × 1.6 main SHS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20 × 20 × 1.6 secondary SHS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Matte black powder coat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72000" y="2196000"/>
            <a:ext cx="4248000" cy="1080000"/>
          </a:xfrm>
          <a:prstGeom prst="rect">
            <a:avLst/>
          </a:prstGeom>
          <a:solidFill>
            <a:srgbClr val="D6D1C6"/>
          </a:solidFill>
          <a:ln w="7620">
            <a:solidFill>
              <a:srgbClr val="D6D1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2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CABINET STEEL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2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1.5 mm PPC doors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Light-neutral finish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Flush, handleless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24000" y="2196000"/>
            <a:ext cx="4248000" cy="1080000"/>
          </a:xfrm>
          <a:prstGeom prst="rect">
            <a:avLst/>
          </a:prstGeom>
          <a:solidFill>
            <a:srgbClr val="E8E1D5"/>
          </a:solidFill>
          <a:ln w="7620">
            <a:solidFill>
              <a:srgbClr val="E8E1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4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PLASTER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4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Raw light textured plaster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Approve physical sample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Substrate / buildup #26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5832000"/>
            <a:ext cx="4248000" cy="1080000"/>
          </a:xfrm>
          <a:prstGeom prst="rect">
            <a:avLst/>
          </a:prstGeom>
          <a:solidFill>
            <a:srgbClr val="C5C0B5"/>
          </a:solidFill>
          <a:ln w="7620">
            <a:solidFill>
              <a:srgbClr val="C5C0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PORCELAIN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1200 × 600 rectified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 grout / 5 perimeter joint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Stone-look, sample approval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72000" y="5832000"/>
            <a:ext cx="4248000" cy="1080000"/>
          </a:xfrm>
          <a:prstGeom prst="rect">
            <a:avLst/>
          </a:prstGeom>
          <a:solidFill>
            <a:srgbClr val="DDE8E8"/>
          </a:solidFill>
          <a:ln w="7620">
            <a:solidFill>
              <a:srgbClr val="DDE8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72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CLEAR GLASS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2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12 mm toughened door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Hardware / gaps #16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Fixed pane specification TBC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24000" y="5832000"/>
            <a:ext cx="4248000" cy="1080000"/>
          </a:xfrm>
          <a:prstGeom prst="rect">
            <a:avLst/>
          </a:prstGeom>
          <a:solidFill>
            <a:srgbClr val="66665E"/>
          </a:solidFill>
          <a:ln w="7620">
            <a:solidFill>
              <a:srgbClr val="6666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4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Approx. 20 × 40 diamond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Black finish / framed edges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Gauge and fixing #16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FRAGRANCE | Architectural Interior Presentation</dc:title>
  <dc:subject>Client and consultant coordination; proposed technical details</dc:subject>
  <dc:creator>ChatGPT /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