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60" r:id="rId11"/>
    <p:sldId id="261" r:id="rId12"/>
    <p:sldId id="262" r:id="rId13"/>
    <p:sldId id="263" r:id="rId14"/>
    <p:sldId id="264" r:id="rId15"/>
    <p:sldId id="265" r:id="rId16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RETAIL INTERIOR / COORDINATED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Storefront, interior and display details · neutral material tones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pic>
        <p:nvPicPr>
          <p:cNvPr id="7" name="VIEW:Storefront" descr="born-fragrance-shop-neutral.png"/>
          <p:cNvPicPr>
            <a:picLocks noChangeAspect="1"/>
          </p:cNvPicPr>
          <p:nvPr/>
        </p:nvPicPr>
        <p:blipFill>
          <a:blip r:embed="rId4"/>
          <a:srcRect l="6" r="49522" b="36061"/>
          <a:stretch>
            <a:fillRect/>
          </a:stretch>
        </p:blipFill>
        <p:spPr>
          <a:xfrm>
            <a:off x="612000" y="2088000"/>
            <a:ext cx="6660000" cy="73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000" y="9684000"/>
            <a:ext cx="6660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STOREFRONT / DESIGN INTENT</a:t>
            </a:r>
          </a:p>
        </p:txBody>
      </p:sp>
      <p:pic>
        <p:nvPicPr>
          <p:cNvPr id="9" name="VIEW:Interior" descr="born-fragrance-shop-neutral.png"/>
          <p:cNvPicPr>
            <a:picLocks noChangeAspect="1"/>
          </p:cNvPicPr>
          <p:nvPr/>
        </p:nvPicPr>
        <p:blipFill>
          <a:blip r:embed="rId4"/>
          <a:srcRect r="51902" t="64992" b="968"/>
          <a:stretch>
            <a:fillRect/>
          </a:stretch>
        </p:blipFill>
        <p:spPr>
          <a:xfrm>
            <a:off x="7776000" y="2088000"/>
            <a:ext cx="6804000" cy="421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6000" y="6516000"/>
            <a:ext cx="6804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INTERIOR / DISPLAY AND COUNTER</a:t>
            </a:r>
          </a:p>
        </p:txBody>
      </p:sp>
      <p:pic>
        <p:nvPicPr>
          <p:cNvPr id="11" name="VIEW:Mesh and lighting" descr="born-fragrance-shop-neutral.png"/>
          <p:cNvPicPr>
            <a:picLocks noChangeAspect="1"/>
          </p:cNvPicPr>
          <p:nvPr/>
        </p:nvPicPr>
        <p:blipFill>
          <a:blip r:embed="rId4"/>
          <a:srcRect l="52763" r="21220" b="64109"/>
          <a:stretch>
            <a:fillRect/>
          </a:stretch>
        </p:blipFill>
        <p:spPr>
          <a:xfrm>
            <a:off x="7776000" y="7164000"/>
            <a:ext cx="2148000" cy="259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6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MESH / LIGHT</a:t>
            </a:r>
          </a:p>
        </p:txBody>
      </p:sp>
      <p:pic>
        <p:nvPicPr>
          <p:cNvPr id="13" name="VIEW:Display frame" descr="born-fragrance-shop-neutral.png"/>
          <p:cNvPicPr>
            <a:picLocks noChangeAspect="1"/>
          </p:cNvPicPr>
          <p:nvPr/>
        </p:nvPicPr>
        <p:blipFill>
          <a:blip r:embed="rId4"/>
          <a:srcRect l="52871" r="27740" t="68638" b="4615"/>
          <a:stretch>
            <a:fillRect/>
          </a:stretch>
        </p:blipFill>
        <p:spPr>
          <a:xfrm>
            <a:off x="10104000" y="7164000"/>
            <a:ext cx="2148000" cy="259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104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DISPLAY FRAME</a:t>
            </a:r>
          </a:p>
        </p:txBody>
      </p:sp>
      <p:pic>
        <p:nvPicPr>
          <p:cNvPr id="15" name="VIEW:Plaster and shelf" descr="born-fragrance-shop-neutral.png"/>
          <p:cNvPicPr>
            <a:picLocks noChangeAspect="1"/>
          </p:cNvPicPr>
          <p:nvPr/>
        </p:nvPicPr>
        <p:blipFill>
          <a:blip r:embed="rId4"/>
          <a:srcRect l="78449" r="820" t="67713" b="3689"/>
          <a:stretch>
            <a:fillRect/>
          </a:stretch>
        </p:blipFill>
        <p:spPr>
          <a:xfrm>
            <a:off x="12432000" y="7164000"/>
            <a:ext cx="2148000" cy="259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32000" y="9972000"/>
            <a:ext cx="2148000" cy="2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PLASTER / SHELF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OVERALL PLAN / SETTING-OUT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Setting-out / coordinated interfaces · 1:20 · finish-face dimensions; site verification pending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315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60000" y="2977199"/>
            <a:ext cx="90000" cy="55908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50000" y="2887199"/>
            <a:ext cx="4500000" cy="90000"/>
          </a:xfrm>
          <a:prstGeom prst="rect">
            <a:avLst/>
          </a:prstGeom>
          <a:solidFill>
            <a:srgbClr val="777970"/>
          </a:solidFill>
          <a:ln w="7620">
            <a:solidFill>
              <a:srgbClr val="7779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EOM:internal-envelope"/>
          <p:cNvSpPr/>
          <p:nvPr/>
        </p:nvSpPr>
        <p:spPr>
          <a:xfrm>
            <a:off x="3240000" y="2977199"/>
            <a:ext cx="4320000" cy="5590800"/>
          </a:xfrm>
          <a:prstGeom prst="rect">
            <a:avLst/>
          </a:prstGeom>
          <a:solidFill>
            <a:srgbClr val="F5F1E9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240000" y="79416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240000" y="68580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240000" y="57744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240000" y="4690800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240000" y="3607199"/>
            <a:ext cx="4320000" cy="0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5400000" y="2977199"/>
            <a:ext cx="0" cy="5590801"/>
          </a:xfrm>
          <a:prstGeom prst="line">
            <a:avLst/>
          </a:prstGeom>
          <a:ln w="3175">
            <a:solidFill>
              <a:srgbClr val="DDD8CE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324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24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324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324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7110000" y="2977199"/>
            <a:ext cx="450000" cy="47808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110000" y="65628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7110000" y="53676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7110000" y="4172400"/>
            <a:ext cx="450000" cy="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324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50000" y="7758000"/>
            <a:ext cx="810000" cy="81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9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000" y="2977199"/>
            <a:ext cx="900000" cy="45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8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364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53" name="Rectangle 52"/>
          <p:cNvSpPr/>
          <p:nvPr/>
        </p:nvSpPr>
        <p:spPr>
          <a:xfrm>
            <a:off x="7155000" y="3022199"/>
            <a:ext cx="360000" cy="4690800"/>
          </a:xfrm>
          <a:prstGeom prst="rect">
            <a:avLst/>
          </a:prstGeom>
          <a:noFill/>
          <a:ln w="8890">
            <a:solidFill>
              <a:srgbClr val="A6A19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V="1">
            <a:off x="7515000" y="2977199"/>
            <a:ext cx="0" cy="4780801"/>
          </a:xfrm>
          <a:prstGeom prst="line">
            <a:avLst/>
          </a:prstGeom>
          <a:ln w="6985">
            <a:solidFill>
              <a:srgbClr val="9A825A"/>
            </a:solidFill>
            <a:prstDash val="dash"/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373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55000" y="3022199"/>
            <a:ext cx="810000" cy="36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GEOM:counter-plan"/>
          <p:cNvSpPr/>
          <p:nvPr/>
        </p:nvSpPr>
        <p:spPr>
          <a:xfrm>
            <a:off x="4500000" y="4687200"/>
            <a:ext cx="1800000" cy="810000"/>
          </a:xfrm>
          <a:prstGeom prst="rect">
            <a:avLst/>
          </a:prstGeom>
          <a:solidFill>
            <a:srgbClr val="D6CEC0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36000" y="4723200"/>
            <a:ext cx="1728000" cy="738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4536000" y="4759200"/>
            <a:ext cx="1728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5400000" y="4374000"/>
            <a:ext cx="0" cy="1404000"/>
          </a:xfrm>
          <a:prstGeom prst="line">
            <a:avLst/>
          </a:prstGeom>
          <a:ln w="5715">
            <a:solidFill>
              <a:srgbClr val="737871"/>
            </a:solidFill>
            <a:prstDash val="dash"/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4057200" y="8568000"/>
            <a:ext cx="8784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942800" y="8568000"/>
            <a:ext cx="1800000" cy="0"/>
          </a:xfrm>
          <a:prstGeom prst="line">
            <a:avLst/>
          </a:prstGeom>
          <a:ln w="20320">
            <a:solidFill>
              <a:srgbClr val="466976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4057200" y="8546400"/>
            <a:ext cx="8784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4942800" y="8546400"/>
            <a:ext cx="1800000" cy="0"/>
          </a:xfrm>
          <a:prstGeom prst="line">
            <a:avLst/>
          </a:prstGeom>
          <a:ln w="6350">
            <a:solidFill>
              <a:srgbClr val="466976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4942800" y="8488510"/>
            <a:ext cx="1951" cy="794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4944751" y="8409212"/>
            <a:ext cx="5849" cy="7929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950600" y="8330296"/>
            <a:ext cx="9734" cy="7891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960334" y="8251953"/>
            <a:ext cx="13593" cy="783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973927" y="8174372"/>
            <a:ext cx="17422" cy="7758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4991349" y="8097738"/>
            <a:ext cx="21207" cy="766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5012556" y="8022238"/>
            <a:ext cx="24942" cy="7550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5037498" y="7948052"/>
            <a:ext cx="28617" cy="7418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5066115" y="7875360"/>
            <a:ext cx="32222" cy="726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5098337" y="7804337"/>
            <a:ext cx="35750" cy="710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5134087" y="7735153"/>
            <a:ext cx="39192" cy="691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5173279" y="7667976"/>
            <a:ext cx="42540" cy="6717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5215819" y="7602967"/>
            <a:ext cx="45784" cy="6500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5261603" y="7540282"/>
            <a:ext cx="48920" cy="6268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5310523" y="7480074"/>
            <a:ext cx="51936" cy="6020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5362459" y="7422487"/>
            <a:ext cx="54828" cy="575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5417287" y="7367659"/>
            <a:ext cx="57587" cy="5482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5474874" y="7315723"/>
            <a:ext cx="60208" cy="5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5535082" y="7266803"/>
            <a:ext cx="62685" cy="489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5597767" y="7221019"/>
            <a:ext cx="65009" cy="4578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5662776" y="7178479"/>
            <a:ext cx="67177" cy="4254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5729953" y="7139287"/>
            <a:ext cx="69184" cy="391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5799137" y="7103537"/>
            <a:ext cx="71023" cy="357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5870160" y="7071315"/>
            <a:ext cx="72692" cy="322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5942852" y="7042698"/>
            <a:ext cx="74186" cy="286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6017038" y="7017756"/>
            <a:ext cx="75500" cy="2494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1" name="Connector 100"/>
          <p:cNvCxnSpPr/>
          <p:nvPr/>
        </p:nvCxnSpPr>
        <p:spPr>
          <a:xfrm flipV="1">
            <a:off x="6092538" y="6996549"/>
            <a:ext cx="76634" cy="2120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6169172" y="6979127"/>
            <a:ext cx="77581" cy="1742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3" name="Connector 102"/>
          <p:cNvCxnSpPr/>
          <p:nvPr/>
        </p:nvCxnSpPr>
        <p:spPr>
          <a:xfrm flipV="1">
            <a:off x="6246753" y="6965534"/>
            <a:ext cx="78343" cy="1359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6325096" y="6955800"/>
            <a:ext cx="78916" cy="973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5" name="Connector 104"/>
          <p:cNvCxnSpPr/>
          <p:nvPr/>
        </p:nvCxnSpPr>
        <p:spPr>
          <a:xfrm flipV="1">
            <a:off x="6404012" y="6949951"/>
            <a:ext cx="79298" cy="584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6483310" y="6948000"/>
            <a:ext cx="79490" cy="195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7" name="Connector 106"/>
          <p:cNvCxnSpPr/>
          <p:nvPr/>
        </p:nvCxnSpPr>
        <p:spPr>
          <a:xfrm flipH="1">
            <a:off x="6742583" y="8568000"/>
            <a:ext cx="217" cy="883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8" name="Connector 107"/>
          <p:cNvCxnSpPr/>
          <p:nvPr/>
        </p:nvCxnSpPr>
        <p:spPr>
          <a:xfrm flipH="1">
            <a:off x="6741933" y="8576832"/>
            <a:ext cx="650" cy="8811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09" name="Connector 108"/>
          <p:cNvCxnSpPr/>
          <p:nvPr/>
        </p:nvCxnSpPr>
        <p:spPr>
          <a:xfrm flipH="1">
            <a:off x="6740851" y="8585643"/>
            <a:ext cx="1082" cy="8768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>
            <a:off x="6739341" y="8594411"/>
            <a:ext cx="1510" cy="870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1" name="Connector 110"/>
          <p:cNvCxnSpPr/>
          <p:nvPr/>
        </p:nvCxnSpPr>
        <p:spPr>
          <a:xfrm flipH="1">
            <a:off x="6737405" y="8603116"/>
            <a:ext cx="1936" cy="862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2" name="Connector 111"/>
          <p:cNvCxnSpPr/>
          <p:nvPr/>
        </p:nvCxnSpPr>
        <p:spPr>
          <a:xfrm flipH="1">
            <a:off x="6735049" y="8611736"/>
            <a:ext cx="2356" cy="851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3" name="Connector 112"/>
          <p:cNvCxnSpPr/>
          <p:nvPr/>
        </p:nvCxnSpPr>
        <p:spPr>
          <a:xfrm flipH="1">
            <a:off x="6732277" y="8620251"/>
            <a:ext cx="2772" cy="838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4" name="Connector 113"/>
          <p:cNvCxnSpPr/>
          <p:nvPr/>
        </p:nvCxnSpPr>
        <p:spPr>
          <a:xfrm flipH="1">
            <a:off x="6729098" y="8628640"/>
            <a:ext cx="3179" cy="824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>
            <a:off x="6725518" y="8636883"/>
            <a:ext cx="3580" cy="807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6" name="Connector 115"/>
          <p:cNvCxnSpPr/>
          <p:nvPr/>
        </p:nvCxnSpPr>
        <p:spPr>
          <a:xfrm flipH="1">
            <a:off x="6721545" y="8644959"/>
            <a:ext cx="3973" cy="78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7" name="Connector 116"/>
          <p:cNvCxnSpPr/>
          <p:nvPr/>
        </p:nvCxnSpPr>
        <p:spPr>
          <a:xfrm flipH="1">
            <a:off x="6717191" y="8652851"/>
            <a:ext cx="4354" cy="76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8" name="Connector 117"/>
          <p:cNvCxnSpPr/>
          <p:nvPr/>
        </p:nvCxnSpPr>
        <p:spPr>
          <a:xfrm flipH="1">
            <a:off x="6712464" y="8660538"/>
            <a:ext cx="4727" cy="746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19" name="Connector 118"/>
          <p:cNvCxnSpPr/>
          <p:nvPr/>
        </p:nvCxnSpPr>
        <p:spPr>
          <a:xfrm flipH="1">
            <a:off x="6707377" y="8668002"/>
            <a:ext cx="5087" cy="722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0" name="Connector 119"/>
          <p:cNvCxnSpPr/>
          <p:nvPr/>
        </p:nvCxnSpPr>
        <p:spPr>
          <a:xfrm flipH="1">
            <a:off x="6701941" y="8675225"/>
            <a:ext cx="5436" cy="6965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1" name="Connector 120"/>
          <p:cNvCxnSpPr/>
          <p:nvPr/>
        </p:nvCxnSpPr>
        <p:spPr>
          <a:xfrm flipH="1">
            <a:off x="6696171" y="8682190"/>
            <a:ext cx="5770" cy="669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2" name="Connector 121"/>
          <p:cNvCxnSpPr/>
          <p:nvPr/>
        </p:nvCxnSpPr>
        <p:spPr>
          <a:xfrm flipH="1">
            <a:off x="6690079" y="8688880"/>
            <a:ext cx="6092" cy="639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3" name="Connector 122"/>
          <p:cNvCxnSpPr/>
          <p:nvPr/>
        </p:nvCxnSpPr>
        <p:spPr>
          <a:xfrm flipH="1">
            <a:off x="6683680" y="8695279"/>
            <a:ext cx="6399" cy="609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4" name="Connector 123"/>
          <p:cNvCxnSpPr/>
          <p:nvPr/>
        </p:nvCxnSpPr>
        <p:spPr>
          <a:xfrm flipH="1">
            <a:off x="6676990" y="8701371"/>
            <a:ext cx="6690" cy="577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5" name="Connector 124"/>
          <p:cNvCxnSpPr/>
          <p:nvPr/>
        </p:nvCxnSpPr>
        <p:spPr>
          <a:xfrm flipH="1">
            <a:off x="6670025" y="8707141"/>
            <a:ext cx="6965" cy="54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6" name="Connector 125"/>
          <p:cNvCxnSpPr/>
          <p:nvPr/>
        </p:nvCxnSpPr>
        <p:spPr>
          <a:xfrm flipH="1">
            <a:off x="6662802" y="8712577"/>
            <a:ext cx="7223" cy="508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7" name="Connector 126"/>
          <p:cNvCxnSpPr/>
          <p:nvPr/>
        </p:nvCxnSpPr>
        <p:spPr>
          <a:xfrm flipH="1">
            <a:off x="6655338" y="8717664"/>
            <a:ext cx="7464" cy="472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8" name="Connector 127"/>
          <p:cNvCxnSpPr/>
          <p:nvPr/>
        </p:nvCxnSpPr>
        <p:spPr>
          <a:xfrm flipH="1">
            <a:off x="6647651" y="8722391"/>
            <a:ext cx="7687" cy="4354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29" name="Connector 128"/>
          <p:cNvCxnSpPr/>
          <p:nvPr/>
        </p:nvCxnSpPr>
        <p:spPr>
          <a:xfrm flipH="1">
            <a:off x="6639759" y="8726745"/>
            <a:ext cx="7892" cy="3973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0" name="Connector 129"/>
          <p:cNvCxnSpPr/>
          <p:nvPr/>
        </p:nvCxnSpPr>
        <p:spPr>
          <a:xfrm flipH="1">
            <a:off x="6631683" y="8730718"/>
            <a:ext cx="8076" cy="358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1" name="Connector 130"/>
          <p:cNvCxnSpPr/>
          <p:nvPr/>
        </p:nvCxnSpPr>
        <p:spPr>
          <a:xfrm flipH="1">
            <a:off x="6623440" y="8734298"/>
            <a:ext cx="8243" cy="3179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2" name="Connector 131"/>
          <p:cNvCxnSpPr/>
          <p:nvPr/>
        </p:nvCxnSpPr>
        <p:spPr>
          <a:xfrm flipH="1">
            <a:off x="6615051" y="8737477"/>
            <a:ext cx="8389" cy="277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3" name="Connector 132"/>
          <p:cNvCxnSpPr/>
          <p:nvPr/>
        </p:nvCxnSpPr>
        <p:spPr>
          <a:xfrm flipH="1">
            <a:off x="6606536" y="8740249"/>
            <a:ext cx="8515" cy="235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6597916" y="8742605"/>
            <a:ext cx="8620" cy="1936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5" name="Connector 134"/>
          <p:cNvCxnSpPr/>
          <p:nvPr/>
        </p:nvCxnSpPr>
        <p:spPr>
          <a:xfrm flipH="1">
            <a:off x="6589211" y="8744541"/>
            <a:ext cx="8705" cy="151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6" name="Connector 135"/>
          <p:cNvCxnSpPr/>
          <p:nvPr/>
        </p:nvCxnSpPr>
        <p:spPr>
          <a:xfrm flipH="1">
            <a:off x="6580443" y="8746051"/>
            <a:ext cx="8768" cy="1082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7" name="Connector 136"/>
          <p:cNvCxnSpPr/>
          <p:nvPr/>
        </p:nvCxnSpPr>
        <p:spPr>
          <a:xfrm flipH="1">
            <a:off x="6571632" y="8747133"/>
            <a:ext cx="8811" cy="650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8" name="Connector 137"/>
          <p:cNvCxnSpPr/>
          <p:nvPr/>
        </p:nvCxnSpPr>
        <p:spPr>
          <a:xfrm flipH="1">
            <a:off x="6562800" y="8747783"/>
            <a:ext cx="8832" cy="217"/>
          </a:xfrm>
          <a:prstGeom prst="line">
            <a:avLst/>
          </a:prstGeom>
          <a:ln w="5715">
            <a:solidFill>
              <a:srgbClr val="466976"/>
            </a:solidFill>
            <a:prstDash val="dash"/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6562800" y="6948000"/>
            <a:ext cx="0" cy="1800000"/>
          </a:xfrm>
          <a:prstGeom prst="line">
            <a:avLst/>
          </a:prstGeom>
          <a:ln w="12700">
            <a:solidFill>
              <a:srgbClr val="466976"/>
            </a:solidFill>
          </a:ln>
          <a:effectLst/>
        </p:spPr>
      </p:cxnSp>
      <p:sp>
        <p:nvSpPr>
          <p:cNvPr id="140" name="Oval 139"/>
          <p:cNvSpPr/>
          <p:nvPr/>
        </p:nvSpPr>
        <p:spPr>
          <a:xfrm>
            <a:off x="6526800" y="8532000"/>
            <a:ext cx="72000" cy="720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324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7560000" y="8568000"/>
            <a:ext cx="0" cy="79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240000" y="9360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20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7524000" y="93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46" name="TextBox 145"/>
          <p:cNvSpPr txBox="1"/>
          <p:nvPr/>
        </p:nvSpPr>
        <p:spPr>
          <a:xfrm>
            <a:off x="4860000" y="91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324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24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20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310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40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050000" y="8928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0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8" name="TextBox 157"/>
          <p:cNvSpPr txBox="1"/>
          <p:nvPr/>
        </p:nvSpPr>
        <p:spPr>
          <a:xfrm>
            <a:off x="4860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5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7560000" y="8568000"/>
            <a:ext cx="0" cy="360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6750000" y="8928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671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7524000" y="889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64" name="TextBox 163"/>
          <p:cNvSpPr txBox="1"/>
          <p:nvPr/>
        </p:nvSpPr>
        <p:spPr>
          <a:xfrm>
            <a:off x="6615000" y="874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65" name="Connector 164"/>
          <p:cNvCxnSpPr/>
          <p:nvPr/>
        </p:nvCxnSpPr>
        <p:spPr>
          <a:xfrm flipH="1">
            <a:off x="2304000" y="8568000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H="1">
            <a:off x="2304000" y="2977199"/>
            <a:ext cx="936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2304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2268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2268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0" name="TextBox 169"/>
          <p:cNvSpPr txBox="1"/>
          <p:nvPr/>
        </p:nvSpPr>
        <p:spPr>
          <a:xfrm>
            <a:off x="1872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171" name="Connector 170"/>
          <p:cNvCxnSpPr/>
          <p:nvPr/>
        </p:nvCxnSpPr>
        <p:spPr>
          <a:xfrm flipH="1">
            <a:off x="2808000" y="856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2808000" y="77580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2772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2376000" y="8163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177" name="Connector 176"/>
          <p:cNvCxnSpPr/>
          <p:nvPr/>
        </p:nvCxnSpPr>
        <p:spPr>
          <a:xfrm flipH="1">
            <a:off x="2808000" y="77580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2808000" y="65628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2772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2" name="TextBox 181"/>
          <p:cNvSpPr txBox="1"/>
          <p:nvPr/>
        </p:nvSpPr>
        <p:spPr>
          <a:xfrm>
            <a:off x="2376000" y="71604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3" name="Connector 182"/>
          <p:cNvCxnSpPr/>
          <p:nvPr/>
        </p:nvCxnSpPr>
        <p:spPr>
          <a:xfrm flipH="1">
            <a:off x="2808000" y="65628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 flipV="1">
            <a:off x="2808000" y="53676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2772000" y="65268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88" name="TextBox 187"/>
          <p:cNvSpPr txBox="1"/>
          <p:nvPr/>
        </p:nvSpPr>
        <p:spPr>
          <a:xfrm>
            <a:off x="2376000" y="5965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89" name="Connector 188"/>
          <p:cNvCxnSpPr/>
          <p:nvPr/>
        </p:nvCxnSpPr>
        <p:spPr>
          <a:xfrm flipH="1">
            <a:off x="2808000" y="53676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 flipV="1">
            <a:off x="2808000" y="4172400"/>
            <a:ext cx="0" cy="11952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772000" y="53316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2376000" y="477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195" name="Connector 194"/>
          <p:cNvCxnSpPr/>
          <p:nvPr/>
        </p:nvCxnSpPr>
        <p:spPr>
          <a:xfrm flipH="1">
            <a:off x="2808000" y="4172400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H="1">
            <a:off x="2808000" y="2977199"/>
            <a:ext cx="43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 flipV="1">
            <a:off x="2808000" y="2977199"/>
            <a:ext cx="0" cy="11952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2772000" y="41364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2772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2376000" y="35748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201" name="Connector 200"/>
          <p:cNvCxnSpPr/>
          <p:nvPr/>
        </p:nvCxnSpPr>
        <p:spPr>
          <a:xfrm flipV="1">
            <a:off x="324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324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320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292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369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3690000" y="2725199"/>
            <a:ext cx="34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365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4860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1900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711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7560000" y="2725199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7110000" y="2725199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707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7524000" y="2689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6795000" y="2545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369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>
            <a:off x="45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44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55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25" name="Connector 224"/>
          <p:cNvCxnSpPr/>
          <p:nvPr/>
        </p:nvCxnSpPr>
        <p:spPr>
          <a:xfrm>
            <a:off x="630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>
            <a:off x="7110000" y="54972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6300000" y="57852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626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7074000" y="5749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6165000" y="56052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6300000" y="46872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>
            <a:off x="6300000" y="342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 flipV="1">
            <a:off x="6660000" y="3427199"/>
            <a:ext cx="0" cy="12600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624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339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6228000" y="4057199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700</a:t>
            </a:r>
          </a:p>
        </p:txBody>
      </p:sp>
      <p:sp>
        <p:nvSpPr>
          <p:cNvPr id="237" name="Oval 236"/>
          <p:cNvSpPr/>
          <p:nvPr/>
        </p:nvSpPr>
        <p:spPr>
          <a:xfrm>
            <a:off x="319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31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A</a:t>
            </a:r>
          </a:p>
        </p:txBody>
      </p:sp>
      <p:sp>
        <p:nvSpPr>
          <p:cNvPr id="239" name="Oval 238"/>
          <p:cNvSpPr/>
          <p:nvPr/>
        </p:nvSpPr>
        <p:spPr>
          <a:xfrm>
            <a:off x="7513200" y="8521200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632000" y="8388000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B</a:t>
            </a:r>
          </a:p>
        </p:txBody>
      </p:sp>
      <p:sp>
        <p:nvSpPr>
          <p:cNvPr id="241" name="Oval 240"/>
          <p:cNvSpPr/>
          <p:nvPr/>
        </p:nvSpPr>
        <p:spPr>
          <a:xfrm>
            <a:off x="751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763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C</a:t>
            </a:r>
          </a:p>
        </p:txBody>
      </p:sp>
      <p:sp>
        <p:nvSpPr>
          <p:cNvPr id="243" name="Oval 242"/>
          <p:cNvSpPr/>
          <p:nvPr/>
        </p:nvSpPr>
        <p:spPr>
          <a:xfrm>
            <a:off x="3193200" y="2930399"/>
            <a:ext cx="93600" cy="93600"/>
          </a:xfrm>
          <a:prstGeom prst="ellipse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312000" y="2797199"/>
            <a:ext cx="28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1">
                <a:solidFill>
                  <a:srgbClr val="252725"/>
                </a:solidFill>
                <a:latin typeface="Liberation Sans"/>
              </a:defRPr>
            </a:pPr>
            <a:r>
              <a:t>D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92000" y="2160000"/>
            <a:ext cx="216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A825A"/>
                </a:solidFill>
                <a:latin typeface="Liberation Sans"/>
              </a:defRPr>
            </a:pPr>
            <a:r>
              <a:t>SET-OUT DATUMS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792000" y="2592000"/>
            <a:ext cx="2160000" cy="15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A  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B  2400 / 0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C  2400 / 3106</a:t>
            </a:r>
          </a:p>
          <a:p>
            <a:pPr>
              <a:spcAft>
                <a:spcPts val="400"/>
              </a:spcAft>
              <a:defRPr sz="900" b="0">
                <a:solidFill>
                  <a:srgbClr val="252725"/>
                </a:solidFill>
                <a:latin typeface="Liberation Sans"/>
              </a:defRPr>
            </a:pPr>
            <a:r>
              <a:t>D  0 / 3106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136000" y="2880000"/>
            <a:ext cx="2088000" cy="86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N ↓ STOREFRONT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ASSUMED #23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792000" y="7488000"/>
            <a:ext cx="2232000" cy="90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Wall bands graphic only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Thickness TBC #26</a:t>
            </a:r>
          </a:p>
          <a:p>
            <a:pPr>
              <a:spcAft>
                <a:spcPts val="400"/>
              </a:spcAft>
              <a:defRPr sz="800" b="0">
                <a:solidFill>
                  <a:srgbClr val="A44338"/>
                </a:solidFill>
                <a:latin typeface="Liberation Sans"/>
              </a:defRPr>
            </a:pPr>
            <a:r>
              <a:t>Envelope TBC #4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3240000" y="961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>
            <a:off x="32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41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5040000" y="957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61" name="TextBox 260"/>
          <p:cNvSpPr txBox="1"/>
          <p:nvPr/>
        </p:nvSpPr>
        <p:spPr>
          <a:xfrm>
            <a:off x="3240000" y="968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324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00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328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5" name="Rectangle 264"/>
          <p:cNvSpPr/>
          <p:nvPr/>
        </p:nvSpPr>
        <p:spPr>
          <a:xfrm>
            <a:off x="6750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515000" y="7758000"/>
            <a:ext cx="45000" cy="81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6795000" y="8118000"/>
            <a:ext cx="720000" cy="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268" name="Rectangle 267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500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500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264000" y="5461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264000" y="4687200"/>
            <a:ext cx="36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 flipV="1">
            <a:off x="45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 flipV="1">
            <a:off x="6300000" y="43632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>
            <a:off x="4500000" y="43632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 flipV="1">
            <a:off x="44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264000" y="4327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1" name="TextBox 280"/>
          <p:cNvSpPr txBox="1"/>
          <p:nvPr/>
        </p:nvSpPr>
        <p:spPr>
          <a:xfrm>
            <a:off x="4860000" y="4183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6300000" y="549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300000" y="4687200"/>
            <a:ext cx="61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12000" y="4687200"/>
            <a:ext cx="0" cy="81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6876000" y="546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876000" y="46512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6480000" y="50922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92000" y="6444000"/>
            <a:ext cx="2088000" cy="64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STREET-FACING DISPLAY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Dashed line: shelf above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return toward interior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324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3242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364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3647880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324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3242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364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647880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24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242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64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647880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24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242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364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3647880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324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24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36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36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7110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112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515000" y="77130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7517879" y="77158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7110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7112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515000" y="65403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7517879" y="65431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110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7112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7515000" y="53451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7517879" y="53479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7110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7112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7515000" y="4149900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7517879" y="4152779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1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71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751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51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69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692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9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692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54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547880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54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47880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6210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212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6210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6212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7065000" y="3382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7067879" y="3385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065000" y="2977199"/>
            <a:ext cx="45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067879" y="2980080"/>
            <a:ext cx="39240" cy="3924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/ SIDE JUNCTION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1:5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10800000" y="2844000"/>
            <a:ext cx="1800000" cy="36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600000" y="2844000"/>
            <a:ext cx="1800000" cy="1800000"/>
          </a:xfrm>
          <a:prstGeom prst="rect">
            <a:avLst/>
          </a:prstGeom>
          <a:solidFill>
            <a:srgbClr val="E5DECF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8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8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242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243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2600000" y="446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2611520" y="4475520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2600000" y="2844000"/>
            <a:ext cx="18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2611520" y="2855519"/>
            <a:ext cx="15696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8" name="Connector 357"/>
          <p:cNvCxnSpPr/>
          <p:nvPr/>
        </p:nvCxnSpPr>
        <p:spPr>
          <a:xfrm flipV="1">
            <a:off x="12420000" y="3024000"/>
            <a:ext cx="0" cy="342000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59" name="Connector 358"/>
          <p:cNvCxnSpPr/>
          <p:nvPr/>
        </p:nvCxnSpPr>
        <p:spPr>
          <a:xfrm>
            <a:off x="12780000" y="4644000"/>
            <a:ext cx="1620000" cy="0"/>
          </a:xfrm>
          <a:prstGeom prst="line">
            <a:avLst/>
          </a:prstGeom>
          <a:ln w="10160">
            <a:solidFill>
              <a:srgbClr val="9A825A"/>
            </a:solidFill>
            <a:prstDash val="dash"/>
          </a:ln>
          <a:effectLst/>
        </p:spPr>
      </p:cxnSp>
      <p:cxnSp>
        <p:nvCxnSpPr>
          <p:cNvPr id="360" name="Connector 359"/>
          <p:cNvCxnSpPr/>
          <p:nvPr/>
        </p:nvCxnSpPr>
        <p:spPr>
          <a:xfrm>
            <a:off x="108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1" name="Connector 360"/>
          <p:cNvCxnSpPr/>
          <p:nvPr/>
        </p:nvCxnSpPr>
        <p:spPr>
          <a:xfrm>
            <a:off x="12600000" y="644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2" name="Connector 361"/>
          <p:cNvCxnSpPr/>
          <p:nvPr/>
        </p:nvCxnSpPr>
        <p:spPr>
          <a:xfrm>
            <a:off x="10800000" y="669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3" name="Connector 362"/>
          <p:cNvCxnSpPr/>
          <p:nvPr/>
        </p:nvCxnSpPr>
        <p:spPr>
          <a:xfrm flipV="1">
            <a:off x="107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4" name="Connector 363"/>
          <p:cNvCxnSpPr/>
          <p:nvPr/>
        </p:nvCxnSpPr>
        <p:spPr>
          <a:xfrm flipV="1">
            <a:off x="12564000" y="666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65" name="TextBox 364"/>
          <p:cNvSpPr txBox="1"/>
          <p:nvPr/>
        </p:nvSpPr>
        <p:spPr>
          <a:xfrm>
            <a:off x="11160000" y="651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66" name="Connector 365"/>
          <p:cNvCxnSpPr/>
          <p:nvPr/>
        </p:nvCxnSpPr>
        <p:spPr>
          <a:xfrm flipV="1">
            <a:off x="126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7" name="Connector 366"/>
          <p:cNvCxnSpPr/>
          <p:nvPr/>
        </p:nvCxnSpPr>
        <p:spPr>
          <a:xfrm flipV="1">
            <a:off x="14400000" y="259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68" name="Connector 367"/>
          <p:cNvCxnSpPr/>
          <p:nvPr/>
        </p:nvCxnSpPr>
        <p:spPr>
          <a:xfrm>
            <a:off x="12600000" y="2592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125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 flipV="1">
            <a:off x="14364000" y="25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1" name="TextBox 370"/>
          <p:cNvSpPr txBox="1"/>
          <p:nvPr/>
        </p:nvSpPr>
        <p:spPr>
          <a:xfrm>
            <a:off x="12960000" y="24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372" name="Connector 371"/>
          <p:cNvCxnSpPr/>
          <p:nvPr/>
        </p:nvCxnSpPr>
        <p:spPr>
          <a:xfrm>
            <a:off x="14400000" y="46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3" name="Connector 372"/>
          <p:cNvCxnSpPr/>
          <p:nvPr/>
        </p:nvCxnSpPr>
        <p:spPr>
          <a:xfrm>
            <a:off x="14400000" y="2844000"/>
            <a:ext cx="252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74" name="Connector 373"/>
          <p:cNvCxnSpPr/>
          <p:nvPr/>
        </p:nvCxnSpPr>
        <p:spPr>
          <a:xfrm flipV="1">
            <a:off x="14652000" y="2844000"/>
            <a:ext cx="0" cy="18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5" name="Connector 374"/>
          <p:cNvCxnSpPr/>
          <p:nvPr/>
        </p:nvCxnSpPr>
        <p:spPr>
          <a:xfrm flipV="1">
            <a:off x="14616000" y="46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76" name="Connector 375"/>
          <p:cNvCxnSpPr/>
          <p:nvPr/>
        </p:nvCxnSpPr>
        <p:spPr>
          <a:xfrm flipV="1">
            <a:off x="14616000" y="28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77" name="TextBox 376"/>
          <p:cNvSpPr txBox="1"/>
          <p:nvPr/>
        </p:nvSpPr>
        <p:spPr>
          <a:xfrm>
            <a:off x="14220000" y="37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0800000" y="6840000"/>
            <a:ext cx="3780000" cy="68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× 25 × 1.6 SHS / 250-deep units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Rear bay continues right; no overlap</a:t>
            </a:r>
          </a:p>
        </p:txBody>
      </p:sp>
      <p:cxnSp>
        <p:nvCxnSpPr>
          <p:cNvPr id="379" name="Connector 378"/>
          <p:cNvCxnSpPr/>
          <p:nvPr/>
        </p:nvCxnSpPr>
        <p:spPr>
          <a:xfrm>
            <a:off x="14328000" y="4608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80" name="Connector 379"/>
          <p:cNvCxnSpPr/>
          <p:nvPr/>
        </p:nvCxnSpPr>
        <p:spPr>
          <a:xfrm>
            <a:off x="14328000" y="4716000"/>
            <a:ext cx="144000" cy="14400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sp>
        <p:nvSpPr>
          <p:cNvPr id="381" name="TextBox 380"/>
          <p:cNvSpPr txBox="1"/>
          <p:nvPr/>
        </p:nvSpPr>
        <p:spPr>
          <a:xfrm>
            <a:off x="10800000" y="781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DOOR EDGE / PIVOT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0800000" y="810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LOCAL PLAN 1:2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1160000" y="9468000"/>
            <a:ext cx="2700000" cy="216000"/>
          </a:xfrm>
          <a:prstGeom prst="rect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3932000" y="9234000"/>
            <a:ext cx="450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3960800" y="9262800"/>
            <a:ext cx="392400" cy="39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6" name="Connector 385"/>
          <p:cNvCxnSpPr/>
          <p:nvPr/>
        </p:nvCxnSpPr>
        <p:spPr>
          <a:xfrm flipV="1">
            <a:off x="12060000" y="8694000"/>
            <a:ext cx="0" cy="1170000"/>
          </a:xfrm>
          <a:prstGeom prst="line">
            <a:avLst/>
          </a:prstGeom>
          <a:ln w="6350">
            <a:solidFill>
              <a:srgbClr val="737871"/>
            </a:solidFill>
            <a:prstDash val="dash"/>
          </a:ln>
          <a:effectLst/>
        </p:spPr>
      </p:cxnSp>
      <p:sp>
        <p:nvSpPr>
          <p:cNvPr id="387" name="Oval 386"/>
          <p:cNvSpPr/>
          <p:nvPr/>
        </p:nvSpPr>
        <p:spPr>
          <a:xfrm>
            <a:off x="12006000" y="9522000"/>
            <a:ext cx="108000" cy="108000"/>
          </a:xfrm>
          <a:prstGeom prst="ellipse">
            <a:avLst/>
          </a:prstGeom>
          <a:noFill/>
          <a:ln w="8890">
            <a:solidFill>
              <a:srgbClr val="4669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V="1">
            <a:off x="120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 flipV="1">
            <a:off x="13860000" y="9144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0" name="Connector 389"/>
          <p:cNvCxnSpPr/>
          <p:nvPr/>
        </p:nvCxnSpPr>
        <p:spPr>
          <a:xfrm>
            <a:off x="12060000" y="9144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V="1">
            <a:off x="120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3824000" y="910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3" name="TextBox 392"/>
          <p:cNvSpPr txBox="1"/>
          <p:nvPr/>
        </p:nvSpPr>
        <p:spPr>
          <a:xfrm>
            <a:off x="12420000" y="896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13860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5" name="Connector 394"/>
          <p:cNvCxnSpPr/>
          <p:nvPr/>
        </p:nvCxnSpPr>
        <p:spPr>
          <a:xfrm>
            <a:off x="13932000" y="9684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6" name="Connector 395"/>
          <p:cNvCxnSpPr/>
          <p:nvPr/>
        </p:nvCxnSpPr>
        <p:spPr>
          <a:xfrm>
            <a:off x="13860000" y="9936000"/>
            <a:ext cx="72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 flipV="1">
            <a:off x="13824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 flipV="1">
            <a:off x="13896000" y="99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9" name="TextBox 398"/>
          <p:cNvSpPr txBox="1"/>
          <p:nvPr/>
        </p:nvSpPr>
        <p:spPr>
          <a:xfrm>
            <a:off x="13356000" y="97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0800000" y="101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12 glass / 4 gap / 25 SHS · pivot fittings TBC #16</a:t>
            </a:r>
          </a:p>
        </p:txBody>
      </p:sp>
      <p:cxnSp>
        <p:nvCxnSpPr>
          <p:cNvPr id="401" name="LEADER:SIDE DISPLAY"/>
          <p:cNvCxnSpPr/>
          <p:nvPr/>
        </p:nvCxnSpPr>
        <p:spPr>
          <a:xfrm flipV="1">
            <a:off x="7515000" y="3780000"/>
            <a:ext cx="297000" cy="1368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LEADER:SIDE DISPLAY"/>
          <p:cNvCxnSpPr/>
          <p:nvPr/>
        </p:nvCxnSpPr>
        <p:spPr>
          <a:xfrm>
            <a:off x="7812000" y="378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Oval 402"/>
          <p:cNvSpPr/>
          <p:nvPr/>
        </p:nvSpPr>
        <p:spPr>
          <a:xfrm>
            <a:off x="7497000" y="513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ANNOTATION:SIDE DISPLAY title"/>
          <p:cNvSpPr txBox="1"/>
          <p:nvPr/>
        </p:nvSpPr>
        <p:spPr>
          <a:xfrm>
            <a:off x="8136000" y="3708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SIDE DISPLAY</a:t>
            </a:r>
          </a:p>
        </p:txBody>
      </p:sp>
      <p:sp>
        <p:nvSpPr>
          <p:cNvPr id="405" name="ANNOTATION:SIDE DISPLAY description"/>
          <p:cNvSpPr txBox="1"/>
          <p:nvPr/>
        </p:nvSpPr>
        <p:spPr>
          <a:xfrm>
            <a:off x="8136000" y="3996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shelving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× 25 main steel frame</a:t>
            </a:r>
          </a:p>
        </p:txBody>
      </p:sp>
      <p:cxnSp>
        <p:nvCxnSpPr>
          <p:cNvPr id="406" name="LEADER:COUNTER / STEEL FRAME"/>
          <p:cNvCxnSpPr/>
          <p:nvPr/>
        </p:nvCxnSpPr>
        <p:spPr>
          <a:xfrm>
            <a:off x="6300000" y="4788000"/>
            <a:ext cx="1512000" cy="540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LEADER:COUNTER / STEEL FRAME"/>
          <p:cNvCxnSpPr/>
          <p:nvPr/>
        </p:nvCxnSpPr>
        <p:spPr>
          <a:xfrm>
            <a:off x="7812000" y="532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407"/>
          <p:cNvSpPr/>
          <p:nvPr/>
        </p:nvSpPr>
        <p:spPr>
          <a:xfrm>
            <a:off x="6282000" y="477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ANNOTATION:COUNTER / STEEL FRAME title"/>
          <p:cNvSpPr txBox="1"/>
          <p:nvPr/>
        </p:nvSpPr>
        <p:spPr>
          <a:xfrm>
            <a:off x="8136000" y="5256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 / STEEL FRAME</a:t>
            </a:r>
          </a:p>
        </p:txBody>
      </p:sp>
      <p:sp>
        <p:nvSpPr>
          <p:cNvPr id="410" name="ANNOTATION:COUNTER / STEEL FRAME description"/>
          <p:cNvSpPr txBox="1"/>
          <p:nvPr/>
        </p:nvSpPr>
        <p:spPr>
          <a:xfrm>
            <a:off x="8136000" y="5544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× 450 footprint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20 × 20 black steel</a:t>
            </a:r>
          </a:p>
        </p:txBody>
      </p:sp>
      <p:cxnSp>
        <p:nvCxnSpPr>
          <p:cNvPr id="411" name="LEADER:PIVOT GLASS DOOR"/>
          <p:cNvCxnSpPr/>
          <p:nvPr/>
        </p:nvCxnSpPr>
        <p:spPr>
          <a:xfrm>
            <a:off x="6570000" y="8568000"/>
            <a:ext cx="1278000" cy="108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LEADER:PIVOT GLASS DOOR"/>
          <p:cNvCxnSpPr/>
          <p:nvPr/>
        </p:nvCxnSpPr>
        <p:spPr>
          <a:xfrm flipH="1" flipV="1">
            <a:off x="7812000" y="8640000"/>
            <a:ext cx="36000" cy="3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LEADER:PIVOT GLASS DOOR"/>
          <p:cNvCxnSpPr/>
          <p:nvPr/>
        </p:nvCxnSpPr>
        <p:spPr>
          <a:xfrm>
            <a:off x="7812000" y="86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Oval 413"/>
          <p:cNvSpPr/>
          <p:nvPr/>
        </p:nvSpPr>
        <p:spPr>
          <a:xfrm>
            <a:off x="6552000" y="855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ANNOTATION:PIVOT GLASS DOOR title"/>
          <p:cNvSpPr txBox="1"/>
          <p:nvPr/>
        </p:nvSpPr>
        <p:spPr>
          <a:xfrm>
            <a:off x="8136000" y="8568000"/>
            <a:ext cx="219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PIVOT GLASS DOOR</a:t>
            </a:r>
          </a:p>
        </p:txBody>
      </p:sp>
      <p:sp>
        <p:nvSpPr>
          <p:cNvPr id="416" name="ANNOTATION:PIVOT GLASS DOOR description"/>
          <p:cNvSpPr txBox="1"/>
          <p:nvPr/>
        </p:nvSpPr>
        <p:spPr>
          <a:xfrm>
            <a:off x="8136000" y="8856000"/>
            <a:ext cx="219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1000-wide leaf · 12 glass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Inward opening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CEILING / LIGHTING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Reflected ceiling plan · lighting, display footprints and dimensional coordination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700000" y="2977199"/>
            <a:ext cx="4320000" cy="55908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70000" y="2977199"/>
            <a:ext cx="450000" cy="47808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0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0000" y="7758000"/>
            <a:ext cx="81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60000" y="4687200"/>
            <a:ext cx="1800000" cy="810000"/>
          </a:xfrm>
          <a:prstGeom prst="rect">
            <a:avLst/>
          </a:prstGeom>
          <a:noFill/>
          <a:ln w="8890">
            <a:solidFill>
              <a:srgbClr val="B8B7A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387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381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3636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381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3636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381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3636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381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636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5850000" y="3787199"/>
            <a:ext cx="0" cy="3970801"/>
          </a:xfrm>
          <a:prstGeom prst="line">
            <a:avLst/>
          </a:prstGeom>
          <a:ln w="25400">
            <a:solidFill>
              <a:srgbClr val="252725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5799600" y="738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850000" y="730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7" name="Rectangle 36"/>
          <p:cNvSpPr/>
          <p:nvPr/>
        </p:nvSpPr>
        <p:spPr>
          <a:xfrm>
            <a:off x="5799600" y="630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850000" y="622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5799600" y="522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5850000" y="514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5799600" y="4140000"/>
            <a:ext cx="100800" cy="21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850000" y="4068000"/>
            <a:ext cx="234000" cy="180000"/>
          </a:xfrm>
          <a:prstGeom prst="line">
            <a:avLst/>
          </a:prstGeom>
          <a:ln w="6350">
            <a:solidFill>
              <a:srgbClr val="9A825A"/>
            </a:solidFill>
          </a:ln>
          <a:effectLst/>
        </p:spPr>
      </p:cxnSp>
      <p:sp>
        <p:nvSpPr>
          <p:cNvPr id="43" name="Oval 42"/>
          <p:cNvSpPr/>
          <p:nvPr/>
        </p:nvSpPr>
        <p:spPr>
          <a:xfrm>
            <a:off x="38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8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5" name="Oval 44"/>
          <p:cNvSpPr/>
          <p:nvPr/>
        </p:nvSpPr>
        <p:spPr>
          <a:xfrm>
            <a:off x="47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47" name="Oval 46"/>
          <p:cNvSpPr/>
          <p:nvPr/>
        </p:nvSpPr>
        <p:spPr>
          <a:xfrm>
            <a:off x="5698800" y="8101800"/>
            <a:ext cx="122400" cy="122400"/>
          </a:xfrm>
          <a:prstGeom prst="ellipse">
            <a:avLst/>
          </a:prstGeom>
          <a:noFill/>
          <a:ln w="8890">
            <a:solidFill>
              <a:srgbClr val="9A825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670000" y="8163000"/>
            <a:ext cx="180000" cy="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3096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6624000" y="2977199"/>
            <a:ext cx="0" cy="4780801"/>
          </a:xfrm>
          <a:prstGeom prst="line">
            <a:avLst/>
          </a:prstGeom>
          <a:ln w="12700">
            <a:solidFill>
              <a:srgbClr val="9A825A"/>
            </a:solidFill>
            <a:prstDash val="dash"/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70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0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66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74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387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3870000" y="2689199"/>
            <a:ext cx="198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383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4320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1100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585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7020000" y="2689199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5850000" y="2689199"/>
            <a:ext cx="117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581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6984000" y="2653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5895000" y="2509199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650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2160000" y="8568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H="1">
            <a:off x="2160000" y="2977199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160000" y="2977199"/>
            <a:ext cx="0" cy="559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124000" y="85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124000" y="294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172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870000" y="7758000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3870000" y="3787199"/>
            <a:ext cx="36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4230000" y="3787199"/>
            <a:ext cx="0" cy="3970801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4194000" y="772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4194000" y="3751199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0" name="TextBox 79"/>
          <p:cNvSpPr txBox="1"/>
          <p:nvPr/>
        </p:nvSpPr>
        <p:spPr>
          <a:xfrm>
            <a:off x="3798000" y="57726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2206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70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7020000" y="8568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700000" y="9072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66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6984000" y="90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4320000" y="889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700000" y="952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6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4500000" y="948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102" name="TextBox 101"/>
          <p:cNvSpPr txBox="1"/>
          <p:nvPr/>
        </p:nvSpPr>
        <p:spPr>
          <a:xfrm>
            <a:off x="2700000" y="959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00000" y="2052000"/>
            <a:ext cx="378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UNIT HEAD / CEILING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00000" y="2340000"/>
            <a:ext cx="378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16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117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2780000" y="3060000"/>
            <a:ext cx="180000" cy="28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2791520" y="3240000"/>
            <a:ext cx="156960" cy="27000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1160000" y="3060000"/>
            <a:ext cx="18000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340000" y="3071519"/>
            <a:ext cx="1440000" cy="156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160000" y="5918400"/>
            <a:ext cx="1800000" cy="216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2938400" y="5918400"/>
            <a:ext cx="21600" cy="1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268000" y="5940000"/>
            <a:ext cx="144000" cy="14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1279520" y="5951520"/>
            <a:ext cx="120960" cy="12096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11052000" y="3060000"/>
            <a:ext cx="21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12866400" y="579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12866400" y="550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12866400" y="522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12866400" y="493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12866400" y="464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12866400" y="4356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12866400" y="4068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12866400" y="3780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12866400" y="3492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12866400" y="3204000"/>
            <a:ext cx="0" cy="144000"/>
          </a:xfrm>
          <a:prstGeom prst="line">
            <a:avLst/>
          </a:prstGeom>
          <a:ln w="5080">
            <a:solidFill>
              <a:srgbClr val="AAA79F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111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12960000" y="273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11160000" y="2736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111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12924000" y="27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11520000" y="25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2960000" y="594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12960000" y="3060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13284000" y="3060000"/>
            <a:ext cx="0" cy="28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13248000" y="590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13248000" y="30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37" name="TextBox 136"/>
          <p:cNvSpPr txBox="1"/>
          <p:nvPr/>
        </p:nvSpPr>
        <p:spPr>
          <a:xfrm>
            <a:off x="12852000" y="4500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800000" y="6480000"/>
            <a:ext cx="3780000" cy="82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2600 ceiling / frame datum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Mesh zone 2200–2600 at front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Wall fixings TBC #16; no gypsum fixing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224000" y="792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FOLDED TRAY / LIGHT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224000" y="820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141" name="GEOM:active-tray"/>
          <p:cNvSpPr/>
          <p:nvPr/>
        </p:nvSpPr>
        <p:spPr>
          <a:xfrm>
            <a:off x="10224000" y="9306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4670000" y="9306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GEOM:active-support"/>
          <p:cNvSpPr/>
          <p:nvPr/>
        </p:nvSpPr>
        <p:spPr>
          <a:xfrm>
            <a:off x="10494000" y="9360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522800" y="9388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14364000" y="9540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102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14724000" y="8982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10224000" y="8982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101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14688000" y="894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51" name="TextBox 150"/>
          <p:cNvSpPr txBox="1"/>
          <p:nvPr/>
        </p:nvSpPr>
        <p:spPr>
          <a:xfrm>
            <a:off x="11934000" y="880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224000" y="9936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cxnSp>
        <p:nvCxnSpPr>
          <p:cNvPr id="153" name="LEADER:BLACK CEILING TRACK"/>
          <p:cNvCxnSpPr/>
          <p:nvPr/>
        </p:nvCxnSpPr>
        <p:spPr>
          <a:xfrm flipV="1">
            <a:off x="5850000" y="4104000"/>
            <a:ext cx="1494000" cy="684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LEADER:BLACK CEILING TRACK"/>
          <p:cNvCxnSpPr/>
          <p:nvPr/>
        </p:nvCxnSpPr>
        <p:spPr>
          <a:xfrm>
            <a:off x="7344000" y="410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5832000" y="477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ANNOTATION:BLACK CEILING TRACK title"/>
          <p:cNvSpPr txBox="1"/>
          <p:nvPr/>
        </p:nvSpPr>
        <p:spPr>
          <a:xfrm>
            <a:off x="7668000" y="4032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CEILING TRACK</a:t>
            </a:r>
          </a:p>
        </p:txBody>
      </p:sp>
      <p:sp>
        <p:nvSpPr>
          <p:cNvPr id="157" name="ANNOTATION:BLACK CEILING TRACK description"/>
          <p:cNvSpPr txBox="1"/>
          <p:nvPr/>
        </p:nvSpPr>
        <p:spPr>
          <a:xfrm>
            <a:off x="7668000" y="4320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Adjustable spot heads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3000 K warm white</a:t>
            </a:r>
          </a:p>
        </p:txBody>
      </p:sp>
      <p:cxnSp>
        <p:nvCxnSpPr>
          <p:cNvPr id="158" name="LEADER:CONCEALED SHELF LIGHT"/>
          <p:cNvCxnSpPr/>
          <p:nvPr/>
        </p:nvCxnSpPr>
        <p:spPr>
          <a:xfrm flipV="1">
            <a:off x="6624000" y="5688000"/>
            <a:ext cx="720000" cy="270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LEADER:CONCEALED SHELF LIGHT"/>
          <p:cNvCxnSpPr/>
          <p:nvPr/>
        </p:nvCxnSpPr>
        <p:spPr>
          <a:xfrm>
            <a:off x="7344000" y="56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6606000" y="5940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ANNOTATION:CONCEALED SHELF LIGHT title"/>
          <p:cNvSpPr txBox="1"/>
          <p:nvPr/>
        </p:nvSpPr>
        <p:spPr>
          <a:xfrm>
            <a:off x="7668000" y="5616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CONCEALED SHELF LIGHT</a:t>
            </a:r>
          </a:p>
        </p:txBody>
      </p:sp>
      <p:sp>
        <p:nvSpPr>
          <p:cNvPr id="162" name="ANNOTATION:CONCEALED SHELF LIGHT description"/>
          <p:cNvSpPr txBox="1"/>
          <p:nvPr/>
        </p:nvSpPr>
        <p:spPr>
          <a:xfrm>
            <a:off x="7668000" y="5904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LEDs below shelving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Shown dashed in ceiling plan</a:t>
            </a:r>
          </a:p>
        </p:txBody>
      </p:sp>
      <p:cxnSp>
        <p:nvCxnSpPr>
          <p:cNvPr id="163" name="LEADER:ENTRANCE DOWNLIGHTS"/>
          <p:cNvCxnSpPr/>
          <p:nvPr/>
        </p:nvCxnSpPr>
        <p:spPr>
          <a:xfrm>
            <a:off x="5760000" y="8163000"/>
            <a:ext cx="1584000" cy="45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LEADER:ENTRANCE DOWNLIGHTS"/>
          <p:cNvCxnSpPr/>
          <p:nvPr/>
        </p:nvCxnSpPr>
        <p:spPr>
          <a:xfrm>
            <a:off x="7344000" y="820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Oval 164"/>
          <p:cNvSpPr/>
          <p:nvPr/>
        </p:nvSpPr>
        <p:spPr>
          <a:xfrm>
            <a:off x="5742000" y="8145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ANNOTATION:ENTRANCE DOWNLIGHTS title"/>
          <p:cNvSpPr txBox="1"/>
          <p:nvPr/>
        </p:nvSpPr>
        <p:spPr>
          <a:xfrm>
            <a:off x="7668000" y="8136000"/>
            <a:ext cx="237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ENTRANCE DOWNLIGHTS</a:t>
            </a:r>
          </a:p>
        </p:txBody>
      </p:sp>
      <p:sp>
        <p:nvSpPr>
          <p:cNvPr id="167" name="ANNOTATION:ENTRANCE DOWNLIGHTS description"/>
          <p:cNvSpPr txBox="1"/>
          <p:nvPr/>
        </p:nvSpPr>
        <p:spPr>
          <a:xfrm>
            <a:off x="7668000" y="8424000"/>
            <a:ext cx="237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Three approved positions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Final aiming on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STOREFRONT / EXTERNAL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storefront · street-facing displays, glazed entrance and halo-lit brand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torefront-envelope"/>
          <p:cNvSpPr/>
          <p:nvPr/>
        </p:nvSpPr>
        <p:spPr>
          <a:xfrm>
            <a:off x="2340000" y="2772000"/>
            <a:ext cx="4320000" cy="5760000"/>
          </a:xfrm>
          <a:prstGeom prst="rect">
            <a:avLst/>
          </a:prstGeom>
          <a:noFill/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2772000"/>
            <a:ext cx="4320000" cy="1080000"/>
          </a:xfrm>
          <a:prstGeom prst="rect">
            <a:avLst/>
          </a:prstGeom>
          <a:solidFill>
            <a:srgbClr val="E8E1D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0" y="2904321"/>
            <a:ext cx="1800000" cy="815357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315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15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315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315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315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315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5310000" y="7452000"/>
            <a:ext cx="540000" cy="108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10000" y="745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5310000" y="673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5310000" y="601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310000" y="529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5310000" y="4572000"/>
            <a:ext cx="540000" cy="0"/>
          </a:xfrm>
          <a:prstGeom prst="line">
            <a:avLst/>
          </a:prstGeom>
          <a:ln w="3810">
            <a:solidFill>
              <a:srgbClr val="D7D0C3"/>
            </a:solidFill>
          </a:ln>
          <a:effectLst/>
        </p:spPr>
      </p:cxnSp>
      <p:sp>
        <p:nvSpPr>
          <p:cNvPr id="34" name="Rectangle 33"/>
          <p:cNvSpPr/>
          <p:nvPr/>
        </p:nvSpPr>
        <p:spPr>
          <a:xfrm>
            <a:off x="3600000" y="6912000"/>
            <a:ext cx="1800000" cy="1620000"/>
          </a:xfrm>
          <a:prstGeom prst="rect">
            <a:avLst/>
          </a:prstGeom>
          <a:noFill/>
          <a:ln w="8890">
            <a:solidFill>
              <a:srgbClr val="D7D0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4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4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34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>
            <a:off x="234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234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234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234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234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234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>
            <a:off x="234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234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234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234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>
            <a:off x="234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234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234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 flipV="1">
            <a:off x="234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234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 flipV="1">
            <a:off x="234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>
            <a:off x="234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 flipV="1"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>
            <a:off x="234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 flipV="1"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>
            <a:off x="237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 flipV="1"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>
            <a:off x="241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 flipV="1"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>
            <a:off x="244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248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252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255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259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262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266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270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 flipV="1"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>
            <a:off x="273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 flipV="1"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277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 flipV="1">
            <a:off x="280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>
            <a:off x="280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 flipV="1">
            <a:off x="284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284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 flipV="1">
            <a:off x="288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288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 flipV="1">
            <a:off x="291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>
            <a:off x="291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 flipV="1">
            <a:off x="295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>
            <a:off x="295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 flipV="1">
            <a:off x="298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298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 flipV="1">
            <a:off x="302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>
            <a:off x="302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 flipV="1">
            <a:off x="306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>
            <a:off x="306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 flipV="1">
            <a:off x="309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>
            <a:off x="309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 flipV="1">
            <a:off x="313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>
            <a:off x="313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234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10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34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34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238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06" name="Rectangle 105"/>
          <p:cNvSpPr/>
          <p:nvPr/>
        </p:nvSpPr>
        <p:spPr>
          <a:xfrm>
            <a:off x="248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50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8" name="Connector 107"/>
          <p:cNvCxnSpPr/>
          <p:nvPr/>
        </p:nvCxnSpPr>
        <p:spPr>
          <a:xfrm>
            <a:off x="249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9" name="Rectangle 108"/>
          <p:cNvSpPr/>
          <p:nvPr/>
        </p:nvSpPr>
        <p:spPr>
          <a:xfrm>
            <a:off x="288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91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289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2" name="Rectangle 111"/>
          <p:cNvSpPr/>
          <p:nvPr/>
        </p:nvSpPr>
        <p:spPr>
          <a:xfrm>
            <a:off x="234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38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14" name="Rectangle 113"/>
          <p:cNvSpPr/>
          <p:nvPr/>
        </p:nvSpPr>
        <p:spPr>
          <a:xfrm>
            <a:off x="248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1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6" name="Connector 115"/>
          <p:cNvCxnSpPr/>
          <p:nvPr/>
        </p:nvCxnSpPr>
        <p:spPr>
          <a:xfrm>
            <a:off x="249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288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0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289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0" name="Rectangle 119"/>
          <p:cNvSpPr/>
          <p:nvPr/>
        </p:nvSpPr>
        <p:spPr>
          <a:xfrm>
            <a:off x="234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238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22" name="Rectangle 121"/>
          <p:cNvSpPr/>
          <p:nvPr/>
        </p:nvSpPr>
        <p:spPr>
          <a:xfrm>
            <a:off x="248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250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249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5" name="Rectangle 124"/>
          <p:cNvSpPr/>
          <p:nvPr/>
        </p:nvSpPr>
        <p:spPr>
          <a:xfrm>
            <a:off x="288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90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289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28" name="Rectangle 127"/>
          <p:cNvSpPr/>
          <p:nvPr/>
        </p:nvSpPr>
        <p:spPr>
          <a:xfrm>
            <a:off x="234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238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0" name="Rectangle 129"/>
          <p:cNvSpPr/>
          <p:nvPr/>
        </p:nvSpPr>
        <p:spPr>
          <a:xfrm>
            <a:off x="248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50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249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3" name="Rectangle 132"/>
          <p:cNvSpPr/>
          <p:nvPr/>
        </p:nvSpPr>
        <p:spPr>
          <a:xfrm>
            <a:off x="288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91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289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36" name="Rectangle 135"/>
          <p:cNvSpPr/>
          <p:nvPr/>
        </p:nvSpPr>
        <p:spPr>
          <a:xfrm>
            <a:off x="234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238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138" name="Rectangle 137"/>
          <p:cNvSpPr/>
          <p:nvPr/>
        </p:nvSpPr>
        <p:spPr>
          <a:xfrm>
            <a:off x="5850000" y="3852000"/>
            <a:ext cx="81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850000" y="3852000"/>
            <a:ext cx="810000" cy="720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5850000" y="3852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5850000" y="4500000"/>
            <a:ext cx="36000" cy="7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5850000" y="3852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5850000" y="4428000"/>
            <a:ext cx="72000" cy="14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5850000" y="3852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5850000" y="4356000"/>
            <a:ext cx="108000" cy="21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5850000" y="3852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5850000" y="4284000"/>
            <a:ext cx="144000" cy="2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5850000" y="385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5850000" y="4212000"/>
            <a:ext cx="180000" cy="36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5850000" y="3852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5850000" y="4140000"/>
            <a:ext cx="216000" cy="43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5850000" y="3852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5850000" y="4068000"/>
            <a:ext cx="252000" cy="50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5850000" y="3852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5850000" y="3996000"/>
            <a:ext cx="288000" cy="57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5850000" y="3852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5850000" y="3924000"/>
            <a:ext cx="324000" cy="64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585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588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592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595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599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603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606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610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6138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6174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6210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6246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6282000" y="3852000"/>
            <a:ext cx="360000" cy="72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6318000" y="3888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6318000" y="3852000"/>
            <a:ext cx="342000" cy="68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6354000" y="3960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6354000" y="3852000"/>
            <a:ext cx="306000" cy="61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6390000" y="403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6390000" y="3852000"/>
            <a:ext cx="270000" cy="54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6426000" y="4104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6426000" y="3852000"/>
            <a:ext cx="234000" cy="46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6462000" y="4176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6462000" y="3852000"/>
            <a:ext cx="198000" cy="39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6498000" y="4248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6498000" y="3852000"/>
            <a:ext cx="162000" cy="324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6534000" y="4320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6534000" y="3852000"/>
            <a:ext cx="126000" cy="252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6570000" y="439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6570000" y="3852000"/>
            <a:ext cx="90000" cy="180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6606000" y="4464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6606000" y="3852000"/>
            <a:ext cx="54000" cy="10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6642000" y="4536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6642000" y="3852000"/>
            <a:ext cx="18000" cy="36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204" name="Rectangle 203"/>
          <p:cNvSpPr/>
          <p:nvPr/>
        </p:nvSpPr>
        <p:spPr>
          <a:xfrm>
            <a:off x="5850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615000" y="385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50000" y="38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50000" y="745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08" name="Connector 207"/>
          <p:cNvCxnSpPr/>
          <p:nvPr/>
        </p:nvCxnSpPr>
        <p:spPr>
          <a:xfrm>
            <a:off x="5895000" y="749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09" name="Rectangle 208"/>
          <p:cNvSpPr/>
          <p:nvPr/>
        </p:nvSpPr>
        <p:spPr>
          <a:xfrm>
            <a:off x="5994000" y="72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018300" y="72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1" name="Connector 210"/>
          <p:cNvCxnSpPr/>
          <p:nvPr/>
        </p:nvCxnSpPr>
        <p:spPr>
          <a:xfrm>
            <a:off x="6008400" y="73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2" name="Rectangle 211"/>
          <p:cNvSpPr/>
          <p:nvPr/>
        </p:nvSpPr>
        <p:spPr>
          <a:xfrm>
            <a:off x="6390000" y="72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0132" y="71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6404400" y="73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15" name="Rectangle 214"/>
          <p:cNvSpPr/>
          <p:nvPr/>
        </p:nvSpPr>
        <p:spPr>
          <a:xfrm>
            <a:off x="5850000" y="673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5895000" y="677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17" name="Rectangle 216"/>
          <p:cNvSpPr/>
          <p:nvPr/>
        </p:nvSpPr>
        <p:spPr>
          <a:xfrm>
            <a:off x="5994000" y="651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024132" y="647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9" name="Connector 218"/>
          <p:cNvCxnSpPr/>
          <p:nvPr/>
        </p:nvCxnSpPr>
        <p:spPr>
          <a:xfrm>
            <a:off x="6008400" y="663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0" name="Rectangle 219"/>
          <p:cNvSpPr/>
          <p:nvPr/>
        </p:nvSpPr>
        <p:spPr>
          <a:xfrm>
            <a:off x="6390000" y="653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411384" y="650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2" name="Connector 221"/>
          <p:cNvCxnSpPr/>
          <p:nvPr/>
        </p:nvCxnSpPr>
        <p:spPr>
          <a:xfrm>
            <a:off x="6404400" y="664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3" name="Rectangle 222"/>
          <p:cNvSpPr/>
          <p:nvPr/>
        </p:nvSpPr>
        <p:spPr>
          <a:xfrm>
            <a:off x="5850000" y="601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Connector 223"/>
          <p:cNvCxnSpPr/>
          <p:nvPr/>
        </p:nvCxnSpPr>
        <p:spPr>
          <a:xfrm>
            <a:off x="5895000" y="605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25" name="Rectangle 224"/>
          <p:cNvSpPr/>
          <p:nvPr/>
        </p:nvSpPr>
        <p:spPr>
          <a:xfrm>
            <a:off x="5994000" y="581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015384" y="578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6008400" y="592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28" name="Rectangle 227"/>
          <p:cNvSpPr/>
          <p:nvPr/>
        </p:nvSpPr>
        <p:spPr>
          <a:xfrm>
            <a:off x="6390000" y="58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414300" y="58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0" name="Connector 229"/>
          <p:cNvCxnSpPr/>
          <p:nvPr/>
        </p:nvCxnSpPr>
        <p:spPr>
          <a:xfrm>
            <a:off x="6404400" y="59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1" name="Rectangle 230"/>
          <p:cNvSpPr/>
          <p:nvPr/>
        </p:nvSpPr>
        <p:spPr>
          <a:xfrm>
            <a:off x="5850000" y="529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5895000" y="533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33" name="Rectangle 232"/>
          <p:cNvSpPr/>
          <p:nvPr/>
        </p:nvSpPr>
        <p:spPr>
          <a:xfrm>
            <a:off x="5994000" y="511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018300" y="508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6008400" y="521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6" name="Rectangle 235"/>
          <p:cNvSpPr/>
          <p:nvPr/>
        </p:nvSpPr>
        <p:spPr>
          <a:xfrm>
            <a:off x="6390000" y="50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420132" y="50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>
            <a:off x="6404400" y="51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239" name="Rectangle 238"/>
          <p:cNvSpPr/>
          <p:nvPr/>
        </p:nvSpPr>
        <p:spPr>
          <a:xfrm>
            <a:off x="5850000" y="4572000"/>
            <a:ext cx="81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5895000" y="4611600"/>
            <a:ext cx="72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241" name="Rectangle 240"/>
          <p:cNvSpPr/>
          <p:nvPr/>
        </p:nvSpPr>
        <p:spPr>
          <a:xfrm>
            <a:off x="3157200" y="3870000"/>
            <a:ext cx="878400" cy="4644000"/>
          </a:xfrm>
          <a:prstGeom prst="rect">
            <a:avLst/>
          </a:prstGeom>
          <a:solidFill>
            <a:srgbClr val="D5E8F0">
              <a:alpha val="30000"/>
            </a:srgbClr>
          </a:solidFill>
          <a:ln w="8890">
            <a:solidFill>
              <a:srgbClr val="466976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2" name="GEOM:door-leaf"/>
          <p:cNvSpPr/>
          <p:nvPr/>
        </p:nvSpPr>
        <p:spPr>
          <a:xfrm>
            <a:off x="4042800" y="3870000"/>
            <a:ext cx="1800000" cy="4644000"/>
          </a:xfrm>
          <a:prstGeom prst="rect">
            <a:avLst/>
          </a:prstGeom>
          <a:solidFill>
            <a:srgbClr val="B7D8E8">
              <a:alpha val="35000"/>
            </a:srgbClr>
          </a:solidFill>
          <a:ln w="8890">
            <a:solidFill>
              <a:srgbClr val="466976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 flipV="1">
            <a:off x="4194000" y="6282000"/>
            <a:ext cx="0" cy="540000"/>
          </a:xfrm>
          <a:prstGeom prst="line">
            <a:avLst/>
          </a:prstGeom>
          <a:ln w="16510">
            <a:solidFill>
              <a:srgbClr val="252725"/>
            </a:solidFill>
          </a:ln>
          <a:effectLst/>
        </p:spPr>
      </p:cxnSp>
      <p:sp>
        <p:nvSpPr>
          <p:cNvPr id="244" name="Rectangle 243"/>
          <p:cNvSpPr/>
          <p:nvPr/>
        </p:nvSpPr>
        <p:spPr>
          <a:xfrm>
            <a:off x="5598000" y="8442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5598000" y="3915000"/>
            <a:ext cx="162000" cy="45000"/>
          </a:xfrm>
          <a:prstGeom prst="rect">
            <a:avLst/>
          </a:prstGeom>
          <a:solidFill>
            <a:srgbClr val="77797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234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660000" y="8532000"/>
            <a:ext cx="0" cy="50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>
            <a:off x="2340000" y="9036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 flipV="1">
            <a:off x="230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624000" y="900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1" name="TextBox 250"/>
          <p:cNvSpPr txBox="1"/>
          <p:nvPr/>
        </p:nvSpPr>
        <p:spPr>
          <a:xfrm>
            <a:off x="3960000" y="885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234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234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 flipV="1">
            <a:off x="230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57" name="TextBox 256"/>
          <p:cNvSpPr txBox="1"/>
          <p:nvPr/>
        </p:nvSpPr>
        <p:spPr>
          <a:xfrm>
            <a:off x="220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31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>
            <a:off x="3150000" y="8784000"/>
            <a:ext cx="27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 flipV="1">
            <a:off x="31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3" name="TextBox 262"/>
          <p:cNvSpPr txBox="1"/>
          <p:nvPr/>
        </p:nvSpPr>
        <p:spPr>
          <a:xfrm>
            <a:off x="3960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1500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585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660000" y="8532000"/>
            <a:ext cx="0" cy="25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>
            <a:off x="5850000" y="8784000"/>
            <a:ext cx="81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 flipV="1">
            <a:off x="581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24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69" name="TextBox 268"/>
          <p:cNvSpPr txBox="1"/>
          <p:nvPr/>
        </p:nvSpPr>
        <p:spPr>
          <a:xfrm>
            <a:off x="5715000" y="860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cxnSp>
        <p:nvCxnSpPr>
          <p:cNvPr id="270" name="Connector 269"/>
          <p:cNvCxnSpPr/>
          <p:nvPr/>
        </p:nvCxnSpPr>
        <p:spPr>
          <a:xfrm flipH="1">
            <a:off x="1872000" y="853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H="1">
            <a:off x="1872000" y="277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872000" y="2772000"/>
            <a:ext cx="0" cy="576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 flipV="1">
            <a:off x="1836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1836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5" name="TextBox 274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3200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2340000" y="9396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>
            <a:off x="23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32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>
            <a:off x="4140000" y="9360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97" name="TextBox 296"/>
          <p:cNvSpPr txBox="1"/>
          <p:nvPr/>
        </p:nvSpPr>
        <p:spPr>
          <a:xfrm>
            <a:off x="2340000" y="9468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908000" y="5940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HALO LETTER / BACKING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908000" y="6228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STAND-OFF SECTION 1:2</a:t>
            </a:r>
          </a:p>
        </p:txBody>
      </p:sp>
      <p:cxnSp>
        <p:nvCxnSpPr>
          <p:cNvPr id="305" name="Connector 304"/>
          <p:cNvCxnSpPr/>
          <p:nvPr/>
        </p:nvCxnSpPr>
        <p:spPr>
          <a:xfrm flipV="1">
            <a:off x="11160000" y="7074000"/>
            <a:ext cx="0" cy="1350000"/>
          </a:xfrm>
          <a:prstGeom prst="line">
            <a:avLst/>
          </a:prstGeom>
          <a:ln w="7620">
            <a:solidFill>
              <a:srgbClr val="737871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11610000" y="7074000"/>
            <a:ext cx="0" cy="135000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11160000" y="7794000"/>
            <a:ext cx="450000" cy="0"/>
          </a:xfrm>
          <a:prstGeom prst="line">
            <a:avLst/>
          </a:prstGeom>
          <a:ln w="7620">
            <a:solidFill>
              <a:srgbClr val="252725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1116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 flipV="1">
            <a:off x="11610000" y="6786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>
            <a:off x="11160000" y="6786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 flipV="1">
            <a:off x="1112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12" name="Connector 311"/>
          <p:cNvCxnSpPr/>
          <p:nvPr/>
        </p:nvCxnSpPr>
        <p:spPr>
          <a:xfrm flipV="1">
            <a:off x="11574000" y="675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13" name="TextBox 312"/>
          <p:cNvSpPr txBox="1"/>
          <p:nvPr/>
        </p:nvSpPr>
        <p:spPr>
          <a:xfrm>
            <a:off x="10845000" y="660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908000" y="8892000"/>
            <a:ext cx="3708000" cy="93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25 stand-off · halo behind black letters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Backing / wall support / drivers TBC #16</a:t>
            </a:r>
          </a:p>
        </p:txBody>
      </p:sp>
      <p:cxnSp>
        <p:nvCxnSpPr>
          <p:cNvPr id="315" name="LEADER:HALO-LIT BRAND"/>
          <p:cNvCxnSpPr/>
          <p:nvPr/>
        </p:nvCxnSpPr>
        <p:spPr>
          <a:xfrm flipV="1">
            <a:off x="4500000" y="2916000"/>
            <a:ext cx="2772000" cy="39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LEADER:HALO-LIT BRAND"/>
          <p:cNvCxnSpPr/>
          <p:nvPr/>
        </p:nvCxnSpPr>
        <p:spPr>
          <a:xfrm>
            <a:off x="7272000" y="291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7" name="Oval 316"/>
          <p:cNvSpPr/>
          <p:nvPr/>
        </p:nvSpPr>
        <p:spPr>
          <a:xfrm>
            <a:off x="4482000" y="329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ANNOTATION:HALO-LIT BRAND title"/>
          <p:cNvSpPr txBox="1"/>
          <p:nvPr/>
        </p:nvSpPr>
        <p:spPr>
          <a:xfrm>
            <a:off x="7596000" y="2844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HALO-LIT BRAND</a:t>
            </a:r>
          </a:p>
        </p:txBody>
      </p:sp>
      <p:sp>
        <p:nvSpPr>
          <p:cNvPr id="319" name="ANNOTATION:HALO-LIT BRAND description"/>
          <p:cNvSpPr txBox="1"/>
          <p:nvPr/>
        </p:nvSpPr>
        <p:spPr>
          <a:xfrm>
            <a:off x="7596000" y="3132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wide · 25 stand-offs</a:t>
            </a:r>
          </a:p>
        </p:txBody>
      </p:sp>
      <p:sp>
        <p:nvSpPr>
          <p:cNvPr id="323" name="ANNOTATION:BLACK STEEL FRAME title"/>
          <p:cNvSpPr txBox="1"/>
          <p:nvPr/>
        </p:nvSpPr>
        <p:spPr>
          <a:xfrm>
            <a:off x="7596000" y="3996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FRAME</a:t>
            </a:r>
          </a:p>
        </p:txBody>
      </p:sp>
      <p:sp>
        <p:nvSpPr>
          <p:cNvPr id="324" name="ANNOTATION:BLACK STEEL FRAME description"/>
          <p:cNvSpPr txBox="1"/>
          <p:nvPr/>
        </p:nvSpPr>
        <p:spPr>
          <a:xfrm>
            <a:off x="7596000" y="4284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× 25 × 1.6 main SHS</a:t>
            </a:r>
          </a:p>
        </p:txBody>
      </p:sp>
      <p:sp>
        <p:nvSpPr>
          <p:cNvPr id="328" name="ANNOTATION:FOLDED DISPLAY TRAY title"/>
          <p:cNvSpPr txBox="1"/>
          <p:nvPr/>
        </p:nvSpPr>
        <p:spPr>
          <a:xfrm>
            <a:off x="7596000" y="5472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FOLDED DISPLAY TRAY</a:t>
            </a:r>
          </a:p>
        </p:txBody>
      </p:sp>
      <p:sp>
        <p:nvSpPr>
          <p:cNvPr id="329" name="ANNOTATION:FOLDED DISPLAY TRAY description"/>
          <p:cNvSpPr txBox="1"/>
          <p:nvPr/>
        </p:nvSpPr>
        <p:spPr>
          <a:xfrm>
            <a:off x="7596000" y="5760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concealed shelf light</a:t>
            </a:r>
          </a:p>
        </p:txBody>
      </p:sp>
      <p:sp>
        <p:nvSpPr>
          <p:cNvPr id="333" name="ANNOTATION:CLEAR TOUGHENED GLASS title"/>
          <p:cNvSpPr txBox="1"/>
          <p:nvPr/>
        </p:nvSpPr>
        <p:spPr>
          <a:xfrm>
            <a:off x="7596000" y="6840000"/>
            <a:ext cx="2736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CLEAR TOUGHENED GLASS</a:t>
            </a:r>
          </a:p>
        </p:txBody>
      </p:sp>
      <p:sp>
        <p:nvSpPr>
          <p:cNvPr id="334" name="ANNOTATION:CLEAR TOUGHENED GLASS description"/>
          <p:cNvSpPr txBox="1"/>
          <p:nvPr/>
        </p:nvSpPr>
        <p:spPr>
          <a:xfrm>
            <a:off x="7596000" y="7128000"/>
            <a:ext cx="2736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× 2580 leaf · 12 mm glass</a:t>
            </a:r>
          </a:p>
        </p:txBody>
      </p:sp>
      <p:cxnSp>
        <p:nvCxnSpPr>
          <p:cNvPr id="335" name="LEADER:BLACK STEEL FRAME"/>
          <p:cNvCxnSpPr/>
          <p:nvPr/>
        </p:nvCxnSpPr>
        <p:spPr>
          <a:xfrm>
            <a:off x="6637500" y="4032000"/>
            <a:ext cx="634500" cy="36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LEADER:BLACK STEEL FRAME"/>
          <p:cNvCxnSpPr/>
          <p:nvPr/>
        </p:nvCxnSpPr>
        <p:spPr>
          <a:xfrm>
            <a:off x="7272000" y="406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Oval 336"/>
          <p:cNvSpPr/>
          <p:nvPr/>
        </p:nvSpPr>
        <p:spPr>
          <a:xfrm>
            <a:off x="6619500" y="401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8" name="LEADER:FOLDED DISPLAY TRAY"/>
          <p:cNvCxnSpPr/>
          <p:nvPr/>
        </p:nvCxnSpPr>
        <p:spPr>
          <a:xfrm>
            <a:off x="6255000" y="5292000"/>
            <a:ext cx="1017000" cy="25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LEADER:FOLDED DISPLAY TRAY"/>
          <p:cNvCxnSpPr/>
          <p:nvPr/>
        </p:nvCxnSpPr>
        <p:spPr>
          <a:xfrm>
            <a:off x="7272000" y="554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Oval 339"/>
          <p:cNvSpPr/>
          <p:nvPr/>
        </p:nvSpPr>
        <p:spPr>
          <a:xfrm>
            <a:off x="6237000" y="52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1" name="LEADER:CLEAR TOUGHENED GLASS"/>
          <p:cNvCxnSpPr/>
          <p:nvPr/>
        </p:nvCxnSpPr>
        <p:spPr>
          <a:xfrm flipV="1">
            <a:off x="5400000" y="6912000"/>
            <a:ext cx="1872000" cy="180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LEADER:CLEAR TOUGHENED GLASS"/>
          <p:cNvCxnSpPr/>
          <p:nvPr/>
        </p:nvCxnSpPr>
        <p:spPr>
          <a:xfrm>
            <a:off x="7272000" y="6912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Oval 342"/>
          <p:cNvSpPr/>
          <p:nvPr/>
        </p:nvSpPr>
        <p:spPr>
          <a:xfrm>
            <a:off x="5382000" y="70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4" name="HEIGHT-CHAIN:100"/>
          <p:cNvCxnSpPr/>
          <p:nvPr/>
        </p:nvCxnSpPr>
        <p:spPr>
          <a:xfrm>
            <a:off x="6660000" y="853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HEIGHT-CHAIN:100"/>
          <p:cNvCxnSpPr/>
          <p:nvPr/>
        </p:nvCxnSpPr>
        <p:spPr>
          <a:xfrm>
            <a:off x="6660000" y="835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HEIGHT-CHAIN:100"/>
          <p:cNvCxnSpPr/>
          <p:nvPr/>
        </p:nvCxnSpPr>
        <p:spPr>
          <a:xfrm flipV="1">
            <a:off x="7056000" y="835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HEIGHT-CHAIN:100"/>
          <p:cNvCxnSpPr/>
          <p:nvPr/>
        </p:nvCxnSpPr>
        <p:spPr>
          <a:xfrm flipV="1">
            <a:off x="7020000" y="84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HEIGHT-CHAIN:100"/>
          <p:cNvCxnSpPr/>
          <p:nvPr/>
        </p:nvCxnSpPr>
        <p:spPr>
          <a:xfrm flipV="1">
            <a:off x="7020000" y="83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HEIGHT-CHAIN:100"/>
          <p:cNvSpPr txBox="1"/>
          <p:nvPr/>
        </p:nvSpPr>
        <p:spPr>
          <a:xfrm>
            <a:off x="7128000" y="844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350" name="HEIGHT-CHAIN:500"/>
          <p:cNvCxnSpPr/>
          <p:nvPr/>
        </p:nvCxnSpPr>
        <p:spPr>
          <a:xfrm>
            <a:off x="6660000" y="835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HEIGHT-CHAIN:500"/>
          <p:cNvCxnSpPr/>
          <p:nvPr/>
        </p:nvCxnSpPr>
        <p:spPr>
          <a:xfrm>
            <a:off x="6660000" y="745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HEIGHT-CHAIN:500"/>
          <p:cNvCxnSpPr/>
          <p:nvPr/>
        </p:nvCxnSpPr>
        <p:spPr>
          <a:xfrm flipV="1">
            <a:off x="7056000" y="745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HEIGHT-CHAIN:500"/>
          <p:cNvCxnSpPr/>
          <p:nvPr/>
        </p:nvCxnSpPr>
        <p:spPr>
          <a:xfrm flipV="1">
            <a:off x="7020000" y="83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HEIGHT-CHAIN:500"/>
          <p:cNvCxnSpPr/>
          <p:nvPr/>
        </p:nvCxnSpPr>
        <p:spPr>
          <a:xfrm flipV="1">
            <a:off x="7020000" y="74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HEIGHT-CHAIN:500"/>
          <p:cNvSpPr txBox="1"/>
          <p:nvPr/>
        </p:nvSpPr>
        <p:spPr>
          <a:xfrm>
            <a:off x="7128000" y="790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356" name="HEIGHT-CHAIN:400"/>
          <p:cNvCxnSpPr/>
          <p:nvPr/>
        </p:nvCxnSpPr>
        <p:spPr>
          <a:xfrm>
            <a:off x="6660000" y="745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HEIGHT-CHAIN:400"/>
          <p:cNvCxnSpPr/>
          <p:nvPr/>
        </p:nvCxnSpPr>
        <p:spPr>
          <a:xfrm>
            <a:off x="6660000" y="673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HEIGHT-CHAIN:400"/>
          <p:cNvCxnSpPr/>
          <p:nvPr/>
        </p:nvCxnSpPr>
        <p:spPr>
          <a:xfrm flipV="1">
            <a:off x="7056000" y="67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HEIGHT-CHAIN:400"/>
          <p:cNvCxnSpPr/>
          <p:nvPr/>
        </p:nvCxnSpPr>
        <p:spPr>
          <a:xfrm flipV="1">
            <a:off x="7020000" y="74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HEIGHT-CHAIN:400"/>
          <p:cNvCxnSpPr/>
          <p:nvPr/>
        </p:nvCxnSpPr>
        <p:spPr>
          <a:xfrm flipV="1">
            <a:off x="7020000" y="66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HEIGHT-CHAIN:400"/>
          <p:cNvSpPr txBox="1"/>
          <p:nvPr/>
        </p:nvSpPr>
        <p:spPr>
          <a:xfrm>
            <a:off x="7128000" y="709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62" name="HEIGHT-CHAIN:400"/>
          <p:cNvCxnSpPr/>
          <p:nvPr/>
        </p:nvCxnSpPr>
        <p:spPr>
          <a:xfrm>
            <a:off x="6660000" y="673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HEIGHT-CHAIN:400"/>
          <p:cNvCxnSpPr/>
          <p:nvPr/>
        </p:nvCxnSpPr>
        <p:spPr>
          <a:xfrm>
            <a:off x="6660000" y="601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HEIGHT-CHAIN:400"/>
          <p:cNvCxnSpPr/>
          <p:nvPr/>
        </p:nvCxnSpPr>
        <p:spPr>
          <a:xfrm flipV="1">
            <a:off x="7056000" y="60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HEIGHT-CHAIN:400"/>
          <p:cNvCxnSpPr/>
          <p:nvPr/>
        </p:nvCxnSpPr>
        <p:spPr>
          <a:xfrm flipV="1">
            <a:off x="7020000" y="66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HEIGHT-CHAIN:400"/>
          <p:cNvCxnSpPr/>
          <p:nvPr/>
        </p:nvCxnSpPr>
        <p:spPr>
          <a:xfrm flipV="1">
            <a:off x="7020000" y="59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HEIGHT-CHAIN:400"/>
          <p:cNvSpPr txBox="1"/>
          <p:nvPr/>
        </p:nvSpPr>
        <p:spPr>
          <a:xfrm>
            <a:off x="7128000" y="637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68" name="HEIGHT-CHAIN:400"/>
          <p:cNvCxnSpPr/>
          <p:nvPr/>
        </p:nvCxnSpPr>
        <p:spPr>
          <a:xfrm>
            <a:off x="6660000" y="601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HEIGHT-CHAIN:400"/>
          <p:cNvCxnSpPr/>
          <p:nvPr/>
        </p:nvCxnSpPr>
        <p:spPr>
          <a:xfrm>
            <a:off x="6660000" y="529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HEIGHT-CHAIN:400"/>
          <p:cNvCxnSpPr/>
          <p:nvPr/>
        </p:nvCxnSpPr>
        <p:spPr>
          <a:xfrm flipV="1">
            <a:off x="7056000" y="52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HEIGHT-CHAIN:400"/>
          <p:cNvCxnSpPr/>
          <p:nvPr/>
        </p:nvCxnSpPr>
        <p:spPr>
          <a:xfrm flipV="1">
            <a:off x="7020000" y="59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HEIGHT-CHAIN:400"/>
          <p:cNvCxnSpPr/>
          <p:nvPr/>
        </p:nvCxnSpPr>
        <p:spPr>
          <a:xfrm flipV="1">
            <a:off x="7020000" y="52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HEIGHT-CHAIN:400"/>
          <p:cNvSpPr txBox="1"/>
          <p:nvPr/>
        </p:nvSpPr>
        <p:spPr>
          <a:xfrm>
            <a:off x="7128000" y="565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74" name="HEIGHT-CHAIN:400"/>
          <p:cNvCxnSpPr/>
          <p:nvPr/>
        </p:nvCxnSpPr>
        <p:spPr>
          <a:xfrm>
            <a:off x="6660000" y="529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HEIGHT-CHAIN:400"/>
          <p:cNvCxnSpPr/>
          <p:nvPr/>
        </p:nvCxnSpPr>
        <p:spPr>
          <a:xfrm>
            <a:off x="6660000" y="457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HEIGHT-CHAIN:400"/>
          <p:cNvCxnSpPr/>
          <p:nvPr/>
        </p:nvCxnSpPr>
        <p:spPr>
          <a:xfrm flipV="1">
            <a:off x="7056000" y="45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HEIGHT-CHAIN:400"/>
          <p:cNvCxnSpPr/>
          <p:nvPr/>
        </p:nvCxnSpPr>
        <p:spPr>
          <a:xfrm flipV="1">
            <a:off x="7020000" y="52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HEIGHT-CHAIN:400"/>
          <p:cNvCxnSpPr/>
          <p:nvPr/>
        </p:nvCxnSpPr>
        <p:spPr>
          <a:xfrm flipV="1">
            <a:off x="7020000" y="45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HEIGHT-CHAIN:400"/>
          <p:cNvSpPr txBox="1"/>
          <p:nvPr/>
        </p:nvSpPr>
        <p:spPr>
          <a:xfrm>
            <a:off x="7128000" y="493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80" name="HEIGHT-CHAIN:400"/>
          <p:cNvCxnSpPr/>
          <p:nvPr/>
        </p:nvCxnSpPr>
        <p:spPr>
          <a:xfrm>
            <a:off x="6660000" y="457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HEIGHT-CHAIN:400"/>
          <p:cNvCxnSpPr/>
          <p:nvPr/>
        </p:nvCxnSpPr>
        <p:spPr>
          <a:xfrm>
            <a:off x="6660000" y="385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HEIGHT-CHAIN:400"/>
          <p:cNvCxnSpPr/>
          <p:nvPr/>
        </p:nvCxnSpPr>
        <p:spPr>
          <a:xfrm flipV="1">
            <a:off x="7056000" y="38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HEIGHT-CHAIN:400"/>
          <p:cNvCxnSpPr/>
          <p:nvPr/>
        </p:nvCxnSpPr>
        <p:spPr>
          <a:xfrm flipV="1">
            <a:off x="7020000" y="45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HEIGHT-CHAIN:400"/>
          <p:cNvCxnSpPr/>
          <p:nvPr/>
        </p:nvCxnSpPr>
        <p:spPr>
          <a:xfrm flipV="1">
            <a:off x="7020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HEIGHT-CHAIN:400"/>
          <p:cNvSpPr txBox="1"/>
          <p:nvPr/>
        </p:nvSpPr>
        <p:spPr>
          <a:xfrm>
            <a:off x="7128000" y="421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86" name="HEIGHT-CHAIN:600"/>
          <p:cNvCxnSpPr/>
          <p:nvPr/>
        </p:nvCxnSpPr>
        <p:spPr>
          <a:xfrm>
            <a:off x="6660000" y="385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HEIGHT-CHAIN:600"/>
          <p:cNvCxnSpPr/>
          <p:nvPr/>
        </p:nvCxnSpPr>
        <p:spPr>
          <a:xfrm>
            <a:off x="6660000" y="277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HEIGHT-CHAIN:600"/>
          <p:cNvCxnSpPr/>
          <p:nvPr/>
        </p:nvCxnSpPr>
        <p:spPr>
          <a:xfrm flipV="1">
            <a:off x="7056000" y="2772000"/>
            <a:ext cx="0" cy="108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HEIGHT-CHAIN:600"/>
          <p:cNvCxnSpPr/>
          <p:nvPr/>
        </p:nvCxnSpPr>
        <p:spPr>
          <a:xfrm flipV="1">
            <a:off x="7020000" y="38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HEIGHT-CHAIN:600"/>
          <p:cNvCxnSpPr/>
          <p:nvPr/>
        </p:nvCxnSpPr>
        <p:spPr>
          <a:xfrm flipV="1">
            <a:off x="7020000" y="27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HEIGHT-CHAIN:600"/>
          <p:cNvSpPr txBox="1"/>
          <p:nvPr/>
        </p:nvSpPr>
        <p:spPr>
          <a:xfrm>
            <a:off x="7128000" y="331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REAR FOCAL WALL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Rear focal wall · developed shelving + owner-directed counter front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internal-envelope"/>
          <p:cNvSpPr/>
          <p:nvPr/>
        </p:nvSpPr>
        <p:spPr>
          <a:xfrm>
            <a:off x="2340000" y="3312000"/>
            <a:ext cx="4320000" cy="4680000"/>
          </a:xfrm>
          <a:prstGeom prst="rect">
            <a:avLst/>
          </a:prstGeom>
          <a:solidFill>
            <a:srgbClr val="F0E8DA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312000"/>
            <a:ext cx="45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1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9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9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324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28" name="Rectangle 27"/>
          <p:cNvSpPr/>
          <p:nvPr/>
        </p:nvSpPr>
        <p:spPr>
          <a:xfrm>
            <a:off x="279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4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9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9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283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293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5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94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" name="Rectangle 35"/>
          <p:cNvSpPr/>
          <p:nvPr/>
        </p:nvSpPr>
        <p:spPr>
          <a:xfrm>
            <a:off x="342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343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279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83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293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6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294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4" name="Rectangle 43"/>
          <p:cNvSpPr/>
          <p:nvPr/>
        </p:nvSpPr>
        <p:spPr>
          <a:xfrm>
            <a:off x="342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4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3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279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83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49" name="Rectangle 48"/>
          <p:cNvSpPr/>
          <p:nvPr/>
        </p:nvSpPr>
        <p:spPr>
          <a:xfrm>
            <a:off x="293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5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94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2" name="Rectangle 51"/>
          <p:cNvSpPr/>
          <p:nvPr/>
        </p:nvSpPr>
        <p:spPr>
          <a:xfrm>
            <a:off x="342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4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343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55" name="Rectangle 54"/>
          <p:cNvSpPr/>
          <p:nvPr/>
        </p:nvSpPr>
        <p:spPr>
          <a:xfrm>
            <a:off x="279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83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57" name="Rectangle 56"/>
          <p:cNvSpPr/>
          <p:nvPr/>
        </p:nvSpPr>
        <p:spPr>
          <a:xfrm>
            <a:off x="293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5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94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342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343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63" name="Rectangle 62"/>
          <p:cNvSpPr/>
          <p:nvPr/>
        </p:nvSpPr>
        <p:spPr>
          <a:xfrm>
            <a:off x="279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283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65" name="Rectangle 64"/>
          <p:cNvSpPr/>
          <p:nvPr/>
        </p:nvSpPr>
        <p:spPr>
          <a:xfrm>
            <a:off x="5310000" y="3312000"/>
            <a:ext cx="900000" cy="4680000"/>
          </a:xfrm>
          <a:prstGeom prst="rect">
            <a:avLst/>
          </a:prstGeom>
          <a:solidFill>
            <a:srgbClr val="E8DFCF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10000" y="7812000"/>
            <a:ext cx="900000" cy="180000"/>
          </a:xfrm>
          <a:prstGeom prst="rect">
            <a:avLst/>
          </a:prstGeom>
          <a:solidFill>
            <a:srgbClr val="424540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10000" y="6912000"/>
            <a:ext cx="900000" cy="900000"/>
          </a:xfrm>
          <a:prstGeom prst="rect">
            <a:avLst/>
          </a:prstGeom>
          <a:solidFill>
            <a:srgbClr val="DAD3C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5760000" y="6957000"/>
            <a:ext cx="0" cy="837000"/>
          </a:xfrm>
          <a:prstGeom prst="line">
            <a:avLst/>
          </a:prstGeom>
          <a:ln w="4445">
            <a:solidFill>
              <a:srgbClr val="737871"/>
            </a:solidFill>
          </a:ln>
          <a:effectLst/>
        </p:spPr>
      </p:cxnSp>
      <p:sp>
        <p:nvSpPr>
          <p:cNvPr id="69" name="Rectangle 68"/>
          <p:cNvSpPr/>
          <p:nvPr/>
        </p:nvSpPr>
        <p:spPr>
          <a:xfrm>
            <a:off x="5310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65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10000" y="33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10000" y="691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355000" y="695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74" name="Rectangle 73"/>
          <p:cNvSpPr/>
          <p:nvPr/>
        </p:nvSpPr>
        <p:spPr>
          <a:xfrm>
            <a:off x="5454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8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468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77" name="Rectangle 76"/>
          <p:cNvSpPr/>
          <p:nvPr/>
        </p:nvSpPr>
        <p:spPr>
          <a:xfrm>
            <a:off x="5940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70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954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0" name="Rectangle 79"/>
          <p:cNvSpPr/>
          <p:nvPr/>
        </p:nvSpPr>
        <p:spPr>
          <a:xfrm>
            <a:off x="5310000" y="619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5355000" y="623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82" name="Rectangle 81"/>
          <p:cNvSpPr/>
          <p:nvPr/>
        </p:nvSpPr>
        <p:spPr>
          <a:xfrm>
            <a:off x="54540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4841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4684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5" name="Rectangle 84"/>
          <p:cNvSpPr/>
          <p:nvPr/>
        </p:nvSpPr>
        <p:spPr>
          <a:xfrm>
            <a:off x="59400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613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59544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5310000" y="547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5355000" y="551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0" name="Rectangle 89"/>
          <p:cNvSpPr/>
          <p:nvPr/>
        </p:nvSpPr>
        <p:spPr>
          <a:xfrm>
            <a:off x="5454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75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5468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3" name="Rectangle 92"/>
          <p:cNvSpPr/>
          <p:nvPr/>
        </p:nvSpPr>
        <p:spPr>
          <a:xfrm>
            <a:off x="5940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964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5954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96" name="Rectangle 95"/>
          <p:cNvSpPr/>
          <p:nvPr/>
        </p:nvSpPr>
        <p:spPr>
          <a:xfrm>
            <a:off x="5310000" y="475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5355000" y="479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sp>
        <p:nvSpPr>
          <p:cNvPr id="98" name="Rectangle 97"/>
          <p:cNvSpPr/>
          <p:nvPr/>
        </p:nvSpPr>
        <p:spPr>
          <a:xfrm>
            <a:off x="54540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4783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54684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1" name="Rectangle 100"/>
          <p:cNvSpPr/>
          <p:nvPr/>
        </p:nvSpPr>
        <p:spPr>
          <a:xfrm>
            <a:off x="59400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701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59544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104" name="Rectangle 103"/>
          <p:cNvSpPr/>
          <p:nvPr/>
        </p:nvSpPr>
        <p:spPr>
          <a:xfrm>
            <a:off x="5310000" y="4032000"/>
            <a:ext cx="9000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5355000" y="4071600"/>
            <a:ext cx="810000" cy="0"/>
          </a:xfrm>
          <a:prstGeom prst="line">
            <a:avLst/>
          </a:prstGeom>
          <a:ln w="10160">
            <a:solidFill>
              <a:srgbClr val="9A825A"/>
            </a:solidFill>
          </a:ln>
          <a:effectLst/>
        </p:spPr>
      </p:cxn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0" y="4327392"/>
            <a:ext cx="1080000" cy="489214"/>
          </a:xfrm>
          <a:prstGeom prst="rect">
            <a:avLst/>
          </a:prstGeom>
          <a:effectLst/>
        </p:spPr>
      </p:pic>
      <p:sp>
        <p:nvSpPr>
          <p:cNvPr id="107" name="GEOM:counter-elevation"/>
          <p:cNvSpPr/>
          <p:nvPr/>
        </p:nvSpPr>
        <p:spPr>
          <a:xfrm>
            <a:off x="3600000" y="6372000"/>
            <a:ext cx="1800000" cy="1620000"/>
          </a:xfrm>
          <a:prstGeom prst="rect">
            <a:avLst/>
          </a:prstGeom>
          <a:solidFill>
            <a:srgbClr val="D9CBB4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636000" y="6444000"/>
            <a:ext cx="594000" cy="1449000"/>
          </a:xfrm>
          <a:prstGeom prst="rect">
            <a:avLst/>
          </a:prstGeom>
          <a:solidFill>
            <a:srgbClr val="B6AD9A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3636000" y="64440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3636000" y="7891200"/>
            <a:ext cx="900" cy="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 flipV="1">
            <a:off x="3636000" y="64440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>
            <a:off x="3636000" y="7819200"/>
            <a:ext cx="36900" cy="7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 flipV="1">
            <a:off x="3636000" y="64440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3636000" y="7747200"/>
            <a:ext cx="72900" cy="14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3636000" y="64440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3636000" y="7675200"/>
            <a:ext cx="108900" cy="21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 flipV="1">
            <a:off x="3636000" y="64440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>
            <a:off x="3636000" y="7603200"/>
            <a:ext cx="144900" cy="28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 flipV="1">
            <a:off x="3636000" y="64440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>
            <a:off x="3636000" y="7531200"/>
            <a:ext cx="180900" cy="36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3636000" y="64440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>
            <a:off x="3636000" y="7459200"/>
            <a:ext cx="216900" cy="43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3636000" y="64440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>
            <a:off x="3636000" y="7387200"/>
            <a:ext cx="252900" cy="50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 flipV="1">
            <a:off x="3636000" y="64440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>
            <a:off x="3636000" y="7315200"/>
            <a:ext cx="288900" cy="57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 flipV="1">
            <a:off x="3636000" y="64440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>
            <a:off x="3636000" y="7243200"/>
            <a:ext cx="324900" cy="64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3636000" y="64440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>
            <a:off x="3636000" y="7171200"/>
            <a:ext cx="360900" cy="72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 flipV="1">
            <a:off x="3636000" y="64440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3636000" y="7099200"/>
            <a:ext cx="396900" cy="79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 flipV="1">
            <a:off x="3636000" y="64440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3636000" y="7027200"/>
            <a:ext cx="432900" cy="865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 flipV="1">
            <a:off x="3636000" y="64440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3636000" y="6955200"/>
            <a:ext cx="468900" cy="937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 flipV="1">
            <a:off x="3636000" y="64440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>
            <a:off x="3636000" y="6883200"/>
            <a:ext cx="504900" cy="1009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 flipV="1">
            <a:off x="3636000" y="64440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3636000" y="6811200"/>
            <a:ext cx="540900" cy="1081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 flipV="1">
            <a:off x="3636000" y="64440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3636000" y="6739200"/>
            <a:ext cx="576900" cy="11538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 flipV="1">
            <a:off x="3636000" y="6481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>
            <a:off x="3636000" y="6667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 flipV="1">
            <a:off x="3636000" y="6553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>
            <a:off x="3636000" y="6595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 flipV="1">
            <a:off x="3636000" y="6625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>
            <a:off x="3636000" y="6523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 flipV="1">
            <a:off x="3636000" y="66978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>
            <a:off x="3636000" y="6451200"/>
            <a:ext cx="594000" cy="11880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 flipV="1">
            <a:off x="3668400" y="67698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>
            <a:off x="3668400" y="6444000"/>
            <a:ext cx="561600" cy="112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 flipV="1">
            <a:off x="3704400" y="68418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>
            <a:off x="3704400" y="6444000"/>
            <a:ext cx="525600" cy="105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 flipV="1">
            <a:off x="3740400" y="69138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>
            <a:off x="3740400" y="6444000"/>
            <a:ext cx="489600" cy="97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 flipV="1">
            <a:off x="3776400" y="69858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>
            <a:off x="3776400" y="6444000"/>
            <a:ext cx="453600" cy="90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 flipV="1">
            <a:off x="3812400" y="70578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>
            <a:off x="3812400" y="6444000"/>
            <a:ext cx="417600" cy="83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 flipV="1">
            <a:off x="3848400" y="71298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>
            <a:off x="3848400" y="6444000"/>
            <a:ext cx="381600" cy="76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 flipV="1">
            <a:off x="3884400" y="72018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>
            <a:off x="3884400" y="6444000"/>
            <a:ext cx="345600" cy="69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 flipV="1">
            <a:off x="3920400" y="72738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>
            <a:off x="3920400" y="6444000"/>
            <a:ext cx="309600" cy="61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 flipV="1">
            <a:off x="3956400" y="73458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>
            <a:off x="3956400" y="6444000"/>
            <a:ext cx="273600" cy="54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 flipV="1">
            <a:off x="3992400" y="74178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>
            <a:off x="3992400" y="6444000"/>
            <a:ext cx="237600" cy="47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 flipV="1">
            <a:off x="4028400" y="74898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4028400" y="6444000"/>
            <a:ext cx="201600" cy="40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 flipV="1">
            <a:off x="4064400" y="75618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>
            <a:off x="4064400" y="6444000"/>
            <a:ext cx="165600" cy="331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4100400" y="76338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>
            <a:off x="4100400" y="6444000"/>
            <a:ext cx="129600" cy="259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 flipV="1">
            <a:off x="4136400" y="77058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>
            <a:off x="4136400" y="6444000"/>
            <a:ext cx="93600" cy="187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 flipV="1">
            <a:off x="4172400" y="77778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>
            <a:off x="4172400" y="6444000"/>
            <a:ext cx="57600" cy="115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 flipV="1">
            <a:off x="4208400" y="78498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>
            <a:off x="4208400" y="6444000"/>
            <a:ext cx="21600" cy="43200"/>
          </a:xfrm>
          <a:prstGeom prst="line">
            <a:avLst/>
          </a:prstGeom>
          <a:ln w="2286">
            <a:solidFill>
              <a:srgbClr val="6C6B61"/>
            </a:solidFill>
          </a:ln>
          <a:effectLst/>
        </p:spPr>
      </p:cxnSp>
      <p:sp>
        <p:nvSpPr>
          <p:cNvPr id="183" name="Rectangle 182"/>
          <p:cNvSpPr/>
          <p:nvPr/>
        </p:nvSpPr>
        <p:spPr>
          <a:xfrm>
            <a:off x="3600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212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364000" y="6408000"/>
            <a:ext cx="36000" cy="1548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600000" y="7920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600000" y="6408000"/>
            <a:ext cx="1800000" cy="36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600000" y="6372000"/>
            <a:ext cx="1800000" cy="36000"/>
          </a:xfrm>
          <a:prstGeom prst="rect">
            <a:avLst/>
          </a:prstGeom>
          <a:solidFill>
            <a:srgbClr val="EEE7DB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>
            <a:off x="234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>
            <a:off x="6660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2340000" y="8604000"/>
            <a:ext cx="43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230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 flipV="1">
            <a:off x="6624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194" name="TextBox 193"/>
          <p:cNvSpPr txBox="1"/>
          <p:nvPr/>
        </p:nvSpPr>
        <p:spPr>
          <a:xfrm>
            <a:off x="39600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2400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36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>
            <a:off x="5400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3600000" y="8280000"/>
            <a:ext cx="18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35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 flipV="1">
            <a:off x="5364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0" name="TextBox 199"/>
          <p:cNvSpPr txBox="1"/>
          <p:nvPr/>
        </p:nvSpPr>
        <p:spPr>
          <a:xfrm>
            <a:off x="3960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01" name="Connector 200"/>
          <p:cNvCxnSpPr/>
          <p:nvPr/>
        </p:nvCxnSpPr>
        <p:spPr>
          <a:xfrm flipH="1">
            <a:off x="1872000" y="799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H="1">
            <a:off x="1872000" y="3312000"/>
            <a:ext cx="46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 flipV="1">
            <a:off x="1872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1836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 flipV="1">
            <a:off x="1836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06" name="TextBox 205"/>
          <p:cNvSpPr txBox="1"/>
          <p:nvPr/>
        </p:nvSpPr>
        <p:spPr>
          <a:xfrm>
            <a:off x="1440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207" name="Connector 206"/>
          <p:cNvCxnSpPr/>
          <p:nvPr/>
        </p:nvCxnSpPr>
        <p:spPr>
          <a:xfrm flipV="1">
            <a:off x="234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234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230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2" name="TextBox 211"/>
          <p:cNvSpPr txBox="1"/>
          <p:nvPr/>
        </p:nvSpPr>
        <p:spPr>
          <a:xfrm>
            <a:off x="202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27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279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27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270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369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3690000" y="2988000"/>
            <a:ext cx="162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365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24" name="TextBox 223"/>
          <p:cNvSpPr txBox="1"/>
          <p:nvPr/>
        </p:nvSpPr>
        <p:spPr>
          <a:xfrm>
            <a:off x="396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25" name="Connector 224"/>
          <p:cNvCxnSpPr/>
          <p:nvPr/>
        </p:nvCxnSpPr>
        <p:spPr>
          <a:xfrm flipV="1">
            <a:off x="53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310000" y="2988000"/>
            <a:ext cx="9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2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0" name="TextBox 229"/>
          <p:cNvSpPr txBox="1"/>
          <p:nvPr/>
        </p:nvSpPr>
        <p:spPr>
          <a:xfrm>
            <a:off x="5220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231" name="Connector 230"/>
          <p:cNvCxnSpPr/>
          <p:nvPr/>
        </p:nvCxnSpPr>
        <p:spPr>
          <a:xfrm flipV="1">
            <a:off x="621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6660000" y="298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6210000" y="2988000"/>
            <a:ext cx="45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17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 flipV="1">
            <a:off x="6624000" y="295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36" name="TextBox 235"/>
          <p:cNvSpPr txBox="1"/>
          <p:nvPr/>
        </p:nvSpPr>
        <p:spPr>
          <a:xfrm>
            <a:off x="5895000" y="280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237" name="Connector 236"/>
          <p:cNvCxnSpPr/>
          <p:nvPr/>
        </p:nvCxnSpPr>
        <p:spPr>
          <a:xfrm>
            <a:off x="5400000" y="799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>
            <a:off x="5400000" y="6372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 flipV="1">
            <a:off x="5688000" y="6372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652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 flipV="1">
            <a:off x="5652000" y="63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42" name="TextBox 241"/>
          <p:cNvSpPr txBox="1"/>
          <p:nvPr/>
        </p:nvSpPr>
        <p:spPr>
          <a:xfrm>
            <a:off x="5256000" y="718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900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2340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>
            <a:off x="23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32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>
            <a:off x="4140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255" name="TextBox 254"/>
          <p:cNvSpPr txBox="1"/>
          <p:nvPr/>
        </p:nvSpPr>
        <p:spPr>
          <a:xfrm>
            <a:off x="2340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0224000" y="2304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REAR SHELF / FRAME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224000" y="2592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224000" y="4302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4670000" y="4302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494000" y="4356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522800" y="4384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7" name="Connector 266"/>
          <p:cNvCxnSpPr/>
          <p:nvPr/>
        </p:nvCxnSpPr>
        <p:spPr>
          <a:xfrm>
            <a:off x="14364000" y="4536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102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 flipV="1">
            <a:off x="14724000" y="3978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>
            <a:off x="10224000" y="3978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 flipV="1">
            <a:off x="101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14688000" y="394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73" name="TextBox 272"/>
          <p:cNvSpPr txBox="1"/>
          <p:nvPr/>
        </p:nvSpPr>
        <p:spPr>
          <a:xfrm>
            <a:off x="11934000" y="3798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224000" y="4932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872000" y="6984000"/>
            <a:ext cx="37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COUNTER / FOOTPRINT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0872000" y="7272000"/>
            <a:ext cx="3708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PLAN 1:10</a:t>
            </a:r>
          </a:p>
        </p:txBody>
      </p:sp>
      <p:sp>
        <p:nvSpPr>
          <p:cNvPr id="277" name="GEOM:active-counter-detail"/>
          <p:cNvSpPr/>
          <p:nvPr/>
        </p:nvSpPr>
        <p:spPr>
          <a:xfrm>
            <a:off x="10872000" y="7848000"/>
            <a:ext cx="3600000" cy="1620000"/>
          </a:xfrm>
          <a:prstGeom prst="rect">
            <a:avLst/>
          </a:prstGeom>
          <a:solidFill>
            <a:srgbClr val="D7CBB8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872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872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4400000" y="9396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4400000" y="7848000"/>
            <a:ext cx="72000" cy="72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108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 flipV="1">
            <a:off x="14472000" y="7560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>
            <a:off x="10872000" y="7560000"/>
            <a:ext cx="36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 flipV="1">
            <a:off x="108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14436000" y="752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87" name="TextBox 286"/>
          <p:cNvSpPr txBox="1"/>
          <p:nvPr/>
        </p:nvSpPr>
        <p:spPr>
          <a:xfrm>
            <a:off x="12132000" y="738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1000</a:t>
            </a:r>
          </a:p>
        </p:txBody>
      </p:sp>
      <p:cxnSp>
        <p:nvCxnSpPr>
          <p:cNvPr id="288" name="Connector 287"/>
          <p:cNvCxnSpPr/>
          <p:nvPr/>
        </p:nvCxnSpPr>
        <p:spPr>
          <a:xfrm>
            <a:off x="14472000" y="946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14472000" y="7848000"/>
            <a:ext cx="14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14616000" y="7848000"/>
            <a:ext cx="0" cy="16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 flipV="1">
            <a:off x="14580000" y="943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14580000" y="7812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293" name="TextBox 292"/>
          <p:cNvSpPr txBox="1"/>
          <p:nvPr/>
        </p:nvSpPr>
        <p:spPr>
          <a:xfrm>
            <a:off x="14184000" y="8658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450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872000" y="10044000"/>
            <a:ext cx="3708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frame · front split TBC #16</a:t>
            </a:r>
          </a:p>
        </p:txBody>
      </p:sp>
      <p:sp>
        <p:nvSpPr>
          <p:cNvPr id="298" name="ANNOTATION:UNLIT BLACK LOGO title"/>
          <p:cNvSpPr txBox="1"/>
          <p:nvPr/>
        </p:nvSpPr>
        <p:spPr>
          <a:xfrm>
            <a:off x="7596000" y="3996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UNLIT BLACK LOGO</a:t>
            </a:r>
          </a:p>
        </p:txBody>
      </p:sp>
      <p:sp>
        <p:nvSpPr>
          <p:cNvPr id="299" name="ANNOTATION:UNLIT BLACK LOGO description"/>
          <p:cNvSpPr txBox="1"/>
          <p:nvPr/>
        </p:nvSpPr>
        <p:spPr>
          <a:xfrm>
            <a:off x="7596000" y="4284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 wide · centre at 1900</a:t>
            </a:r>
          </a:p>
        </p:txBody>
      </p:sp>
      <p:cxnSp>
        <p:nvCxnSpPr>
          <p:cNvPr id="300" name="LEADER:BLACK TRAY / WARM LED"/>
          <p:cNvCxnSpPr/>
          <p:nvPr/>
        </p:nvCxnSpPr>
        <p:spPr>
          <a:xfrm>
            <a:off x="6165000" y="5472000"/>
            <a:ext cx="1107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LEADER:BLACK TRAY / WARM LED"/>
          <p:cNvCxnSpPr/>
          <p:nvPr/>
        </p:nvCxnSpPr>
        <p:spPr>
          <a:xfrm>
            <a:off x="7272000" y="5472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Oval 301"/>
          <p:cNvSpPr/>
          <p:nvPr/>
        </p:nvSpPr>
        <p:spPr>
          <a:xfrm>
            <a:off x="6147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ANNOTATION:BLACK TRAY / WARM LED title"/>
          <p:cNvSpPr txBox="1"/>
          <p:nvPr/>
        </p:nvSpPr>
        <p:spPr>
          <a:xfrm>
            <a:off x="7596000" y="5400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TRAY / WARM LED</a:t>
            </a:r>
          </a:p>
        </p:txBody>
      </p:sp>
      <p:sp>
        <p:nvSpPr>
          <p:cNvPr id="304" name="ANNOTATION:BLACK TRAY / WARM LED description"/>
          <p:cNvSpPr txBox="1"/>
          <p:nvPr/>
        </p:nvSpPr>
        <p:spPr>
          <a:xfrm>
            <a:off x="7596000" y="5688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· 25 downstand</a:t>
            </a:r>
          </a:p>
        </p:txBody>
      </p:sp>
      <p:sp>
        <p:nvSpPr>
          <p:cNvPr id="308" name="ANNOTATION:COUNTER FRONT title"/>
          <p:cNvSpPr txBox="1"/>
          <p:nvPr/>
        </p:nvSpPr>
        <p:spPr>
          <a:xfrm>
            <a:off x="7596000" y="6408000"/>
            <a:ext cx="24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 FRONT</a:t>
            </a:r>
          </a:p>
        </p:txBody>
      </p:sp>
      <p:sp>
        <p:nvSpPr>
          <p:cNvPr id="309" name="ANNOTATION:COUNTER FRONT description"/>
          <p:cNvSpPr txBox="1"/>
          <p:nvPr/>
        </p:nvSpPr>
        <p:spPr>
          <a:xfrm>
            <a:off x="7596000" y="6696000"/>
            <a:ext cx="24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Mesh left / neutral solid right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Panel split and top TBC #16</a:t>
            </a:r>
          </a:p>
        </p:txBody>
      </p:sp>
      <p:cxnSp>
        <p:nvCxnSpPr>
          <p:cNvPr id="310" name="LEADER:UNLIT BLACK LOGO"/>
          <p:cNvCxnSpPr/>
          <p:nvPr/>
        </p:nvCxnSpPr>
        <p:spPr>
          <a:xfrm flipV="1">
            <a:off x="4500000" y="4068000"/>
            <a:ext cx="2772000" cy="378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LEADER:UNLIT BLACK LOGO"/>
          <p:cNvCxnSpPr/>
          <p:nvPr/>
        </p:nvCxnSpPr>
        <p:spPr>
          <a:xfrm>
            <a:off x="7272000" y="406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Oval 311"/>
          <p:cNvSpPr/>
          <p:nvPr/>
        </p:nvSpPr>
        <p:spPr>
          <a:xfrm>
            <a:off x="4482000" y="4428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3" name="LEADER:COUNTER FRONT"/>
          <p:cNvCxnSpPr/>
          <p:nvPr/>
        </p:nvCxnSpPr>
        <p:spPr>
          <a:xfrm flipV="1">
            <a:off x="4194000" y="6480000"/>
            <a:ext cx="3078000" cy="16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LEADER:COUNTER FRONT"/>
          <p:cNvCxnSpPr/>
          <p:nvPr/>
        </p:nvCxnSpPr>
        <p:spPr>
          <a:xfrm>
            <a:off x="7272000" y="648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Oval 314"/>
          <p:cNvSpPr/>
          <p:nvPr/>
        </p:nvSpPr>
        <p:spPr>
          <a:xfrm>
            <a:off x="4176000" y="662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6" name="HEIGHT-CHAIN:100"/>
          <p:cNvCxnSpPr/>
          <p:nvPr/>
        </p:nvCxnSpPr>
        <p:spPr>
          <a:xfrm>
            <a:off x="6660000" y="799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HEIGHT-CHAIN:100"/>
          <p:cNvCxnSpPr/>
          <p:nvPr/>
        </p:nvCxnSpPr>
        <p:spPr>
          <a:xfrm>
            <a:off x="6660000" y="781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HEIGHT-CHAIN:100"/>
          <p:cNvCxnSpPr/>
          <p:nvPr/>
        </p:nvCxnSpPr>
        <p:spPr>
          <a:xfrm flipV="1">
            <a:off x="70560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HEIGHT-CHAIN:100"/>
          <p:cNvCxnSpPr/>
          <p:nvPr/>
        </p:nvCxnSpPr>
        <p:spPr>
          <a:xfrm flipV="1">
            <a:off x="702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HEIGHT-CHAIN:100"/>
          <p:cNvCxnSpPr/>
          <p:nvPr/>
        </p:nvCxnSpPr>
        <p:spPr>
          <a:xfrm flipV="1">
            <a:off x="70200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HEIGHT-CHAIN:100"/>
          <p:cNvSpPr txBox="1"/>
          <p:nvPr/>
        </p:nvSpPr>
        <p:spPr>
          <a:xfrm>
            <a:off x="7128000" y="790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322" name="HEIGHT-CHAIN:500"/>
          <p:cNvCxnSpPr/>
          <p:nvPr/>
        </p:nvCxnSpPr>
        <p:spPr>
          <a:xfrm>
            <a:off x="6660000" y="781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HEIGHT-CHAIN:500"/>
          <p:cNvCxnSpPr/>
          <p:nvPr/>
        </p:nvCxnSpPr>
        <p:spPr>
          <a:xfrm>
            <a:off x="6660000" y="691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HEIGHT-CHAIN:500"/>
          <p:cNvCxnSpPr/>
          <p:nvPr/>
        </p:nvCxnSpPr>
        <p:spPr>
          <a:xfrm flipV="1">
            <a:off x="70560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HEIGHT-CHAIN:500"/>
          <p:cNvCxnSpPr/>
          <p:nvPr/>
        </p:nvCxnSpPr>
        <p:spPr>
          <a:xfrm flipV="1">
            <a:off x="70200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HEIGHT-CHAIN:500"/>
          <p:cNvCxnSpPr/>
          <p:nvPr/>
        </p:nvCxnSpPr>
        <p:spPr>
          <a:xfrm flipV="1">
            <a:off x="70200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HEIGHT-CHAIN:500"/>
          <p:cNvSpPr txBox="1"/>
          <p:nvPr/>
        </p:nvSpPr>
        <p:spPr>
          <a:xfrm>
            <a:off x="7128000" y="736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328" name="HEIGHT-CHAIN:400"/>
          <p:cNvCxnSpPr/>
          <p:nvPr/>
        </p:nvCxnSpPr>
        <p:spPr>
          <a:xfrm>
            <a:off x="6660000" y="691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HEIGHT-CHAIN:400"/>
          <p:cNvCxnSpPr/>
          <p:nvPr/>
        </p:nvCxnSpPr>
        <p:spPr>
          <a:xfrm>
            <a:off x="6660000" y="619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HEIGHT-CHAIN:400"/>
          <p:cNvCxnSpPr/>
          <p:nvPr/>
        </p:nvCxnSpPr>
        <p:spPr>
          <a:xfrm flipV="1">
            <a:off x="70560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HEIGHT-CHAIN:400"/>
          <p:cNvCxnSpPr/>
          <p:nvPr/>
        </p:nvCxnSpPr>
        <p:spPr>
          <a:xfrm flipV="1">
            <a:off x="70200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HEIGHT-CHAIN:400"/>
          <p:cNvCxnSpPr/>
          <p:nvPr/>
        </p:nvCxnSpPr>
        <p:spPr>
          <a:xfrm flipV="1">
            <a:off x="70200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HEIGHT-CHAIN:400"/>
          <p:cNvSpPr txBox="1"/>
          <p:nvPr/>
        </p:nvSpPr>
        <p:spPr>
          <a:xfrm>
            <a:off x="7128000" y="655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34" name="HEIGHT-CHAIN:400"/>
          <p:cNvCxnSpPr/>
          <p:nvPr/>
        </p:nvCxnSpPr>
        <p:spPr>
          <a:xfrm>
            <a:off x="6660000" y="619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HEIGHT-CHAIN:400"/>
          <p:cNvCxnSpPr/>
          <p:nvPr/>
        </p:nvCxnSpPr>
        <p:spPr>
          <a:xfrm>
            <a:off x="6660000" y="547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HEIGHT-CHAIN:400"/>
          <p:cNvCxnSpPr/>
          <p:nvPr/>
        </p:nvCxnSpPr>
        <p:spPr>
          <a:xfrm flipV="1">
            <a:off x="70560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HEIGHT-CHAIN:400"/>
          <p:cNvCxnSpPr/>
          <p:nvPr/>
        </p:nvCxnSpPr>
        <p:spPr>
          <a:xfrm flipV="1">
            <a:off x="70200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HEIGHT-CHAIN:400"/>
          <p:cNvCxnSpPr/>
          <p:nvPr/>
        </p:nvCxnSpPr>
        <p:spPr>
          <a:xfrm flipV="1">
            <a:off x="70200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HEIGHT-CHAIN:400"/>
          <p:cNvSpPr txBox="1"/>
          <p:nvPr/>
        </p:nvSpPr>
        <p:spPr>
          <a:xfrm>
            <a:off x="7128000" y="583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40" name="HEIGHT-CHAIN:400"/>
          <p:cNvCxnSpPr/>
          <p:nvPr/>
        </p:nvCxnSpPr>
        <p:spPr>
          <a:xfrm>
            <a:off x="6660000" y="547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HEIGHT-CHAIN:400"/>
          <p:cNvCxnSpPr/>
          <p:nvPr/>
        </p:nvCxnSpPr>
        <p:spPr>
          <a:xfrm>
            <a:off x="6660000" y="475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HEIGHT-CHAIN:400"/>
          <p:cNvCxnSpPr/>
          <p:nvPr/>
        </p:nvCxnSpPr>
        <p:spPr>
          <a:xfrm flipV="1">
            <a:off x="70560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HEIGHT-CHAIN:400"/>
          <p:cNvCxnSpPr/>
          <p:nvPr/>
        </p:nvCxnSpPr>
        <p:spPr>
          <a:xfrm flipV="1">
            <a:off x="70200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HEIGHT-CHAIN:400"/>
          <p:cNvCxnSpPr/>
          <p:nvPr/>
        </p:nvCxnSpPr>
        <p:spPr>
          <a:xfrm flipV="1">
            <a:off x="70200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HEIGHT-CHAIN:400"/>
          <p:cNvSpPr txBox="1"/>
          <p:nvPr/>
        </p:nvSpPr>
        <p:spPr>
          <a:xfrm>
            <a:off x="7128000" y="511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46" name="HEIGHT-CHAIN:400"/>
          <p:cNvCxnSpPr/>
          <p:nvPr/>
        </p:nvCxnSpPr>
        <p:spPr>
          <a:xfrm>
            <a:off x="6660000" y="475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HEIGHT-CHAIN:400"/>
          <p:cNvCxnSpPr/>
          <p:nvPr/>
        </p:nvCxnSpPr>
        <p:spPr>
          <a:xfrm>
            <a:off x="6660000" y="403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HEIGHT-CHAIN:400"/>
          <p:cNvCxnSpPr/>
          <p:nvPr/>
        </p:nvCxnSpPr>
        <p:spPr>
          <a:xfrm flipV="1">
            <a:off x="70560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HEIGHT-CHAIN:400"/>
          <p:cNvCxnSpPr/>
          <p:nvPr/>
        </p:nvCxnSpPr>
        <p:spPr>
          <a:xfrm flipV="1">
            <a:off x="70200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HEIGHT-CHAIN:400"/>
          <p:cNvCxnSpPr/>
          <p:nvPr/>
        </p:nvCxnSpPr>
        <p:spPr>
          <a:xfrm flipV="1">
            <a:off x="70200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HEIGHT-CHAIN:400"/>
          <p:cNvSpPr txBox="1"/>
          <p:nvPr/>
        </p:nvSpPr>
        <p:spPr>
          <a:xfrm>
            <a:off x="7128000" y="439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352" name="HEIGHT-CHAIN:400"/>
          <p:cNvCxnSpPr/>
          <p:nvPr/>
        </p:nvCxnSpPr>
        <p:spPr>
          <a:xfrm>
            <a:off x="6660000" y="403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HEIGHT-CHAIN:400"/>
          <p:cNvCxnSpPr/>
          <p:nvPr/>
        </p:nvCxnSpPr>
        <p:spPr>
          <a:xfrm>
            <a:off x="6660000" y="3312000"/>
            <a:ext cx="396000" cy="0"/>
          </a:xfrm>
          <a:prstGeom prst="line">
            <a:avLst/>
          </a:prstGeom>
          <a:ln w="508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HEIGHT-CHAIN:400"/>
          <p:cNvCxnSpPr/>
          <p:nvPr/>
        </p:nvCxnSpPr>
        <p:spPr>
          <a:xfrm flipV="1">
            <a:off x="70560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HEIGHT-CHAIN:400"/>
          <p:cNvCxnSpPr/>
          <p:nvPr/>
        </p:nvCxnSpPr>
        <p:spPr>
          <a:xfrm flipV="1">
            <a:off x="70200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HEIGHT-CHAIN:400"/>
          <p:cNvCxnSpPr/>
          <p:nvPr/>
        </p:nvCxnSpPr>
        <p:spPr>
          <a:xfrm flipV="1">
            <a:off x="702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HEIGHT-CHAIN:400"/>
          <p:cNvSpPr txBox="1"/>
          <p:nvPr/>
        </p:nvSpPr>
        <p:spPr>
          <a:xfrm>
            <a:off x="7128000" y="3672000"/>
            <a:ext cx="39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LEFT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360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810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1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4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4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4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264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264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264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64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264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264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264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264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264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264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264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264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264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264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264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264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264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264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26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26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27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27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27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8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8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8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9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9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30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30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30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31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31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31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32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32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2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33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33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34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34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34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35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35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35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36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36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36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37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37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37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8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8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9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9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9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40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40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40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41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41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41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42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42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43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43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43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44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44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44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45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45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45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46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46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46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47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47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48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8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8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9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9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9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50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50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50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51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51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52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52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52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53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53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53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54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54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54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55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55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55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56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56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57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57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57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8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8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8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9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9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9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60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60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61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61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617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621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624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628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631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635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639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642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646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649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653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657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660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664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667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671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675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678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82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85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89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93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96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700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703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707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707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711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711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714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714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718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718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721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721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725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725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729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729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732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732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736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736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739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739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264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81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01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620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264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269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264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269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264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269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264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269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264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269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324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316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91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94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93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308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11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310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91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93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93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308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311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310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443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436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411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14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412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428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430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429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411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413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412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428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431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429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563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555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530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33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532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547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0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549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530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32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532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547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50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549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82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675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650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53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651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667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669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668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650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652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651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667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670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668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269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264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264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261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27036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84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84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380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89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503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503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500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509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623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742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623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619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739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628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794000" y="790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794000" y="736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794000" y="655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794000" y="583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794000" y="511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794000" y="439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794000" y="367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836000" y="9936000"/>
            <a:ext cx="79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  <p:cxnSp>
        <p:nvCxnSpPr>
          <p:cNvPr id="518" name="LEADER:EXPANDED MESH"/>
          <p:cNvCxnSpPr/>
          <p:nvPr/>
        </p:nvCxnSpPr>
        <p:spPr>
          <a:xfrm flipV="1">
            <a:off x="7398000" y="3240000"/>
            <a:ext cx="810000" cy="25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LEADER:EXPANDED MESH"/>
          <p:cNvCxnSpPr/>
          <p:nvPr/>
        </p:nvCxnSpPr>
        <p:spPr>
          <a:xfrm>
            <a:off x="8208000" y="32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Oval 519"/>
          <p:cNvSpPr/>
          <p:nvPr/>
        </p:nvSpPr>
        <p:spPr>
          <a:xfrm>
            <a:off x="7380000" y="34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ANNOTATION:EXPANDED MESH title"/>
          <p:cNvSpPr txBox="1"/>
          <p:nvPr/>
        </p:nvSpPr>
        <p:spPr>
          <a:xfrm>
            <a:off x="8532000" y="316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22" name="ANNOTATION:EXPANDED MESH description"/>
          <p:cNvSpPr txBox="1"/>
          <p:nvPr/>
        </p:nvSpPr>
        <p:spPr>
          <a:xfrm>
            <a:off x="8532000" y="345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2200–2600</a:t>
            </a:r>
          </a:p>
        </p:txBody>
      </p:sp>
      <p:cxnSp>
        <p:nvCxnSpPr>
          <p:cNvPr id="523" name="LEADER:BLACK STEEL TRAY"/>
          <p:cNvCxnSpPr/>
          <p:nvPr/>
        </p:nvCxnSpPr>
        <p:spPr>
          <a:xfrm flipV="1">
            <a:off x="7398000" y="5400000"/>
            <a:ext cx="810000" cy="7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LEADER:BLACK STEEL TRAY"/>
          <p:cNvCxnSpPr/>
          <p:nvPr/>
        </p:nvCxnSpPr>
        <p:spPr>
          <a:xfrm>
            <a:off x="8208000" y="540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Oval 524"/>
          <p:cNvSpPr/>
          <p:nvPr/>
        </p:nvSpPr>
        <p:spPr>
          <a:xfrm>
            <a:off x="7380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ANNOTATION:BLACK STEEL TRAY title"/>
          <p:cNvSpPr txBox="1"/>
          <p:nvPr/>
        </p:nvSpPr>
        <p:spPr>
          <a:xfrm>
            <a:off x="8532000" y="532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</a:t>
            </a:r>
          </a:p>
        </p:txBody>
      </p:sp>
      <p:sp>
        <p:nvSpPr>
          <p:cNvPr id="527" name="ANNOTATION:BLACK STEEL TRAY description"/>
          <p:cNvSpPr txBox="1"/>
          <p:nvPr/>
        </p:nvSpPr>
        <p:spPr>
          <a:xfrm>
            <a:off x="8532000" y="561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downstand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Concealed warm LED</a:t>
            </a:r>
          </a:p>
        </p:txBody>
      </p:sp>
      <p:cxnSp>
        <p:nvCxnSpPr>
          <p:cNvPr id="528" name="LEADER:RECESSED PLINTH"/>
          <p:cNvCxnSpPr/>
          <p:nvPr/>
        </p:nvCxnSpPr>
        <p:spPr>
          <a:xfrm flipV="1">
            <a:off x="7398000" y="7668000"/>
            <a:ext cx="810000" cy="279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LEADER:RECESSED PLINTH"/>
          <p:cNvCxnSpPr/>
          <p:nvPr/>
        </p:nvCxnSpPr>
        <p:spPr>
          <a:xfrm>
            <a:off x="8208000" y="766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Oval 529"/>
          <p:cNvSpPr/>
          <p:nvPr/>
        </p:nvSpPr>
        <p:spPr>
          <a:xfrm>
            <a:off x="7380000" y="7929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ANNOTATION:RECESSED PLINTH title"/>
          <p:cNvSpPr txBox="1"/>
          <p:nvPr/>
        </p:nvSpPr>
        <p:spPr>
          <a:xfrm>
            <a:off x="8532000" y="7596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RECESSED PLINTH</a:t>
            </a:r>
          </a:p>
        </p:txBody>
      </p:sp>
      <p:sp>
        <p:nvSpPr>
          <p:cNvPr id="532" name="ANNOTATION:RECESSED PLINTH description"/>
          <p:cNvSpPr txBox="1"/>
          <p:nvPr/>
        </p:nvSpPr>
        <p:spPr>
          <a:xfrm>
            <a:off x="8532000" y="7884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 high · 50 recess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toe-kick light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1836000" y="2520000"/>
            <a:ext cx="972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COLUMN RETURN</a:t>
            </a:r>
          </a:p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Display faces street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RIGHT DISPLAY / INTERNAL ELEVATION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Developed display elevation · interfaces + material codes · bottles indicative only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19" name="GEOM:side-envelope"/>
          <p:cNvSpPr/>
          <p:nvPr/>
        </p:nvSpPr>
        <p:spPr>
          <a:xfrm>
            <a:off x="1836000" y="3312000"/>
            <a:ext cx="5590800" cy="4680000"/>
          </a:xfrm>
          <a:prstGeom prst="rect">
            <a:avLst/>
          </a:prstGeom>
          <a:solidFill>
            <a:srgbClr val="F1EBE0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16800" y="3312000"/>
            <a:ext cx="810000" cy="4680000"/>
          </a:xfrm>
          <a:prstGeom prst="rect">
            <a:avLst/>
          </a:prstGeom>
          <a:solidFill>
            <a:srgbClr val="DDD5C6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1800" y="3357000"/>
            <a:ext cx="720000" cy="4590000"/>
          </a:xfrm>
          <a:prstGeom prst="rect">
            <a:avLst/>
          </a:prstGeom>
          <a:noFill/>
          <a:ln w="8890">
            <a:solidFill>
              <a:srgbClr val="73787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16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8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836000" y="7812000"/>
            <a:ext cx="4780800" cy="18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36000" y="6912000"/>
            <a:ext cx="4780800" cy="900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36000" y="3312000"/>
            <a:ext cx="4780800" cy="720000"/>
          </a:xfrm>
          <a:prstGeom prst="rect">
            <a:avLst/>
          </a:prstGeom>
          <a:solidFill>
            <a:srgbClr val="D3CCBD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1836000" y="3312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1836000" y="3960000"/>
            <a:ext cx="36000" cy="7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1836000" y="3312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1836000" y="3888000"/>
            <a:ext cx="72000" cy="14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1836000" y="3312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1836000" y="3816000"/>
            <a:ext cx="108000" cy="21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1836000" y="3312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836000" y="3744000"/>
            <a:ext cx="144000" cy="28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1836000" y="331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836000" y="3672000"/>
            <a:ext cx="180000" cy="36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836000" y="3312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9" name="Connector 38"/>
          <p:cNvCxnSpPr/>
          <p:nvPr/>
        </p:nvCxnSpPr>
        <p:spPr>
          <a:xfrm>
            <a:off x="1836000" y="3600000"/>
            <a:ext cx="216000" cy="432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1836000" y="3312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836000" y="3528000"/>
            <a:ext cx="252000" cy="504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1836000" y="3312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836000" y="3456000"/>
            <a:ext cx="288000" cy="576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836000" y="3312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5" name="Connector 44"/>
          <p:cNvCxnSpPr/>
          <p:nvPr/>
        </p:nvCxnSpPr>
        <p:spPr>
          <a:xfrm>
            <a:off x="1836000" y="3384000"/>
            <a:ext cx="324000" cy="648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7" name="Connector 46"/>
          <p:cNvCxnSpPr/>
          <p:nvPr/>
        </p:nvCxnSpPr>
        <p:spPr>
          <a:xfrm>
            <a:off x="18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18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 flipV="1"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19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 flipV="1"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19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4" name="Connector 53"/>
          <p:cNvCxnSpPr/>
          <p:nvPr/>
        </p:nvCxnSpPr>
        <p:spPr>
          <a:xfrm flipV="1"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5" name="Connector 54"/>
          <p:cNvCxnSpPr/>
          <p:nvPr/>
        </p:nvCxnSpPr>
        <p:spPr>
          <a:xfrm>
            <a:off x="19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6" name="Connector 55"/>
          <p:cNvCxnSpPr/>
          <p:nvPr/>
        </p:nvCxnSpPr>
        <p:spPr>
          <a:xfrm flipV="1"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7" name="Connector 56"/>
          <p:cNvCxnSpPr/>
          <p:nvPr/>
        </p:nvCxnSpPr>
        <p:spPr>
          <a:xfrm>
            <a:off x="20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8" name="Connector 57"/>
          <p:cNvCxnSpPr/>
          <p:nvPr/>
        </p:nvCxnSpPr>
        <p:spPr>
          <a:xfrm flipV="1"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59" name="Connector 58"/>
          <p:cNvCxnSpPr/>
          <p:nvPr/>
        </p:nvCxnSpPr>
        <p:spPr>
          <a:xfrm>
            <a:off x="20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0" name="Connector 59"/>
          <p:cNvCxnSpPr/>
          <p:nvPr/>
        </p:nvCxnSpPr>
        <p:spPr>
          <a:xfrm flipV="1"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20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2" name="Connector 61"/>
          <p:cNvCxnSpPr/>
          <p:nvPr/>
        </p:nvCxnSpPr>
        <p:spPr>
          <a:xfrm flipV="1"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3" name="Connector 62"/>
          <p:cNvCxnSpPr/>
          <p:nvPr/>
        </p:nvCxnSpPr>
        <p:spPr>
          <a:xfrm>
            <a:off x="21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4" name="Connector 63"/>
          <p:cNvCxnSpPr/>
          <p:nvPr/>
        </p:nvCxnSpPr>
        <p:spPr>
          <a:xfrm flipV="1"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5" name="Connector 64"/>
          <p:cNvCxnSpPr/>
          <p:nvPr/>
        </p:nvCxnSpPr>
        <p:spPr>
          <a:xfrm>
            <a:off x="21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 flipV="1"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7" name="Connector 66"/>
          <p:cNvCxnSpPr/>
          <p:nvPr/>
        </p:nvCxnSpPr>
        <p:spPr>
          <a:xfrm>
            <a:off x="21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8" name="Connector 67"/>
          <p:cNvCxnSpPr/>
          <p:nvPr/>
        </p:nvCxnSpPr>
        <p:spPr>
          <a:xfrm flipV="1"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69" name="Connector 68"/>
          <p:cNvCxnSpPr/>
          <p:nvPr/>
        </p:nvCxnSpPr>
        <p:spPr>
          <a:xfrm>
            <a:off x="22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0" name="Connector 69"/>
          <p:cNvCxnSpPr/>
          <p:nvPr/>
        </p:nvCxnSpPr>
        <p:spPr>
          <a:xfrm flipV="1"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1" name="Connector 70"/>
          <p:cNvCxnSpPr/>
          <p:nvPr/>
        </p:nvCxnSpPr>
        <p:spPr>
          <a:xfrm>
            <a:off x="22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 flipV="1"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3" name="Connector 72"/>
          <p:cNvCxnSpPr/>
          <p:nvPr/>
        </p:nvCxnSpPr>
        <p:spPr>
          <a:xfrm>
            <a:off x="23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4" name="Connector 73"/>
          <p:cNvCxnSpPr/>
          <p:nvPr/>
        </p:nvCxnSpPr>
        <p:spPr>
          <a:xfrm flipV="1"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23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 flipV="1"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7" name="Connector 76"/>
          <p:cNvCxnSpPr/>
          <p:nvPr/>
        </p:nvCxnSpPr>
        <p:spPr>
          <a:xfrm>
            <a:off x="23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8" name="Connector 77"/>
          <p:cNvCxnSpPr/>
          <p:nvPr/>
        </p:nvCxnSpPr>
        <p:spPr>
          <a:xfrm flipV="1"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79" name="Connector 78"/>
          <p:cNvCxnSpPr/>
          <p:nvPr/>
        </p:nvCxnSpPr>
        <p:spPr>
          <a:xfrm>
            <a:off x="24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 flipV="1"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24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V="1"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24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 flipV="1"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5" name="Connector 84"/>
          <p:cNvCxnSpPr/>
          <p:nvPr/>
        </p:nvCxnSpPr>
        <p:spPr>
          <a:xfrm>
            <a:off x="25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 flipV="1"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25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8" name="Connector 87"/>
          <p:cNvCxnSpPr/>
          <p:nvPr/>
        </p:nvCxnSpPr>
        <p:spPr>
          <a:xfrm flipV="1"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89" name="Connector 88"/>
          <p:cNvCxnSpPr/>
          <p:nvPr/>
        </p:nvCxnSpPr>
        <p:spPr>
          <a:xfrm>
            <a:off x="25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V="1"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26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 flipV="1"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3" name="Connector 92"/>
          <p:cNvCxnSpPr/>
          <p:nvPr/>
        </p:nvCxnSpPr>
        <p:spPr>
          <a:xfrm>
            <a:off x="26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4" name="Connector 93"/>
          <p:cNvCxnSpPr/>
          <p:nvPr/>
        </p:nvCxnSpPr>
        <p:spPr>
          <a:xfrm flipV="1"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5" name="Connector 94"/>
          <p:cNvCxnSpPr/>
          <p:nvPr/>
        </p:nvCxnSpPr>
        <p:spPr>
          <a:xfrm>
            <a:off x="27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6" name="Connector 95"/>
          <p:cNvCxnSpPr/>
          <p:nvPr/>
        </p:nvCxnSpPr>
        <p:spPr>
          <a:xfrm flipV="1"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7" name="Connector 96"/>
          <p:cNvCxnSpPr/>
          <p:nvPr/>
        </p:nvCxnSpPr>
        <p:spPr>
          <a:xfrm>
            <a:off x="27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8" name="Connector 97"/>
          <p:cNvCxnSpPr/>
          <p:nvPr/>
        </p:nvCxnSpPr>
        <p:spPr>
          <a:xfrm flipV="1"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99" name="Connector 98"/>
          <p:cNvCxnSpPr/>
          <p:nvPr/>
        </p:nvCxnSpPr>
        <p:spPr>
          <a:xfrm>
            <a:off x="27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0" name="Connector 99"/>
          <p:cNvCxnSpPr/>
          <p:nvPr/>
        </p:nvCxnSpPr>
        <p:spPr>
          <a:xfrm flipV="1"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1" name="Connector 100"/>
          <p:cNvCxnSpPr/>
          <p:nvPr/>
        </p:nvCxnSpPr>
        <p:spPr>
          <a:xfrm>
            <a:off x="28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V="1"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8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 flipV="1"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5" name="Connector 104"/>
          <p:cNvCxnSpPr/>
          <p:nvPr/>
        </p:nvCxnSpPr>
        <p:spPr>
          <a:xfrm>
            <a:off x="28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6" name="Connector 105"/>
          <p:cNvCxnSpPr/>
          <p:nvPr/>
        </p:nvCxnSpPr>
        <p:spPr>
          <a:xfrm flipV="1"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7" name="Connector 106"/>
          <p:cNvCxnSpPr/>
          <p:nvPr/>
        </p:nvCxnSpPr>
        <p:spPr>
          <a:xfrm>
            <a:off x="29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09" name="Connector 108"/>
          <p:cNvCxnSpPr/>
          <p:nvPr/>
        </p:nvCxnSpPr>
        <p:spPr>
          <a:xfrm>
            <a:off x="29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V="1"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29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 flipV="1"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3" name="Connector 112"/>
          <p:cNvCxnSpPr/>
          <p:nvPr/>
        </p:nvCxnSpPr>
        <p:spPr>
          <a:xfrm>
            <a:off x="30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 flipV="1"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>
            <a:off x="30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 flipV="1"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30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8" name="Connector 117"/>
          <p:cNvCxnSpPr/>
          <p:nvPr/>
        </p:nvCxnSpPr>
        <p:spPr>
          <a:xfrm flipV="1"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19" name="Connector 118"/>
          <p:cNvCxnSpPr/>
          <p:nvPr/>
        </p:nvCxnSpPr>
        <p:spPr>
          <a:xfrm>
            <a:off x="31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>
            <a:off x="31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2" name="Connector 121"/>
          <p:cNvCxnSpPr/>
          <p:nvPr/>
        </p:nvCxnSpPr>
        <p:spPr>
          <a:xfrm flipV="1"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32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5" name="Connector 124"/>
          <p:cNvCxnSpPr/>
          <p:nvPr/>
        </p:nvCxnSpPr>
        <p:spPr>
          <a:xfrm>
            <a:off x="32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6" name="Connector 125"/>
          <p:cNvCxnSpPr/>
          <p:nvPr/>
        </p:nvCxnSpPr>
        <p:spPr>
          <a:xfrm flipV="1"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7" name="Connector 126"/>
          <p:cNvCxnSpPr/>
          <p:nvPr/>
        </p:nvCxnSpPr>
        <p:spPr>
          <a:xfrm>
            <a:off x="32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8" name="Connector 127"/>
          <p:cNvCxnSpPr/>
          <p:nvPr/>
        </p:nvCxnSpPr>
        <p:spPr>
          <a:xfrm flipV="1"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>
            <a:off x="33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0" name="Connector 129"/>
          <p:cNvCxnSpPr/>
          <p:nvPr/>
        </p:nvCxnSpPr>
        <p:spPr>
          <a:xfrm flipV="1"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33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 flipV="1"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33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V="1"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34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 flipV="1"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7" name="Connector 136"/>
          <p:cNvCxnSpPr/>
          <p:nvPr/>
        </p:nvCxnSpPr>
        <p:spPr>
          <a:xfrm>
            <a:off x="34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8" name="Connector 137"/>
          <p:cNvCxnSpPr/>
          <p:nvPr/>
        </p:nvCxnSpPr>
        <p:spPr>
          <a:xfrm flipV="1"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34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 flipV="1"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35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 flipV="1"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35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4" name="Connector 143"/>
          <p:cNvCxnSpPr/>
          <p:nvPr/>
        </p:nvCxnSpPr>
        <p:spPr>
          <a:xfrm flipV="1"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5" name="Connector 144"/>
          <p:cNvCxnSpPr/>
          <p:nvPr/>
        </p:nvCxnSpPr>
        <p:spPr>
          <a:xfrm>
            <a:off x="36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6" name="Connector 145"/>
          <p:cNvCxnSpPr/>
          <p:nvPr/>
        </p:nvCxnSpPr>
        <p:spPr>
          <a:xfrm flipV="1"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7" name="Connector 146"/>
          <p:cNvCxnSpPr/>
          <p:nvPr/>
        </p:nvCxnSpPr>
        <p:spPr>
          <a:xfrm>
            <a:off x="36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8" name="Connector 147"/>
          <p:cNvCxnSpPr/>
          <p:nvPr/>
        </p:nvCxnSpPr>
        <p:spPr>
          <a:xfrm flipV="1"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49" name="Connector 148"/>
          <p:cNvCxnSpPr/>
          <p:nvPr/>
        </p:nvCxnSpPr>
        <p:spPr>
          <a:xfrm>
            <a:off x="36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0" name="Connector 149"/>
          <p:cNvCxnSpPr/>
          <p:nvPr/>
        </p:nvCxnSpPr>
        <p:spPr>
          <a:xfrm flipV="1"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37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2" name="Connector 151"/>
          <p:cNvCxnSpPr/>
          <p:nvPr/>
        </p:nvCxnSpPr>
        <p:spPr>
          <a:xfrm flipV="1"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3" name="Connector 152"/>
          <p:cNvCxnSpPr/>
          <p:nvPr/>
        </p:nvCxnSpPr>
        <p:spPr>
          <a:xfrm>
            <a:off x="37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4" name="Connector 153"/>
          <p:cNvCxnSpPr/>
          <p:nvPr/>
        </p:nvCxnSpPr>
        <p:spPr>
          <a:xfrm flipV="1"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5" name="Connector 154"/>
          <p:cNvCxnSpPr/>
          <p:nvPr/>
        </p:nvCxnSpPr>
        <p:spPr>
          <a:xfrm>
            <a:off x="37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6" name="Connector 155"/>
          <p:cNvCxnSpPr/>
          <p:nvPr/>
        </p:nvCxnSpPr>
        <p:spPr>
          <a:xfrm flipV="1"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7" name="Connector 156"/>
          <p:cNvCxnSpPr/>
          <p:nvPr/>
        </p:nvCxnSpPr>
        <p:spPr>
          <a:xfrm>
            <a:off x="38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8" name="Connector 157"/>
          <p:cNvCxnSpPr/>
          <p:nvPr/>
        </p:nvCxnSpPr>
        <p:spPr>
          <a:xfrm flipV="1"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59" name="Connector 158"/>
          <p:cNvCxnSpPr/>
          <p:nvPr/>
        </p:nvCxnSpPr>
        <p:spPr>
          <a:xfrm>
            <a:off x="38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0" name="Connector 159"/>
          <p:cNvCxnSpPr/>
          <p:nvPr/>
        </p:nvCxnSpPr>
        <p:spPr>
          <a:xfrm flipV="1"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1" name="Connector 160"/>
          <p:cNvCxnSpPr/>
          <p:nvPr/>
        </p:nvCxnSpPr>
        <p:spPr>
          <a:xfrm>
            <a:off x="38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2" name="Connector 161"/>
          <p:cNvCxnSpPr/>
          <p:nvPr/>
        </p:nvCxnSpPr>
        <p:spPr>
          <a:xfrm flipV="1"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3" name="Connector 162"/>
          <p:cNvCxnSpPr/>
          <p:nvPr/>
        </p:nvCxnSpPr>
        <p:spPr>
          <a:xfrm>
            <a:off x="39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4" name="Connector 163"/>
          <p:cNvCxnSpPr/>
          <p:nvPr/>
        </p:nvCxnSpPr>
        <p:spPr>
          <a:xfrm flipV="1"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5" name="Connector 164"/>
          <p:cNvCxnSpPr/>
          <p:nvPr/>
        </p:nvCxnSpPr>
        <p:spPr>
          <a:xfrm>
            <a:off x="39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6" name="Connector 165"/>
          <p:cNvCxnSpPr/>
          <p:nvPr/>
        </p:nvCxnSpPr>
        <p:spPr>
          <a:xfrm flipV="1"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7" name="Connector 166"/>
          <p:cNvCxnSpPr/>
          <p:nvPr/>
        </p:nvCxnSpPr>
        <p:spPr>
          <a:xfrm>
            <a:off x="39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8" name="Connector 167"/>
          <p:cNvCxnSpPr/>
          <p:nvPr/>
        </p:nvCxnSpPr>
        <p:spPr>
          <a:xfrm flipV="1"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69" name="Connector 168"/>
          <p:cNvCxnSpPr/>
          <p:nvPr/>
        </p:nvCxnSpPr>
        <p:spPr>
          <a:xfrm>
            <a:off x="40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0" name="Connector 169"/>
          <p:cNvCxnSpPr/>
          <p:nvPr/>
        </p:nvCxnSpPr>
        <p:spPr>
          <a:xfrm flipV="1"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1" name="Connector 170"/>
          <p:cNvCxnSpPr/>
          <p:nvPr/>
        </p:nvCxnSpPr>
        <p:spPr>
          <a:xfrm>
            <a:off x="40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 flipV="1"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41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>
            <a:off x="41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41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8" name="Connector 177"/>
          <p:cNvCxnSpPr/>
          <p:nvPr/>
        </p:nvCxnSpPr>
        <p:spPr>
          <a:xfrm flipV="1"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79" name="Connector 178"/>
          <p:cNvCxnSpPr/>
          <p:nvPr/>
        </p:nvCxnSpPr>
        <p:spPr>
          <a:xfrm>
            <a:off x="42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0" name="Connector 179"/>
          <p:cNvCxnSpPr/>
          <p:nvPr/>
        </p:nvCxnSpPr>
        <p:spPr>
          <a:xfrm flipV="1"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1" name="Connector 180"/>
          <p:cNvCxnSpPr/>
          <p:nvPr/>
        </p:nvCxnSpPr>
        <p:spPr>
          <a:xfrm>
            <a:off x="42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2" name="Connector 181"/>
          <p:cNvCxnSpPr/>
          <p:nvPr/>
        </p:nvCxnSpPr>
        <p:spPr>
          <a:xfrm flipV="1"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3" name="Connector 182"/>
          <p:cNvCxnSpPr/>
          <p:nvPr/>
        </p:nvCxnSpPr>
        <p:spPr>
          <a:xfrm>
            <a:off x="42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4" name="Connector 183"/>
          <p:cNvCxnSpPr/>
          <p:nvPr/>
        </p:nvCxnSpPr>
        <p:spPr>
          <a:xfrm flipV="1"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5" name="Connector 184"/>
          <p:cNvCxnSpPr/>
          <p:nvPr/>
        </p:nvCxnSpPr>
        <p:spPr>
          <a:xfrm>
            <a:off x="43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6" name="Connector 185"/>
          <p:cNvCxnSpPr/>
          <p:nvPr/>
        </p:nvCxnSpPr>
        <p:spPr>
          <a:xfrm flipV="1"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7" name="Connector 186"/>
          <p:cNvCxnSpPr/>
          <p:nvPr/>
        </p:nvCxnSpPr>
        <p:spPr>
          <a:xfrm>
            <a:off x="43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8" name="Connector 187"/>
          <p:cNvCxnSpPr/>
          <p:nvPr/>
        </p:nvCxnSpPr>
        <p:spPr>
          <a:xfrm flipV="1"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89" name="Connector 188"/>
          <p:cNvCxnSpPr/>
          <p:nvPr/>
        </p:nvCxnSpPr>
        <p:spPr>
          <a:xfrm>
            <a:off x="43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0" name="Connector 189"/>
          <p:cNvCxnSpPr/>
          <p:nvPr/>
        </p:nvCxnSpPr>
        <p:spPr>
          <a:xfrm flipV="1"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1" name="Connector 190"/>
          <p:cNvCxnSpPr/>
          <p:nvPr/>
        </p:nvCxnSpPr>
        <p:spPr>
          <a:xfrm>
            <a:off x="44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 flipV="1"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3" name="Connector 192"/>
          <p:cNvCxnSpPr/>
          <p:nvPr/>
        </p:nvCxnSpPr>
        <p:spPr>
          <a:xfrm>
            <a:off x="44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4" name="Connector 193"/>
          <p:cNvCxnSpPr/>
          <p:nvPr/>
        </p:nvCxnSpPr>
        <p:spPr>
          <a:xfrm flipV="1"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5" name="Connector 194"/>
          <p:cNvCxnSpPr/>
          <p:nvPr/>
        </p:nvCxnSpPr>
        <p:spPr>
          <a:xfrm>
            <a:off x="45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6" name="Connector 195"/>
          <p:cNvCxnSpPr/>
          <p:nvPr/>
        </p:nvCxnSpPr>
        <p:spPr>
          <a:xfrm flipV="1"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7" name="Connector 196"/>
          <p:cNvCxnSpPr/>
          <p:nvPr/>
        </p:nvCxnSpPr>
        <p:spPr>
          <a:xfrm>
            <a:off x="45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8" name="Connector 197"/>
          <p:cNvCxnSpPr/>
          <p:nvPr/>
        </p:nvCxnSpPr>
        <p:spPr>
          <a:xfrm flipV="1"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199" name="Connector 198"/>
          <p:cNvCxnSpPr/>
          <p:nvPr/>
        </p:nvCxnSpPr>
        <p:spPr>
          <a:xfrm>
            <a:off x="45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0" name="Connector 199"/>
          <p:cNvCxnSpPr/>
          <p:nvPr/>
        </p:nvCxnSpPr>
        <p:spPr>
          <a:xfrm flipV="1"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1" name="Connector 200"/>
          <p:cNvCxnSpPr/>
          <p:nvPr/>
        </p:nvCxnSpPr>
        <p:spPr>
          <a:xfrm>
            <a:off x="46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2" name="Connector 201"/>
          <p:cNvCxnSpPr/>
          <p:nvPr/>
        </p:nvCxnSpPr>
        <p:spPr>
          <a:xfrm flipV="1"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3" name="Connector 202"/>
          <p:cNvCxnSpPr/>
          <p:nvPr/>
        </p:nvCxnSpPr>
        <p:spPr>
          <a:xfrm>
            <a:off x="46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4" name="Connector 203"/>
          <p:cNvCxnSpPr/>
          <p:nvPr/>
        </p:nvCxnSpPr>
        <p:spPr>
          <a:xfrm flipV="1"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5" name="Connector 204"/>
          <p:cNvCxnSpPr/>
          <p:nvPr/>
        </p:nvCxnSpPr>
        <p:spPr>
          <a:xfrm>
            <a:off x="46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6" name="Connector 205"/>
          <p:cNvCxnSpPr/>
          <p:nvPr/>
        </p:nvCxnSpPr>
        <p:spPr>
          <a:xfrm flipV="1"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47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8" name="Connector 207"/>
          <p:cNvCxnSpPr/>
          <p:nvPr/>
        </p:nvCxnSpPr>
        <p:spPr>
          <a:xfrm flipV="1"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09" name="Connector 208"/>
          <p:cNvCxnSpPr/>
          <p:nvPr/>
        </p:nvCxnSpPr>
        <p:spPr>
          <a:xfrm>
            <a:off x="47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0" name="Connector 209"/>
          <p:cNvCxnSpPr/>
          <p:nvPr/>
        </p:nvCxnSpPr>
        <p:spPr>
          <a:xfrm flipV="1"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1" name="Connector 210"/>
          <p:cNvCxnSpPr/>
          <p:nvPr/>
        </p:nvCxnSpPr>
        <p:spPr>
          <a:xfrm>
            <a:off x="47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2" name="Connector 211"/>
          <p:cNvCxnSpPr/>
          <p:nvPr/>
        </p:nvCxnSpPr>
        <p:spPr>
          <a:xfrm flipV="1"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3" name="Connector 212"/>
          <p:cNvCxnSpPr/>
          <p:nvPr/>
        </p:nvCxnSpPr>
        <p:spPr>
          <a:xfrm>
            <a:off x="48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4" name="Connector 213"/>
          <p:cNvCxnSpPr/>
          <p:nvPr/>
        </p:nvCxnSpPr>
        <p:spPr>
          <a:xfrm flipV="1"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5" name="Connector 214"/>
          <p:cNvCxnSpPr/>
          <p:nvPr/>
        </p:nvCxnSpPr>
        <p:spPr>
          <a:xfrm>
            <a:off x="48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 flipV="1"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7" name="Connector 216"/>
          <p:cNvCxnSpPr/>
          <p:nvPr/>
        </p:nvCxnSpPr>
        <p:spPr>
          <a:xfrm>
            <a:off x="48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8" name="Connector 217"/>
          <p:cNvCxnSpPr/>
          <p:nvPr/>
        </p:nvCxnSpPr>
        <p:spPr>
          <a:xfrm flipV="1"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19" name="Connector 218"/>
          <p:cNvCxnSpPr/>
          <p:nvPr/>
        </p:nvCxnSpPr>
        <p:spPr>
          <a:xfrm>
            <a:off x="49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0" name="Connector 219"/>
          <p:cNvCxnSpPr/>
          <p:nvPr/>
        </p:nvCxnSpPr>
        <p:spPr>
          <a:xfrm flipV="1"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1" name="Connector 220"/>
          <p:cNvCxnSpPr/>
          <p:nvPr/>
        </p:nvCxnSpPr>
        <p:spPr>
          <a:xfrm>
            <a:off x="49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 flipV="1"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3" name="Connector 222"/>
          <p:cNvCxnSpPr/>
          <p:nvPr/>
        </p:nvCxnSpPr>
        <p:spPr>
          <a:xfrm>
            <a:off x="50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4" name="Connector 223"/>
          <p:cNvCxnSpPr/>
          <p:nvPr/>
        </p:nvCxnSpPr>
        <p:spPr>
          <a:xfrm flipV="1"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5" name="Connector 224"/>
          <p:cNvCxnSpPr/>
          <p:nvPr/>
        </p:nvCxnSpPr>
        <p:spPr>
          <a:xfrm>
            <a:off x="50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6" name="Connector 225"/>
          <p:cNvCxnSpPr/>
          <p:nvPr/>
        </p:nvCxnSpPr>
        <p:spPr>
          <a:xfrm flipV="1"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7" name="Connector 226"/>
          <p:cNvCxnSpPr/>
          <p:nvPr/>
        </p:nvCxnSpPr>
        <p:spPr>
          <a:xfrm>
            <a:off x="50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 flipV="1"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29" name="Connector 228"/>
          <p:cNvCxnSpPr/>
          <p:nvPr/>
        </p:nvCxnSpPr>
        <p:spPr>
          <a:xfrm>
            <a:off x="51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0" name="Connector 229"/>
          <p:cNvCxnSpPr/>
          <p:nvPr/>
        </p:nvCxnSpPr>
        <p:spPr>
          <a:xfrm flipV="1"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1" name="Connector 230"/>
          <p:cNvCxnSpPr/>
          <p:nvPr/>
        </p:nvCxnSpPr>
        <p:spPr>
          <a:xfrm>
            <a:off x="51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2" name="Connector 231"/>
          <p:cNvCxnSpPr/>
          <p:nvPr/>
        </p:nvCxnSpPr>
        <p:spPr>
          <a:xfrm flipV="1"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3" name="Connector 232"/>
          <p:cNvCxnSpPr/>
          <p:nvPr/>
        </p:nvCxnSpPr>
        <p:spPr>
          <a:xfrm>
            <a:off x="51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4" name="Connector 233"/>
          <p:cNvCxnSpPr/>
          <p:nvPr/>
        </p:nvCxnSpPr>
        <p:spPr>
          <a:xfrm flipV="1"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5" name="Connector 234"/>
          <p:cNvCxnSpPr/>
          <p:nvPr/>
        </p:nvCxnSpPr>
        <p:spPr>
          <a:xfrm>
            <a:off x="52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6" name="Connector 235"/>
          <p:cNvCxnSpPr/>
          <p:nvPr/>
        </p:nvCxnSpPr>
        <p:spPr>
          <a:xfrm flipV="1"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7" name="Connector 236"/>
          <p:cNvCxnSpPr/>
          <p:nvPr/>
        </p:nvCxnSpPr>
        <p:spPr>
          <a:xfrm>
            <a:off x="52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8" name="Connector 237"/>
          <p:cNvCxnSpPr/>
          <p:nvPr/>
        </p:nvCxnSpPr>
        <p:spPr>
          <a:xfrm flipV="1"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39" name="Connector 238"/>
          <p:cNvCxnSpPr/>
          <p:nvPr/>
        </p:nvCxnSpPr>
        <p:spPr>
          <a:xfrm>
            <a:off x="52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0" name="Connector 239"/>
          <p:cNvCxnSpPr/>
          <p:nvPr/>
        </p:nvCxnSpPr>
        <p:spPr>
          <a:xfrm flipV="1"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53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2" name="Connector 241"/>
          <p:cNvCxnSpPr/>
          <p:nvPr/>
        </p:nvCxnSpPr>
        <p:spPr>
          <a:xfrm flipV="1"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3" name="Connector 242"/>
          <p:cNvCxnSpPr/>
          <p:nvPr/>
        </p:nvCxnSpPr>
        <p:spPr>
          <a:xfrm>
            <a:off x="536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4" name="Connector 243"/>
          <p:cNvCxnSpPr/>
          <p:nvPr/>
        </p:nvCxnSpPr>
        <p:spPr>
          <a:xfrm flipV="1"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5" name="Connector 244"/>
          <p:cNvCxnSpPr/>
          <p:nvPr/>
        </p:nvCxnSpPr>
        <p:spPr>
          <a:xfrm>
            <a:off x="540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6" name="Connector 245"/>
          <p:cNvCxnSpPr/>
          <p:nvPr/>
        </p:nvCxnSpPr>
        <p:spPr>
          <a:xfrm flipV="1"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7" name="Connector 246"/>
          <p:cNvCxnSpPr/>
          <p:nvPr/>
        </p:nvCxnSpPr>
        <p:spPr>
          <a:xfrm>
            <a:off x="543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8" name="Connector 247"/>
          <p:cNvCxnSpPr/>
          <p:nvPr/>
        </p:nvCxnSpPr>
        <p:spPr>
          <a:xfrm flipV="1"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49" name="Connector 248"/>
          <p:cNvCxnSpPr/>
          <p:nvPr/>
        </p:nvCxnSpPr>
        <p:spPr>
          <a:xfrm>
            <a:off x="547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0" name="Connector 249"/>
          <p:cNvCxnSpPr/>
          <p:nvPr/>
        </p:nvCxnSpPr>
        <p:spPr>
          <a:xfrm flipV="1"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1" name="Connector 250"/>
          <p:cNvCxnSpPr/>
          <p:nvPr/>
        </p:nvCxnSpPr>
        <p:spPr>
          <a:xfrm>
            <a:off x="550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2" name="Connector 251"/>
          <p:cNvCxnSpPr/>
          <p:nvPr/>
        </p:nvCxnSpPr>
        <p:spPr>
          <a:xfrm flipV="1"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3" name="Connector 252"/>
          <p:cNvCxnSpPr/>
          <p:nvPr/>
        </p:nvCxnSpPr>
        <p:spPr>
          <a:xfrm>
            <a:off x="554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4" name="Connector 253"/>
          <p:cNvCxnSpPr/>
          <p:nvPr/>
        </p:nvCxnSpPr>
        <p:spPr>
          <a:xfrm flipV="1"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5" name="Connector 254"/>
          <p:cNvCxnSpPr/>
          <p:nvPr/>
        </p:nvCxnSpPr>
        <p:spPr>
          <a:xfrm>
            <a:off x="558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6" name="Connector 255"/>
          <p:cNvCxnSpPr/>
          <p:nvPr/>
        </p:nvCxnSpPr>
        <p:spPr>
          <a:xfrm flipV="1"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7" name="Connector 256"/>
          <p:cNvCxnSpPr/>
          <p:nvPr/>
        </p:nvCxnSpPr>
        <p:spPr>
          <a:xfrm>
            <a:off x="561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 flipV="1"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59" name="Connector 258"/>
          <p:cNvCxnSpPr/>
          <p:nvPr/>
        </p:nvCxnSpPr>
        <p:spPr>
          <a:xfrm>
            <a:off x="565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0" name="Connector 259"/>
          <p:cNvCxnSpPr/>
          <p:nvPr/>
        </p:nvCxnSpPr>
        <p:spPr>
          <a:xfrm flipV="1"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1" name="Connector 260"/>
          <p:cNvCxnSpPr/>
          <p:nvPr/>
        </p:nvCxnSpPr>
        <p:spPr>
          <a:xfrm>
            <a:off x="568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2" name="Connector 261"/>
          <p:cNvCxnSpPr/>
          <p:nvPr/>
        </p:nvCxnSpPr>
        <p:spPr>
          <a:xfrm flipV="1"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3" name="Connector 262"/>
          <p:cNvCxnSpPr/>
          <p:nvPr/>
        </p:nvCxnSpPr>
        <p:spPr>
          <a:xfrm>
            <a:off x="572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4" name="Connector 263"/>
          <p:cNvCxnSpPr/>
          <p:nvPr/>
        </p:nvCxnSpPr>
        <p:spPr>
          <a:xfrm flipV="1"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5" name="Connector 264"/>
          <p:cNvCxnSpPr/>
          <p:nvPr/>
        </p:nvCxnSpPr>
        <p:spPr>
          <a:xfrm>
            <a:off x="576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6" name="Connector 265"/>
          <p:cNvCxnSpPr/>
          <p:nvPr/>
        </p:nvCxnSpPr>
        <p:spPr>
          <a:xfrm flipV="1"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7" name="Connector 266"/>
          <p:cNvCxnSpPr/>
          <p:nvPr/>
        </p:nvCxnSpPr>
        <p:spPr>
          <a:xfrm>
            <a:off x="579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8" name="Connector 267"/>
          <p:cNvCxnSpPr/>
          <p:nvPr/>
        </p:nvCxnSpPr>
        <p:spPr>
          <a:xfrm flipV="1"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69" name="Connector 268"/>
          <p:cNvCxnSpPr/>
          <p:nvPr/>
        </p:nvCxnSpPr>
        <p:spPr>
          <a:xfrm>
            <a:off x="583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0" name="Connector 269"/>
          <p:cNvCxnSpPr/>
          <p:nvPr/>
        </p:nvCxnSpPr>
        <p:spPr>
          <a:xfrm flipV="1"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1" name="Connector 270"/>
          <p:cNvCxnSpPr/>
          <p:nvPr/>
        </p:nvCxnSpPr>
        <p:spPr>
          <a:xfrm>
            <a:off x="586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2" name="Connector 271"/>
          <p:cNvCxnSpPr/>
          <p:nvPr/>
        </p:nvCxnSpPr>
        <p:spPr>
          <a:xfrm flipV="1"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3" name="Connector 272"/>
          <p:cNvCxnSpPr/>
          <p:nvPr/>
        </p:nvCxnSpPr>
        <p:spPr>
          <a:xfrm>
            <a:off x="590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4" name="Connector 273"/>
          <p:cNvCxnSpPr/>
          <p:nvPr/>
        </p:nvCxnSpPr>
        <p:spPr>
          <a:xfrm flipV="1"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5" name="Connector 274"/>
          <p:cNvCxnSpPr/>
          <p:nvPr/>
        </p:nvCxnSpPr>
        <p:spPr>
          <a:xfrm>
            <a:off x="594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6" name="Connector 275"/>
          <p:cNvCxnSpPr/>
          <p:nvPr/>
        </p:nvCxnSpPr>
        <p:spPr>
          <a:xfrm flipV="1"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7" name="Connector 276"/>
          <p:cNvCxnSpPr/>
          <p:nvPr/>
        </p:nvCxnSpPr>
        <p:spPr>
          <a:xfrm>
            <a:off x="597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8" name="Connector 277"/>
          <p:cNvCxnSpPr/>
          <p:nvPr/>
        </p:nvCxnSpPr>
        <p:spPr>
          <a:xfrm flipV="1"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79" name="Connector 278"/>
          <p:cNvCxnSpPr/>
          <p:nvPr/>
        </p:nvCxnSpPr>
        <p:spPr>
          <a:xfrm>
            <a:off x="601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0" name="Connector 279"/>
          <p:cNvCxnSpPr/>
          <p:nvPr/>
        </p:nvCxnSpPr>
        <p:spPr>
          <a:xfrm flipV="1"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1" name="Connector 280"/>
          <p:cNvCxnSpPr/>
          <p:nvPr/>
        </p:nvCxnSpPr>
        <p:spPr>
          <a:xfrm>
            <a:off x="604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2" name="Connector 281"/>
          <p:cNvCxnSpPr/>
          <p:nvPr/>
        </p:nvCxnSpPr>
        <p:spPr>
          <a:xfrm flipV="1"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3" name="Connector 282"/>
          <p:cNvCxnSpPr/>
          <p:nvPr/>
        </p:nvCxnSpPr>
        <p:spPr>
          <a:xfrm>
            <a:off x="6084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4" name="Connector 283"/>
          <p:cNvCxnSpPr/>
          <p:nvPr/>
        </p:nvCxnSpPr>
        <p:spPr>
          <a:xfrm flipV="1"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5" name="Connector 284"/>
          <p:cNvCxnSpPr/>
          <p:nvPr/>
        </p:nvCxnSpPr>
        <p:spPr>
          <a:xfrm>
            <a:off x="6120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6" name="Connector 285"/>
          <p:cNvCxnSpPr/>
          <p:nvPr/>
        </p:nvCxnSpPr>
        <p:spPr>
          <a:xfrm flipV="1"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7" name="Connector 286"/>
          <p:cNvCxnSpPr/>
          <p:nvPr/>
        </p:nvCxnSpPr>
        <p:spPr>
          <a:xfrm>
            <a:off x="6156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8" name="Connector 287"/>
          <p:cNvCxnSpPr/>
          <p:nvPr/>
        </p:nvCxnSpPr>
        <p:spPr>
          <a:xfrm flipV="1"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89" name="Connector 288"/>
          <p:cNvCxnSpPr/>
          <p:nvPr/>
        </p:nvCxnSpPr>
        <p:spPr>
          <a:xfrm>
            <a:off x="6192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0" name="Connector 289"/>
          <p:cNvCxnSpPr/>
          <p:nvPr/>
        </p:nvCxnSpPr>
        <p:spPr>
          <a:xfrm flipV="1"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6228000" y="3312000"/>
            <a:ext cx="360000" cy="7200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2" name="Connector 291"/>
          <p:cNvCxnSpPr/>
          <p:nvPr/>
        </p:nvCxnSpPr>
        <p:spPr>
          <a:xfrm flipV="1">
            <a:off x="6264000" y="33264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3" name="Connector 292"/>
          <p:cNvCxnSpPr/>
          <p:nvPr/>
        </p:nvCxnSpPr>
        <p:spPr>
          <a:xfrm>
            <a:off x="6264000" y="3312000"/>
            <a:ext cx="352800" cy="70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4" name="Connector 293"/>
          <p:cNvCxnSpPr/>
          <p:nvPr/>
        </p:nvCxnSpPr>
        <p:spPr>
          <a:xfrm flipV="1">
            <a:off x="6300000" y="33984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5" name="Connector 294"/>
          <p:cNvCxnSpPr/>
          <p:nvPr/>
        </p:nvCxnSpPr>
        <p:spPr>
          <a:xfrm>
            <a:off x="6300000" y="3312000"/>
            <a:ext cx="316800" cy="63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6" name="Connector 295"/>
          <p:cNvCxnSpPr/>
          <p:nvPr/>
        </p:nvCxnSpPr>
        <p:spPr>
          <a:xfrm flipV="1">
            <a:off x="6336000" y="34704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7" name="Connector 296"/>
          <p:cNvCxnSpPr/>
          <p:nvPr/>
        </p:nvCxnSpPr>
        <p:spPr>
          <a:xfrm>
            <a:off x="6336000" y="3312000"/>
            <a:ext cx="280800" cy="56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8" name="Connector 297"/>
          <p:cNvCxnSpPr/>
          <p:nvPr/>
        </p:nvCxnSpPr>
        <p:spPr>
          <a:xfrm flipV="1">
            <a:off x="6372000" y="35424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299" name="Connector 298"/>
          <p:cNvCxnSpPr/>
          <p:nvPr/>
        </p:nvCxnSpPr>
        <p:spPr>
          <a:xfrm>
            <a:off x="6372000" y="3312000"/>
            <a:ext cx="244800" cy="48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0" name="Connector 299"/>
          <p:cNvCxnSpPr/>
          <p:nvPr/>
        </p:nvCxnSpPr>
        <p:spPr>
          <a:xfrm flipV="1">
            <a:off x="6408000" y="36144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1" name="Connector 300"/>
          <p:cNvCxnSpPr/>
          <p:nvPr/>
        </p:nvCxnSpPr>
        <p:spPr>
          <a:xfrm>
            <a:off x="6408000" y="3312000"/>
            <a:ext cx="208800" cy="41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2" name="Connector 301"/>
          <p:cNvCxnSpPr/>
          <p:nvPr/>
        </p:nvCxnSpPr>
        <p:spPr>
          <a:xfrm flipV="1">
            <a:off x="6444000" y="36864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3" name="Connector 302"/>
          <p:cNvCxnSpPr/>
          <p:nvPr/>
        </p:nvCxnSpPr>
        <p:spPr>
          <a:xfrm>
            <a:off x="6444000" y="3312000"/>
            <a:ext cx="172800" cy="345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4" name="Connector 303"/>
          <p:cNvCxnSpPr/>
          <p:nvPr/>
        </p:nvCxnSpPr>
        <p:spPr>
          <a:xfrm flipV="1">
            <a:off x="6480000" y="37584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5" name="Connector 304"/>
          <p:cNvCxnSpPr/>
          <p:nvPr/>
        </p:nvCxnSpPr>
        <p:spPr>
          <a:xfrm>
            <a:off x="6480000" y="3312000"/>
            <a:ext cx="136800" cy="273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6" name="Connector 305"/>
          <p:cNvCxnSpPr/>
          <p:nvPr/>
        </p:nvCxnSpPr>
        <p:spPr>
          <a:xfrm flipV="1">
            <a:off x="6516000" y="38304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7" name="Connector 306"/>
          <p:cNvCxnSpPr/>
          <p:nvPr/>
        </p:nvCxnSpPr>
        <p:spPr>
          <a:xfrm>
            <a:off x="6516000" y="3312000"/>
            <a:ext cx="100800" cy="201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 flipV="1">
            <a:off x="6552000" y="39024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09" name="Connector 308"/>
          <p:cNvCxnSpPr/>
          <p:nvPr/>
        </p:nvCxnSpPr>
        <p:spPr>
          <a:xfrm>
            <a:off x="6552000" y="3312000"/>
            <a:ext cx="64800" cy="129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0" name="Connector 309"/>
          <p:cNvCxnSpPr/>
          <p:nvPr/>
        </p:nvCxnSpPr>
        <p:spPr>
          <a:xfrm flipV="1">
            <a:off x="6588000" y="39744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cxnSp>
        <p:nvCxnSpPr>
          <p:cNvPr id="311" name="Connector 310"/>
          <p:cNvCxnSpPr/>
          <p:nvPr/>
        </p:nvCxnSpPr>
        <p:spPr>
          <a:xfrm>
            <a:off x="6588000" y="3312000"/>
            <a:ext cx="28800" cy="57600"/>
          </a:xfrm>
          <a:prstGeom prst="line">
            <a:avLst/>
          </a:prstGeom>
          <a:ln w="1905">
            <a:solidFill>
              <a:srgbClr val="878478"/>
            </a:solidFill>
          </a:ln>
          <a:effectLst/>
        </p:spPr>
      </p:cxnSp>
      <p:sp>
        <p:nvSpPr>
          <p:cNvPr id="312" name="Rectangle 311"/>
          <p:cNvSpPr/>
          <p:nvPr/>
        </p:nvSpPr>
        <p:spPr>
          <a:xfrm>
            <a:off x="18360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30087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42039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3991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571800" y="3312000"/>
            <a:ext cx="45000" cy="468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836000" y="691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1881000" y="695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19" name="Rectangle 318"/>
          <p:cNvSpPr/>
          <p:nvPr/>
        </p:nvSpPr>
        <p:spPr>
          <a:xfrm>
            <a:off x="1836000" y="619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>
            <a:off x="1881000" y="623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1" name="Rectangle 320"/>
          <p:cNvSpPr/>
          <p:nvPr/>
        </p:nvSpPr>
        <p:spPr>
          <a:xfrm>
            <a:off x="1836000" y="547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1881000" y="551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3" name="Rectangle 322"/>
          <p:cNvSpPr/>
          <p:nvPr/>
        </p:nvSpPr>
        <p:spPr>
          <a:xfrm>
            <a:off x="1836000" y="475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1881000" y="479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sp>
        <p:nvSpPr>
          <p:cNvPr id="325" name="Rectangle 324"/>
          <p:cNvSpPr/>
          <p:nvPr/>
        </p:nvSpPr>
        <p:spPr>
          <a:xfrm>
            <a:off x="1836000" y="4032000"/>
            <a:ext cx="4780800" cy="45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>
            <a:outerShdw blurRad="40000" dist="18000" dir="2700000" algn="tl" rotWithShape="0">
              <a:srgbClr val="252725">
                <a:alpha val="8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326" name="Connector 325"/>
          <p:cNvCxnSpPr/>
          <p:nvPr/>
        </p:nvCxnSpPr>
        <p:spPr>
          <a:xfrm>
            <a:off x="1881000" y="4071600"/>
            <a:ext cx="4690800" cy="0"/>
          </a:xfrm>
          <a:prstGeom prst="line">
            <a:avLst/>
          </a:prstGeom>
          <a:ln w="8255">
            <a:solidFill>
              <a:srgbClr val="9A825A"/>
            </a:solidFill>
          </a:ln>
          <a:effectLst/>
        </p:spPr>
      </p:cxnSp>
      <p:cxnSp>
        <p:nvCxnSpPr>
          <p:cNvPr id="327" name="Connector 326"/>
          <p:cNvCxnSpPr/>
          <p:nvPr/>
        </p:nvCxnSpPr>
        <p:spPr>
          <a:xfrm flipV="1">
            <a:off x="24336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28" name="Connector 327"/>
          <p:cNvCxnSpPr/>
          <p:nvPr/>
        </p:nvCxnSpPr>
        <p:spPr>
          <a:xfrm>
            <a:off x="23580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29" name="Rectangle 328"/>
          <p:cNvSpPr/>
          <p:nvPr/>
        </p:nvSpPr>
        <p:spPr>
          <a:xfrm>
            <a:off x="21060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21303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21204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2" name="Rectangle 331"/>
          <p:cNvSpPr/>
          <p:nvPr/>
        </p:nvSpPr>
        <p:spPr>
          <a:xfrm>
            <a:off x="22770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23071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>
            <a:off x="22914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5" name="Rectangle 334"/>
          <p:cNvSpPr/>
          <p:nvPr/>
        </p:nvSpPr>
        <p:spPr>
          <a:xfrm>
            <a:off x="21060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1273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21204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38" name="Rectangle 337"/>
          <p:cNvSpPr/>
          <p:nvPr/>
        </p:nvSpPr>
        <p:spPr>
          <a:xfrm>
            <a:off x="22770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3013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0" name="Connector 339"/>
          <p:cNvCxnSpPr/>
          <p:nvPr/>
        </p:nvCxnSpPr>
        <p:spPr>
          <a:xfrm>
            <a:off x="22914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41" name="Connector 340"/>
          <p:cNvCxnSpPr/>
          <p:nvPr/>
        </p:nvCxnSpPr>
        <p:spPr>
          <a:xfrm flipV="1">
            <a:off x="36288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42" name="Connector 341"/>
          <p:cNvCxnSpPr/>
          <p:nvPr/>
        </p:nvCxnSpPr>
        <p:spPr>
          <a:xfrm>
            <a:off x="35532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43" name="Rectangle 342"/>
          <p:cNvSpPr/>
          <p:nvPr/>
        </p:nvSpPr>
        <p:spPr>
          <a:xfrm>
            <a:off x="33012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3331332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33156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6" name="Rectangle 345"/>
          <p:cNvSpPr/>
          <p:nvPr/>
        </p:nvSpPr>
        <p:spPr>
          <a:xfrm>
            <a:off x="34722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34935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8" name="Connector 347"/>
          <p:cNvCxnSpPr/>
          <p:nvPr/>
        </p:nvCxnSpPr>
        <p:spPr>
          <a:xfrm>
            <a:off x="34866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49" name="Rectangle 348"/>
          <p:cNvSpPr/>
          <p:nvPr/>
        </p:nvSpPr>
        <p:spPr>
          <a:xfrm>
            <a:off x="33012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3255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1" name="Connector 350"/>
          <p:cNvCxnSpPr/>
          <p:nvPr/>
        </p:nvCxnSpPr>
        <p:spPr>
          <a:xfrm>
            <a:off x="33156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52" name="Rectangle 351"/>
          <p:cNvSpPr/>
          <p:nvPr/>
        </p:nvSpPr>
        <p:spPr>
          <a:xfrm>
            <a:off x="34722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502332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>
            <a:off x="34866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55" name="Connector 354"/>
          <p:cNvCxnSpPr/>
          <p:nvPr/>
        </p:nvCxnSpPr>
        <p:spPr>
          <a:xfrm flipV="1">
            <a:off x="48240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56" name="Connector 355"/>
          <p:cNvCxnSpPr/>
          <p:nvPr/>
        </p:nvCxnSpPr>
        <p:spPr>
          <a:xfrm>
            <a:off x="47484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57" name="Rectangle 356"/>
          <p:cNvSpPr/>
          <p:nvPr/>
        </p:nvSpPr>
        <p:spPr>
          <a:xfrm>
            <a:off x="4496400" y="673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4520700" y="670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9" name="Connector 358"/>
          <p:cNvCxnSpPr/>
          <p:nvPr/>
        </p:nvCxnSpPr>
        <p:spPr>
          <a:xfrm>
            <a:off x="4510800" y="683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0" name="Rectangle 359"/>
          <p:cNvSpPr/>
          <p:nvPr/>
        </p:nvSpPr>
        <p:spPr>
          <a:xfrm>
            <a:off x="4667400" y="669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4697532" y="665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4681800" y="681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3" name="Rectangle 362"/>
          <p:cNvSpPr/>
          <p:nvPr/>
        </p:nvSpPr>
        <p:spPr>
          <a:xfrm>
            <a:off x="4496400" y="527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517784" y="524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5" name="Connector 364"/>
          <p:cNvCxnSpPr/>
          <p:nvPr/>
        </p:nvCxnSpPr>
        <p:spPr>
          <a:xfrm>
            <a:off x="4510800" y="538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66" name="Rectangle 365"/>
          <p:cNvSpPr/>
          <p:nvPr/>
        </p:nvSpPr>
        <p:spPr>
          <a:xfrm>
            <a:off x="4667400" y="529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691700" y="526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8" name="Connector 367"/>
          <p:cNvCxnSpPr/>
          <p:nvPr/>
        </p:nvCxnSpPr>
        <p:spPr>
          <a:xfrm>
            <a:off x="4681800" y="539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69" name="Connector 368"/>
          <p:cNvCxnSpPr/>
          <p:nvPr/>
        </p:nvCxnSpPr>
        <p:spPr>
          <a:xfrm flipV="1">
            <a:off x="6019200" y="6957000"/>
            <a:ext cx="0" cy="837000"/>
          </a:xfrm>
          <a:prstGeom prst="line">
            <a:avLst/>
          </a:prstGeom>
          <a:ln w="4445">
            <a:solidFill>
              <a:srgbClr val="B7B0A2"/>
            </a:solidFill>
          </a:ln>
          <a:effectLst/>
        </p:spPr>
      </p:cxnSp>
      <p:cxnSp>
        <p:nvCxnSpPr>
          <p:cNvPr id="370" name="Connector 369"/>
          <p:cNvCxnSpPr/>
          <p:nvPr/>
        </p:nvCxnSpPr>
        <p:spPr>
          <a:xfrm>
            <a:off x="5943600" y="6993000"/>
            <a:ext cx="153000" cy="0"/>
          </a:xfrm>
          <a:prstGeom prst="line">
            <a:avLst/>
          </a:prstGeom>
          <a:ln w="8255">
            <a:solidFill>
              <a:srgbClr val="252725"/>
            </a:solidFill>
          </a:ln>
          <a:effectLst/>
        </p:spPr>
      </p:cxnSp>
      <p:sp>
        <p:nvSpPr>
          <p:cNvPr id="371" name="Rectangle 370"/>
          <p:cNvSpPr/>
          <p:nvPr/>
        </p:nvSpPr>
        <p:spPr>
          <a:xfrm>
            <a:off x="5691600" y="597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721731" y="593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Connector 372"/>
          <p:cNvCxnSpPr/>
          <p:nvPr/>
        </p:nvCxnSpPr>
        <p:spPr>
          <a:xfrm>
            <a:off x="5706000" y="609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4" name="Rectangle 373"/>
          <p:cNvSpPr/>
          <p:nvPr/>
        </p:nvSpPr>
        <p:spPr>
          <a:xfrm>
            <a:off x="5862600" y="5997600"/>
            <a:ext cx="79200" cy="189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883984" y="5965200"/>
            <a:ext cx="36432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5877000" y="6107220"/>
            <a:ext cx="504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77" name="Rectangle 376"/>
          <p:cNvSpPr/>
          <p:nvPr/>
        </p:nvSpPr>
        <p:spPr>
          <a:xfrm>
            <a:off x="5691600" y="4575600"/>
            <a:ext cx="90000" cy="171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715900" y="4543200"/>
            <a:ext cx="41400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9" name="Connector 378"/>
          <p:cNvCxnSpPr/>
          <p:nvPr/>
        </p:nvCxnSpPr>
        <p:spPr>
          <a:xfrm>
            <a:off x="5706000" y="4674780"/>
            <a:ext cx="612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sp>
        <p:nvSpPr>
          <p:cNvPr id="380" name="Rectangle 379"/>
          <p:cNvSpPr/>
          <p:nvPr/>
        </p:nvSpPr>
        <p:spPr>
          <a:xfrm>
            <a:off x="5862600" y="4530600"/>
            <a:ext cx="111600" cy="216000"/>
          </a:xfrm>
          <a:prstGeom prst="rect">
            <a:avLst/>
          </a:prstGeom>
          <a:noFill/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892731" y="4498200"/>
            <a:ext cx="51336" cy="32400"/>
          </a:xfrm>
          <a:prstGeom prst="rect">
            <a:avLst/>
          </a:prstGeom>
          <a:solidFill>
            <a:srgbClr val="AAA79F"/>
          </a:solidFill>
          <a:ln w="8890">
            <a:solidFill>
              <a:srgbClr val="AAA79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Connector 381"/>
          <p:cNvCxnSpPr/>
          <p:nvPr/>
        </p:nvCxnSpPr>
        <p:spPr>
          <a:xfrm>
            <a:off x="5877000" y="4655879"/>
            <a:ext cx="82800" cy="0"/>
          </a:xfrm>
          <a:prstGeom prst="line">
            <a:avLst/>
          </a:prstGeom>
          <a:ln w="3175">
            <a:solidFill>
              <a:srgbClr val="C8C4BC"/>
            </a:solidFill>
          </a:ln>
          <a:effectLst/>
        </p:spPr>
      </p:cxnSp>
      <p:cxnSp>
        <p:nvCxnSpPr>
          <p:cNvPr id="383" name="Connector 382"/>
          <p:cNvCxnSpPr/>
          <p:nvPr/>
        </p:nvCxnSpPr>
        <p:spPr>
          <a:xfrm>
            <a:off x="1881000" y="7893000"/>
            <a:ext cx="46908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384" name="Connector 383"/>
          <p:cNvCxnSpPr/>
          <p:nvPr/>
        </p:nvCxnSpPr>
        <p:spPr>
          <a:xfrm>
            <a:off x="18360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5" name="Connector 384"/>
          <p:cNvCxnSpPr/>
          <p:nvPr/>
        </p:nvCxnSpPr>
        <p:spPr>
          <a:xfrm>
            <a:off x="7426800" y="7992000"/>
            <a:ext cx="0" cy="612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86" name="Connector 385"/>
          <p:cNvCxnSpPr/>
          <p:nvPr/>
        </p:nvCxnSpPr>
        <p:spPr>
          <a:xfrm>
            <a:off x="1836000" y="8604000"/>
            <a:ext cx="55908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7" name="Connector 386"/>
          <p:cNvCxnSpPr/>
          <p:nvPr/>
        </p:nvCxnSpPr>
        <p:spPr>
          <a:xfrm flipV="1">
            <a:off x="18000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88" name="Connector 387"/>
          <p:cNvCxnSpPr/>
          <p:nvPr/>
        </p:nvCxnSpPr>
        <p:spPr>
          <a:xfrm flipV="1">
            <a:off x="7390800" y="85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89" name="TextBox 388"/>
          <p:cNvSpPr txBox="1"/>
          <p:nvPr/>
        </p:nvSpPr>
        <p:spPr>
          <a:xfrm>
            <a:off x="4091400" y="8424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3106</a:t>
            </a:r>
          </a:p>
        </p:txBody>
      </p:sp>
      <p:cxnSp>
        <p:nvCxnSpPr>
          <p:cNvPr id="390" name="Connector 389"/>
          <p:cNvCxnSpPr/>
          <p:nvPr/>
        </p:nvCxnSpPr>
        <p:spPr>
          <a:xfrm flipH="1">
            <a:off x="1296000" y="799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1" name="Connector 390"/>
          <p:cNvCxnSpPr/>
          <p:nvPr/>
        </p:nvCxnSpPr>
        <p:spPr>
          <a:xfrm flipH="1">
            <a:off x="1296000" y="3312000"/>
            <a:ext cx="540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2" name="Connector 391"/>
          <p:cNvCxnSpPr/>
          <p:nvPr/>
        </p:nvCxnSpPr>
        <p:spPr>
          <a:xfrm flipV="1">
            <a:off x="1296000" y="3312000"/>
            <a:ext cx="0" cy="46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3" name="Connector 392"/>
          <p:cNvCxnSpPr/>
          <p:nvPr/>
        </p:nvCxnSpPr>
        <p:spPr>
          <a:xfrm flipV="1">
            <a:off x="12600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4" name="Connector 393"/>
          <p:cNvCxnSpPr/>
          <p:nvPr/>
        </p:nvCxnSpPr>
        <p:spPr>
          <a:xfrm flipV="1">
            <a:off x="12600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395" name="TextBox 394"/>
          <p:cNvSpPr txBox="1"/>
          <p:nvPr/>
        </p:nvSpPr>
        <p:spPr>
          <a:xfrm>
            <a:off x="864000" y="5652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2600</a:t>
            </a:r>
          </a:p>
        </p:txBody>
      </p:sp>
      <p:cxnSp>
        <p:nvCxnSpPr>
          <p:cNvPr id="396" name="Connector 395"/>
          <p:cNvCxnSpPr/>
          <p:nvPr/>
        </p:nvCxnSpPr>
        <p:spPr>
          <a:xfrm>
            <a:off x="18360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7" name="Connector 396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398" name="Connector 397"/>
          <p:cNvCxnSpPr/>
          <p:nvPr/>
        </p:nvCxnSpPr>
        <p:spPr>
          <a:xfrm>
            <a:off x="18360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399" name="Connector 398"/>
          <p:cNvCxnSpPr/>
          <p:nvPr/>
        </p:nvCxnSpPr>
        <p:spPr>
          <a:xfrm flipV="1">
            <a:off x="18000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0" name="Connector 399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1" name="TextBox 400"/>
          <p:cNvSpPr txBox="1"/>
          <p:nvPr/>
        </p:nvSpPr>
        <p:spPr>
          <a:xfrm>
            <a:off x="1893599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30312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3" name="Connector 402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4" name="Connector 403"/>
          <p:cNvCxnSpPr/>
          <p:nvPr/>
        </p:nvCxnSpPr>
        <p:spPr>
          <a:xfrm>
            <a:off x="30312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5" name="Connector 404"/>
          <p:cNvCxnSpPr/>
          <p:nvPr/>
        </p:nvCxnSpPr>
        <p:spPr>
          <a:xfrm flipV="1">
            <a:off x="29952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06" name="Connector 405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07" name="TextBox 406"/>
          <p:cNvSpPr txBox="1"/>
          <p:nvPr/>
        </p:nvSpPr>
        <p:spPr>
          <a:xfrm>
            <a:off x="30888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08" name="Connector 407"/>
          <p:cNvCxnSpPr/>
          <p:nvPr/>
        </p:nvCxnSpPr>
        <p:spPr>
          <a:xfrm>
            <a:off x="42264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09" name="Connector 408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0" name="Connector 409"/>
          <p:cNvCxnSpPr/>
          <p:nvPr/>
        </p:nvCxnSpPr>
        <p:spPr>
          <a:xfrm>
            <a:off x="42264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1" name="Connector 410"/>
          <p:cNvCxnSpPr/>
          <p:nvPr/>
        </p:nvCxnSpPr>
        <p:spPr>
          <a:xfrm flipV="1">
            <a:off x="41904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2" name="Connector 411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3" name="TextBox 412"/>
          <p:cNvSpPr txBox="1"/>
          <p:nvPr/>
        </p:nvSpPr>
        <p:spPr>
          <a:xfrm>
            <a:off x="42840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14" name="Connector 413"/>
          <p:cNvCxnSpPr/>
          <p:nvPr/>
        </p:nvCxnSpPr>
        <p:spPr>
          <a:xfrm>
            <a:off x="54216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5" name="Connector 414"/>
          <p:cNvCxnSpPr/>
          <p:nvPr/>
        </p:nvCxnSpPr>
        <p:spPr>
          <a:xfrm>
            <a:off x="6616800" y="7992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16" name="Connector 415"/>
          <p:cNvCxnSpPr/>
          <p:nvPr/>
        </p:nvCxnSpPr>
        <p:spPr>
          <a:xfrm>
            <a:off x="5421600" y="8280000"/>
            <a:ext cx="11952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7" name="Connector 416"/>
          <p:cNvCxnSpPr/>
          <p:nvPr/>
        </p:nvCxnSpPr>
        <p:spPr>
          <a:xfrm flipV="1">
            <a:off x="53856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18" name="Connector 417"/>
          <p:cNvCxnSpPr/>
          <p:nvPr/>
        </p:nvCxnSpPr>
        <p:spPr>
          <a:xfrm flipV="1">
            <a:off x="6580800" y="8244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19" name="TextBox 418"/>
          <p:cNvSpPr txBox="1"/>
          <p:nvPr/>
        </p:nvSpPr>
        <p:spPr>
          <a:xfrm>
            <a:off x="5479200" y="8100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664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7426800" y="79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1" name="Connector 420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2" name="Connector 421"/>
          <p:cNvCxnSpPr/>
          <p:nvPr/>
        </p:nvCxnSpPr>
        <p:spPr>
          <a:xfrm flipV="1">
            <a:off x="7750800" y="7812000"/>
            <a:ext cx="0" cy="18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3" name="Connector 422"/>
          <p:cNvCxnSpPr/>
          <p:nvPr/>
        </p:nvCxnSpPr>
        <p:spPr>
          <a:xfrm flipV="1">
            <a:off x="7714800" y="79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4" name="Connector 423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25" name="TextBox 424"/>
          <p:cNvSpPr txBox="1"/>
          <p:nvPr/>
        </p:nvSpPr>
        <p:spPr>
          <a:xfrm>
            <a:off x="7794000" y="790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7426800" y="78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7" name="Connector 426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28" name="Connector 427"/>
          <p:cNvCxnSpPr/>
          <p:nvPr/>
        </p:nvCxnSpPr>
        <p:spPr>
          <a:xfrm flipV="1">
            <a:off x="7750800" y="6912000"/>
            <a:ext cx="0" cy="90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29" name="Connector 428"/>
          <p:cNvCxnSpPr/>
          <p:nvPr/>
        </p:nvCxnSpPr>
        <p:spPr>
          <a:xfrm flipV="1">
            <a:off x="7714800" y="77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0" name="Connector 429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1" name="TextBox 430"/>
          <p:cNvSpPr txBox="1"/>
          <p:nvPr/>
        </p:nvSpPr>
        <p:spPr>
          <a:xfrm>
            <a:off x="7794000" y="736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7426800" y="69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3" name="Connector 432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4" name="Connector 433"/>
          <p:cNvCxnSpPr/>
          <p:nvPr/>
        </p:nvCxnSpPr>
        <p:spPr>
          <a:xfrm flipV="1">
            <a:off x="7750800" y="619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5" name="Connector 434"/>
          <p:cNvCxnSpPr/>
          <p:nvPr/>
        </p:nvCxnSpPr>
        <p:spPr>
          <a:xfrm flipV="1">
            <a:off x="7714800" y="68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36" name="Connector 435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37" name="TextBox 436"/>
          <p:cNvSpPr txBox="1"/>
          <p:nvPr/>
        </p:nvSpPr>
        <p:spPr>
          <a:xfrm>
            <a:off x="7794000" y="655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38" name="Connector 437"/>
          <p:cNvCxnSpPr/>
          <p:nvPr/>
        </p:nvCxnSpPr>
        <p:spPr>
          <a:xfrm>
            <a:off x="7426800" y="619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39" name="Connector 438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0" name="Connector 439"/>
          <p:cNvCxnSpPr/>
          <p:nvPr/>
        </p:nvCxnSpPr>
        <p:spPr>
          <a:xfrm flipV="1">
            <a:off x="7750800" y="547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1" name="Connector 440"/>
          <p:cNvCxnSpPr/>
          <p:nvPr/>
        </p:nvCxnSpPr>
        <p:spPr>
          <a:xfrm flipV="1">
            <a:off x="7714800" y="61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2" name="Connector 441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3" name="TextBox 442"/>
          <p:cNvSpPr txBox="1"/>
          <p:nvPr/>
        </p:nvSpPr>
        <p:spPr>
          <a:xfrm>
            <a:off x="7794000" y="583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426800" y="547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5" name="Connector 444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46" name="Connector 445"/>
          <p:cNvCxnSpPr/>
          <p:nvPr/>
        </p:nvCxnSpPr>
        <p:spPr>
          <a:xfrm flipV="1">
            <a:off x="7750800" y="475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7" name="Connector 446"/>
          <p:cNvCxnSpPr/>
          <p:nvPr/>
        </p:nvCxnSpPr>
        <p:spPr>
          <a:xfrm flipV="1">
            <a:off x="7714800" y="543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48" name="Connector 447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49" name="TextBox 448"/>
          <p:cNvSpPr txBox="1"/>
          <p:nvPr/>
        </p:nvSpPr>
        <p:spPr>
          <a:xfrm>
            <a:off x="7794000" y="511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0" name="Connector 449"/>
          <p:cNvCxnSpPr/>
          <p:nvPr/>
        </p:nvCxnSpPr>
        <p:spPr>
          <a:xfrm>
            <a:off x="7426800" y="475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1" name="Connector 450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2" name="Connector 451"/>
          <p:cNvCxnSpPr/>
          <p:nvPr/>
        </p:nvCxnSpPr>
        <p:spPr>
          <a:xfrm flipV="1">
            <a:off x="7750800" y="403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3" name="Connector 452"/>
          <p:cNvCxnSpPr/>
          <p:nvPr/>
        </p:nvCxnSpPr>
        <p:spPr>
          <a:xfrm flipV="1">
            <a:off x="7714800" y="471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4" name="Connector 453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55" name="TextBox 454"/>
          <p:cNvSpPr txBox="1"/>
          <p:nvPr/>
        </p:nvSpPr>
        <p:spPr>
          <a:xfrm>
            <a:off x="7794000" y="439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cxnSp>
        <p:nvCxnSpPr>
          <p:cNvPr id="456" name="Connector 455"/>
          <p:cNvCxnSpPr/>
          <p:nvPr/>
        </p:nvCxnSpPr>
        <p:spPr>
          <a:xfrm>
            <a:off x="7426800" y="403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7" name="Connector 456"/>
          <p:cNvCxnSpPr/>
          <p:nvPr/>
        </p:nvCxnSpPr>
        <p:spPr>
          <a:xfrm>
            <a:off x="7426800" y="3312000"/>
            <a:ext cx="324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58" name="Connector 457"/>
          <p:cNvCxnSpPr/>
          <p:nvPr/>
        </p:nvCxnSpPr>
        <p:spPr>
          <a:xfrm flipV="1">
            <a:off x="7750800" y="3312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59" name="Connector 458"/>
          <p:cNvCxnSpPr/>
          <p:nvPr/>
        </p:nvCxnSpPr>
        <p:spPr>
          <a:xfrm flipV="1">
            <a:off x="7714800" y="399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60" name="Connector 459"/>
          <p:cNvCxnSpPr/>
          <p:nvPr/>
        </p:nvCxnSpPr>
        <p:spPr>
          <a:xfrm flipV="1">
            <a:off x="7714800" y="327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61" name="TextBox 460"/>
          <p:cNvSpPr txBox="1"/>
          <p:nvPr/>
        </p:nvSpPr>
        <p:spPr>
          <a:xfrm>
            <a:off x="7794000" y="3672000"/>
            <a:ext cx="468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400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92000" y="2196000"/>
            <a:ext cx="936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9A825A"/>
                </a:solidFill>
                <a:latin typeface="Liberation Sans"/>
              </a:defRPr>
            </a:pPr>
            <a:r>
              <a:t>BLACK STEEL  /  NEUTRAL PPC  /  EXPANDED MESH  /  3000 K LED</a:t>
            </a:r>
          </a:p>
        </p:txBody>
      </p:sp>
      <p:cxnSp>
        <p:nvCxnSpPr>
          <p:cNvPr id="480" name="Connector 479"/>
          <p:cNvCxnSpPr/>
          <p:nvPr/>
        </p:nvCxnSpPr>
        <p:spPr>
          <a:xfrm>
            <a:off x="1836000" y="9252000"/>
            <a:ext cx="1800000" cy="0"/>
          </a:xfrm>
          <a:prstGeom prst="line">
            <a:avLst/>
          </a:prstGeom>
          <a:ln w="19050">
            <a:solidFill>
              <a:srgbClr val="252725"/>
            </a:solidFill>
          </a:ln>
          <a:effectLst/>
        </p:spPr>
      </p:cxnSp>
      <p:cxnSp>
        <p:nvCxnSpPr>
          <p:cNvPr id="481" name="Connector 480"/>
          <p:cNvCxnSpPr/>
          <p:nvPr/>
        </p:nvCxnSpPr>
        <p:spPr>
          <a:xfrm>
            <a:off x="18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2" name="Connector 481"/>
          <p:cNvCxnSpPr/>
          <p:nvPr/>
        </p:nvCxnSpPr>
        <p:spPr>
          <a:xfrm>
            <a:off x="27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cxnSp>
        <p:nvCxnSpPr>
          <p:cNvPr id="483" name="Connector 482"/>
          <p:cNvCxnSpPr/>
          <p:nvPr/>
        </p:nvCxnSpPr>
        <p:spPr>
          <a:xfrm>
            <a:off x="3636000" y="9216000"/>
            <a:ext cx="0" cy="72000"/>
          </a:xfrm>
          <a:prstGeom prst="line">
            <a:avLst/>
          </a:prstGeom>
          <a:ln w="8890">
            <a:solidFill>
              <a:srgbClr val="252725"/>
            </a:solidFill>
          </a:ln>
          <a:effectLst/>
        </p:spPr>
      </p:cxnSp>
      <p:sp>
        <p:nvSpPr>
          <p:cNvPr id="484" name="TextBox 483"/>
          <p:cNvSpPr txBox="1"/>
          <p:nvPr/>
        </p:nvSpPr>
        <p:spPr>
          <a:xfrm>
            <a:off x="1836000" y="9324000"/>
            <a:ext cx="2340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00" b="0">
                <a:solidFill>
                  <a:srgbClr val="737871"/>
                </a:solidFill>
                <a:latin typeface="Liberation Sans"/>
              </a:defRPr>
            </a:pPr>
            <a:r>
              <a:t>0                         1000 mm   |   1:20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836000" y="9936000"/>
            <a:ext cx="7920000" cy="432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750" b="0">
                <a:solidFill>
                  <a:srgbClr val="737871"/>
                </a:solidFill>
                <a:latin typeface="Liberation Sans"/>
              </a:defRPr>
            </a:pPr>
            <a:r>
              <a:t>INDICATIVE BOTTLES · NOT A STOCK / CAPACITY SCHEDULE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10224000" y="2340000"/>
            <a:ext cx="4536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SHELF / FRONT EDGE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10224000" y="2628000"/>
            <a:ext cx="4536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1:2</a:t>
            </a:r>
          </a:p>
        </p:txBody>
      </p:sp>
      <p:sp>
        <p:nvSpPr>
          <p:cNvPr id="488" name="Rectangle 487"/>
          <p:cNvSpPr/>
          <p:nvPr/>
        </p:nvSpPr>
        <p:spPr>
          <a:xfrm>
            <a:off x="10224000" y="4050000"/>
            <a:ext cx="4500000" cy="54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14670000" y="4050000"/>
            <a:ext cx="54000" cy="45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10494000" y="4104000"/>
            <a:ext cx="360000" cy="360000"/>
          </a:xfrm>
          <a:prstGeom prst="rect">
            <a:avLst/>
          </a:prstGeom>
          <a:solidFill>
            <a:srgbClr val="252725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10522800" y="4132800"/>
            <a:ext cx="302400" cy="302400"/>
          </a:xfrm>
          <a:prstGeom prst="rect">
            <a:avLst/>
          </a:prstGeom>
          <a:solidFill>
            <a:srgbClr val="FCFBF7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>
            <a:off x="14364000" y="4284000"/>
            <a:ext cx="270000" cy="0"/>
          </a:xfrm>
          <a:prstGeom prst="line">
            <a:avLst/>
          </a:prstGeom>
          <a:ln w="16510">
            <a:solidFill>
              <a:srgbClr val="9A825A"/>
            </a:solidFill>
          </a:ln>
          <a:effectLst/>
        </p:spPr>
      </p:cxnSp>
      <p:cxnSp>
        <p:nvCxnSpPr>
          <p:cNvPr id="493" name="Connector 492"/>
          <p:cNvCxnSpPr/>
          <p:nvPr/>
        </p:nvCxnSpPr>
        <p:spPr>
          <a:xfrm flipV="1">
            <a:off x="102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4" name="Connector 493"/>
          <p:cNvCxnSpPr/>
          <p:nvPr/>
        </p:nvCxnSpPr>
        <p:spPr>
          <a:xfrm flipV="1">
            <a:off x="14724000" y="3726000"/>
            <a:ext cx="0" cy="324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495" name="Connector 494"/>
          <p:cNvCxnSpPr/>
          <p:nvPr/>
        </p:nvCxnSpPr>
        <p:spPr>
          <a:xfrm>
            <a:off x="10224000" y="3726000"/>
            <a:ext cx="450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6" name="Connector 495"/>
          <p:cNvCxnSpPr/>
          <p:nvPr/>
        </p:nvCxnSpPr>
        <p:spPr>
          <a:xfrm flipV="1">
            <a:off x="101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497" name="Connector 496"/>
          <p:cNvCxnSpPr/>
          <p:nvPr/>
        </p:nvCxnSpPr>
        <p:spPr>
          <a:xfrm flipV="1">
            <a:off x="14688000" y="3690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498" name="TextBox 497"/>
          <p:cNvSpPr txBox="1"/>
          <p:nvPr/>
        </p:nvSpPr>
        <p:spPr>
          <a:xfrm>
            <a:off x="11934000" y="3546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250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10224000" y="4680000"/>
            <a:ext cx="4500000" cy="72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3 mm folded tray · 25 front downstand</a:t>
            </a:r>
          </a:p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20 × 20 × 1.6 support · LED profile TBC #16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10980000" y="6372000"/>
            <a:ext cx="360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2725"/>
                </a:solidFill>
                <a:latin typeface="Liberation Sans"/>
              </a:defRPr>
            </a:pPr>
            <a:r>
              <a:t>CABINET / PLINTH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10980000" y="6660000"/>
            <a:ext cx="3600000" cy="36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SECTION 1:5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11340000" y="6912000"/>
            <a:ext cx="1800000" cy="1872000"/>
          </a:xfrm>
          <a:prstGeom prst="rect">
            <a:avLst/>
          </a:prstGeom>
          <a:solidFill>
            <a:srgbClr val="DED8CD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340000" y="8784000"/>
            <a:ext cx="1440000" cy="720000"/>
          </a:xfrm>
          <a:prstGeom prst="rect">
            <a:avLst/>
          </a:prstGeom>
          <a:solidFill>
            <a:srgbClr val="51534E"/>
          </a:solidFill>
          <a:ln w="8890">
            <a:solidFill>
              <a:srgbClr val="25272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4" name="Connector 503"/>
          <p:cNvCxnSpPr/>
          <p:nvPr/>
        </p:nvCxnSpPr>
        <p:spPr>
          <a:xfrm>
            <a:off x="12780000" y="9072000"/>
            <a:ext cx="324000" cy="0"/>
          </a:xfrm>
          <a:prstGeom prst="line">
            <a:avLst/>
          </a:prstGeom>
          <a:ln w="12700">
            <a:solidFill>
              <a:srgbClr val="9A825A"/>
            </a:solidFill>
          </a:ln>
          <a:effectLst/>
        </p:spPr>
      </p:cxnSp>
      <p:cxnSp>
        <p:nvCxnSpPr>
          <p:cNvPr id="505" name="Connector 504"/>
          <p:cNvCxnSpPr/>
          <p:nvPr/>
        </p:nvCxnSpPr>
        <p:spPr>
          <a:xfrm>
            <a:off x="1278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6" name="Connector 505"/>
          <p:cNvCxnSpPr/>
          <p:nvPr/>
        </p:nvCxnSpPr>
        <p:spPr>
          <a:xfrm>
            <a:off x="13140000" y="9504000"/>
            <a:ext cx="0" cy="28800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07" name="Connector 506"/>
          <p:cNvCxnSpPr/>
          <p:nvPr/>
        </p:nvCxnSpPr>
        <p:spPr>
          <a:xfrm>
            <a:off x="12780000" y="9792000"/>
            <a:ext cx="360000" cy="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8" name="Connector 507"/>
          <p:cNvCxnSpPr/>
          <p:nvPr/>
        </p:nvCxnSpPr>
        <p:spPr>
          <a:xfrm flipV="1">
            <a:off x="1274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09" name="Connector 508"/>
          <p:cNvCxnSpPr/>
          <p:nvPr/>
        </p:nvCxnSpPr>
        <p:spPr>
          <a:xfrm flipV="1">
            <a:off x="13104000" y="9756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0" name="TextBox 509"/>
          <p:cNvSpPr txBox="1"/>
          <p:nvPr/>
        </p:nvSpPr>
        <p:spPr>
          <a:xfrm>
            <a:off x="12420000" y="9612000"/>
            <a:ext cx="1080000" cy="180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50</a:t>
            </a:r>
          </a:p>
        </p:txBody>
      </p:sp>
      <p:cxnSp>
        <p:nvCxnSpPr>
          <p:cNvPr id="511" name="Connector 510"/>
          <p:cNvCxnSpPr/>
          <p:nvPr/>
        </p:nvCxnSpPr>
        <p:spPr>
          <a:xfrm>
            <a:off x="13140000" y="950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2" name="Connector 511"/>
          <p:cNvCxnSpPr/>
          <p:nvPr/>
        </p:nvCxnSpPr>
        <p:spPr>
          <a:xfrm>
            <a:off x="13140000" y="8784000"/>
            <a:ext cx="288000" cy="0"/>
          </a:xfrm>
          <a:prstGeom prst="line">
            <a:avLst/>
          </a:prstGeom>
          <a:ln w="5080">
            <a:solidFill>
              <a:srgbClr val="737871"/>
            </a:solidFill>
          </a:ln>
          <a:effectLst/>
        </p:spPr>
      </p:cxnSp>
      <p:cxnSp>
        <p:nvCxnSpPr>
          <p:cNvPr id="513" name="Connector 512"/>
          <p:cNvCxnSpPr/>
          <p:nvPr/>
        </p:nvCxnSpPr>
        <p:spPr>
          <a:xfrm flipV="1">
            <a:off x="13428000" y="8784000"/>
            <a:ext cx="0" cy="720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4" name="Connector 513"/>
          <p:cNvCxnSpPr/>
          <p:nvPr/>
        </p:nvCxnSpPr>
        <p:spPr>
          <a:xfrm flipV="1">
            <a:off x="13392000" y="946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cxnSp>
        <p:nvCxnSpPr>
          <p:cNvPr id="515" name="Connector 514"/>
          <p:cNvCxnSpPr/>
          <p:nvPr/>
        </p:nvCxnSpPr>
        <p:spPr>
          <a:xfrm flipV="1">
            <a:off x="13392000" y="8748000"/>
            <a:ext cx="72000" cy="72000"/>
          </a:xfrm>
          <a:prstGeom prst="line">
            <a:avLst/>
          </a:prstGeom>
          <a:ln w="6350">
            <a:solidFill>
              <a:srgbClr val="737871"/>
            </a:solidFill>
          </a:ln>
          <a:effectLst/>
        </p:spPr>
      </p:cxnSp>
      <p:sp>
        <p:nvSpPr>
          <p:cNvPr id="516" name="TextBox 515"/>
          <p:cNvSpPr txBox="1"/>
          <p:nvPr/>
        </p:nvSpPr>
        <p:spPr>
          <a:xfrm>
            <a:off x="12996000" y="9144000"/>
            <a:ext cx="864000" cy="216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800" b="0">
                <a:solidFill>
                  <a:srgbClr val="466976"/>
                </a:solidFill>
                <a:latin typeface="Liberation Sans"/>
              </a:defRPr>
            </a:pPr>
            <a:r>
              <a:t>100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10980000" y="10116000"/>
            <a:ext cx="3780000" cy="32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100 high · 50 recess · warm toe-kick LED</a:t>
            </a:r>
          </a:p>
        </p:txBody>
      </p:sp>
      <p:cxnSp>
        <p:nvCxnSpPr>
          <p:cNvPr id="518" name="LEADER:EXPANDED MESH"/>
          <p:cNvCxnSpPr/>
          <p:nvPr/>
        </p:nvCxnSpPr>
        <p:spPr>
          <a:xfrm flipV="1">
            <a:off x="6570000" y="3240000"/>
            <a:ext cx="1638000" cy="25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LEADER:EXPANDED MESH"/>
          <p:cNvCxnSpPr/>
          <p:nvPr/>
        </p:nvCxnSpPr>
        <p:spPr>
          <a:xfrm>
            <a:off x="8208000" y="324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Oval 519"/>
          <p:cNvSpPr/>
          <p:nvPr/>
        </p:nvSpPr>
        <p:spPr>
          <a:xfrm>
            <a:off x="6552000" y="347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ANNOTATION:EXPANDED MESH title"/>
          <p:cNvSpPr txBox="1"/>
          <p:nvPr/>
        </p:nvSpPr>
        <p:spPr>
          <a:xfrm>
            <a:off x="8532000" y="316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22" name="ANNOTATION:EXPANDED MESH description"/>
          <p:cNvSpPr txBox="1"/>
          <p:nvPr/>
        </p:nvSpPr>
        <p:spPr>
          <a:xfrm>
            <a:off x="8532000" y="345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2200–2600</a:t>
            </a:r>
          </a:p>
        </p:txBody>
      </p:sp>
      <p:cxnSp>
        <p:nvCxnSpPr>
          <p:cNvPr id="523" name="LEADER:BLACK STEEL TRAY"/>
          <p:cNvCxnSpPr/>
          <p:nvPr/>
        </p:nvCxnSpPr>
        <p:spPr>
          <a:xfrm flipV="1">
            <a:off x="6570000" y="5400000"/>
            <a:ext cx="1638000" cy="72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LEADER:BLACK STEEL TRAY"/>
          <p:cNvCxnSpPr/>
          <p:nvPr/>
        </p:nvCxnSpPr>
        <p:spPr>
          <a:xfrm>
            <a:off x="8208000" y="5400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Oval 524"/>
          <p:cNvSpPr/>
          <p:nvPr/>
        </p:nvSpPr>
        <p:spPr>
          <a:xfrm>
            <a:off x="6552000" y="5454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ANNOTATION:BLACK STEEL TRAY title"/>
          <p:cNvSpPr txBox="1"/>
          <p:nvPr/>
        </p:nvSpPr>
        <p:spPr>
          <a:xfrm>
            <a:off x="8532000" y="5328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</a:t>
            </a:r>
          </a:p>
        </p:txBody>
      </p:sp>
      <p:sp>
        <p:nvSpPr>
          <p:cNvPr id="527" name="ANNOTATION:BLACK STEEL TRAY description"/>
          <p:cNvSpPr txBox="1"/>
          <p:nvPr/>
        </p:nvSpPr>
        <p:spPr>
          <a:xfrm>
            <a:off x="8532000" y="5616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downstand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Concealed warm LED</a:t>
            </a:r>
          </a:p>
        </p:txBody>
      </p:sp>
      <p:cxnSp>
        <p:nvCxnSpPr>
          <p:cNvPr id="528" name="LEADER:RECESSED PLINTH"/>
          <p:cNvCxnSpPr/>
          <p:nvPr/>
        </p:nvCxnSpPr>
        <p:spPr>
          <a:xfrm flipV="1">
            <a:off x="6570000" y="7668000"/>
            <a:ext cx="1638000" cy="27900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LEADER:RECESSED PLINTH"/>
          <p:cNvCxnSpPr/>
          <p:nvPr/>
        </p:nvCxnSpPr>
        <p:spPr>
          <a:xfrm>
            <a:off x="8208000" y="766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Oval 529"/>
          <p:cNvSpPr/>
          <p:nvPr/>
        </p:nvSpPr>
        <p:spPr>
          <a:xfrm>
            <a:off x="6552000" y="792900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ANNOTATION:RECESSED PLINTH title"/>
          <p:cNvSpPr txBox="1"/>
          <p:nvPr/>
        </p:nvSpPr>
        <p:spPr>
          <a:xfrm>
            <a:off x="8532000" y="7596000"/>
            <a:ext cx="1548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RECESSED PLINTH</a:t>
            </a:r>
          </a:p>
        </p:txBody>
      </p:sp>
      <p:sp>
        <p:nvSpPr>
          <p:cNvPr id="532" name="ANNOTATION:RECESSED PLINTH description"/>
          <p:cNvSpPr txBox="1"/>
          <p:nvPr/>
        </p:nvSpPr>
        <p:spPr>
          <a:xfrm>
            <a:off x="8532000" y="7884000"/>
            <a:ext cx="1548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 high · 50 recess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Warm toe-kick light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6616800" y="2520000"/>
            <a:ext cx="972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SOLID COLUMN RETURN</a:t>
            </a:r>
          </a:p>
          <a:p>
            <a:pPr>
              <a:spcAft>
                <a:spcPts val="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Display faces street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0000" y="720000"/>
            <a:ext cx="11880000" cy="504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252725"/>
                </a:solidFill>
                <a:latin typeface="Liberation Serif"/>
              </a:defRPr>
            </a:pPr>
            <a:r>
              <a:t>SPATIAL ASSEMBLY / CUTAWAY AXONOMETRIC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96000"/>
            <a:ext cx="12420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37871"/>
                </a:solidFill>
                <a:latin typeface="Liberation Sans"/>
              </a:defRPr>
            </a:pPr>
            <a:r>
              <a:t>Spatial cutaway · orthographic projection · direct material and interface annotations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000" y="468000"/>
            <a:ext cx="1368000" cy="619671"/>
          </a:xfrm>
          <a:prstGeom prst="rect">
            <a:avLst/>
          </a:prstGeom>
          <a:effectLst/>
        </p:spPr>
      </p:pic>
      <p:cxnSp>
        <p:nvCxnSpPr>
          <p:cNvPr id="6" name="Connector 5"/>
          <p:cNvCxnSpPr/>
          <p:nvPr/>
        </p:nvCxnSpPr>
        <p:spPr>
          <a:xfrm>
            <a:off x="540000" y="1728000"/>
            <a:ext cx="14040000" cy="0"/>
          </a:xfrm>
          <a:prstGeom prst="line">
            <a:avLst/>
          </a:prstGeom>
          <a:ln w="8890">
            <a:solidFill>
              <a:srgbClr val="9A825A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4932000" y="10152000"/>
            <a:ext cx="7308000" cy="288000"/>
          </a:xfrm>
          <a:prstGeom prst="rect">
            <a:avLst/>
          </a:prstGeom>
          <a:noFill/>
          <a:effectLst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737871"/>
                </a:solidFill>
                <a:latin typeface="Liberation Sans"/>
              </a:defRPr>
            </a:pPr>
            <a:r>
              <a:t>ORTHOGRAPHIC CUTAWAY · NTS · ceiling plane removed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/>
          <a:srcRect l="1758" r="32812" t="2036" b="2036"/>
          <a:stretch>
            <a:fillRect/>
          </a:stretch>
        </p:blipFill>
        <p:spPr>
          <a:xfrm>
            <a:off x="3960000" y="2052000"/>
            <a:ext cx="6285990" cy="7956000"/>
          </a:xfrm>
          <a:prstGeom prst="rect">
            <a:avLst/>
          </a:prstGeom>
        </p:spPr>
      </p:pic>
      <p:sp>
        <p:nvSpPr>
          <p:cNvPr id="9" name="SHADOW:floor contact"/>
          <p:cNvSpPr/>
          <p:nvPr/>
        </p:nvSpPr>
        <p:spPr>
          <a:xfrm>
            <a:off x="7911706" y="8089912"/>
            <a:ext cx="474781" cy="329165"/>
          </a:xfrm>
          <a:custGeom>
            <a:avLst/>
            <a:gdLst/>
            <a:ahLst/>
            <a:cxnLst/>
            <a:rect l="l" t="t" r="r" b="b"/>
            <a:pathLst>
              <a:path w="474781" h="329165">
                <a:moveTo>
                  <a:pt x="0" y="304055"/>
                </a:moveTo>
                <a:lnTo>
                  <a:pt x="82885" y="329165"/>
                </a:lnTo>
                <a:lnTo>
                  <a:pt x="474781" y="25109"/>
                </a:lnTo>
                <a:lnTo>
                  <a:pt x="391896" y="0"/>
                </a:lnTo>
                <a:close/>
              </a:path>
            </a:pathLst>
          </a:custGeom>
          <a:solidFill>
            <a:srgbClr val="252725">
              <a:alpha val="6500"/>
            </a:srgbClr>
          </a:solidFill>
          <a:ln>
            <a:noFill/>
          </a:ln>
          <a:effectLst>
            <a:softEdge rad="16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HADOW:floor contact"/>
          <p:cNvSpPr/>
          <p:nvPr/>
        </p:nvSpPr>
        <p:spPr>
          <a:xfrm>
            <a:off x="6490578" y="7975476"/>
            <a:ext cx="1504013" cy="474408"/>
          </a:xfrm>
          <a:custGeom>
            <a:avLst/>
            <a:gdLst/>
            <a:ahLst/>
            <a:cxnLst/>
            <a:rect l="l" t="t" r="r" b="b"/>
            <a:pathLst>
              <a:path w="1504013" h="474408">
                <a:moveTo>
                  <a:pt x="0" y="30807"/>
                </a:moveTo>
                <a:lnTo>
                  <a:pt x="1464306" y="474408"/>
                </a:lnTo>
                <a:lnTo>
                  <a:pt x="1504013" y="443601"/>
                </a:lnTo>
                <a:lnTo>
                  <a:pt x="39707" y="0"/>
                </a:lnTo>
                <a:close/>
              </a:path>
            </a:pathLst>
          </a:custGeom>
          <a:solidFill>
            <a:srgbClr val="252725">
              <a:alpha val="6500"/>
            </a:srgbClr>
          </a:solidFill>
          <a:ln>
            <a:noFill/>
          </a:ln>
          <a:effectLst>
            <a:softEdge rad="16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HADOW:floor contact"/>
          <p:cNvSpPr/>
          <p:nvPr/>
        </p:nvSpPr>
        <p:spPr>
          <a:xfrm>
            <a:off x="7397352" y="7792685"/>
            <a:ext cx="2132135" cy="1628101"/>
          </a:xfrm>
          <a:custGeom>
            <a:avLst/>
            <a:gdLst/>
            <a:ahLst/>
            <a:cxnLst/>
            <a:rect l="l" t="t" r="r" b="b"/>
            <a:pathLst>
              <a:path w="2132135" h="1628101">
                <a:moveTo>
                  <a:pt x="0" y="1611362"/>
                </a:moveTo>
                <a:lnTo>
                  <a:pt x="55257" y="1628101"/>
                </a:lnTo>
                <a:lnTo>
                  <a:pt x="2132135" y="16739"/>
                </a:lnTo>
                <a:lnTo>
                  <a:pt x="2076878" y="0"/>
                </a:lnTo>
                <a:close/>
              </a:path>
            </a:pathLst>
          </a:custGeom>
          <a:solidFill>
            <a:srgbClr val="252725">
              <a:alpha val="6500"/>
            </a:srgbClr>
          </a:solidFill>
          <a:ln>
            <a:noFill/>
          </a:ln>
          <a:effectLst>
            <a:softEdge rad="16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DOW:floor contact"/>
          <p:cNvSpPr/>
          <p:nvPr/>
        </p:nvSpPr>
        <p:spPr>
          <a:xfrm>
            <a:off x="4827910" y="7014290"/>
            <a:ext cx="2132134" cy="1628101"/>
          </a:xfrm>
          <a:custGeom>
            <a:avLst/>
            <a:gdLst/>
            <a:ahLst/>
            <a:cxnLst/>
            <a:rect l="l" t="t" r="r" b="b"/>
            <a:pathLst>
              <a:path w="2132134" h="1628101">
                <a:moveTo>
                  <a:pt x="0" y="1611362"/>
                </a:moveTo>
                <a:lnTo>
                  <a:pt x="55256" y="1628101"/>
                </a:lnTo>
                <a:lnTo>
                  <a:pt x="2132134" y="16740"/>
                </a:lnTo>
                <a:lnTo>
                  <a:pt x="2076877" y="0"/>
                </a:lnTo>
                <a:close/>
              </a:path>
            </a:pathLst>
          </a:custGeom>
          <a:solidFill>
            <a:srgbClr val="252725">
              <a:alpha val="6500"/>
            </a:srgbClr>
          </a:solidFill>
          <a:ln>
            <a:noFill/>
          </a:ln>
          <a:effectLst>
            <a:softEdge rad="16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LEADER:EXPANDED MESH"/>
          <p:cNvCxnSpPr/>
          <p:nvPr/>
        </p:nvCxnSpPr>
        <p:spPr>
          <a:xfrm flipH="1" flipV="1">
            <a:off x="3708000" y="3564000"/>
            <a:ext cx="2416102" cy="623943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EADER:EXPANDED MESH"/>
          <p:cNvCxnSpPr/>
          <p:nvPr/>
        </p:nvCxnSpPr>
        <p:spPr>
          <a:xfrm flipH="1">
            <a:off x="3492000" y="356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6106102" y="4169943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NNOTATION:EXPANDED MESH title"/>
          <p:cNvSpPr txBox="1"/>
          <p:nvPr/>
        </p:nvSpPr>
        <p:spPr>
          <a:xfrm>
            <a:off x="684000" y="3492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EXPANDED MESH</a:t>
            </a:r>
          </a:p>
        </p:txBody>
      </p:sp>
      <p:sp>
        <p:nvSpPr>
          <p:cNvPr id="54" name="ANNOTATION:EXPANDED MESH description"/>
          <p:cNvSpPr txBox="1"/>
          <p:nvPr/>
        </p:nvSpPr>
        <p:spPr>
          <a:xfrm>
            <a:off x="684000" y="3780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infill 2200–2600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Approx. 20 × 40 diamonds</a:t>
            </a:r>
          </a:p>
        </p:txBody>
      </p:sp>
      <p:cxnSp>
        <p:nvCxnSpPr>
          <p:cNvPr id="55" name="LEADER:BLACK STEEL TRAYS"/>
          <p:cNvCxnSpPr/>
          <p:nvPr/>
        </p:nvCxnSpPr>
        <p:spPr>
          <a:xfrm flipH="1" flipV="1">
            <a:off x="3708000" y="5688000"/>
            <a:ext cx="1680995" cy="507743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EADER:BLACK STEEL TRAYS"/>
          <p:cNvCxnSpPr/>
          <p:nvPr/>
        </p:nvCxnSpPr>
        <p:spPr>
          <a:xfrm flipH="1">
            <a:off x="3492000" y="568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5370995" y="6177743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NNOTATION:BLACK STEEL TRAYS title"/>
          <p:cNvSpPr txBox="1"/>
          <p:nvPr/>
        </p:nvSpPr>
        <p:spPr>
          <a:xfrm>
            <a:off x="684000" y="5616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BLACK STEEL TRAYS</a:t>
            </a:r>
          </a:p>
        </p:txBody>
      </p:sp>
      <p:sp>
        <p:nvSpPr>
          <p:cNvPr id="59" name="ANNOTATION:BLACK STEEL TRAYS description"/>
          <p:cNvSpPr txBox="1"/>
          <p:nvPr/>
        </p:nvSpPr>
        <p:spPr>
          <a:xfrm>
            <a:off x="684000" y="5904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250 deep · 3 mm steel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25 folded front downstand</a:t>
            </a:r>
          </a:p>
        </p:txBody>
      </p:sp>
      <p:cxnSp>
        <p:nvCxnSpPr>
          <p:cNvPr id="60" name="LEADER:NEUTRAL BASE DOORS"/>
          <p:cNvCxnSpPr/>
          <p:nvPr/>
        </p:nvCxnSpPr>
        <p:spPr>
          <a:xfrm flipH="1" flipV="1">
            <a:off x="3708000" y="7524000"/>
            <a:ext cx="1682376" cy="12536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LEADER:NEUTRAL BASE DOORS"/>
          <p:cNvCxnSpPr/>
          <p:nvPr/>
        </p:nvCxnSpPr>
        <p:spPr>
          <a:xfrm flipH="1">
            <a:off x="3492000" y="752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5372376" y="7631360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NNOTATION:NEUTRAL BASE DOORS title"/>
          <p:cNvSpPr txBox="1"/>
          <p:nvPr/>
        </p:nvSpPr>
        <p:spPr>
          <a:xfrm>
            <a:off x="684000" y="7452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NEUTRAL BASE DOORS</a:t>
            </a:r>
          </a:p>
        </p:txBody>
      </p:sp>
      <p:sp>
        <p:nvSpPr>
          <p:cNvPr id="64" name="ANNOTATION:NEUTRAL BASE DOORS description"/>
          <p:cNvSpPr txBox="1"/>
          <p:nvPr/>
        </p:nvSpPr>
        <p:spPr>
          <a:xfrm>
            <a:off x="684000" y="7740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1.5 mm PPC steel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 base incl. 100 plinth</a:t>
            </a:r>
          </a:p>
        </p:txBody>
      </p:sp>
      <p:cxnSp>
        <p:nvCxnSpPr>
          <p:cNvPr id="65" name="LEADER:STREET DISPLAY CUT"/>
          <p:cNvCxnSpPr/>
          <p:nvPr/>
        </p:nvCxnSpPr>
        <p:spPr>
          <a:xfrm flipH="1">
            <a:off x="3708000" y="7994771"/>
            <a:ext cx="783251" cy="1041229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LEADER:STREET DISPLAY CUT"/>
          <p:cNvCxnSpPr/>
          <p:nvPr/>
        </p:nvCxnSpPr>
        <p:spPr>
          <a:xfrm flipH="1">
            <a:off x="3492000" y="903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4473251" y="7976771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NNOTATION:STREET DISPLAY CUT title"/>
          <p:cNvSpPr txBox="1"/>
          <p:nvPr/>
        </p:nvSpPr>
        <p:spPr>
          <a:xfrm>
            <a:off x="684000" y="8964000"/>
            <a:ext cx="27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STREET DISPLAY CUT</a:t>
            </a:r>
          </a:p>
        </p:txBody>
      </p:sp>
      <p:sp>
        <p:nvSpPr>
          <p:cNvPr id="69" name="ANNOTATION:STREET DISPLAY CUT description"/>
          <p:cNvSpPr txBox="1"/>
          <p:nvPr/>
        </p:nvSpPr>
        <p:spPr>
          <a:xfrm>
            <a:off x="684000" y="9252000"/>
            <a:ext cx="270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column removed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1500 clear entrance</a:t>
            </a:r>
          </a:p>
        </p:txBody>
      </p:sp>
      <p:cxnSp>
        <p:nvCxnSpPr>
          <p:cNvPr id="70" name="LEADER:CEILING TRACKS"/>
          <p:cNvCxnSpPr/>
          <p:nvPr/>
        </p:nvCxnSpPr>
        <p:spPr>
          <a:xfrm flipV="1">
            <a:off x="8065372" y="2412000"/>
            <a:ext cx="2950628" cy="879557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EADER:CEILING TRACKS"/>
          <p:cNvCxnSpPr/>
          <p:nvPr/>
        </p:nvCxnSpPr>
        <p:spPr>
          <a:xfrm>
            <a:off x="11016000" y="2412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8047372" y="3273557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NNOTATION:CEILING TRACKS title"/>
          <p:cNvSpPr txBox="1"/>
          <p:nvPr/>
        </p:nvSpPr>
        <p:spPr>
          <a:xfrm>
            <a:off x="11340000" y="2340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CEILING TRACKS</a:t>
            </a:r>
          </a:p>
        </p:txBody>
      </p:sp>
      <p:sp>
        <p:nvSpPr>
          <p:cNvPr id="74" name="ANNOTATION:CEILING TRACKS description"/>
          <p:cNvSpPr txBox="1"/>
          <p:nvPr/>
        </p:nvSpPr>
        <p:spPr>
          <a:xfrm>
            <a:off x="11340000" y="2628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Exploded above room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Installed at 2600 · 3000 K</a:t>
            </a:r>
          </a:p>
        </p:txBody>
      </p:sp>
      <p:cxnSp>
        <p:nvCxnSpPr>
          <p:cNvPr id="75" name="LEADER:REAR BRAND WALL"/>
          <p:cNvCxnSpPr/>
          <p:nvPr/>
        </p:nvCxnSpPr>
        <p:spPr>
          <a:xfrm flipV="1">
            <a:off x="8432076" y="4428000"/>
            <a:ext cx="2583924" cy="110157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EADER:REAR BRAND WALL"/>
          <p:cNvCxnSpPr/>
          <p:nvPr/>
        </p:nvCxnSpPr>
        <p:spPr>
          <a:xfrm>
            <a:off x="11016000" y="4428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8414076" y="4520157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NNOTATION:REAR BRAND WALL title"/>
          <p:cNvSpPr txBox="1"/>
          <p:nvPr/>
        </p:nvSpPr>
        <p:spPr>
          <a:xfrm>
            <a:off x="11340000" y="4356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REAR BRAND WALL</a:t>
            </a:r>
          </a:p>
        </p:txBody>
      </p:sp>
      <p:sp>
        <p:nvSpPr>
          <p:cNvPr id="79" name="ANNOTATION:REAR BRAND WALL description"/>
          <p:cNvSpPr txBox="1"/>
          <p:nvPr/>
        </p:nvSpPr>
        <p:spPr>
          <a:xfrm>
            <a:off x="11340000" y="4644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Light plaster finish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600-wide unlit native logo</a:t>
            </a:r>
          </a:p>
        </p:txBody>
      </p:sp>
      <p:cxnSp>
        <p:nvCxnSpPr>
          <p:cNvPr id="80" name="LEADER:COUNTER"/>
          <p:cNvCxnSpPr/>
          <p:nvPr/>
        </p:nvCxnSpPr>
        <p:spPr>
          <a:xfrm flipV="1">
            <a:off x="7538722" y="6984000"/>
            <a:ext cx="3477278" cy="584622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LEADER:COUNTER"/>
          <p:cNvCxnSpPr/>
          <p:nvPr/>
        </p:nvCxnSpPr>
        <p:spPr>
          <a:xfrm>
            <a:off x="11016000" y="6984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7520722" y="7550622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ANNOTATION:COUNTER title"/>
          <p:cNvSpPr txBox="1"/>
          <p:nvPr/>
        </p:nvSpPr>
        <p:spPr>
          <a:xfrm>
            <a:off x="11340000" y="6912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COUNTER</a:t>
            </a:r>
          </a:p>
        </p:txBody>
      </p:sp>
      <p:sp>
        <p:nvSpPr>
          <p:cNvPr id="84" name="ANNOTATION:COUNTER description"/>
          <p:cNvSpPr txBox="1"/>
          <p:nvPr/>
        </p:nvSpPr>
        <p:spPr>
          <a:xfrm>
            <a:off x="11340000" y="7200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1000 × 450 × 900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Mesh left / neutral panel right</a:t>
            </a:r>
          </a:p>
        </p:txBody>
      </p:sp>
      <p:cxnSp>
        <p:nvCxnSpPr>
          <p:cNvPr id="85" name="LEADER:NEAR-SIDE CUTAWAY"/>
          <p:cNvCxnSpPr/>
          <p:nvPr/>
        </p:nvCxnSpPr>
        <p:spPr>
          <a:xfrm>
            <a:off x="8281318" y="8072031"/>
            <a:ext cx="2734682" cy="783969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LEADER:NEAR-SIDE CUTAWAY"/>
          <p:cNvCxnSpPr/>
          <p:nvPr/>
        </p:nvCxnSpPr>
        <p:spPr>
          <a:xfrm>
            <a:off x="11016000" y="8856000"/>
            <a:ext cx="216000" cy="0"/>
          </a:xfrm>
          <a:prstGeom prst="line">
            <a:avLst/>
          </a:prstGeom>
          <a:ln w="6985">
            <a:solidFill>
              <a:srgbClr val="7378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263318" y="8054031"/>
            <a:ext cx="36000" cy="36000"/>
          </a:xfrm>
          <a:prstGeom prst="ellipse">
            <a:avLst/>
          </a:prstGeom>
          <a:solidFill>
            <a:srgbClr val="737871"/>
          </a:solidFill>
          <a:ln w="8890">
            <a:solidFill>
              <a:srgbClr val="737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ANNOTATION:NEAR-SIDE CUTAWAY title"/>
          <p:cNvSpPr txBox="1"/>
          <p:nvPr/>
        </p:nvSpPr>
        <p:spPr>
          <a:xfrm>
            <a:off x="11340000" y="8784000"/>
            <a:ext cx="306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900" b="1">
                <a:solidFill>
                  <a:srgbClr val="252725"/>
                </a:solidFill>
                <a:latin typeface="Liberation Sans"/>
              </a:defRPr>
            </a:pPr>
            <a:r>
              <a:t>NEAR-SIDE CUTAWAY</a:t>
            </a:r>
          </a:p>
        </p:txBody>
      </p:sp>
      <p:sp>
        <p:nvSpPr>
          <p:cNvPr id="89" name="ANNOTATION:NEAR-SIDE CUTAWAY description"/>
          <p:cNvSpPr txBox="1"/>
          <p:nvPr/>
        </p:nvSpPr>
        <p:spPr>
          <a:xfrm>
            <a:off x="11340000" y="9072000"/>
            <a:ext cx="306000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Upper joinery omitted at 600</a:t>
            </a:r>
          </a:p>
          <a:p>
            <a:pPr>
              <a:lnSpc>
                <a:spcPct val="110000"/>
              </a:lnSpc>
              <a:spcAft>
                <a:spcPts val="0"/>
              </a:spcAft>
              <a:defRPr sz="850" b="0">
                <a:solidFill>
                  <a:srgbClr val="737871"/>
                </a:solidFill>
                <a:latin typeface="Liberation Sans"/>
              </a:defRPr>
            </a:pPr>
            <a:r>
              <a:t>Full run shown in elevations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FRAGRANCE | Architectural Interior Presentation</dc:title>
  <dc:subject>Client and consultant coordination; proposed technical details</dc:subject>
  <dc:creator>ChatGPT /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