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8" r:id="rId9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512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9" Type="http://schemas.openxmlformats.org/officeDocument/2006/relationships/slide" Target="slides/slide3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360000"/>
            <a:ext cx="10620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9A825A"/>
                </a:solidFill>
                <a:latin typeface="Liberation Sans"/>
              </a:defRPr>
            </a:pPr>
            <a:r>
              <a:t>BORN FRAGRANCE  /  ARCHITECTURE + INTERIOR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720000"/>
            <a:ext cx="11880000" cy="50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300" b="0">
                <a:solidFill>
                  <a:srgbClr val="252725"/>
                </a:solidFill>
                <a:latin typeface="Liberation Serif"/>
              </a:defRPr>
            </a:pPr>
            <a:r>
              <a:t>Retail interior / coordinated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1296000"/>
            <a:ext cx="12420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737871"/>
                </a:solidFill>
                <a:latin typeface="Liberation Sans"/>
              </a:defRPr>
            </a:pPr>
            <a:r>
              <a:t>Design intent, measured geometry and assembly strategies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40000" y="468000"/>
            <a:ext cx="1368000" cy="619671"/>
          </a:xfrm>
          <a:prstGeom prst="rect">
            <a:avLst/>
          </a:prstGeom>
          <a:effectLst/>
        </p:spPr>
      </p:pic>
      <p:cxnSp>
        <p:nvCxnSpPr>
          <p:cNvPr id="6" name="Connector 5"/>
          <p:cNvCxnSpPr/>
          <p:nvPr/>
        </p:nvCxnSpPr>
        <p:spPr>
          <a:xfrm>
            <a:off x="540000" y="1728000"/>
            <a:ext cx="14040000" cy="0"/>
          </a:xfrm>
          <a:prstGeom prst="line">
            <a:avLst/>
          </a:prstGeom>
          <a:ln w="8890">
            <a:solidFill>
              <a:srgbClr val="9A825A"/>
            </a:solidFill>
          </a:ln>
          <a:effectLst/>
        </p:spPr>
      </p:cxnSp>
      <p:cxnSp>
        <p:nvCxnSpPr>
          <p:cNvPr id="7" name="Connector 6"/>
          <p:cNvCxnSpPr/>
          <p:nvPr/>
        </p:nvCxnSpPr>
        <p:spPr>
          <a:xfrm>
            <a:off x="540000" y="9792000"/>
            <a:ext cx="14040000" cy="0"/>
          </a:xfrm>
          <a:prstGeom prst="line">
            <a:avLst/>
          </a:prstGeom>
          <a:ln w="8890">
            <a:solidFill>
              <a:srgbClr val="9A825A"/>
            </a:solidFill>
          </a:ln>
          <a:effectLst/>
        </p:spPr>
      </p:cxnSp>
      <p:sp>
        <p:nvSpPr>
          <p:cNvPr id="8" name="TextBox 7"/>
          <p:cNvSpPr txBox="1"/>
          <p:nvPr/>
        </p:nvSpPr>
        <p:spPr>
          <a:xfrm>
            <a:off x="540000" y="10008000"/>
            <a:ext cx="7128000" cy="36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750" b="0">
                <a:solidFill>
                  <a:srgbClr val="737871"/>
                </a:solidFill>
                <a:latin typeface="Liberation Sans"/>
              </a:defRPr>
            </a:pPr>
            <a:r>
              <a:t>FOR COORDINATION  ·  SITE ITEMS OPEN  ·  REV D</a:t>
            </a:r>
          </a:p>
          <a:p>
            <a:pPr>
              <a:spcAft>
                <a:spcPts val="400"/>
              </a:spcAft>
              <a:defRPr sz="750" b="0">
                <a:solidFill>
                  <a:srgbClr val="737871"/>
                </a:solidFill>
                <a:latin typeface="Liberation Sans"/>
              </a:defRPr>
            </a:pPr>
            <a:r>
              <a:t>06 OCT 2026  /  SOURCE REV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04000" y="10008000"/>
            <a:ext cx="5220000" cy="36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750" b="0">
                <a:solidFill>
                  <a:srgbClr val="737871"/>
                </a:solidFill>
                <a:latin typeface="Liberation Sans"/>
              </a:defRPr>
            </a:pPr>
            <a:r>
              <a:t>NTS @ A3  ·  DIMENSIONS mm</a:t>
            </a:r>
          </a:p>
          <a:p>
            <a:pPr>
              <a:spcAft>
                <a:spcPts val="400"/>
              </a:spcAft>
              <a:defRPr sz="750" b="0">
                <a:solidFill>
                  <a:srgbClr val="737871"/>
                </a:solidFill>
                <a:latin typeface="Liberation Sans"/>
              </a:defRPr>
            </a:pPr>
            <a:r>
              <a:t>SPEC SNAPSHOT eeccbde1cd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392000" y="10008000"/>
            <a:ext cx="1152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252725"/>
                </a:solidFill>
                <a:latin typeface="Liberation Sans"/>
              </a:defRPr>
            </a:pPr>
            <a:r>
              <a:t>AP-01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0548000" y="2052000"/>
            <a:ext cx="0" cy="7308000"/>
          </a:xfrm>
          <a:prstGeom prst="line">
            <a:avLst/>
          </a:prstGeom>
          <a:ln w="7620">
            <a:solidFill>
              <a:srgbClr val="E8E1D5"/>
            </a:solidFill>
          </a:ln>
          <a:effectLst/>
        </p:spPr>
      </p:cxnSp>
      <p:sp>
        <p:nvSpPr>
          <p:cNvPr id="12" name="TextBox 11"/>
          <p:cNvSpPr txBox="1"/>
          <p:nvPr/>
        </p:nvSpPr>
        <p:spPr>
          <a:xfrm>
            <a:off x="10908000" y="2088000"/>
            <a:ext cx="3564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9A825A"/>
                </a:solidFill>
                <a:latin typeface="Liberation Sans"/>
              </a:defRPr>
            </a:pPr>
            <a:r>
              <a:t>PROJECT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08000" y="2448000"/>
            <a:ext cx="3528000" cy="122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2400 × 3106 internal</a:t>
            </a:r>
          </a:p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2600 ceiling</a:t>
            </a:r>
          </a:p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Black steel / plaster / stone-look floor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08000" y="3852000"/>
            <a:ext cx="3564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9A825A"/>
                </a:solidFill>
                <a:latin typeface="Liberation Sans"/>
              </a:defRPr>
            </a:pPr>
            <a:r>
              <a:t>ISSUE PURPOSE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08000" y="4212000"/>
            <a:ext cx="3528000" cy="122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Client review and consultant coordination. Detailed strategies are preliminary pending the stated confirmations.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08000" y="5616000"/>
            <a:ext cx="3564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9A825A"/>
                </a:solidFill>
                <a:latin typeface="Liberation Sans"/>
              </a:defRPr>
            </a:pPr>
            <a:r>
              <a:t>DRAWING PRIORITY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08000" y="5976000"/>
            <a:ext cx="3528000" cy="122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Geometry follows approved Rev A. Render conveys material and lighting character only.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08000" y="7380000"/>
            <a:ext cx="3564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9A825A"/>
                </a:solidFill>
                <a:latin typeface="Liberation Sans"/>
              </a:defRPr>
            </a:pPr>
            <a:r>
              <a:t>READING SEQUENCE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08000" y="7740000"/>
            <a:ext cx="3528000" cy="122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Layout → elevations → materials → assembly details → coordination decisions.</a:t>
            </a:r>
          </a:p>
        </p:txBody>
      </p:sp>
      <p:pic>
        <p:nvPicPr>
          <p:cNvPr id="20" name="Picture 19" descr="born-fragrance-sh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000" y="2052000"/>
            <a:ext cx="8231202" cy="7200000"/>
          </a:xfrm>
          <a:prstGeom prst="rect">
            <a:avLst/>
          </a:prstGeom>
          <a:effectLst/>
        </p:spPr>
      </p:pic>
      <p:sp>
        <p:nvSpPr>
          <p:cNvPr id="21" name="TextBox 20"/>
          <p:cNvSpPr txBox="1"/>
          <p:nvPr/>
        </p:nvSpPr>
        <p:spPr>
          <a:xfrm>
            <a:off x="792000" y="9360000"/>
            <a:ext cx="9360000" cy="32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700" b="0">
                <a:solidFill>
                  <a:srgbClr val="737871"/>
                </a:solidFill>
                <a:latin typeface="Liberation Sans"/>
              </a:defRPr>
            </a:pPr>
            <a:r>
              <a:t>REFERENCE RENDER · NOT TO SCALE · styling props excluded from technical scope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360000"/>
            <a:ext cx="10620000" cy="216000"/>
          </a:xfrm>
          <a:prstGeom prst="rect">
            <a:avLst/>
          </a:prstGeom>
          <a:noFill/>
          <a:effectLst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9A825A"/>
                </a:solidFill>
                <a:latin typeface="Liberation Sans"/>
              </a:defRPr>
            </a:pPr>
            <a:r>
              <a:t>BORN FRAGRANCE  /  ARCHITECTURE + INTERIOR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720000"/>
            <a:ext cx="11880000" cy="504000"/>
          </a:xfrm>
          <a:prstGeom prst="rect">
            <a:avLst/>
          </a:prstGeom>
          <a:noFill/>
          <a:effectLst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300" b="0">
                <a:solidFill>
                  <a:srgbClr val="252725"/>
                </a:solidFill>
                <a:latin typeface="Liberation Serif"/>
              </a:defRPr>
            </a:pPr>
            <a:r>
              <a:t>Overall plan / setting-out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1296000"/>
            <a:ext cx="12420000" cy="288000"/>
          </a:xfrm>
          <a:prstGeom prst="rect">
            <a:avLst/>
          </a:prstGeom>
          <a:noFill/>
          <a:effectLst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737871"/>
                </a:solidFill>
                <a:latin typeface="Liberation Sans"/>
              </a:defRPr>
            </a:pPr>
            <a:r>
              <a:t>Setting-out / coordinated interfaces · 1:20 · finish-face dimensions; site verification pending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40000" y="468000"/>
            <a:ext cx="1368000" cy="619671"/>
          </a:xfrm>
          <a:prstGeom prst="rect">
            <a:avLst/>
          </a:prstGeom>
          <a:effectLst/>
          <a:effectLst/>
        </p:spPr>
      </p:pic>
      <p:cxnSp>
        <p:nvCxnSpPr>
          <p:cNvPr id="6" name="Connector 5"/>
          <p:cNvCxnSpPr/>
          <p:nvPr/>
        </p:nvCxnSpPr>
        <p:spPr>
          <a:xfrm>
            <a:off x="540000" y="1728000"/>
            <a:ext cx="14040000" cy="0"/>
          </a:xfrm>
          <a:prstGeom prst="line">
            <a:avLst/>
          </a:prstGeom>
          <a:ln w="8890">
            <a:solidFill>
              <a:srgbClr val="9A825A"/>
            </a:solidFill>
          </a:ln>
          <a:effectLst/>
          <a:effectLst/>
        </p:spPr>
      </p:cxnSp>
      <p:cxnSp>
        <p:nvCxnSpPr>
          <p:cNvPr id="7" name="Connector 6"/>
          <p:cNvCxnSpPr/>
          <p:nvPr/>
        </p:nvCxnSpPr>
        <p:spPr>
          <a:xfrm>
            <a:off x="540000" y="9792000"/>
            <a:ext cx="14040000" cy="0"/>
          </a:xfrm>
          <a:prstGeom prst="line">
            <a:avLst/>
          </a:prstGeom>
          <a:ln w="8890">
            <a:solidFill>
              <a:srgbClr val="9A825A"/>
            </a:solidFill>
          </a:ln>
          <a:effectLst/>
          <a:effectLst/>
        </p:spPr>
      </p:cxnSp>
      <p:sp>
        <p:nvSpPr>
          <p:cNvPr id="8" name="TextBox 7"/>
          <p:cNvSpPr txBox="1"/>
          <p:nvPr/>
        </p:nvSpPr>
        <p:spPr>
          <a:xfrm>
            <a:off x="540000" y="10008000"/>
            <a:ext cx="7128000" cy="360000"/>
          </a:xfrm>
          <a:prstGeom prst="rect">
            <a:avLst/>
          </a:prstGeom>
          <a:noFill/>
          <a:effectLst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750" b="0">
                <a:solidFill>
                  <a:srgbClr val="737871"/>
                </a:solidFill>
                <a:latin typeface="Liberation Sans"/>
              </a:defRPr>
            </a:pPr>
            <a:r>
              <a:t>FOR COORDINATION  ·  SITE ITEMS OPEN  ·  REV D
06 OCT 2026  /  SOURCE REV A</a:t>
            </a:r>
          </a:p>
          <a:p>
            <a:pPr>
              <a:spcAft>
                <a:spcPts val="400"/>
              </a:spcAft>
              <a:defRPr sz="750" b="0">
                <a:solidFill>
                  <a:srgbClr val="737871"/>
                </a:solidFill>
                <a:latin typeface="Liberation Sans"/>
              </a:defRPr>
            </a:pPr>
            <a:r>
              <a:t>06 OCT 2026  /  SOURCE REV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04000" y="10008000"/>
            <a:ext cx="5220000" cy="360000"/>
          </a:xfrm>
          <a:prstGeom prst="rect">
            <a:avLst/>
          </a:prstGeom>
          <a:noFill/>
          <a:effectLst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750" b="0">
                <a:solidFill>
                  <a:srgbClr val="737871"/>
                </a:solidFill>
                <a:latin typeface="Liberation Sans"/>
              </a:defRPr>
            </a:pPr>
            <a:r>
              <a:t>1:20 @ A3  ·  DIMENSIONS mm</a:t>
            </a:r>
          </a:p>
          <a:p>
            <a:pPr>
              <a:spcAft>
                <a:spcPts val="400"/>
              </a:spcAft>
              <a:defRPr sz="750" b="0">
                <a:solidFill>
                  <a:srgbClr val="737871"/>
                </a:solidFill>
                <a:latin typeface="Liberation Sans"/>
              </a:defRPr>
            </a:pPr>
            <a:r>
              <a:t>SPEC SNAPSHOT eeccbde1cd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392000" y="10008000"/>
            <a:ext cx="1152000" cy="288000"/>
          </a:xfrm>
          <a:prstGeom prst="rect">
            <a:avLst/>
          </a:prstGeom>
          <a:noFill/>
          <a:effectLst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252725"/>
                </a:solidFill>
                <a:latin typeface="Liberation Sans"/>
              </a:defRPr>
            </a:pPr>
            <a:r>
              <a:t>AP-03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08000" y="2088000"/>
            <a:ext cx="3564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9A825A"/>
                </a:solidFill>
                <a:latin typeface="Liberation Sans"/>
              </a:defRPr>
            </a:pPr>
            <a:r>
              <a:t>FRAME + SETTING-OUT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08000" y="2448000"/>
            <a:ext cx="3528000" cy="122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250 deep side units. Four 664 modules from y=450 to 3106. 25 main uprights shown; shelf/support lines distinguished.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08000" y="3852000"/>
            <a:ext cx="3564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9A825A"/>
                </a:solidFill>
                <a:latin typeface="Liberation Sans"/>
              </a:defRPr>
            </a:pPr>
            <a:r>
              <a:t>COUNTER + REAR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08000" y="4212000"/>
            <a:ext cx="3528000" cy="122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1000 × 450 counter; x=700–1700, y=1706–2156. 700 to rear-unit face. Side routes remain 450 / 450.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08000" y="5616000"/>
            <a:ext cx="3564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9A825A"/>
                </a:solidFill>
                <a:latin typeface="Liberation Sans"/>
              </a:defRPr>
            </a:pPr>
            <a:r>
              <a:t>GLAZED ENTRANCE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08000" y="5976000"/>
            <a:ext cx="3528000" cy="122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488 fixed pane + 1000 pivot leaf + three 4 gaps = 1500. Pivot 100 from right edge; inward sweep shown.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08000" y="7380000"/>
            <a:ext cx="3564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9A825A"/>
                </a:solidFill>
                <a:latin typeface="Liberation Sans"/>
              </a:defRPr>
            </a:pPr>
            <a:r>
              <a:t>COORDINATION STATUS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08000" y="7740000"/>
            <a:ext cx="3528000" cy="122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LOD 350 development target: interfaces shown, not certified complete. Anchors, hardware, substrate and access remain TBC #16/#26.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150000" y="2977199"/>
            <a:ext cx="90000" cy="5590800"/>
          </a:xfrm>
          <a:prstGeom prst="rect">
            <a:avLst/>
          </a:prstGeom>
          <a:solidFill>
            <a:srgbClr val="777970"/>
          </a:solidFill>
          <a:ln w="7620">
            <a:solidFill>
              <a:srgbClr val="77797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560000" y="2977199"/>
            <a:ext cx="90000" cy="5590800"/>
          </a:xfrm>
          <a:prstGeom prst="rect">
            <a:avLst/>
          </a:prstGeom>
          <a:solidFill>
            <a:srgbClr val="777970"/>
          </a:solidFill>
          <a:ln w="7620">
            <a:solidFill>
              <a:srgbClr val="77797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150000" y="2887199"/>
            <a:ext cx="4500000" cy="90000"/>
          </a:xfrm>
          <a:prstGeom prst="rect">
            <a:avLst/>
          </a:prstGeom>
          <a:solidFill>
            <a:srgbClr val="777970"/>
          </a:solidFill>
          <a:ln w="7620">
            <a:solidFill>
              <a:srgbClr val="77797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GEOM:internal-envelope"/>
          <p:cNvSpPr/>
          <p:nvPr/>
        </p:nvSpPr>
        <p:spPr>
          <a:xfrm>
            <a:off x="3240000" y="2977199"/>
            <a:ext cx="4320000" cy="5590800"/>
          </a:xfrm>
          <a:prstGeom prst="rect">
            <a:avLst/>
          </a:prstGeom>
          <a:solidFill>
            <a:srgbClr val="F5F1E9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3240000" y="7941600"/>
            <a:ext cx="4320000" cy="0"/>
          </a:xfrm>
          <a:prstGeom prst="line">
            <a:avLst/>
          </a:prstGeom>
          <a:ln w="3175">
            <a:solidFill>
              <a:srgbClr val="DDD8CE"/>
            </a:solidFill>
          </a:ln>
          <a:effectLst/>
        </p:spPr>
      </p:cxnSp>
      <p:cxnSp>
        <p:nvCxnSpPr>
          <p:cNvPr id="24" name="Connector 23"/>
          <p:cNvCxnSpPr/>
          <p:nvPr/>
        </p:nvCxnSpPr>
        <p:spPr>
          <a:xfrm>
            <a:off x="3240000" y="6858000"/>
            <a:ext cx="4320000" cy="0"/>
          </a:xfrm>
          <a:prstGeom prst="line">
            <a:avLst/>
          </a:prstGeom>
          <a:ln w="3175">
            <a:solidFill>
              <a:srgbClr val="DDD8CE"/>
            </a:solidFill>
          </a:ln>
          <a:effectLst/>
        </p:spPr>
      </p:cxnSp>
      <p:cxnSp>
        <p:nvCxnSpPr>
          <p:cNvPr id="25" name="Connector 24"/>
          <p:cNvCxnSpPr/>
          <p:nvPr/>
        </p:nvCxnSpPr>
        <p:spPr>
          <a:xfrm>
            <a:off x="3240000" y="5774400"/>
            <a:ext cx="4320000" cy="0"/>
          </a:xfrm>
          <a:prstGeom prst="line">
            <a:avLst/>
          </a:prstGeom>
          <a:ln w="3175">
            <a:solidFill>
              <a:srgbClr val="DDD8CE"/>
            </a:solidFill>
          </a:ln>
          <a:effectLst/>
        </p:spPr>
      </p:cxnSp>
      <p:cxnSp>
        <p:nvCxnSpPr>
          <p:cNvPr id="26" name="Connector 25"/>
          <p:cNvCxnSpPr/>
          <p:nvPr/>
        </p:nvCxnSpPr>
        <p:spPr>
          <a:xfrm>
            <a:off x="3240000" y="4690800"/>
            <a:ext cx="4320000" cy="0"/>
          </a:xfrm>
          <a:prstGeom prst="line">
            <a:avLst/>
          </a:prstGeom>
          <a:ln w="3175">
            <a:solidFill>
              <a:srgbClr val="DDD8CE"/>
            </a:solidFill>
          </a:ln>
          <a:effectLst/>
        </p:spPr>
      </p:cxnSp>
      <p:cxnSp>
        <p:nvCxnSpPr>
          <p:cNvPr id="27" name="Connector 26"/>
          <p:cNvCxnSpPr/>
          <p:nvPr/>
        </p:nvCxnSpPr>
        <p:spPr>
          <a:xfrm>
            <a:off x="3240000" y="3607199"/>
            <a:ext cx="4320000" cy="0"/>
          </a:xfrm>
          <a:prstGeom prst="line">
            <a:avLst/>
          </a:prstGeom>
          <a:ln w="3175">
            <a:solidFill>
              <a:srgbClr val="DDD8CE"/>
            </a:solidFill>
          </a:ln>
          <a:effectLst/>
        </p:spPr>
      </p:cxnSp>
      <p:cxnSp>
        <p:nvCxnSpPr>
          <p:cNvPr id="28" name="Connector 27"/>
          <p:cNvCxnSpPr/>
          <p:nvPr/>
        </p:nvCxnSpPr>
        <p:spPr>
          <a:xfrm flipV="1">
            <a:off x="5400000" y="2977199"/>
            <a:ext cx="0" cy="5590801"/>
          </a:xfrm>
          <a:prstGeom prst="line">
            <a:avLst/>
          </a:prstGeom>
          <a:ln w="3175">
            <a:solidFill>
              <a:srgbClr val="DDD8CE"/>
            </a:solidFill>
          </a:ln>
          <a:effectLst/>
        </p:spPr>
      </p:cxnSp>
      <p:sp>
        <p:nvSpPr>
          <p:cNvPr id="29" name="Rectangle 28"/>
          <p:cNvSpPr/>
          <p:nvPr/>
        </p:nvSpPr>
        <p:spPr>
          <a:xfrm>
            <a:off x="3240000" y="2977199"/>
            <a:ext cx="450000" cy="4780800"/>
          </a:xfrm>
          <a:prstGeom prst="rect">
            <a:avLst/>
          </a:prstGeom>
          <a:solidFill>
            <a:srgbClr val="E8E1D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3240000" y="6562800"/>
            <a:ext cx="450000" cy="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cxnSp>
        <p:nvCxnSpPr>
          <p:cNvPr id="31" name="Connector 30"/>
          <p:cNvCxnSpPr/>
          <p:nvPr/>
        </p:nvCxnSpPr>
        <p:spPr>
          <a:xfrm>
            <a:off x="3240000" y="5367600"/>
            <a:ext cx="450000" cy="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cxnSp>
        <p:nvCxnSpPr>
          <p:cNvPr id="32" name="Connector 31"/>
          <p:cNvCxnSpPr/>
          <p:nvPr/>
        </p:nvCxnSpPr>
        <p:spPr>
          <a:xfrm>
            <a:off x="3240000" y="4172400"/>
            <a:ext cx="450000" cy="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sp>
        <p:nvSpPr>
          <p:cNvPr id="33" name="Rectangle 32"/>
          <p:cNvSpPr/>
          <p:nvPr/>
        </p:nvSpPr>
        <p:spPr>
          <a:xfrm>
            <a:off x="7110000" y="2977199"/>
            <a:ext cx="450000" cy="4780800"/>
          </a:xfrm>
          <a:prstGeom prst="rect">
            <a:avLst/>
          </a:prstGeom>
          <a:solidFill>
            <a:srgbClr val="E8E1D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>
            <a:off x="7110000" y="6562800"/>
            <a:ext cx="450000" cy="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cxnSp>
        <p:nvCxnSpPr>
          <p:cNvPr id="35" name="Connector 34"/>
          <p:cNvCxnSpPr/>
          <p:nvPr/>
        </p:nvCxnSpPr>
        <p:spPr>
          <a:xfrm>
            <a:off x="7110000" y="5367600"/>
            <a:ext cx="450000" cy="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cxnSp>
        <p:nvCxnSpPr>
          <p:cNvPr id="36" name="Connector 35"/>
          <p:cNvCxnSpPr/>
          <p:nvPr/>
        </p:nvCxnSpPr>
        <p:spPr>
          <a:xfrm>
            <a:off x="7110000" y="4172400"/>
            <a:ext cx="450000" cy="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sp>
        <p:nvSpPr>
          <p:cNvPr id="37" name="Rectangle 36"/>
          <p:cNvSpPr/>
          <p:nvPr/>
        </p:nvSpPr>
        <p:spPr>
          <a:xfrm>
            <a:off x="3240000" y="7758000"/>
            <a:ext cx="810000" cy="810000"/>
          </a:xfrm>
          <a:prstGeom prst="rect">
            <a:avLst/>
          </a:prstGeom>
          <a:solidFill>
            <a:srgbClr val="E8E1D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750000" y="7758000"/>
            <a:ext cx="810000" cy="810000"/>
          </a:xfrm>
          <a:prstGeom prst="rect">
            <a:avLst/>
          </a:prstGeom>
          <a:solidFill>
            <a:srgbClr val="E8E1D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690000" y="2977199"/>
            <a:ext cx="900000" cy="450000"/>
          </a:xfrm>
          <a:prstGeom prst="rect">
            <a:avLst/>
          </a:prstGeom>
          <a:solidFill>
            <a:srgbClr val="E8E1D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210000" y="2977199"/>
            <a:ext cx="900000" cy="450000"/>
          </a:xfrm>
          <a:prstGeom prst="rect">
            <a:avLst/>
          </a:prstGeom>
          <a:solidFill>
            <a:srgbClr val="E8E1D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285000" y="3022199"/>
            <a:ext cx="360000" cy="4690800"/>
          </a:xfrm>
          <a:prstGeom prst="rect">
            <a:avLst/>
          </a:prstGeom>
          <a:noFill/>
          <a:ln w="8890">
            <a:solidFill>
              <a:srgbClr val="A6A19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240000" y="7713000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645000" y="7713000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240000" y="6540300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645000" y="6540300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240000" y="5345100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645000" y="5345100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240000" y="4149900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645000" y="4149900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240000" y="2977199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645000" y="2977199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2" name="Connector 51"/>
          <p:cNvCxnSpPr/>
          <p:nvPr/>
        </p:nvCxnSpPr>
        <p:spPr>
          <a:xfrm flipV="1">
            <a:off x="3645000" y="2977199"/>
            <a:ext cx="0" cy="4780801"/>
          </a:xfrm>
          <a:prstGeom prst="line">
            <a:avLst/>
          </a:prstGeom>
          <a:ln w="6985">
            <a:solidFill>
              <a:srgbClr val="9A825A"/>
            </a:solidFill>
            <a:prstDash val="dash"/>
          </a:ln>
          <a:effectLst/>
        </p:spPr>
      </p:cxnSp>
      <p:sp>
        <p:nvSpPr>
          <p:cNvPr id="53" name="Rectangle 52"/>
          <p:cNvSpPr/>
          <p:nvPr/>
        </p:nvSpPr>
        <p:spPr>
          <a:xfrm>
            <a:off x="7155000" y="3022199"/>
            <a:ext cx="360000" cy="4690800"/>
          </a:xfrm>
          <a:prstGeom prst="rect">
            <a:avLst/>
          </a:prstGeom>
          <a:noFill/>
          <a:ln w="8890">
            <a:solidFill>
              <a:srgbClr val="A6A19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110000" y="7713000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515000" y="7713000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110000" y="6540300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515000" y="6540300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110000" y="5345100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7515000" y="5345100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110000" y="4149900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515000" y="4149900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110000" y="2977199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515000" y="2977199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64" name="Connector 63"/>
          <p:cNvCxnSpPr/>
          <p:nvPr/>
        </p:nvCxnSpPr>
        <p:spPr>
          <a:xfrm flipV="1">
            <a:off x="7515000" y="2977199"/>
            <a:ext cx="0" cy="4780801"/>
          </a:xfrm>
          <a:prstGeom prst="line">
            <a:avLst/>
          </a:prstGeom>
          <a:ln w="6985">
            <a:solidFill>
              <a:srgbClr val="9A825A"/>
            </a:solidFill>
            <a:prstDash val="dash"/>
          </a:ln>
          <a:effectLst/>
        </p:spPr>
      </p:cxnSp>
      <p:sp>
        <p:nvSpPr>
          <p:cNvPr id="65" name="Rectangle 64"/>
          <p:cNvSpPr/>
          <p:nvPr/>
        </p:nvSpPr>
        <p:spPr>
          <a:xfrm>
            <a:off x="3735000" y="3022199"/>
            <a:ext cx="810000" cy="360000"/>
          </a:xfrm>
          <a:prstGeom prst="rect">
            <a:avLst/>
          </a:prstGeom>
          <a:noFill/>
          <a:ln w="8890">
            <a:solidFill>
              <a:srgbClr val="73787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255000" y="3022199"/>
            <a:ext cx="810000" cy="360000"/>
          </a:xfrm>
          <a:prstGeom prst="rect">
            <a:avLst/>
          </a:prstGeom>
          <a:noFill/>
          <a:ln w="8890">
            <a:solidFill>
              <a:srgbClr val="73787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GEOM:counter-plan"/>
          <p:cNvSpPr/>
          <p:nvPr/>
        </p:nvSpPr>
        <p:spPr>
          <a:xfrm>
            <a:off x="4500000" y="4687200"/>
            <a:ext cx="1800000" cy="810000"/>
          </a:xfrm>
          <a:prstGeom prst="rect">
            <a:avLst/>
          </a:prstGeom>
          <a:solidFill>
            <a:srgbClr val="D6CEC0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4536000" y="4723200"/>
            <a:ext cx="1728000" cy="738000"/>
          </a:xfrm>
          <a:prstGeom prst="rect">
            <a:avLst/>
          </a:prstGeom>
          <a:noFill/>
          <a:ln w="8890">
            <a:solidFill>
              <a:srgbClr val="73787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69" name="Connector 68"/>
          <p:cNvCxnSpPr/>
          <p:nvPr/>
        </p:nvCxnSpPr>
        <p:spPr>
          <a:xfrm>
            <a:off x="4536000" y="4759200"/>
            <a:ext cx="1728000" cy="0"/>
          </a:xfrm>
          <a:prstGeom prst="line">
            <a:avLst/>
          </a:prstGeom>
          <a:ln w="6350">
            <a:solidFill>
              <a:srgbClr val="737871"/>
            </a:solidFill>
            <a:prstDash val="dash"/>
          </a:ln>
          <a:effectLst/>
        </p:spPr>
      </p:cxnSp>
      <p:cxnSp>
        <p:nvCxnSpPr>
          <p:cNvPr id="70" name="Connector 69"/>
          <p:cNvCxnSpPr/>
          <p:nvPr/>
        </p:nvCxnSpPr>
        <p:spPr>
          <a:xfrm flipV="1">
            <a:off x="5400000" y="4374000"/>
            <a:ext cx="0" cy="1404000"/>
          </a:xfrm>
          <a:prstGeom prst="line">
            <a:avLst/>
          </a:prstGeom>
          <a:ln w="5715">
            <a:solidFill>
              <a:srgbClr val="737871"/>
            </a:solidFill>
            <a:prstDash val="dash"/>
          </a:ln>
          <a:effectLst/>
        </p:spPr>
      </p:cxnSp>
      <p:cxnSp>
        <p:nvCxnSpPr>
          <p:cNvPr id="71" name="Connector 70"/>
          <p:cNvCxnSpPr/>
          <p:nvPr/>
        </p:nvCxnSpPr>
        <p:spPr>
          <a:xfrm>
            <a:off x="4057200" y="8568000"/>
            <a:ext cx="878400" cy="0"/>
          </a:xfrm>
          <a:prstGeom prst="line">
            <a:avLst/>
          </a:prstGeom>
          <a:ln w="20320">
            <a:solidFill>
              <a:srgbClr val="466976"/>
            </a:solidFill>
          </a:ln>
          <a:effectLst/>
        </p:spPr>
      </p:cxnSp>
      <p:cxnSp>
        <p:nvCxnSpPr>
          <p:cNvPr id="72" name="Connector 71"/>
          <p:cNvCxnSpPr/>
          <p:nvPr/>
        </p:nvCxnSpPr>
        <p:spPr>
          <a:xfrm>
            <a:off x="4942800" y="8568000"/>
            <a:ext cx="1800000" cy="0"/>
          </a:xfrm>
          <a:prstGeom prst="line">
            <a:avLst/>
          </a:prstGeom>
          <a:ln w="20320">
            <a:solidFill>
              <a:srgbClr val="466976"/>
            </a:solidFill>
          </a:ln>
          <a:effectLst/>
        </p:spPr>
      </p:cxnSp>
      <p:cxnSp>
        <p:nvCxnSpPr>
          <p:cNvPr id="73" name="Connector 72"/>
          <p:cNvCxnSpPr/>
          <p:nvPr/>
        </p:nvCxnSpPr>
        <p:spPr>
          <a:xfrm>
            <a:off x="4057200" y="8546400"/>
            <a:ext cx="878400" cy="0"/>
          </a:xfrm>
          <a:prstGeom prst="line">
            <a:avLst/>
          </a:prstGeom>
          <a:ln w="6350">
            <a:solidFill>
              <a:srgbClr val="466976"/>
            </a:solidFill>
          </a:ln>
          <a:effectLst/>
        </p:spPr>
      </p:cxnSp>
      <p:cxnSp>
        <p:nvCxnSpPr>
          <p:cNvPr id="74" name="Connector 73"/>
          <p:cNvCxnSpPr/>
          <p:nvPr/>
        </p:nvCxnSpPr>
        <p:spPr>
          <a:xfrm>
            <a:off x="4942800" y="8546400"/>
            <a:ext cx="1800000" cy="0"/>
          </a:xfrm>
          <a:prstGeom prst="line">
            <a:avLst/>
          </a:prstGeom>
          <a:ln w="6350">
            <a:solidFill>
              <a:srgbClr val="466976"/>
            </a:solidFill>
          </a:ln>
          <a:effectLst/>
        </p:spPr>
      </p:cxnSp>
      <p:cxnSp>
        <p:nvCxnSpPr>
          <p:cNvPr id="75" name="Connector 74"/>
          <p:cNvCxnSpPr/>
          <p:nvPr/>
        </p:nvCxnSpPr>
        <p:spPr>
          <a:xfrm flipV="1">
            <a:off x="4942800" y="8488510"/>
            <a:ext cx="1951" cy="79490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76" name="Connector 75"/>
          <p:cNvCxnSpPr/>
          <p:nvPr/>
        </p:nvCxnSpPr>
        <p:spPr>
          <a:xfrm flipV="1">
            <a:off x="4944751" y="8409212"/>
            <a:ext cx="5849" cy="79298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77" name="Connector 76"/>
          <p:cNvCxnSpPr/>
          <p:nvPr/>
        </p:nvCxnSpPr>
        <p:spPr>
          <a:xfrm flipV="1">
            <a:off x="4950600" y="8330296"/>
            <a:ext cx="9734" cy="78916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78" name="Connector 77"/>
          <p:cNvCxnSpPr/>
          <p:nvPr/>
        </p:nvCxnSpPr>
        <p:spPr>
          <a:xfrm flipV="1">
            <a:off x="4960334" y="8251953"/>
            <a:ext cx="13593" cy="78343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79" name="Connector 78"/>
          <p:cNvCxnSpPr/>
          <p:nvPr/>
        </p:nvCxnSpPr>
        <p:spPr>
          <a:xfrm flipV="1">
            <a:off x="4973927" y="8174372"/>
            <a:ext cx="17422" cy="77581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80" name="Connector 79"/>
          <p:cNvCxnSpPr/>
          <p:nvPr/>
        </p:nvCxnSpPr>
        <p:spPr>
          <a:xfrm flipV="1">
            <a:off x="4991349" y="8097738"/>
            <a:ext cx="21207" cy="76634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81" name="Connector 80"/>
          <p:cNvCxnSpPr/>
          <p:nvPr/>
        </p:nvCxnSpPr>
        <p:spPr>
          <a:xfrm flipV="1">
            <a:off x="5012556" y="8022238"/>
            <a:ext cx="24942" cy="75500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82" name="Connector 81"/>
          <p:cNvCxnSpPr/>
          <p:nvPr/>
        </p:nvCxnSpPr>
        <p:spPr>
          <a:xfrm flipV="1">
            <a:off x="5037498" y="7948052"/>
            <a:ext cx="28617" cy="74186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83" name="Connector 82"/>
          <p:cNvCxnSpPr/>
          <p:nvPr/>
        </p:nvCxnSpPr>
        <p:spPr>
          <a:xfrm flipV="1">
            <a:off x="5066115" y="7875360"/>
            <a:ext cx="32222" cy="72692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84" name="Connector 83"/>
          <p:cNvCxnSpPr/>
          <p:nvPr/>
        </p:nvCxnSpPr>
        <p:spPr>
          <a:xfrm flipV="1">
            <a:off x="5098337" y="7804337"/>
            <a:ext cx="35750" cy="71023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85" name="Connector 84"/>
          <p:cNvCxnSpPr/>
          <p:nvPr/>
        </p:nvCxnSpPr>
        <p:spPr>
          <a:xfrm flipV="1">
            <a:off x="5134087" y="7735153"/>
            <a:ext cx="39192" cy="69184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86" name="Connector 85"/>
          <p:cNvCxnSpPr/>
          <p:nvPr/>
        </p:nvCxnSpPr>
        <p:spPr>
          <a:xfrm flipV="1">
            <a:off x="5173279" y="7667976"/>
            <a:ext cx="42540" cy="67177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87" name="Connector 86"/>
          <p:cNvCxnSpPr/>
          <p:nvPr/>
        </p:nvCxnSpPr>
        <p:spPr>
          <a:xfrm flipV="1">
            <a:off x="5215819" y="7602967"/>
            <a:ext cx="45784" cy="65009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88" name="Connector 87"/>
          <p:cNvCxnSpPr/>
          <p:nvPr/>
        </p:nvCxnSpPr>
        <p:spPr>
          <a:xfrm flipV="1">
            <a:off x="5261603" y="7540282"/>
            <a:ext cx="48920" cy="62685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89" name="Connector 88"/>
          <p:cNvCxnSpPr/>
          <p:nvPr/>
        </p:nvCxnSpPr>
        <p:spPr>
          <a:xfrm flipV="1">
            <a:off x="5310523" y="7480074"/>
            <a:ext cx="51936" cy="60208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90" name="Connector 89"/>
          <p:cNvCxnSpPr/>
          <p:nvPr/>
        </p:nvCxnSpPr>
        <p:spPr>
          <a:xfrm flipV="1">
            <a:off x="5362459" y="7422487"/>
            <a:ext cx="54828" cy="57587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91" name="Connector 90"/>
          <p:cNvCxnSpPr/>
          <p:nvPr/>
        </p:nvCxnSpPr>
        <p:spPr>
          <a:xfrm flipV="1">
            <a:off x="5417287" y="7367659"/>
            <a:ext cx="57587" cy="54828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92" name="Connector 91"/>
          <p:cNvCxnSpPr/>
          <p:nvPr/>
        </p:nvCxnSpPr>
        <p:spPr>
          <a:xfrm flipV="1">
            <a:off x="5474874" y="7315723"/>
            <a:ext cx="60208" cy="51936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93" name="Connector 92"/>
          <p:cNvCxnSpPr/>
          <p:nvPr/>
        </p:nvCxnSpPr>
        <p:spPr>
          <a:xfrm flipV="1">
            <a:off x="5535082" y="7266803"/>
            <a:ext cx="62685" cy="48920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94" name="Connector 93"/>
          <p:cNvCxnSpPr/>
          <p:nvPr/>
        </p:nvCxnSpPr>
        <p:spPr>
          <a:xfrm flipV="1">
            <a:off x="5597767" y="7221019"/>
            <a:ext cx="65009" cy="45784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95" name="Connector 94"/>
          <p:cNvCxnSpPr/>
          <p:nvPr/>
        </p:nvCxnSpPr>
        <p:spPr>
          <a:xfrm flipV="1">
            <a:off x="5662776" y="7178479"/>
            <a:ext cx="67177" cy="42540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96" name="Connector 95"/>
          <p:cNvCxnSpPr/>
          <p:nvPr/>
        </p:nvCxnSpPr>
        <p:spPr>
          <a:xfrm flipV="1">
            <a:off x="5729953" y="7139287"/>
            <a:ext cx="69184" cy="39192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97" name="Connector 96"/>
          <p:cNvCxnSpPr/>
          <p:nvPr/>
        </p:nvCxnSpPr>
        <p:spPr>
          <a:xfrm flipV="1">
            <a:off x="5799137" y="7103537"/>
            <a:ext cx="71023" cy="35750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98" name="Connector 97"/>
          <p:cNvCxnSpPr/>
          <p:nvPr/>
        </p:nvCxnSpPr>
        <p:spPr>
          <a:xfrm flipV="1">
            <a:off x="5870160" y="7071315"/>
            <a:ext cx="72692" cy="32222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99" name="Connector 98"/>
          <p:cNvCxnSpPr/>
          <p:nvPr/>
        </p:nvCxnSpPr>
        <p:spPr>
          <a:xfrm flipV="1">
            <a:off x="5942852" y="7042698"/>
            <a:ext cx="74186" cy="28617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00" name="Connector 99"/>
          <p:cNvCxnSpPr/>
          <p:nvPr/>
        </p:nvCxnSpPr>
        <p:spPr>
          <a:xfrm flipV="1">
            <a:off x="6017038" y="7017756"/>
            <a:ext cx="75500" cy="24942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01" name="Connector 100"/>
          <p:cNvCxnSpPr/>
          <p:nvPr/>
        </p:nvCxnSpPr>
        <p:spPr>
          <a:xfrm flipV="1">
            <a:off x="6092538" y="6996549"/>
            <a:ext cx="76634" cy="21207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02" name="Connector 101"/>
          <p:cNvCxnSpPr/>
          <p:nvPr/>
        </p:nvCxnSpPr>
        <p:spPr>
          <a:xfrm flipV="1">
            <a:off x="6169172" y="6979127"/>
            <a:ext cx="77581" cy="17422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03" name="Connector 102"/>
          <p:cNvCxnSpPr/>
          <p:nvPr/>
        </p:nvCxnSpPr>
        <p:spPr>
          <a:xfrm flipV="1">
            <a:off x="6246753" y="6965534"/>
            <a:ext cx="78343" cy="13593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04" name="Connector 103"/>
          <p:cNvCxnSpPr/>
          <p:nvPr/>
        </p:nvCxnSpPr>
        <p:spPr>
          <a:xfrm flipV="1">
            <a:off x="6325096" y="6955800"/>
            <a:ext cx="78916" cy="9734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05" name="Connector 104"/>
          <p:cNvCxnSpPr/>
          <p:nvPr/>
        </p:nvCxnSpPr>
        <p:spPr>
          <a:xfrm flipV="1">
            <a:off x="6404012" y="6949951"/>
            <a:ext cx="79298" cy="5849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06" name="Connector 105"/>
          <p:cNvCxnSpPr/>
          <p:nvPr/>
        </p:nvCxnSpPr>
        <p:spPr>
          <a:xfrm flipV="1">
            <a:off x="6483310" y="6948000"/>
            <a:ext cx="79490" cy="1951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07" name="Connector 106"/>
          <p:cNvCxnSpPr/>
          <p:nvPr/>
        </p:nvCxnSpPr>
        <p:spPr>
          <a:xfrm flipH="1">
            <a:off x="6742583" y="8568000"/>
            <a:ext cx="217" cy="8832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08" name="Connector 107"/>
          <p:cNvCxnSpPr/>
          <p:nvPr/>
        </p:nvCxnSpPr>
        <p:spPr>
          <a:xfrm flipH="1">
            <a:off x="6741933" y="8576832"/>
            <a:ext cx="650" cy="8811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09" name="Connector 108"/>
          <p:cNvCxnSpPr/>
          <p:nvPr/>
        </p:nvCxnSpPr>
        <p:spPr>
          <a:xfrm flipH="1">
            <a:off x="6740851" y="8585643"/>
            <a:ext cx="1082" cy="8768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10" name="Connector 109"/>
          <p:cNvCxnSpPr/>
          <p:nvPr/>
        </p:nvCxnSpPr>
        <p:spPr>
          <a:xfrm flipH="1">
            <a:off x="6739341" y="8594411"/>
            <a:ext cx="1510" cy="8705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11" name="Connector 110"/>
          <p:cNvCxnSpPr/>
          <p:nvPr/>
        </p:nvCxnSpPr>
        <p:spPr>
          <a:xfrm flipH="1">
            <a:off x="6737405" y="8603116"/>
            <a:ext cx="1936" cy="8620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12" name="Connector 111"/>
          <p:cNvCxnSpPr/>
          <p:nvPr/>
        </p:nvCxnSpPr>
        <p:spPr>
          <a:xfrm flipH="1">
            <a:off x="6735049" y="8611736"/>
            <a:ext cx="2356" cy="8515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13" name="Connector 112"/>
          <p:cNvCxnSpPr/>
          <p:nvPr/>
        </p:nvCxnSpPr>
        <p:spPr>
          <a:xfrm flipH="1">
            <a:off x="6732277" y="8620251"/>
            <a:ext cx="2772" cy="8389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14" name="Connector 113"/>
          <p:cNvCxnSpPr/>
          <p:nvPr/>
        </p:nvCxnSpPr>
        <p:spPr>
          <a:xfrm flipH="1">
            <a:off x="6729098" y="8628640"/>
            <a:ext cx="3179" cy="8243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15" name="Connector 114"/>
          <p:cNvCxnSpPr/>
          <p:nvPr/>
        </p:nvCxnSpPr>
        <p:spPr>
          <a:xfrm flipH="1">
            <a:off x="6725518" y="8636883"/>
            <a:ext cx="3580" cy="8076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16" name="Connector 115"/>
          <p:cNvCxnSpPr/>
          <p:nvPr/>
        </p:nvCxnSpPr>
        <p:spPr>
          <a:xfrm flipH="1">
            <a:off x="6721545" y="8644959"/>
            <a:ext cx="3973" cy="7892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17" name="Connector 116"/>
          <p:cNvCxnSpPr/>
          <p:nvPr/>
        </p:nvCxnSpPr>
        <p:spPr>
          <a:xfrm flipH="1">
            <a:off x="6717191" y="8652851"/>
            <a:ext cx="4354" cy="7687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18" name="Connector 117"/>
          <p:cNvCxnSpPr/>
          <p:nvPr/>
        </p:nvCxnSpPr>
        <p:spPr>
          <a:xfrm flipH="1">
            <a:off x="6712464" y="8660538"/>
            <a:ext cx="4727" cy="7464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19" name="Connector 118"/>
          <p:cNvCxnSpPr/>
          <p:nvPr/>
        </p:nvCxnSpPr>
        <p:spPr>
          <a:xfrm flipH="1">
            <a:off x="6707377" y="8668002"/>
            <a:ext cx="5087" cy="7223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20" name="Connector 119"/>
          <p:cNvCxnSpPr/>
          <p:nvPr/>
        </p:nvCxnSpPr>
        <p:spPr>
          <a:xfrm flipH="1">
            <a:off x="6701941" y="8675225"/>
            <a:ext cx="5436" cy="6965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21" name="Connector 120"/>
          <p:cNvCxnSpPr/>
          <p:nvPr/>
        </p:nvCxnSpPr>
        <p:spPr>
          <a:xfrm flipH="1">
            <a:off x="6696171" y="8682190"/>
            <a:ext cx="5770" cy="6690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22" name="Connector 121"/>
          <p:cNvCxnSpPr/>
          <p:nvPr/>
        </p:nvCxnSpPr>
        <p:spPr>
          <a:xfrm flipH="1">
            <a:off x="6690079" y="8688880"/>
            <a:ext cx="6092" cy="6399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23" name="Connector 122"/>
          <p:cNvCxnSpPr/>
          <p:nvPr/>
        </p:nvCxnSpPr>
        <p:spPr>
          <a:xfrm flipH="1">
            <a:off x="6683680" y="8695279"/>
            <a:ext cx="6399" cy="6092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24" name="Connector 123"/>
          <p:cNvCxnSpPr/>
          <p:nvPr/>
        </p:nvCxnSpPr>
        <p:spPr>
          <a:xfrm flipH="1">
            <a:off x="6676990" y="8701371"/>
            <a:ext cx="6690" cy="5770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25" name="Connector 124"/>
          <p:cNvCxnSpPr/>
          <p:nvPr/>
        </p:nvCxnSpPr>
        <p:spPr>
          <a:xfrm flipH="1">
            <a:off x="6670025" y="8707141"/>
            <a:ext cx="6965" cy="5436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26" name="Connector 125"/>
          <p:cNvCxnSpPr/>
          <p:nvPr/>
        </p:nvCxnSpPr>
        <p:spPr>
          <a:xfrm flipH="1">
            <a:off x="6662802" y="8712577"/>
            <a:ext cx="7223" cy="5087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27" name="Connector 126"/>
          <p:cNvCxnSpPr/>
          <p:nvPr/>
        </p:nvCxnSpPr>
        <p:spPr>
          <a:xfrm flipH="1">
            <a:off x="6655338" y="8717664"/>
            <a:ext cx="7464" cy="4727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28" name="Connector 127"/>
          <p:cNvCxnSpPr/>
          <p:nvPr/>
        </p:nvCxnSpPr>
        <p:spPr>
          <a:xfrm flipH="1">
            <a:off x="6647651" y="8722391"/>
            <a:ext cx="7687" cy="4354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29" name="Connector 128"/>
          <p:cNvCxnSpPr/>
          <p:nvPr/>
        </p:nvCxnSpPr>
        <p:spPr>
          <a:xfrm flipH="1">
            <a:off x="6639759" y="8726745"/>
            <a:ext cx="7892" cy="3973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30" name="Connector 129"/>
          <p:cNvCxnSpPr/>
          <p:nvPr/>
        </p:nvCxnSpPr>
        <p:spPr>
          <a:xfrm flipH="1">
            <a:off x="6631683" y="8730718"/>
            <a:ext cx="8076" cy="3580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31" name="Connector 130"/>
          <p:cNvCxnSpPr/>
          <p:nvPr/>
        </p:nvCxnSpPr>
        <p:spPr>
          <a:xfrm flipH="1">
            <a:off x="6623440" y="8734298"/>
            <a:ext cx="8243" cy="3179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32" name="Connector 131"/>
          <p:cNvCxnSpPr/>
          <p:nvPr/>
        </p:nvCxnSpPr>
        <p:spPr>
          <a:xfrm flipH="1">
            <a:off x="6615051" y="8737477"/>
            <a:ext cx="8389" cy="2772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33" name="Connector 132"/>
          <p:cNvCxnSpPr/>
          <p:nvPr/>
        </p:nvCxnSpPr>
        <p:spPr>
          <a:xfrm flipH="1">
            <a:off x="6606536" y="8740249"/>
            <a:ext cx="8515" cy="2356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34" name="Connector 133"/>
          <p:cNvCxnSpPr/>
          <p:nvPr/>
        </p:nvCxnSpPr>
        <p:spPr>
          <a:xfrm flipH="1">
            <a:off x="6597916" y="8742605"/>
            <a:ext cx="8620" cy="1936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35" name="Connector 134"/>
          <p:cNvCxnSpPr/>
          <p:nvPr/>
        </p:nvCxnSpPr>
        <p:spPr>
          <a:xfrm flipH="1">
            <a:off x="6589211" y="8744541"/>
            <a:ext cx="8705" cy="1510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36" name="Connector 135"/>
          <p:cNvCxnSpPr/>
          <p:nvPr/>
        </p:nvCxnSpPr>
        <p:spPr>
          <a:xfrm flipH="1">
            <a:off x="6580443" y="8746051"/>
            <a:ext cx="8768" cy="1082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37" name="Connector 136"/>
          <p:cNvCxnSpPr/>
          <p:nvPr/>
        </p:nvCxnSpPr>
        <p:spPr>
          <a:xfrm flipH="1">
            <a:off x="6571632" y="8747133"/>
            <a:ext cx="8811" cy="650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38" name="Connector 137"/>
          <p:cNvCxnSpPr/>
          <p:nvPr/>
        </p:nvCxnSpPr>
        <p:spPr>
          <a:xfrm flipH="1">
            <a:off x="6562800" y="8747783"/>
            <a:ext cx="8832" cy="217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39" name="Connector 138"/>
          <p:cNvCxnSpPr/>
          <p:nvPr/>
        </p:nvCxnSpPr>
        <p:spPr>
          <a:xfrm flipV="1">
            <a:off x="6562800" y="6948000"/>
            <a:ext cx="0" cy="1800000"/>
          </a:xfrm>
          <a:prstGeom prst="line">
            <a:avLst/>
          </a:prstGeom>
          <a:ln w="12700">
            <a:solidFill>
              <a:srgbClr val="466976"/>
            </a:solidFill>
          </a:ln>
          <a:effectLst/>
        </p:spPr>
      </p:cxnSp>
      <p:sp>
        <p:nvSpPr>
          <p:cNvPr id="140" name="Oval 139"/>
          <p:cNvSpPr/>
          <p:nvPr/>
        </p:nvSpPr>
        <p:spPr>
          <a:xfrm>
            <a:off x="6526800" y="8532000"/>
            <a:ext cx="72000" cy="72000"/>
          </a:xfrm>
          <a:prstGeom prst="ellipse">
            <a:avLst/>
          </a:prstGeom>
          <a:solidFill>
            <a:srgbClr val="FCFBF7"/>
          </a:solidFill>
          <a:ln w="8890">
            <a:solidFill>
              <a:srgbClr val="46697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41" name="Connector 140"/>
          <p:cNvCxnSpPr/>
          <p:nvPr/>
        </p:nvCxnSpPr>
        <p:spPr>
          <a:xfrm>
            <a:off x="3240000" y="8568000"/>
            <a:ext cx="0" cy="792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142" name="Connector 141"/>
          <p:cNvCxnSpPr/>
          <p:nvPr/>
        </p:nvCxnSpPr>
        <p:spPr>
          <a:xfrm>
            <a:off x="7560000" y="8568000"/>
            <a:ext cx="0" cy="792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143" name="Connector 142"/>
          <p:cNvCxnSpPr/>
          <p:nvPr/>
        </p:nvCxnSpPr>
        <p:spPr>
          <a:xfrm>
            <a:off x="3240000" y="9360000"/>
            <a:ext cx="432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144" name="Connector 143"/>
          <p:cNvCxnSpPr/>
          <p:nvPr/>
        </p:nvCxnSpPr>
        <p:spPr>
          <a:xfrm flipV="1">
            <a:off x="3204000" y="9324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145" name="Connector 144"/>
          <p:cNvCxnSpPr/>
          <p:nvPr/>
        </p:nvCxnSpPr>
        <p:spPr>
          <a:xfrm flipV="1">
            <a:off x="7524000" y="9324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146" name="TextBox 145"/>
          <p:cNvSpPr txBox="1"/>
          <p:nvPr/>
        </p:nvSpPr>
        <p:spPr>
          <a:xfrm>
            <a:off x="4860000" y="9180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2400</a:t>
            </a:r>
          </a:p>
        </p:txBody>
      </p:sp>
      <p:cxnSp>
        <p:nvCxnSpPr>
          <p:cNvPr id="147" name="Connector 146"/>
          <p:cNvCxnSpPr/>
          <p:nvPr/>
        </p:nvCxnSpPr>
        <p:spPr>
          <a:xfrm>
            <a:off x="3240000" y="8568000"/>
            <a:ext cx="0" cy="360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148" name="Connector 147"/>
          <p:cNvCxnSpPr/>
          <p:nvPr/>
        </p:nvCxnSpPr>
        <p:spPr>
          <a:xfrm>
            <a:off x="4050000" y="8568000"/>
            <a:ext cx="0" cy="360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149" name="Connector 148"/>
          <p:cNvCxnSpPr/>
          <p:nvPr/>
        </p:nvCxnSpPr>
        <p:spPr>
          <a:xfrm>
            <a:off x="3240000" y="8928000"/>
            <a:ext cx="81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150" name="Connector 149"/>
          <p:cNvCxnSpPr/>
          <p:nvPr/>
        </p:nvCxnSpPr>
        <p:spPr>
          <a:xfrm flipV="1">
            <a:off x="3204000" y="8892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151" name="Connector 150"/>
          <p:cNvCxnSpPr/>
          <p:nvPr/>
        </p:nvCxnSpPr>
        <p:spPr>
          <a:xfrm flipV="1">
            <a:off x="4014000" y="8892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152" name="TextBox 151"/>
          <p:cNvSpPr txBox="1"/>
          <p:nvPr/>
        </p:nvSpPr>
        <p:spPr>
          <a:xfrm>
            <a:off x="3105000" y="8748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450</a:t>
            </a:r>
          </a:p>
        </p:txBody>
      </p:sp>
      <p:cxnSp>
        <p:nvCxnSpPr>
          <p:cNvPr id="153" name="Connector 152"/>
          <p:cNvCxnSpPr/>
          <p:nvPr/>
        </p:nvCxnSpPr>
        <p:spPr>
          <a:xfrm>
            <a:off x="4050000" y="8568000"/>
            <a:ext cx="0" cy="360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154" name="Connector 153"/>
          <p:cNvCxnSpPr/>
          <p:nvPr/>
        </p:nvCxnSpPr>
        <p:spPr>
          <a:xfrm>
            <a:off x="6750000" y="8568000"/>
            <a:ext cx="0" cy="360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155" name="Connector 154"/>
          <p:cNvCxnSpPr/>
          <p:nvPr/>
        </p:nvCxnSpPr>
        <p:spPr>
          <a:xfrm>
            <a:off x="4050000" y="8928000"/>
            <a:ext cx="270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156" name="Connector 155"/>
          <p:cNvCxnSpPr/>
          <p:nvPr/>
        </p:nvCxnSpPr>
        <p:spPr>
          <a:xfrm flipV="1">
            <a:off x="4014000" y="8892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157" name="Connector 156"/>
          <p:cNvCxnSpPr/>
          <p:nvPr/>
        </p:nvCxnSpPr>
        <p:spPr>
          <a:xfrm flipV="1">
            <a:off x="6714000" y="8892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158" name="TextBox 157"/>
          <p:cNvSpPr txBox="1"/>
          <p:nvPr/>
        </p:nvSpPr>
        <p:spPr>
          <a:xfrm>
            <a:off x="4860000" y="8748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1500</a:t>
            </a:r>
          </a:p>
        </p:txBody>
      </p:sp>
      <p:cxnSp>
        <p:nvCxnSpPr>
          <p:cNvPr id="159" name="Connector 158"/>
          <p:cNvCxnSpPr/>
          <p:nvPr/>
        </p:nvCxnSpPr>
        <p:spPr>
          <a:xfrm>
            <a:off x="6750000" y="8568000"/>
            <a:ext cx="0" cy="360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160" name="Connector 159"/>
          <p:cNvCxnSpPr/>
          <p:nvPr/>
        </p:nvCxnSpPr>
        <p:spPr>
          <a:xfrm>
            <a:off x="7560000" y="8568000"/>
            <a:ext cx="0" cy="360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161" name="Connector 160"/>
          <p:cNvCxnSpPr/>
          <p:nvPr/>
        </p:nvCxnSpPr>
        <p:spPr>
          <a:xfrm>
            <a:off x="6750000" y="8928000"/>
            <a:ext cx="81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162" name="Connector 161"/>
          <p:cNvCxnSpPr/>
          <p:nvPr/>
        </p:nvCxnSpPr>
        <p:spPr>
          <a:xfrm flipV="1">
            <a:off x="6714000" y="8892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163" name="Connector 162"/>
          <p:cNvCxnSpPr/>
          <p:nvPr/>
        </p:nvCxnSpPr>
        <p:spPr>
          <a:xfrm flipV="1">
            <a:off x="7524000" y="8892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164" name="TextBox 163"/>
          <p:cNvSpPr txBox="1"/>
          <p:nvPr/>
        </p:nvSpPr>
        <p:spPr>
          <a:xfrm>
            <a:off x="6615000" y="8748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450</a:t>
            </a:r>
          </a:p>
        </p:txBody>
      </p:sp>
      <p:cxnSp>
        <p:nvCxnSpPr>
          <p:cNvPr id="165" name="Connector 164"/>
          <p:cNvCxnSpPr/>
          <p:nvPr/>
        </p:nvCxnSpPr>
        <p:spPr>
          <a:xfrm flipH="1">
            <a:off x="2304000" y="8568000"/>
            <a:ext cx="936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166" name="Connector 165"/>
          <p:cNvCxnSpPr/>
          <p:nvPr/>
        </p:nvCxnSpPr>
        <p:spPr>
          <a:xfrm flipH="1">
            <a:off x="2304000" y="2977199"/>
            <a:ext cx="936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167" name="Connector 166"/>
          <p:cNvCxnSpPr/>
          <p:nvPr/>
        </p:nvCxnSpPr>
        <p:spPr>
          <a:xfrm flipV="1">
            <a:off x="2304000" y="2977199"/>
            <a:ext cx="0" cy="5590801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168" name="Connector 167"/>
          <p:cNvCxnSpPr/>
          <p:nvPr/>
        </p:nvCxnSpPr>
        <p:spPr>
          <a:xfrm flipV="1">
            <a:off x="2268000" y="8532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169" name="Connector 168"/>
          <p:cNvCxnSpPr/>
          <p:nvPr/>
        </p:nvCxnSpPr>
        <p:spPr>
          <a:xfrm flipV="1">
            <a:off x="2268000" y="2941199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170" name="TextBox 169"/>
          <p:cNvSpPr txBox="1"/>
          <p:nvPr/>
        </p:nvSpPr>
        <p:spPr>
          <a:xfrm>
            <a:off x="1872000" y="5772600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3106</a:t>
            </a:r>
          </a:p>
        </p:txBody>
      </p:sp>
      <p:cxnSp>
        <p:nvCxnSpPr>
          <p:cNvPr id="171" name="Connector 170"/>
          <p:cNvCxnSpPr/>
          <p:nvPr/>
        </p:nvCxnSpPr>
        <p:spPr>
          <a:xfrm flipH="1">
            <a:off x="2808000" y="8568000"/>
            <a:ext cx="432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172" name="Connector 171"/>
          <p:cNvCxnSpPr/>
          <p:nvPr/>
        </p:nvCxnSpPr>
        <p:spPr>
          <a:xfrm flipH="1">
            <a:off x="2808000" y="7758000"/>
            <a:ext cx="432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173" name="Connector 172"/>
          <p:cNvCxnSpPr/>
          <p:nvPr/>
        </p:nvCxnSpPr>
        <p:spPr>
          <a:xfrm flipV="1">
            <a:off x="2808000" y="7758000"/>
            <a:ext cx="0" cy="810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174" name="Connector 173"/>
          <p:cNvCxnSpPr/>
          <p:nvPr/>
        </p:nvCxnSpPr>
        <p:spPr>
          <a:xfrm flipV="1">
            <a:off x="2772000" y="8532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175" name="Connector 174"/>
          <p:cNvCxnSpPr/>
          <p:nvPr/>
        </p:nvCxnSpPr>
        <p:spPr>
          <a:xfrm flipV="1">
            <a:off x="2772000" y="7722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176" name="TextBox 175"/>
          <p:cNvSpPr txBox="1"/>
          <p:nvPr/>
        </p:nvSpPr>
        <p:spPr>
          <a:xfrm>
            <a:off x="2376000" y="8163000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450</a:t>
            </a:r>
          </a:p>
        </p:txBody>
      </p:sp>
      <p:cxnSp>
        <p:nvCxnSpPr>
          <p:cNvPr id="177" name="Connector 176"/>
          <p:cNvCxnSpPr/>
          <p:nvPr/>
        </p:nvCxnSpPr>
        <p:spPr>
          <a:xfrm flipH="1">
            <a:off x="2808000" y="7758000"/>
            <a:ext cx="432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178" name="Connector 177"/>
          <p:cNvCxnSpPr/>
          <p:nvPr/>
        </p:nvCxnSpPr>
        <p:spPr>
          <a:xfrm flipH="1">
            <a:off x="2808000" y="6562800"/>
            <a:ext cx="432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179" name="Connector 178"/>
          <p:cNvCxnSpPr/>
          <p:nvPr/>
        </p:nvCxnSpPr>
        <p:spPr>
          <a:xfrm flipV="1">
            <a:off x="2808000" y="6562800"/>
            <a:ext cx="0" cy="11952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180" name="Connector 179"/>
          <p:cNvCxnSpPr/>
          <p:nvPr/>
        </p:nvCxnSpPr>
        <p:spPr>
          <a:xfrm flipV="1">
            <a:off x="2772000" y="7722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181" name="Connector 180"/>
          <p:cNvCxnSpPr/>
          <p:nvPr/>
        </p:nvCxnSpPr>
        <p:spPr>
          <a:xfrm flipV="1">
            <a:off x="2772000" y="65268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182" name="TextBox 181"/>
          <p:cNvSpPr txBox="1"/>
          <p:nvPr/>
        </p:nvSpPr>
        <p:spPr>
          <a:xfrm>
            <a:off x="2376000" y="7160400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664</a:t>
            </a:r>
          </a:p>
        </p:txBody>
      </p:sp>
      <p:cxnSp>
        <p:nvCxnSpPr>
          <p:cNvPr id="183" name="Connector 182"/>
          <p:cNvCxnSpPr/>
          <p:nvPr/>
        </p:nvCxnSpPr>
        <p:spPr>
          <a:xfrm flipH="1">
            <a:off x="2808000" y="6562800"/>
            <a:ext cx="432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184" name="Connector 183"/>
          <p:cNvCxnSpPr/>
          <p:nvPr/>
        </p:nvCxnSpPr>
        <p:spPr>
          <a:xfrm flipH="1">
            <a:off x="2808000" y="5367600"/>
            <a:ext cx="432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185" name="Connector 184"/>
          <p:cNvCxnSpPr/>
          <p:nvPr/>
        </p:nvCxnSpPr>
        <p:spPr>
          <a:xfrm flipV="1">
            <a:off x="2808000" y="5367600"/>
            <a:ext cx="0" cy="11952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186" name="Connector 185"/>
          <p:cNvCxnSpPr/>
          <p:nvPr/>
        </p:nvCxnSpPr>
        <p:spPr>
          <a:xfrm flipV="1">
            <a:off x="2772000" y="65268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187" name="Connector 186"/>
          <p:cNvCxnSpPr/>
          <p:nvPr/>
        </p:nvCxnSpPr>
        <p:spPr>
          <a:xfrm flipV="1">
            <a:off x="2772000" y="53316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188" name="TextBox 187"/>
          <p:cNvSpPr txBox="1"/>
          <p:nvPr/>
        </p:nvSpPr>
        <p:spPr>
          <a:xfrm>
            <a:off x="2376000" y="5965200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664</a:t>
            </a:r>
          </a:p>
        </p:txBody>
      </p:sp>
      <p:cxnSp>
        <p:nvCxnSpPr>
          <p:cNvPr id="189" name="Connector 188"/>
          <p:cNvCxnSpPr/>
          <p:nvPr/>
        </p:nvCxnSpPr>
        <p:spPr>
          <a:xfrm flipH="1">
            <a:off x="2808000" y="5367600"/>
            <a:ext cx="432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190" name="Connector 189"/>
          <p:cNvCxnSpPr/>
          <p:nvPr/>
        </p:nvCxnSpPr>
        <p:spPr>
          <a:xfrm flipH="1">
            <a:off x="2808000" y="4172400"/>
            <a:ext cx="432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191" name="Connector 190"/>
          <p:cNvCxnSpPr/>
          <p:nvPr/>
        </p:nvCxnSpPr>
        <p:spPr>
          <a:xfrm flipV="1">
            <a:off x="2808000" y="4172400"/>
            <a:ext cx="0" cy="11952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192" name="Connector 191"/>
          <p:cNvCxnSpPr/>
          <p:nvPr/>
        </p:nvCxnSpPr>
        <p:spPr>
          <a:xfrm flipV="1">
            <a:off x="2772000" y="53316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193" name="Connector 192"/>
          <p:cNvCxnSpPr/>
          <p:nvPr/>
        </p:nvCxnSpPr>
        <p:spPr>
          <a:xfrm flipV="1">
            <a:off x="2772000" y="41364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194" name="TextBox 193"/>
          <p:cNvSpPr txBox="1"/>
          <p:nvPr/>
        </p:nvSpPr>
        <p:spPr>
          <a:xfrm>
            <a:off x="2376000" y="4770000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664</a:t>
            </a:r>
          </a:p>
        </p:txBody>
      </p:sp>
      <p:cxnSp>
        <p:nvCxnSpPr>
          <p:cNvPr id="195" name="Connector 194"/>
          <p:cNvCxnSpPr/>
          <p:nvPr/>
        </p:nvCxnSpPr>
        <p:spPr>
          <a:xfrm flipH="1">
            <a:off x="2808000" y="4172400"/>
            <a:ext cx="432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196" name="Connector 195"/>
          <p:cNvCxnSpPr/>
          <p:nvPr/>
        </p:nvCxnSpPr>
        <p:spPr>
          <a:xfrm flipH="1">
            <a:off x="2808000" y="2977199"/>
            <a:ext cx="432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197" name="Connector 196"/>
          <p:cNvCxnSpPr/>
          <p:nvPr/>
        </p:nvCxnSpPr>
        <p:spPr>
          <a:xfrm flipV="1">
            <a:off x="2808000" y="2977199"/>
            <a:ext cx="0" cy="1195201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198" name="Connector 197"/>
          <p:cNvCxnSpPr/>
          <p:nvPr/>
        </p:nvCxnSpPr>
        <p:spPr>
          <a:xfrm flipV="1">
            <a:off x="2772000" y="41364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199" name="Connector 198"/>
          <p:cNvCxnSpPr/>
          <p:nvPr/>
        </p:nvCxnSpPr>
        <p:spPr>
          <a:xfrm flipV="1">
            <a:off x="2772000" y="2941199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200" name="TextBox 199"/>
          <p:cNvSpPr txBox="1"/>
          <p:nvPr/>
        </p:nvSpPr>
        <p:spPr>
          <a:xfrm>
            <a:off x="2376000" y="3574800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664</a:t>
            </a:r>
          </a:p>
        </p:txBody>
      </p:sp>
      <p:cxnSp>
        <p:nvCxnSpPr>
          <p:cNvPr id="201" name="Connector 200"/>
          <p:cNvCxnSpPr/>
          <p:nvPr/>
        </p:nvCxnSpPr>
        <p:spPr>
          <a:xfrm flipV="1">
            <a:off x="3240000" y="2725199"/>
            <a:ext cx="0" cy="252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02" name="Connector 201"/>
          <p:cNvCxnSpPr/>
          <p:nvPr/>
        </p:nvCxnSpPr>
        <p:spPr>
          <a:xfrm flipV="1">
            <a:off x="3690000" y="2725199"/>
            <a:ext cx="0" cy="252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03" name="Connector 202"/>
          <p:cNvCxnSpPr/>
          <p:nvPr/>
        </p:nvCxnSpPr>
        <p:spPr>
          <a:xfrm>
            <a:off x="3240000" y="2725199"/>
            <a:ext cx="45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04" name="Connector 203"/>
          <p:cNvCxnSpPr/>
          <p:nvPr/>
        </p:nvCxnSpPr>
        <p:spPr>
          <a:xfrm flipV="1">
            <a:off x="3204000" y="2689199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05" name="Connector 204"/>
          <p:cNvCxnSpPr/>
          <p:nvPr/>
        </p:nvCxnSpPr>
        <p:spPr>
          <a:xfrm flipV="1">
            <a:off x="3654000" y="2689199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206" name="TextBox 205"/>
          <p:cNvSpPr txBox="1"/>
          <p:nvPr/>
        </p:nvSpPr>
        <p:spPr>
          <a:xfrm>
            <a:off x="2925000" y="2545199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250</a:t>
            </a:r>
          </a:p>
        </p:txBody>
      </p:sp>
      <p:cxnSp>
        <p:nvCxnSpPr>
          <p:cNvPr id="207" name="Connector 206"/>
          <p:cNvCxnSpPr/>
          <p:nvPr/>
        </p:nvCxnSpPr>
        <p:spPr>
          <a:xfrm flipV="1">
            <a:off x="3690000" y="2725199"/>
            <a:ext cx="0" cy="252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08" name="Connector 207"/>
          <p:cNvCxnSpPr/>
          <p:nvPr/>
        </p:nvCxnSpPr>
        <p:spPr>
          <a:xfrm flipV="1">
            <a:off x="7110000" y="2725199"/>
            <a:ext cx="0" cy="252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09" name="Connector 208"/>
          <p:cNvCxnSpPr/>
          <p:nvPr/>
        </p:nvCxnSpPr>
        <p:spPr>
          <a:xfrm>
            <a:off x="3690000" y="2725199"/>
            <a:ext cx="342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10" name="Connector 209"/>
          <p:cNvCxnSpPr/>
          <p:nvPr/>
        </p:nvCxnSpPr>
        <p:spPr>
          <a:xfrm flipV="1">
            <a:off x="3654000" y="2689199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11" name="Connector 210"/>
          <p:cNvCxnSpPr/>
          <p:nvPr/>
        </p:nvCxnSpPr>
        <p:spPr>
          <a:xfrm flipV="1">
            <a:off x="7074000" y="2689199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212" name="TextBox 211"/>
          <p:cNvSpPr txBox="1"/>
          <p:nvPr/>
        </p:nvSpPr>
        <p:spPr>
          <a:xfrm>
            <a:off x="4860000" y="2545199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1900</a:t>
            </a:r>
          </a:p>
        </p:txBody>
      </p:sp>
      <p:cxnSp>
        <p:nvCxnSpPr>
          <p:cNvPr id="213" name="Connector 212"/>
          <p:cNvCxnSpPr/>
          <p:nvPr/>
        </p:nvCxnSpPr>
        <p:spPr>
          <a:xfrm flipV="1">
            <a:off x="7110000" y="2725199"/>
            <a:ext cx="0" cy="252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14" name="Connector 213"/>
          <p:cNvCxnSpPr/>
          <p:nvPr/>
        </p:nvCxnSpPr>
        <p:spPr>
          <a:xfrm flipV="1">
            <a:off x="7560000" y="2725199"/>
            <a:ext cx="0" cy="252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15" name="Connector 214"/>
          <p:cNvCxnSpPr/>
          <p:nvPr/>
        </p:nvCxnSpPr>
        <p:spPr>
          <a:xfrm>
            <a:off x="7110000" y="2725199"/>
            <a:ext cx="45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16" name="Connector 215"/>
          <p:cNvCxnSpPr/>
          <p:nvPr/>
        </p:nvCxnSpPr>
        <p:spPr>
          <a:xfrm flipV="1">
            <a:off x="7074000" y="2689199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17" name="Connector 216"/>
          <p:cNvCxnSpPr/>
          <p:nvPr/>
        </p:nvCxnSpPr>
        <p:spPr>
          <a:xfrm flipV="1">
            <a:off x="7524000" y="2689199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218" name="TextBox 217"/>
          <p:cNvSpPr txBox="1"/>
          <p:nvPr/>
        </p:nvSpPr>
        <p:spPr>
          <a:xfrm>
            <a:off x="6795000" y="2545199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250</a:t>
            </a:r>
          </a:p>
        </p:txBody>
      </p:sp>
      <p:cxnSp>
        <p:nvCxnSpPr>
          <p:cNvPr id="219" name="Connector 218"/>
          <p:cNvCxnSpPr/>
          <p:nvPr/>
        </p:nvCxnSpPr>
        <p:spPr>
          <a:xfrm>
            <a:off x="3690000" y="54972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20" name="Connector 219"/>
          <p:cNvCxnSpPr/>
          <p:nvPr/>
        </p:nvCxnSpPr>
        <p:spPr>
          <a:xfrm>
            <a:off x="4500000" y="54972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21" name="Connector 220"/>
          <p:cNvCxnSpPr/>
          <p:nvPr/>
        </p:nvCxnSpPr>
        <p:spPr>
          <a:xfrm>
            <a:off x="3690000" y="5785200"/>
            <a:ext cx="81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22" name="Connector 221"/>
          <p:cNvCxnSpPr/>
          <p:nvPr/>
        </p:nvCxnSpPr>
        <p:spPr>
          <a:xfrm flipV="1">
            <a:off x="3654000" y="57492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23" name="Connector 222"/>
          <p:cNvCxnSpPr/>
          <p:nvPr/>
        </p:nvCxnSpPr>
        <p:spPr>
          <a:xfrm flipV="1">
            <a:off x="4464000" y="57492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224" name="TextBox 223"/>
          <p:cNvSpPr txBox="1"/>
          <p:nvPr/>
        </p:nvSpPr>
        <p:spPr>
          <a:xfrm>
            <a:off x="3555000" y="56052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450</a:t>
            </a:r>
          </a:p>
        </p:txBody>
      </p:sp>
      <p:cxnSp>
        <p:nvCxnSpPr>
          <p:cNvPr id="225" name="Connector 224"/>
          <p:cNvCxnSpPr/>
          <p:nvPr/>
        </p:nvCxnSpPr>
        <p:spPr>
          <a:xfrm>
            <a:off x="6300000" y="54972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26" name="Connector 225"/>
          <p:cNvCxnSpPr/>
          <p:nvPr/>
        </p:nvCxnSpPr>
        <p:spPr>
          <a:xfrm>
            <a:off x="7110000" y="54972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27" name="Connector 226"/>
          <p:cNvCxnSpPr/>
          <p:nvPr/>
        </p:nvCxnSpPr>
        <p:spPr>
          <a:xfrm>
            <a:off x="6300000" y="5785200"/>
            <a:ext cx="81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28" name="Connector 227"/>
          <p:cNvCxnSpPr/>
          <p:nvPr/>
        </p:nvCxnSpPr>
        <p:spPr>
          <a:xfrm flipV="1">
            <a:off x="6264000" y="57492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29" name="Connector 228"/>
          <p:cNvCxnSpPr/>
          <p:nvPr/>
        </p:nvCxnSpPr>
        <p:spPr>
          <a:xfrm flipV="1">
            <a:off x="7074000" y="57492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230" name="TextBox 229"/>
          <p:cNvSpPr txBox="1"/>
          <p:nvPr/>
        </p:nvSpPr>
        <p:spPr>
          <a:xfrm>
            <a:off x="6165000" y="56052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450</a:t>
            </a:r>
          </a:p>
        </p:txBody>
      </p:sp>
      <p:cxnSp>
        <p:nvCxnSpPr>
          <p:cNvPr id="231" name="Connector 230"/>
          <p:cNvCxnSpPr/>
          <p:nvPr/>
        </p:nvCxnSpPr>
        <p:spPr>
          <a:xfrm>
            <a:off x="6300000" y="4687200"/>
            <a:ext cx="360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32" name="Connector 231"/>
          <p:cNvCxnSpPr/>
          <p:nvPr/>
        </p:nvCxnSpPr>
        <p:spPr>
          <a:xfrm>
            <a:off x="6300000" y="3427199"/>
            <a:ext cx="360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33" name="Connector 232"/>
          <p:cNvCxnSpPr/>
          <p:nvPr/>
        </p:nvCxnSpPr>
        <p:spPr>
          <a:xfrm flipV="1">
            <a:off x="6660000" y="3427199"/>
            <a:ext cx="0" cy="1260001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34" name="Connector 233"/>
          <p:cNvCxnSpPr/>
          <p:nvPr/>
        </p:nvCxnSpPr>
        <p:spPr>
          <a:xfrm flipV="1">
            <a:off x="6624000" y="46512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35" name="Connector 234"/>
          <p:cNvCxnSpPr/>
          <p:nvPr/>
        </p:nvCxnSpPr>
        <p:spPr>
          <a:xfrm flipV="1">
            <a:off x="6624000" y="3391199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236" name="TextBox 235"/>
          <p:cNvSpPr txBox="1"/>
          <p:nvPr/>
        </p:nvSpPr>
        <p:spPr>
          <a:xfrm>
            <a:off x="6228000" y="4057199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700</a:t>
            </a:r>
          </a:p>
        </p:txBody>
      </p:sp>
      <p:sp>
        <p:nvSpPr>
          <p:cNvPr id="237" name="Oval 236"/>
          <p:cNvSpPr/>
          <p:nvPr/>
        </p:nvSpPr>
        <p:spPr>
          <a:xfrm>
            <a:off x="3193200" y="8521200"/>
            <a:ext cx="93600" cy="93600"/>
          </a:xfrm>
          <a:prstGeom prst="ellipse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8" name="TextBox 237"/>
          <p:cNvSpPr txBox="1"/>
          <p:nvPr/>
        </p:nvSpPr>
        <p:spPr>
          <a:xfrm>
            <a:off x="3312000" y="8388000"/>
            <a:ext cx="288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1">
                <a:solidFill>
                  <a:srgbClr val="252725"/>
                </a:solidFill>
                <a:latin typeface="Liberation Sans"/>
              </a:defRPr>
            </a:pPr>
            <a:r>
              <a:t>A</a:t>
            </a:r>
          </a:p>
        </p:txBody>
      </p:sp>
      <p:sp>
        <p:nvSpPr>
          <p:cNvPr id="239" name="Oval 238"/>
          <p:cNvSpPr/>
          <p:nvPr/>
        </p:nvSpPr>
        <p:spPr>
          <a:xfrm>
            <a:off x="7513200" y="8521200"/>
            <a:ext cx="93600" cy="93600"/>
          </a:xfrm>
          <a:prstGeom prst="ellipse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0" name="TextBox 239"/>
          <p:cNvSpPr txBox="1"/>
          <p:nvPr/>
        </p:nvSpPr>
        <p:spPr>
          <a:xfrm>
            <a:off x="7632000" y="8388000"/>
            <a:ext cx="288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1">
                <a:solidFill>
                  <a:srgbClr val="252725"/>
                </a:solidFill>
                <a:latin typeface="Liberation Sans"/>
              </a:defRPr>
            </a:pPr>
            <a:r>
              <a:t>B</a:t>
            </a:r>
          </a:p>
        </p:txBody>
      </p:sp>
      <p:sp>
        <p:nvSpPr>
          <p:cNvPr id="241" name="Oval 240"/>
          <p:cNvSpPr/>
          <p:nvPr/>
        </p:nvSpPr>
        <p:spPr>
          <a:xfrm>
            <a:off x="7513200" y="2930399"/>
            <a:ext cx="93600" cy="93600"/>
          </a:xfrm>
          <a:prstGeom prst="ellipse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2" name="TextBox 241"/>
          <p:cNvSpPr txBox="1"/>
          <p:nvPr/>
        </p:nvSpPr>
        <p:spPr>
          <a:xfrm>
            <a:off x="7632000" y="2797199"/>
            <a:ext cx="288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1">
                <a:solidFill>
                  <a:srgbClr val="252725"/>
                </a:solidFill>
                <a:latin typeface="Liberation Sans"/>
              </a:defRPr>
            </a:pPr>
            <a:r>
              <a:t>C</a:t>
            </a:r>
          </a:p>
        </p:txBody>
      </p:sp>
      <p:sp>
        <p:nvSpPr>
          <p:cNvPr id="243" name="Oval 242"/>
          <p:cNvSpPr/>
          <p:nvPr/>
        </p:nvSpPr>
        <p:spPr>
          <a:xfrm>
            <a:off x="3193200" y="2930399"/>
            <a:ext cx="93600" cy="93600"/>
          </a:xfrm>
          <a:prstGeom prst="ellipse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4" name="TextBox 243"/>
          <p:cNvSpPr txBox="1"/>
          <p:nvPr/>
        </p:nvSpPr>
        <p:spPr>
          <a:xfrm>
            <a:off x="3312000" y="2797199"/>
            <a:ext cx="288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1">
                <a:solidFill>
                  <a:srgbClr val="252725"/>
                </a:solidFill>
                <a:latin typeface="Liberation Sans"/>
              </a:defRPr>
            </a:pPr>
            <a:r>
              <a:t>D</a:t>
            </a:r>
          </a:p>
        </p:txBody>
      </p:sp>
      <p:cxnSp>
        <p:nvCxnSpPr>
          <p:cNvPr id="245" name="Connector 244"/>
          <p:cNvCxnSpPr/>
          <p:nvPr/>
        </p:nvCxnSpPr>
        <p:spPr>
          <a:xfrm flipH="1" flipV="1">
            <a:off x="1368000" y="4932000"/>
            <a:ext cx="2277000" cy="396000"/>
          </a:xfrm>
          <a:prstGeom prst="line">
            <a:avLst/>
          </a:prstGeom>
          <a:ln w="6985">
            <a:solidFill>
              <a:srgbClr val="737871"/>
            </a:solidFill>
          </a:ln>
          <a:effectLst/>
        </p:spPr>
      </p:cxnSp>
      <p:sp>
        <p:nvSpPr>
          <p:cNvPr id="246" name="TextBox 245"/>
          <p:cNvSpPr txBox="1"/>
          <p:nvPr/>
        </p:nvSpPr>
        <p:spPr>
          <a:xfrm>
            <a:off x="1368000" y="5004000"/>
            <a:ext cx="2052000" cy="50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252725"/>
                </a:solidFill>
                <a:latin typeface="Liberation Sans"/>
              </a:defRPr>
            </a:pPr>
            <a:r>
              <a:t>250 DEEP DISPLAY</a:t>
            </a:r>
          </a:p>
        </p:txBody>
      </p:sp>
      <p:cxnSp>
        <p:nvCxnSpPr>
          <p:cNvPr id="247" name="Connector 246"/>
          <p:cNvCxnSpPr/>
          <p:nvPr/>
        </p:nvCxnSpPr>
        <p:spPr>
          <a:xfrm flipV="1">
            <a:off x="5580000" y="5040000"/>
            <a:ext cx="2916000" cy="108000"/>
          </a:xfrm>
          <a:prstGeom prst="line">
            <a:avLst/>
          </a:prstGeom>
          <a:ln w="6985">
            <a:solidFill>
              <a:srgbClr val="737871"/>
            </a:solidFill>
          </a:ln>
          <a:effectLst/>
        </p:spPr>
      </p:cxnSp>
      <p:sp>
        <p:nvSpPr>
          <p:cNvPr id="248" name="TextBox 247"/>
          <p:cNvSpPr txBox="1"/>
          <p:nvPr/>
        </p:nvSpPr>
        <p:spPr>
          <a:xfrm>
            <a:off x="8496000" y="5112000"/>
            <a:ext cx="2052000" cy="50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252725"/>
                </a:solidFill>
                <a:latin typeface="Liberation Sans"/>
              </a:defRPr>
            </a:pPr>
            <a:r>
              <a:t>1000 × 450 COUNTER</a:t>
            </a:r>
          </a:p>
        </p:txBody>
      </p:sp>
      <p:cxnSp>
        <p:nvCxnSpPr>
          <p:cNvPr id="249" name="Connector 248"/>
          <p:cNvCxnSpPr/>
          <p:nvPr/>
        </p:nvCxnSpPr>
        <p:spPr>
          <a:xfrm flipV="1">
            <a:off x="6562800" y="8388000"/>
            <a:ext cx="1933200" cy="180000"/>
          </a:xfrm>
          <a:prstGeom prst="line">
            <a:avLst/>
          </a:prstGeom>
          <a:ln w="6985">
            <a:solidFill>
              <a:srgbClr val="737871"/>
            </a:solidFill>
          </a:ln>
          <a:effectLst/>
        </p:spPr>
      </p:cxnSp>
      <p:sp>
        <p:nvSpPr>
          <p:cNvPr id="250" name="TextBox 249"/>
          <p:cNvSpPr txBox="1"/>
          <p:nvPr/>
        </p:nvSpPr>
        <p:spPr>
          <a:xfrm>
            <a:off x="8496000" y="8460000"/>
            <a:ext cx="2052000" cy="50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252725"/>
                </a:solidFill>
                <a:latin typeface="Liberation Sans"/>
              </a:defRPr>
            </a:pPr>
            <a:r>
              <a:t>PIVOT GLASS DOOR</a:t>
            </a:r>
          </a:p>
        </p:txBody>
      </p:sp>
      <p:sp>
        <p:nvSpPr>
          <p:cNvPr id="251" name="TextBox 250"/>
          <p:cNvSpPr txBox="1"/>
          <p:nvPr/>
        </p:nvSpPr>
        <p:spPr>
          <a:xfrm>
            <a:off x="792000" y="2160000"/>
            <a:ext cx="2160000" cy="36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9A825A"/>
                </a:solidFill>
                <a:latin typeface="Liberation Sans"/>
              </a:defRPr>
            </a:pPr>
            <a:r>
              <a:t>SET-OUT DATUMS</a:t>
            </a:r>
          </a:p>
        </p:txBody>
      </p:sp>
      <p:sp>
        <p:nvSpPr>
          <p:cNvPr id="252" name="TextBox 251"/>
          <p:cNvSpPr txBox="1"/>
          <p:nvPr/>
        </p:nvSpPr>
        <p:spPr>
          <a:xfrm>
            <a:off x="792000" y="2592000"/>
            <a:ext cx="2160000" cy="154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252725"/>
                </a:solidFill>
                <a:latin typeface="Liberation Sans"/>
              </a:defRPr>
            </a:pPr>
            <a:r>
              <a:t>A  0 / 0</a:t>
            </a:r>
          </a:p>
          <a:p>
            <a:pPr>
              <a:spcAft>
                <a:spcPts val="400"/>
              </a:spcAft>
              <a:defRPr sz="900" b="0">
                <a:solidFill>
                  <a:srgbClr val="252725"/>
                </a:solidFill>
                <a:latin typeface="Liberation Sans"/>
              </a:defRPr>
            </a:pPr>
            <a:r>
              <a:t>B  2400 / 0</a:t>
            </a:r>
          </a:p>
          <a:p>
            <a:pPr>
              <a:spcAft>
                <a:spcPts val="400"/>
              </a:spcAft>
              <a:defRPr sz="900" b="0">
                <a:solidFill>
                  <a:srgbClr val="252725"/>
                </a:solidFill>
                <a:latin typeface="Liberation Sans"/>
              </a:defRPr>
            </a:pPr>
            <a:r>
              <a:t>C  2400 / 3106</a:t>
            </a:r>
          </a:p>
          <a:p>
            <a:pPr>
              <a:spcAft>
                <a:spcPts val="400"/>
              </a:spcAft>
              <a:defRPr sz="900" b="0">
                <a:solidFill>
                  <a:srgbClr val="252725"/>
                </a:solidFill>
                <a:latin typeface="Liberation Sans"/>
              </a:defRPr>
            </a:pPr>
            <a:r>
              <a:t>D  0 / 3106</a:t>
            </a:r>
          </a:p>
        </p:txBody>
      </p:sp>
      <p:sp>
        <p:nvSpPr>
          <p:cNvPr id="253" name="Freeform 252"/>
          <p:cNvSpPr/>
          <p:nvPr/>
        </p:nvSpPr>
        <p:spPr>
          <a:xfrm>
            <a:off x="8092800" y="5932800"/>
            <a:ext cx="2174400" cy="1346400"/>
          </a:xfrm>
          <a:custGeom>
            <a:avLst/>
            <a:gdLst/>
            <a:ahLst/>
            <a:cxnLst/>
            <a:rect l="l" t="t" r="r" b="b"/>
            <a:pathLst>
              <a:path w="2174400" h="1346400">
                <a:moveTo>
                  <a:pt x="43200" y="43200"/>
                </a:moveTo>
                <a:lnTo>
                  <a:pt x="64950" y="26668"/>
                </a:lnTo>
                <a:lnTo>
                  <a:pt x="86700" y="12652"/>
                </a:lnTo>
                <a:lnTo>
                  <a:pt x="108450" y="3288"/>
                </a:lnTo>
                <a:lnTo>
                  <a:pt x="130200" y="0"/>
                </a:lnTo>
                <a:lnTo>
                  <a:pt x="151950" y="3288"/>
                </a:lnTo>
                <a:lnTo>
                  <a:pt x="173700" y="12652"/>
                </a:lnTo>
                <a:lnTo>
                  <a:pt x="195450" y="26668"/>
                </a:lnTo>
                <a:lnTo>
                  <a:pt x="217200" y="43200"/>
                </a:lnTo>
                <a:lnTo>
                  <a:pt x="217200" y="43200"/>
                </a:lnTo>
                <a:lnTo>
                  <a:pt x="238950" y="26668"/>
                </a:lnTo>
                <a:lnTo>
                  <a:pt x="260700" y="12652"/>
                </a:lnTo>
                <a:lnTo>
                  <a:pt x="282450" y="3288"/>
                </a:lnTo>
                <a:lnTo>
                  <a:pt x="304200" y="0"/>
                </a:lnTo>
                <a:lnTo>
                  <a:pt x="325950" y="3288"/>
                </a:lnTo>
                <a:lnTo>
                  <a:pt x="347700" y="12652"/>
                </a:lnTo>
                <a:lnTo>
                  <a:pt x="369450" y="26668"/>
                </a:lnTo>
                <a:lnTo>
                  <a:pt x="391200" y="43200"/>
                </a:lnTo>
                <a:lnTo>
                  <a:pt x="391200" y="43200"/>
                </a:lnTo>
                <a:lnTo>
                  <a:pt x="412950" y="26668"/>
                </a:lnTo>
                <a:lnTo>
                  <a:pt x="434700" y="12652"/>
                </a:lnTo>
                <a:lnTo>
                  <a:pt x="456450" y="3288"/>
                </a:lnTo>
                <a:lnTo>
                  <a:pt x="478200" y="0"/>
                </a:lnTo>
                <a:lnTo>
                  <a:pt x="499950" y="3288"/>
                </a:lnTo>
                <a:lnTo>
                  <a:pt x="521700" y="12652"/>
                </a:lnTo>
                <a:lnTo>
                  <a:pt x="543450" y="26668"/>
                </a:lnTo>
                <a:lnTo>
                  <a:pt x="565200" y="43200"/>
                </a:lnTo>
                <a:lnTo>
                  <a:pt x="565200" y="43200"/>
                </a:lnTo>
                <a:lnTo>
                  <a:pt x="586950" y="26668"/>
                </a:lnTo>
                <a:lnTo>
                  <a:pt x="608700" y="12652"/>
                </a:lnTo>
                <a:lnTo>
                  <a:pt x="630450" y="3288"/>
                </a:lnTo>
                <a:lnTo>
                  <a:pt x="652200" y="0"/>
                </a:lnTo>
                <a:lnTo>
                  <a:pt x="673950" y="3288"/>
                </a:lnTo>
                <a:lnTo>
                  <a:pt x="695700" y="12652"/>
                </a:lnTo>
                <a:lnTo>
                  <a:pt x="717450" y="26668"/>
                </a:lnTo>
                <a:lnTo>
                  <a:pt x="739200" y="43200"/>
                </a:lnTo>
                <a:lnTo>
                  <a:pt x="739200" y="43200"/>
                </a:lnTo>
                <a:lnTo>
                  <a:pt x="760950" y="26668"/>
                </a:lnTo>
                <a:lnTo>
                  <a:pt x="782700" y="12652"/>
                </a:lnTo>
                <a:lnTo>
                  <a:pt x="804450" y="3288"/>
                </a:lnTo>
                <a:lnTo>
                  <a:pt x="826200" y="0"/>
                </a:lnTo>
                <a:lnTo>
                  <a:pt x="847950" y="3288"/>
                </a:lnTo>
                <a:lnTo>
                  <a:pt x="869700" y="12652"/>
                </a:lnTo>
                <a:lnTo>
                  <a:pt x="891450" y="26668"/>
                </a:lnTo>
                <a:lnTo>
                  <a:pt x="913200" y="43200"/>
                </a:lnTo>
                <a:lnTo>
                  <a:pt x="913200" y="43200"/>
                </a:lnTo>
                <a:lnTo>
                  <a:pt x="934950" y="26668"/>
                </a:lnTo>
                <a:lnTo>
                  <a:pt x="956700" y="12652"/>
                </a:lnTo>
                <a:lnTo>
                  <a:pt x="978450" y="3288"/>
                </a:lnTo>
                <a:lnTo>
                  <a:pt x="1000200" y="0"/>
                </a:lnTo>
                <a:lnTo>
                  <a:pt x="1021950" y="3288"/>
                </a:lnTo>
                <a:lnTo>
                  <a:pt x="1043700" y="12652"/>
                </a:lnTo>
                <a:lnTo>
                  <a:pt x="1065450" y="26668"/>
                </a:lnTo>
                <a:lnTo>
                  <a:pt x="1087200" y="43200"/>
                </a:lnTo>
                <a:lnTo>
                  <a:pt x="1087200" y="43200"/>
                </a:lnTo>
                <a:lnTo>
                  <a:pt x="1108950" y="26668"/>
                </a:lnTo>
                <a:lnTo>
                  <a:pt x="1130700" y="12652"/>
                </a:lnTo>
                <a:lnTo>
                  <a:pt x="1152450" y="3288"/>
                </a:lnTo>
                <a:lnTo>
                  <a:pt x="1174200" y="0"/>
                </a:lnTo>
                <a:lnTo>
                  <a:pt x="1195950" y="3288"/>
                </a:lnTo>
                <a:lnTo>
                  <a:pt x="1217700" y="12652"/>
                </a:lnTo>
                <a:lnTo>
                  <a:pt x="1239450" y="26668"/>
                </a:lnTo>
                <a:lnTo>
                  <a:pt x="1261200" y="43200"/>
                </a:lnTo>
                <a:lnTo>
                  <a:pt x="1261200" y="43200"/>
                </a:lnTo>
                <a:lnTo>
                  <a:pt x="1282950" y="26668"/>
                </a:lnTo>
                <a:lnTo>
                  <a:pt x="1304700" y="12652"/>
                </a:lnTo>
                <a:lnTo>
                  <a:pt x="1326450" y="3288"/>
                </a:lnTo>
                <a:lnTo>
                  <a:pt x="1348200" y="0"/>
                </a:lnTo>
                <a:lnTo>
                  <a:pt x="1369950" y="3288"/>
                </a:lnTo>
                <a:lnTo>
                  <a:pt x="1391700" y="12652"/>
                </a:lnTo>
                <a:lnTo>
                  <a:pt x="1413450" y="26668"/>
                </a:lnTo>
                <a:lnTo>
                  <a:pt x="1435200" y="43200"/>
                </a:lnTo>
                <a:lnTo>
                  <a:pt x="1435200" y="43200"/>
                </a:lnTo>
                <a:lnTo>
                  <a:pt x="1456950" y="26668"/>
                </a:lnTo>
                <a:lnTo>
                  <a:pt x="1478700" y="12652"/>
                </a:lnTo>
                <a:lnTo>
                  <a:pt x="1500450" y="3288"/>
                </a:lnTo>
                <a:lnTo>
                  <a:pt x="1522200" y="0"/>
                </a:lnTo>
                <a:lnTo>
                  <a:pt x="1543950" y="3288"/>
                </a:lnTo>
                <a:lnTo>
                  <a:pt x="1565700" y="12652"/>
                </a:lnTo>
                <a:lnTo>
                  <a:pt x="1587450" y="26668"/>
                </a:lnTo>
                <a:lnTo>
                  <a:pt x="1609200" y="43200"/>
                </a:lnTo>
                <a:lnTo>
                  <a:pt x="1609200" y="43200"/>
                </a:lnTo>
                <a:lnTo>
                  <a:pt x="1630950" y="26668"/>
                </a:lnTo>
                <a:lnTo>
                  <a:pt x="1652700" y="12652"/>
                </a:lnTo>
                <a:lnTo>
                  <a:pt x="1674450" y="3288"/>
                </a:lnTo>
                <a:lnTo>
                  <a:pt x="1696200" y="0"/>
                </a:lnTo>
                <a:lnTo>
                  <a:pt x="1717950" y="3288"/>
                </a:lnTo>
                <a:lnTo>
                  <a:pt x="1739700" y="12652"/>
                </a:lnTo>
                <a:lnTo>
                  <a:pt x="1761450" y="26668"/>
                </a:lnTo>
                <a:lnTo>
                  <a:pt x="1783200" y="43200"/>
                </a:lnTo>
                <a:lnTo>
                  <a:pt x="1783200" y="43200"/>
                </a:lnTo>
                <a:lnTo>
                  <a:pt x="1804950" y="26668"/>
                </a:lnTo>
                <a:lnTo>
                  <a:pt x="1826700" y="12652"/>
                </a:lnTo>
                <a:lnTo>
                  <a:pt x="1848450" y="3288"/>
                </a:lnTo>
                <a:lnTo>
                  <a:pt x="1870200" y="0"/>
                </a:lnTo>
                <a:lnTo>
                  <a:pt x="1891950" y="3288"/>
                </a:lnTo>
                <a:lnTo>
                  <a:pt x="1913700" y="12652"/>
                </a:lnTo>
                <a:lnTo>
                  <a:pt x="1935450" y="26668"/>
                </a:lnTo>
                <a:lnTo>
                  <a:pt x="1957200" y="43200"/>
                </a:lnTo>
                <a:lnTo>
                  <a:pt x="1957200" y="43200"/>
                </a:lnTo>
                <a:lnTo>
                  <a:pt x="1978950" y="26668"/>
                </a:lnTo>
                <a:lnTo>
                  <a:pt x="2000700" y="12652"/>
                </a:lnTo>
                <a:lnTo>
                  <a:pt x="2022450" y="3288"/>
                </a:lnTo>
                <a:lnTo>
                  <a:pt x="2044200" y="0"/>
                </a:lnTo>
                <a:lnTo>
                  <a:pt x="2065950" y="3288"/>
                </a:lnTo>
                <a:lnTo>
                  <a:pt x="2087700" y="12652"/>
                </a:lnTo>
                <a:lnTo>
                  <a:pt x="2109450" y="26668"/>
                </a:lnTo>
                <a:lnTo>
                  <a:pt x="2131200" y="43200"/>
                </a:lnTo>
                <a:lnTo>
                  <a:pt x="2131200" y="43200"/>
                </a:lnTo>
                <a:lnTo>
                  <a:pt x="2147731" y="65700"/>
                </a:lnTo>
                <a:lnTo>
                  <a:pt x="2161747" y="88200"/>
                </a:lnTo>
                <a:lnTo>
                  <a:pt x="2171111" y="110700"/>
                </a:lnTo>
                <a:lnTo>
                  <a:pt x="2174400" y="133200"/>
                </a:lnTo>
                <a:lnTo>
                  <a:pt x="2171111" y="155700"/>
                </a:lnTo>
                <a:lnTo>
                  <a:pt x="2161747" y="178200"/>
                </a:lnTo>
                <a:lnTo>
                  <a:pt x="2147731" y="200700"/>
                </a:lnTo>
                <a:lnTo>
                  <a:pt x="2131200" y="223200"/>
                </a:lnTo>
                <a:lnTo>
                  <a:pt x="2131200" y="223200"/>
                </a:lnTo>
                <a:lnTo>
                  <a:pt x="2147731" y="245700"/>
                </a:lnTo>
                <a:lnTo>
                  <a:pt x="2161747" y="268200"/>
                </a:lnTo>
                <a:lnTo>
                  <a:pt x="2171111" y="290700"/>
                </a:lnTo>
                <a:lnTo>
                  <a:pt x="2174400" y="313200"/>
                </a:lnTo>
                <a:lnTo>
                  <a:pt x="2171111" y="335700"/>
                </a:lnTo>
                <a:lnTo>
                  <a:pt x="2161747" y="358200"/>
                </a:lnTo>
                <a:lnTo>
                  <a:pt x="2147731" y="380700"/>
                </a:lnTo>
                <a:lnTo>
                  <a:pt x="2131200" y="403200"/>
                </a:lnTo>
                <a:lnTo>
                  <a:pt x="2131200" y="403200"/>
                </a:lnTo>
                <a:lnTo>
                  <a:pt x="2147731" y="425700"/>
                </a:lnTo>
                <a:lnTo>
                  <a:pt x="2161747" y="448200"/>
                </a:lnTo>
                <a:lnTo>
                  <a:pt x="2171111" y="470700"/>
                </a:lnTo>
                <a:lnTo>
                  <a:pt x="2174400" y="493200"/>
                </a:lnTo>
                <a:lnTo>
                  <a:pt x="2171111" y="515700"/>
                </a:lnTo>
                <a:lnTo>
                  <a:pt x="2161747" y="538200"/>
                </a:lnTo>
                <a:lnTo>
                  <a:pt x="2147731" y="560700"/>
                </a:lnTo>
                <a:lnTo>
                  <a:pt x="2131200" y="583200"/>
                </a:lnTo>
                <a:lnTo>
                  <a:pt x="2131200" y="583200"/>
                </a:lnTo>
                <a:lnTo>
                  <a:pt x="2147731" y="605700"/>
                </a:lnTo>
                <a:lnTo>
                  <a:pt x="2161747" y="628200"/>
                </a:lnTo>
                <a:lnTo>
                  <a:pt x="2171111" y="650700"/>
                </a:lnTo>
                <a:lnTo>
                  <a:pt x="2174400" y="673200"/>
                </a:lnTo>
                <a:lnTo>
                  <a:pt x="2171111" y="695700"/>
                </a:lnTo>
                <a:lnTo>
                  <a:pt x="2161747" y="718200"/>
                </a:lnTo>
                <a:lnTo>
                  <a:pt x="2147731" y="740700"/>
                </a:lnTo>
                <a:lnTo>
                  <a:pt x="2131200" y="763200"/>
                </a:lnTo>
                <a:lnTo>
                  <a:pt x="2131200" y="763200"/>
                </a:lnTo>
                <a:lnTo>
                  <a:pt x="2147731" y="785700"/>
                </a:lnTo>
                <a:lnTo>
                  <a:pt x="2161747" y="808200"/>
                </a:lnTo>
                <a:lnTo>
                  <a:pt x="2171111" y="830700"/>
                </a:lnTo>
                <a:lnTo>
                  <a:pt x="2174400" y="853200"/>
                </a:lnTo>
                <a:lnTo>
                  <a:pt x="2171111" y="875700"/>
                </a:lnTo>
                <a:lnTo>
                  <a:pt x="2161747" y="898200"/>
                </a:lnTo>
                <a:lnTo>
                  <a:pt x="2147731" y="920700"/>
                </a:lnTo>
                <a:lnTo>
                  <a:pt x="2131200" y="943200"/>
                </a:lnTo>
                <a:lnTo>
                  <a:pt x="2131200" y="943200"/>
                </a:lnTo>
                <a:lnTo>
                  <a:pt x="2147731" y="965700"/>
                </a:lnTo>
                <a:lnTo>
                  <a:pt x="2161747" y="988200"/>
                </a:lnTo>
                <a:lnTo>
                  <a:pt x="2171111" y="1010700"/>
                </a:lnTo>
                <a:lnTo>
                  <a:pt x="2174400" y="1033200"/>
                </a:lnTo>
                <a:lnTo>
                  <a:pt x="2171111" y="1055700"/>
                </a:lnTo>
                <a:lnTo>
                  <a:pt x="2161747" y="1078200"/>
                </a:lnTo>
                <a:lnTo>
                  <a:pt x="2147731" y="1100700"/>
                </a:lnTo>
                <a:lnTo>
                  <a:pt x="2131200" y="1123200"/>
                </a:lnTo>
                <a:lnTo>
                  <a:pt x="2131200" y="1123200"/>
                </a:lnTo>
                <a:lnTo>
                  <a:pt x="2147731" y="1145700"/>
                </a:lnTo>
                <a:lnTo>
                  <a:pt x="2161747" y="1168200"/>
                </a:lnTo>
                <a:lnTo>
                  <a:pt x="2171111" y="1190700"/>
                </a:lnTo>
                <a:lnTo>
                  <a:pt x="2174400" y="1213200"/>
                </a:lnTo>
                <a:lnTo>
                  <a:pt x="2171111" y="1235700"/>
                </a:lnTo>
                <a:lnTo>
                  <a:pt x="2161747" y="1258200"/>
                </a:lnTo>
                <a:lnTo>
                  <a:pt x="2147731" y="1280700"/>
                </a:lnTo>
                <a:lnTo>
                  <a:pt x="2131200" y="1303200"/>
                </a:lnTo>
                <a:lnTo>
                  <a:pt x="2131200" y="1303200"/>
                </a:lnTo>
                <a:lnTo>
                  <a:pt x="2109450" y="1319731"/>
                </a:lnTo>
                <a:lnTo>
                  <a:pt x="2087700" y="1333747"/>
                </a:lnTo>
                <a:lnTo>
                  <a:pt x="2065950" y="1343111"/>
                </a:lnTo>
                <a:lnTo>
                  <a:pt x="2044200" y="1346400"/>
                </a:lnTo>
                <a:lnTo>
                  <a:pt x="2022450" y="1343111"/>
                </a:lnTo>
                <a:lnTo>
                  <a:pt x="2000700" y="1333747"/>
                </a:lnTo>
                <a:lnTo>
                  <a:pt x="1978950" y="1319731"/>
                </a:lnTo>
                <a:lnTo>
                  <a:pt x="1957200" y="1303200"/>
                </a:lnTo>
                <a:lnTo>
                  <a:pt x="1957200" y="1303200"/>
                </a:lnTo>
                <a:lnTo>
                  <a:pt x="1935450" y="1319731"/>
                </a:lnTo>
                <a:lnTo>
                  <a:pt x="1913700" y="1333747"/>
                </a:lnTo>
                <a:lnTo>
                  <a:pt x="1891950" y="1343111"/>
                </a:lnTo>
                <a:lnTo>
                  <a:pt x="1870200" y="1346400"/>
                </a:lnTo>
                <a:lnTo>
                  <a:pt x="1848450" y="1343111"/>
                </a:lnTo>
                <a:lnTo>
                  <a:pt x="1826700" y="1333747"/>
                </a:lnTo>
                <a:lnTo>
                  <a:pt x="1804950" y="1319731"/>
                </a:lnTo>
                <a:lnTo>
                  <a:pt x="1783200" y="1303200"/>
                </a:lnTo>
                <a:lnTo>
                  <a:pt x="1783200" y="1303200"/>
                </a:lnTo>
                <a:lnTo>
                  <a:pt x="1761450" y="1319731"/>
                </a:lnTo>
                <a:lnTo>
                  <a:pt x="1739700" y="1333747"/>
                </a:lnTo>
                <a:lnTo>
                  <a:pt x="1717950" y="1343111"/>
                </a:lnTo>
                <a:lnTo>
                  <a:pt x="1696200" y="1346400"/>
                </a:lnTo>
                <a:lnTo>
                  <a:pt x="1674450" y="1343111"/>
                </a:lnTo>
                <a:lnTo>
                  <a:pt x="1652700" y="1333747"/>
                </a:lnTo>
                <a:lnTo>
                  <a:pt x="1630950" y="1319731"/>
                </a:lnTo>
                <a:lnTo>
                  <a:pt x="1609200" y="1303200"/>
                </a:lnTo>
                <a:lnTo>
                  <a:pt x="1609200" y="1303200"/>
                </a:lnTo>
                <a:lnTo>
                  <a:pt x="1587450" y="1319731"/>
                </a:lnTo>
                <a:lnTo>
                  <a:pt x="1565700" y="1333747"/>
                </a:lnTo>
                <a:lnTo>
                  <a:pt x="1543950" y="1343111"/>
                </a:lnTo>
                <a:lnTo>
                  <a:pt x="1522200" y="1346400"/>
                </a:lnTo>
                <a:lnTo>
                  <a:pt x="1500450" y="1343111"/>
                </a:lnTo>
                <a:lnTo>
                  <a:pt x="1478700" y="1333747"/>
                </a:lnTo>
                <a:lnTo>
                  <a:pt x="1456950" y="1319731"/>
                </a:lnTo>
                <a:lnTo>
                  <a:pt x="1435200" y="1303200"/>
                </a:lnTo>
                <a:lnTo>
                  <a:pt x="1435200" y="1303200"/>
                </a:lnTo>
                <a:lnTo>
                  <a:pt x="1413450" y="1319731"/>
                </a:lnTo>
                <a:lnTo>
                  <a:pt x="1391700" y="1333747"/>
                </a:lnTo>
                <a:lnTo>
                  <a:pt x="1369950" y="1343111"/>
                </a:lnTo>
                <a:lnTo>
                  <a:pt x="1348200" y="1346400"/>
                </a:lnTo>
                <a:lnTo>
                  <a:pt x="1326450" y="1343111"/>
                </a:lnTo>
                <a:lnTo>
                  <a:pt x="1304700" y="1333747"/>
                </a:lnTo>
                <a:lnTo>
                  <a:pt x="1282950" y="1319731"/>
                </a:lnTo>
                <a:lnTo>
                  <a:pt x="1261200" y="1303200"/>
                </a:lnTo>
                <a:lnTo>
                  <a:pt x="1261200" y="1303200"/>
                </a:lnTo>
                <a:lnTo>
                  <a:pt x="1239450" y="1319731"/>
                </a:lnTo>
                <a:lnTo>
                  <a:pt x="1217700" y="1333747"/>
                </a:lnTo>
                <a:lnTo>
                  <a:pt x="1195950" y="1343111"/>
                </a:lnTo>
                <a:lnTo>
                  <a:pt x="1174200" y="1346400"/>
                </a:lnTo>
                <a:lnTo>
                  <a:pt x="1152450" y="1343111"/>
                </a:lnTo>
                <a:lnTo>
                  <a:pt x="1130700" y="1333747"/>
                </a:lnTo>
                <a:lnTo>
                  <a:pt x="1108950" y="1319731"/>
                </a:lnTo>
                <a:lnTo>
                  <a:pt x="1087200" y="1303200"/>
                </a:lnTo>
                <a:lnTo>
                  <a:pt x="1087200" y="1303200"/>
                </a:lnTo>
                <a:lnTo>
                  <a:pt x="1065450" y="1319731"/>
                </a:lnTo>
                <a:lnTo>
                  <a:pt x="1043700" y="1333747"/>
                </a:lnTo>
                <a:lnTo>
                  <a:pt x="1021950" y="1343111"/>
                </a:lnTo>
                <a:lnTo>
                  <a:pt x="1000200" y="1346400"/>
                </a:lnTo>
                <a:lnTo>
                  <a:pt x="978450" y="1343111"/>
                </a:lnTo>
                <a:lnTo>
                  <a:pt x="956700" y="1333747"/>
                </a:lnTo>
                <a:lnTo>
                  <a:pt x="934950" y="1319731"/>
                </a:lnTo>
                <a:lnTo>
                  <a:pt x="913200" y="1303200"/>
                </a:lnTo>
                <a:lnTo>
                  <a:pt x="913200" y="1303200"/>
                </a:lnTo>
                <a:lnTo>
                  <a:pt x="891450" y="1319731"/>
                </a:lnTo>
                <a:lnTo>
                  <a:pt x="869700" y="1333747"/>
                </a:lnTo>
                <a:lnTo>
                  <a:pt x="847950" y="1343111"/>
                </a:lnTo>
                <a:lnTo>
                  <a:pt x="826200" y="1346400"/>
                </a:lnTo>
                <a:lnTo>
                  <a:pt x="804450" y="1343111"/>
                </a:lnTo>
                <a:lnTo>
                  <a:pt x="782700" y="1333747"/>
                </a:lnTo>
                <a:lnTo>
                  <a:pt x="760950" y="1319731"/>
                </a:lnTo>
                <a:lnTo>
                  <a:pt x="739200" y="1303200"/>
                </a:lnTo>
                <a:lnTo>
                  <a:pt x="739200" y="1303200"/>
                </a:lnTo>
                <a:lnTo>
                  <a:pt x="717450" y="1319731"/>
                </a:lnTo>
                <a:lnTo>
                  <a:pt x="695700" y="1333747"/>
                </a:lnTo>
                <a:lnTo>
                  <a:pt x="673950" y="1343111"/>
                </a:lnTo>
                <a:lnTo>
                  <a:pt x="652200" y="1346400"/>
                </a:lnTo>
                <a:lnTo>
                  <a:pt x="630450" y="1343111"/>
                </a:lnTo>
                <a:lnTo>
                  <a:pt x="608700" y="1333747"/>
                </a:lnTo>
                <a:lnTo>
                  <a:pt x="586950" y="1319731"/>
                </a:lnTo>
                <a:lnTo>
                  <a:pt x="565200" y="1303200"/>
                </a:lnTo>
                <a:lnTo>
                  <a:pt x="565200" y="1303200"/>
                </a:lnTo>
                <a:lnTo>
                  <a:pt x="543450" y="1319731"/>
                </a:lnTo>
                <a:lnTo>
                  <a:pt x="521700" y="1333747"/>
                </a:lnTo>
                <a:lnTo>
                  <a:pt x="499950" y="1343111"/>
                </a:lnTo>
                <a:lnTo>
                  <a:pt x="478200" y="1346400"/>
                </a:lnTo>
                <a:lnTo>
                  <a:pt x="456450" y="1343111"/>
                </a:lnTo>
                <a:lnTo>
                  <a:pt x="434700" y="1333747"/>
                </a:lnTo>
                <a:lnTo>
                  <a:pt x="412950" y="1319731"/>
                </a:lnTo>
                <a:lnTo>
                  <a:pt x="391200" y="1303200"/>
                </a:lnTo>
                <a:lnTo>
                  <a:pt x="391200" y="1303200"/>
                </a:lnTo>
                <a:lnTo>
                  <a:pt x="369450" y="1319731"/>
                </a:lnTo>
                <a:lnTo>
                  <a:pt x="347700" y="1333747"/>
                </a:lnTo>
                <a:lnTo>
                  <a:pt x="325950" y="1343111"/>
                </a:lnTo>
                <a:lnTo>
                  <a:pt x="304200" y="1346400"/>
                </a:lnTo>
                <a:lnTo>
                  <a:pt x="282450" y="1343111"/>
                </a:lnTo>
                <a:lnTo>
                  <a:pt x="260700" y="1333747"/>
                </a:lnTo>
                <a:lnTo>
                  <a:pt x="238950" y="1319731"/>
                </a:lnTo>
                <a:lnTo>
                  <a:pt x="217200" y="1303200"/>
                </a:lnTo>
                <a:lnTo>
                  <a:pt x="217200" y="1303200"/>
                </a:lnTo>
                <a:lnTo>
                  <a:pt x="195450" y="1319731"/>
                </a:lnTo>
                <a:lnTo>
                  <a:pt x="173700" y="1333747"/>
                </a:lnTo>
                <a:lnTo>
                  <a:pt x="151950" y="1343111"/>
                </a:lnTo>
                <a:lnTo>
                  <a:pt x="130200" y="1346400"/>
                </a:lnTo>
                <a:lnTo>
                  <a:pt x="108450" y="1343111"/>
                </a:lnTo>
                <a:lnTo>
                  <a:pt x="86700" y="1333747"/>
                </a:lnTo>
                <a:lnTo>
                  <a:pt x="64950" y="1319731"/>
                </a:lnTo>
                <a:lnTo>
                  <a:pt x="43200" y="1303200"/>
                </a:lnTo>
                <a:lnTo>
                  <a:pt x="43200" y="1303200"/>
                </a:lnTo>
                <a:lnTo>
                  <a:pt x="26668" y="1280700"/>
                </a:lnTo>
                <a:lnTo>
                  <a:pt x="12652" y="1258200"/>
                </a:lnTo>
                <a:lnTo>
                  <a:pt x="3288" y="1235700"/>
                </a:lnTo>
                <a:lnTo>
                  <a:pt x="0" y="1213200"/>
                </a:lnTo>
                <a:lnTo>
                  <a:pt x="3288" y="1190700"/>
                </a:lnTo>
                <a:lnTo>
                  <a:pt x="12652" y="1168200"/>
                </a:lnTo>
                <a:lnTo>
                  <a:pt x="26668" y="1145700"/>
                </a:lnTo>
                <a:lnTo>
                  <a:pt x="43200" y="1123200"/>
                </a:lnTo>
                <a:lnTo>
                  <a:pt x="43200" y="1123200"/>
                </a:lnTo>
                <a:lnTo>
                  <a:pt x="26668" y="1100700"/>
                </a:lnTo>
                <a:lnTo>
                  <a:pt x="12652" y="1078200"/>
                </a:lnTo>
                <a:lnTo>
                  <a:pt x="3288" y="1055700"/>
                </a:lnTo>
                <a:lnTo>
                  <a:pt x="0" y="1033200"/>
                </a:lnTo>
                <a:lnTo>
                  <a:pt x="3288" y="1010700"/>
                </a:lnTo>
                <a:lnTo>
                  <a:pt x="12652" y="988200"/>
                </a:lnTo>
                <a:lnTo>
                  <a:pt x="26668" y="965700"/>
                </a:lnTo>
                <a:lnTo>
                  <a:pt x="43200" y="943200"/>
                </a:lnTo>
                <a:lnTo>
                  <a:pt x="43200" y="943200"/>
                </a:lnTo>
                <a:lnTo>
                  <a:pt x="26668" y="920700"/>
                </a:lnTo>
                <a:lnTo>
                  <a:pt x="12652" y="898200"/>
                </a:lnTo>
                <a:lnTo>
                  <a:pt x="3288" y="875700"/>
                </a:lnTo>
                <a:lnTo>
                  <a:pt x="0" y="853200"/>
                </a:lnTo>
                <a:lnTo>
                  <a:pt x="3288" y="830700"/>
                </a:lnTo>
                <a:lnTo>
                  <a:pt x="12652" y="808200"/>
                </a:lnTo>
                <a:lnTo>
                  <a:pt x="26668" y="785700"/>
                </a:lnTo>
                <a:lnTo>
                  <a:pt x="43200" y="763200"/>
                </a:lnTo>
                <a:lnTo>
                  <a:pt x="43200" y="763200"/>
                </a:lnTo>
                <a:lnTo>
                  <a:pt x="26668" y="740700"/>
                </a:lnTo>
                <a:lnTo>
                  <a:pt x="12652" y="718200"/>
                </a:lnTo>
                <a:lnTo>
                  <a:pt x="3288" y="695700"/>
                </a:lnTo>
                <a:lnTo>
                  <a:pt x="0" y="673200"/>
                </a:lnTo>
                <a:lnTo>
                  <a:pt x="3288" y="650700"/>
                </a:lnTo>
                <a:lnTo>
                  <a:pt x="12652" y="628200"/>
                </a:lnTo>
                <a:lnTo>
                  <a:pt x="26668" y="605700"/>
                </a:lnTo>
                <a:lnTo>
                  <a:pt x="43200" y="583200"/>
                </a:lnTo>
                <a:lnTo>
                  <a:pt x="43200" y="583200"/>
                </a:lnTo>
                <a:lnTo>
                  <a:pt x="26668" y="560700"/>
                </a:lnTo>
                <a:lnTo>
                  <a:pt x="12652" y="538200"/>
                </a:lnTo>
                <a:lnTo>
                  <a:pt x="3288" y="515700"/>
                </a:lnTo>
                <a:lnTo>
                  <a:pt x="0" y="493200"/>
                </a:lnTo>
                <a:lnTo>
                  <a:pt x="3288" y="470700"/>
                </a:lnTo>
                <a:lnTo>
                  <a:pt x="12652" y="448200"/>
                </a:lnTo>
                <a:lnTo>
                  <a:pt x="26668" y="425700"/>
                </a:lnTo>
                <a:lnTo>
                  <a:pt x="43200" y="403200"/>
                </a:lnTo>
                <a:lnTo>
                  <a:pt x="43200" y="403200"/>
                </a:lnTo>
                <a:lnTo>
                  <a:pt x="26668" y="380700"/>
                </a:lnTo>
                <a:lnTo>
                  <a:pt x="12652" y="358200"/>
                </a:lnTo>
                <a:lnTo>
                  <a:pt x="3288" y="335700"/>
                </a:lnTo>
                <a:lnTo>
                  <a:pt x="0" y="313200"/>
                </a:lnTo>
                <a:lnTo>
                  <a:pt x="3288" y="290700"/>
                </a:lnTo>
                <a:lnTo>
                  <a:pt x="12652" y="268200"/>
                </a:lnTo>
                <a:lnTo>
                  <a:pt x="26668" y="245700"/>
                </a:lnTo>
                <a:lnTo>
                  <a:pt x="43200" y="223200"/>
                </a:lnTo>
                <a:lnTo>
                  <a:pt x="43200" y="223200"/>
                </a:lnTo>
                <a:lnTo>
                  <a:pt x="26668" y="200700"/>
                </a:lnTo>
                <a:lnTo>
                  <a:pt x="12652" y="178200"/>
                </a:lnTo>
                <a:lnTo>
                  <a:pt x="3288" y="155700"/>
                </a:lnTo>
                <a:lnTo>
                  <a:pt x="0" y="133200"/>
                </a:lnTo>
                <a:lnTo>
                  <a:pt x="3288" y="110700"/>
                </a:lnTo>
                <a:lnTo>
                  <a:pt x="12652" y="88200"/>
                </a:lnTo>
                <a:lnTo>
                  <a:pt x="26668" y="65700"/>
                </a:lnTo>
                <a:lnTo>
                  <a:pt x="43200" y="43200"/>
                </a:lnTo>
                <a:close/>
              </a:path>
            </a:pathLst>
          </a:custGeom>
          <a:noFill/>
          <a:ln w="7620">
            <a:solidFill>
              <a:srgbClr val="A4433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4" name="TextBox 253"/>
          <p:cNvSpPr txBox="1"/>
          <p:nvPr/>
        </p:nvSpPr>
        <p:spPr>
          <a:xfrm>
            <a:off x="8244000" y="6084000"/>
            <a:ext cx="1872000" cy="10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50" b="0">
                <a:solidFill>
                  <a:srgbClr val="A44338"/>
                </a:solidFill>
                <a:latin typeface="Liberation Sans"/>
              </a:defRPr>
            </a:pPr>
            <a:r>
              <a:t>#16</a:t>
            </a:r>
          </a:p>
          <a:p>
            <a:pPr>
              <a:spcAft>
                <a:spcPts val="400"/>
              </a:spcAft>
              <a:defRPr sz="850" b="0">
                <a:solidFill>
                  <a:srgbClr val="A44338"/>
                </a:solidFill>
                <a:latin typeface="Liberation Sans"/>
              </a:defRPr>
            </a:pPr>
            <a:r>
              <a:t>450 side routes</a:t>
            </a:r>
          </a:p>
          <a:p>
            <a:pPr>
              <a:spcAft>
                <a:spcPts val="400"/>
              </a:spcAft>
              <a:defRPr sz="850" b="0">
                <a:solidFill>
                  <a:srgbClr val="A44338"/>
                </a:solidFill>
                <a:latin typeface="Liberation Sans"/>
              </a:defRPr>
            </a:pPr>
            <a:r>
              <a:t>Access / escape unresolved</a:t>
            </a:r>
          </a:p>
        </p:txBody>
      </p:sp>
      <p:sp>
        <p:nvSpPr>
          <p:cNvPr id="255" name="TextBox 254"/>
          <p:cNvSpPr txBox="1"/>
          <p:nvPr/>
        </p:nvSpPr>
        <p:spPr>
          <a:xfrm>
            <a:off x="8136000" y="2880000"/>
            <a:ext cx="2088000" cy="86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A44338"/>
                </a:solidFill>
                <a:latin typeface="Liberation Sans"/>
              </a:defRPr>
            </a:pPr>
            <a:r>
              <a:t>N ↓ STOREFRONT</a:t>
            </a:r>
          </a:p>
          <a:p>
            <a:pPr>
              <a:spcAft>
                <a:spcPts val="400"/>
              </a:spcAft>
              <a:defRPr sz="800" b="0">
                <a:solidFill>
                  <a:srgbClr val="A44338"/>
                </a:solidFill>
                <a:latin typeface="Liberation Sans"/>
              </a:defRPr>
            </a:pPr>
            <a:r>
              <a:t>ASSUMED #23</a:t>
            </a:r>
          </a:p>
        </p:txBody>
      </p:sp>
      <p:sp>
        <p:nvSpPr>
          <p:cNvPr id="256" name="TextBox 255"/>
          <p:cNvSpPr txBox="1"/>
          <p:nvPr/>
        </p:nvSpPr>
        <p:spPr>
          <a:xfrm>
            <a:off x="792000" y="7488000"/>
            <a:ext cx="2232000" cy="90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A44338"/>
                </a:solidFill>
                <a:latin typeface="Liberation Sans"/>
              </a:defRPr>
            </a:pPr>
            <a:r>
              <a:t>Wall bands graphic only</a:t>
            </a:r>
          </a:p>
          <a:p>
            <a:pPr>
              <a:spcAft>
                <a:spcPts val="400"/>
              </a:spcAft>
              <a:defRPr sz="800" b="0">
                <a:solidFill>
                  <a:srgbClr val="A44338"/>
                </a:solidFill>
                <a:latin typeface="Liberation Sans"/>
              </a:defRPr>
            </a:pPr>
            <a:r>
              <a:t>Thickness TBC #26</a:t>
            </a:r>
          </a:p>
          <a:p>
            <a:pPr>
              <a:spcAft>
                <a:spcPts val="400"/>
              </a:spcAft>
              <a:defRPr sz="800" b="0">
                <a:solidFill>
                  <a:srgbClr val="A44338"/>
                </a:solidFill>
                <a:latin typeface="Liberation Sans"/>
              </a:defRPr>
            </a:pPr>
            <a:r>
              <a:t>Envelope TBC #4</a:t>
            </a:r>
          </a:p>
        </p:txBody>
      </p:sp>
      <p:cxnSp>
        <p:nvCxnSpPr>
          <p:cNvPr id="257" name="Connector 256"/>
          <p:cNvCxnSpPr/>
          <p:nvPr/>
        </p:nvCxnSpPr>
        <p:spPr>
          <a:xfrm>
            <a:off x="3240000" y="9612000"/>
            <a:ext cx="1800000" cy="0"/>
          </a:xfrm>
          <a:prstGeom prst="line">
            <a:avLst/>
          </a:prstGeom>
          <a:ln w="19050">
            <a:solidFill>
              <a:srgbClr val="252725"/>
            </a:solidFill>
          </a:ln>
          <a:effectLst/>
        </p:spPr>
      </p:cxnSp>
      <p:cxnSp>
        <p:nvCxnSpPr>
          <p:cNvPr id="258" name="Connector 257"/>
          <p:cNvCxnSpPr/>
          <p:nvPr/>
        </p:nvCxnSpPr>
        <p:spPr>
          <a:xfrm>
            <a:off x="3240000" y="9576000"/>
            <a:ext cx="0" cy="7200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cxnSp>
        <p:nvCxnSpPr>
          <p:cNvPr id="259" name="Connector 258"/>
          <p:cNvCxnSpPr/>
          <p:nvPr/>
        </p:nvCxnSpPr>
        <p:spPr>
          <a:xfrm>
            <a:off x="4140000" y="9576000"/>
            <a:ext cx="0" cy="7200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cxnSp>
        <p:nvCxnSpPr>
          <p:cNvPr id="260" name="Connector 259"/>
          <p:cNvCxnSpPr/>
          <p:nvPr/>
        </p:nvCxnSpPr>
        <p:spPr>
          <a:xfrm>
            <a:off x="5040000" y="9576000"/>
            <a:ext cx="0" cy="7200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sp>
        <p:nvSpPr>
          <p:cNvPr id="261" name="TextBox 260"/>
          <p:cNvSpPr txBox="1"/>
          <p:nvPr/>
        </p:nvSpPr>
        <p:spPr>
          <a:xfrm>
            <a:off x="3240000" y="9684000"/>
            <a:ext cx="2340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700" b="0">
                <a:solidFill>
                  <a:srgbClr val="737871"/>
                </a:solidFill>
                <a:latin typeface="Liberation Sans"/>
              </a:defRPr>
            </a:pPr>
            <a:r>
              <a:t>0                         1000 mm   |   1:20</a:t>
            </a:r>
          </a:p>
        </p:txBody>
      </p:sp>
      <p:sp>
        <p:nvSpPr>
          <p:cNvPr id="262" name="Rectangle 261"/>
          <p:cNvSpPr/>
          <p:nvPr/>
        </p:nvSpPr>
        <p:spPr>
          <a:xfrm>
            <a:off x="3240000" y="7758000"/>
            <a:ext cx="45000" cy="81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3" name="Rectangle 262"/>
          <p:cNvSpPr/>
          <p:nvPr/>
        </p:nvSpPr>
        <p:spPr>
          <a:xfrm>
            <a:off x="4005000" y="7758000"/>
            <a:ext cx="45000" cy="81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64" name="Connector 263"/>
          <p:cNvCxnSpPr/>
          <p:nvPr/>
        </p:nvCxnSpPr>
        <p:spPr>
          <a:xfrm>
            <a:off x="3285000" y="8118000"/>
            <a:ext cx="720000" cy="0"/>
          </a:xfrm>
          <a:prstGeom prst="line">
            <a:avLst/>
          </a:prstGeom>
          <a:ln w="6350">
            <a:solidFill>
              <a:srgbClr val="737871"/>
            </a:solidFill>
            <a:prstDash val="dash"/>
          </a:ln>
          <a:effectLst/>
        </p:spPr>
      </p:cxnSp>
      <p:sp>
        <p:nvSpPr>
          <p:cNvPr id="265" name="Rectangle 264"/>
          <p:cNvSpPr/>
          <p:nvPr/>
        </p:nvSpPr>
        <p:spPr>
          <a:xfrm>
            <a:off x="6750000" y="7758000"/>
            <a:ext cx="45000" cy="81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6" name="Rectangle 265"/>
          <p:cNvSpPr/>
          <p:nvPr/>
        </p:nvSpPr>
        <p:spPr>
          <a:xfrm>
            <a:off x="7515000" y="7758000"/>
            <a:ext cx="45000" cy="81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67" name="Connector 266"/>
          <p:cNvCxnSpPr/>
          <p:nvPr/>
        </p:nvCxnSpPr>
        <p:spPr>
          <a:xfrm>
            <a:off x="6795000" y="8118000"/>
            <a:ext cx="720000" cy="0"/>
          </a:xfrm>
          <a:prstGeom prst="line">
            <a:avLst/>
          </a:prstGeom>
          <a:ln w="6350">
            <a:solidFill>
              <a:srgbClr val="737871"/>
            </a:solidFill>
            <a:prstDash val="dash"/>
          </a:ln>
          <a:effectLst/>
        </p:spPr>
      </p:cxnSp>
      <p:sp>
        <p:nvSpPr>
          <p:cNvPr id="268" name="Rectangle 267"/>
          <p:cNvSpPr/>
          <p:nvPr/>
        </p:nvSpPr>
        <p:spPr>
          <a:xfrm>
            <a:off x="3690000" y="3382199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9" name="Rectangle 268"/>
          <p:cNvSpPr/>
          <p:nvPr/>
        </p:nvSpPr>
        <p:spPr>
          <a:xfrm>
            <a:off x="4545000" y="3382199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0" name="Rectangle 269"/>
          <p:cNvSpPr/>
          <p:nvPr/>
        </p:nvSpPr>
        <p:spPr>
          <a:xfrm>
            <a:off x="6210000" y="3382199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1" name="Rectangle 270"/>
          <p:cNvSpPr/>
          <p:nvPr/>
        </p:nvSpPr>
        <p:spPr>
          <a:xfrm>
            <a:off x="7065000" y="3382199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2" name="Rectangle 271"/>
          <p:cNvSpPr/>
          <p:nvPr/>
        </p:nvSpPr>
        <p:spPr>
          <a:xfrm>
            <a:off x="4500000" y="5461200"/>
            <a:ext cx="36000" cy="36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3" name="Rectangle 272"/>
          <p:cNvSpPr/>
          <p:nvPr/>
        </p:nvSpPr>
        <p:spPr>
          <a:xfrm>
            <a:off x="4500000" y="4687200"/>
            <a:ext cx="36000" cy="36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4" name="Rectangle 273"/>
          <p:cNvSpPr/>
          <p:nvPr/>
        </p:nvSpPr>
        <p:spPr>
          <a:xfrm>
            <a:off x="6264000" y="5461200"/>
            <a:ext cx="36000" cy="36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5" name="Rectangle 274"/>
          <p:cNvSpPr/>
          <p:nvPr/>
        </p:nvSpPr>
        <p:spPr>
          <a:xfrm>
            <a:off x="6264000" y="4687200"/>
            <a:ext cx="36000" cy="36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76" name="Connector 275"/>
          <p:cNvCxnSpPr/>
          <p:nvPr/>
        </p:nvCxnSpPr>
        <p:spPr>
          <a:xfrm flipV="1">
            <a:off x="4500000" y="4363200"/>
            <a:ext cx="0" cy="324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77" name="Connector 276"/>
          <p:cNvCxnSpPr/>
          <p:nvPr/>
        </p:nvCxnSpPr>
        <p:spPr>
          <a:xfrm flipV="1">
            <a:off x="6300000" y="4363200"/>
            <a:ext cx="0" cy="324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78" name="Connector 277"/>
          <p:cNvCxnSpPr/>
          <p:nvPr/>
        </p:nvCxnSpPr>
        <p:spPr>
          <a:xfrm>
            <a:off x="4500000" y="4363200"/>
            <a:ext cx="180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79" name="Connector 278"/>
          <p:cNvCxnSpPr/>
          <p:nvPr/>
        </p:nvCxnSpPr>
        <p:spPr>
          <a:xfrm flipV="1">
            <a:off x="4464000" y="43272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80" name="Connector 279"/>
          <p:cNvCxnSpPr/>
          <p:nvPr/>
        </p:nvCxnSpPr>
        <p:spPr>
          <a:xfrm flipV="1">
            <a:off x="6264000" y="43272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281" name="TextBox 280"/>
          <p:cNvSpPr txBox="1"/>
          <p:nvPr/>
        </p:nvSpPr>
        <p:spPr>
          <a:xfrm>
            <a:off x="4860000" y="4183199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1000</a:t>
            </a:r>
          </a:p>
        </p:txBody>
      </p:sp>
      <p:cxnSp>
        <p:nvCxnSpPr>
          <p:cNvPr id="282" name="Connector 281"/>
          <p:cNvCxnSpPr/>
          <p:nvPr/>
        </p:nvCxnSpPr>
        <p:spPr>
          <a:xfrm>
            <a:off x="6300000" y="5497200"/>
            <a:ext cx="612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83" name="Connector 282"/>
          <p:cNvCxnSpPr/>
          <p:nvPr/>
        </p:nvCxnSpPr>
        <p:spPr>
          <a:xfrm>
            <a:off x="6300000" y="4687200"/>
            <a:ext cx="612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84" name="Connector 283"/>
          <p:cNvCxnSpPr/>
          <p:nvPr/>
        </p:nvCxnSpPr>
        <p:spPr>
          <a:xfrm flipV="1">
            <a:off x="6912000" y="4687200"/>
            <a:ext cx="0" cy="810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85" name="Connector 284"/>
          <p:cNvCxnSpPr/>
          <p:nvPr/>
        </p:nvCxnSpPr>
        <p:spPr>
          <a:xfrm flipV="1">
            <a:off x="6876000" y="54612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86" name="Connector 285"/>
          <p:cNvCxnSpPr/>
          <p:nvPr/>
        </p:nvCxnSpPr>
        <p:spPr>
          <a:xfrm flipV="1">
            <a:off x="6876000" y="46512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287" name="TextBox 286"/>
          <p:cNvSpPr txBox="1"/>
          <p:nvPr/>
        </p:nvSpPr>
        <p:spPr>
          <a:xfrm>
            <a:off x="6480000" y="5092200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450</a:t>
            </a:r>
          </a:p>
        </p:txBody>
      </p:sp>
      <p:sp>
        <p:nvSpPr>
          <p:cNvPr id="288" name="TextBox 287"/>
          <p:cNvSpPr txBox="1"/>
          <p:nvPr/>
        </p:nvSpPr>
        <p:spPr>
          <a:xfrm>
            <a:off x="8136000" y="4248000"/>
            <a:ext cx="2232000" cy="432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252725"/>
                </a:solidFill>
                <a:latin typeface="Liberation Sans"/>
              </a:defRPr>
            </a:pPr>
            <a:r>
              <a:t>COUNTER FRAME</a:t>
            </a:r>
          </a:p>
          <a:p>
            <a:pPr>
              <a:spcAft>
                <a:spcPts val="400"/>
              </a:spcAft>
              <a:defRPr sz="800" b="0">
                <a:solidFill>
                  <a:srgbClr val="252725"/>
                </a:solidFill>
                <a:latin typeface="Liberation Sans"/>
              </a:defRPr>
            </a:pPr>
            <a:r>
              <a:t>20 × 20 black steel</a:t>
            </a:r>
          </a:p>
        </p:txBody>
      </p:sp>
      <p:sp>
        <p:nvSpPr>
          <p:cNvPr id="289" name="TextBox 288"/>
          <p:cNvSpPr txBox="1"/>
          <p:nvPr/>
        </p:nvSpPr>
        <p:spPr>
          <a:xfrm>
            <a:off x="792000" y="6444000"/>
            <a:ext cx="2088000" cy="64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STREET-FACING DISPLAY</a:t>
            </a:r>
          </a:p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Dashed line: shelf above</a:t>
            </a:r>
          </a:p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Solid return toward interior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360000"/>
            <a:ext cx="10620000" cy="216000"/>
          </a:xfrm>
          <a:prstGeom prst="rect">
            <a:avLst/>
          </a:prstGeom>
          <a:noFill/>
          <a:effectLst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9A825A"/>
                </a:solidFill>
                <a:latin typeface="Liberation Sans"/>
              </a:defRPr>
            </a:pPr>
            <a:r>
              <a:t>BORN FRAGRANCE  /  ARCHITECTURE + INTERIOR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720000"/>
            <a:ext cx="11880000" cy="504000"/>
          </a:xfrm>
          <a:prstGeom prst="rect">
            <a:avLst/>
          </a:prstGeom>
          <a:noFill/>
          <a:effectLst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300" b="0">
                <a:solidFill>
                  <a:srgbClr val="252725"/>
                </a:solidFill>
                <a:latin typeface="Liberation Serif"/>
              </a:defRPr>
            </a:pPr>
            <a:r>
              <a:t>Ceiling / lighting coordination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1296000"/>
            <a:ext cx="12420000" cy="288000"/>
          </a:xfrm>
          <a:prstGeom prst="rect">
            <a:avLst/>
          </a:prstGeom>
          <a:noFill/>
          <a:effectLst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737871"/>
                </a:solidFill>
                <a:latin typeface="Liberation Sans"/>
              </a:defRPr>
            </a:pPr>
            <a:r>
              <a:t>Reflected ceiling plan · lighting, display footprints and dimensional coordination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40000" y="468000"/>
            <a:ext cx="1368000" cy="619671"/>
          </a:xfrm>
          <a:prstGeom prst="rect">
            <a:avLst/>
          </a:prstGeom>
          <a:effectLst/>
          <a:effectLst/>
        </p:spPr>
      </p:pic>
      <p:cxnSp>
        <p:nvCxnSpPr>
          <p:cNvPr id="6" name="Connector 5"/>
          <p:cNvCxnSpPr/>
          <p:nvPr/>
        </p:nvCxnSpPr>
        <p:spPr>
          <a:xfrm>
            <a:off x="540000" y="1728000"/>
            <a:ext cx="14040000" cy="0"/>
          </a:xfrm>
          <a:prstGeom prst="line">
            <a:avLst/>
          </a:prstGeom>
          <a:ln w="8890">
            <a:solidFill>
              <a:srgbClr val="9A825A"/>
            </a:solidFill>
          </a:ln>
          <a:effectLst/>
          <a:effectLst/>
        </p:spPr>
      </p:cxnSp>
      <p:cxnSp>
        <p:nvCxnSpPr>
          <p:cNvPr id="7" name="Connector 6"/>
          <p:cNvCxnSpPr/>
          <p:nvPr/>
        </p:nvCxnSpPr>
        <p:spPr>
          <a:xfrm>
            <a:off x="540000" y="9792000"/>
            <a:ext cx="14040000" cy="0"/>
          </a:xfrm>
          <a:prstGeom prst="line">
            <a:avLst/>
          </a:prstGeom>
          <a:ln w="8890">
            <a:solidFill>
              <a:srgbClr val="9A825A"/>
            </a:solidFill>
          </a:ln>
          <a:effectLst/>
          <a:effectLst/>
        </p:spPr>
      </p:cxnSp>
      <p:sp>
        <p:nvSpPr>
          <p:cNvPr id="8" name="TextBox 7"/>
          <p:cNvSpPr txBox="1"/>
          <p:nvPr/>
        </p:nvSpPr>
        <p:spPr>
          <a:xfrm>
            <a:off x="540000" y="10008000"/>
            <a:ext cx="7128000" cy="360000"/>
          </a:xfrm>
          <a:prstGeom prst="rect">
            <a:avLst/>
          </a:prstGeom>
          <a:noFill/>
          <a:effectLst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750" b="0">
                <a:solidFill>
                  <a:srgbClr val="737871"/>
                </a:solidFill>
                <a:latin typeface="Liberation Sans"/>
              </a:defRPr>
            </a:pPr>
            <a:r>
              <a:t>FOR COORDINATION  ·  SITE ITEMS OPEN  ·  REV D
06 OCT 2026  /  SOURCE REV A</a:t>
            </a:r>
          </a:p>
          <a:p>
            <a:pPr>
              <a:spcAft>
                <a:spcPts val="400"/>
              </a:spcAft>
              <a:defRPr sz="750" b="0">
                <a:solidFill>
                  <a:srgbClr val="737871"/>
                </a:solidFill>
                <a:latin typeface="Liberation Sans"/>
              </a:defRPr>
            </a:pPr>
            <a:r>
              <a:t>06 OCT 2026  /  SOURCE REV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04000" y="10008000"/>
            <a:ext cx="5220000" cy="360000"/>
          </a:xfrm>
          <a:prstGeom prst="rect">
            <a:avLst/>
          </a:prstGeom>
          <a:noFill/>
          <a:effectLst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750" b="0">
                <a:solidFill>
                  <a:srgbClr val="737871"/>
                </a:solidFill>
                <a:latin typeface="Liberation Sans"/>
              </a:defRPr>
            </a:pPr>
            <a:r>
              <a:t>1:20 @ A3  ·  DIMENSIONS mm</a:t>
            </a:r>
          </a:p>
          <a:p>
            <a:pPr>
              <a:spcAft>
                <a:spcPts val="400"/>
              </a:spcAft>
              <a:defRPr sz="750" b="0">
                <a:solidFill>
                  <a:srgbClr val="737871"/>
                </a:solidFill>
                <a:latin typeface="Liberation Sans"/>
              </a:defRPr>
            </a:pPr>
            <a:r>
              <a:t>SPEC SNAPSHOT eeccbde1cd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392000" y="10008000"/>
            <a:ext cx="1152000" cy="288000"/>
          </a:xfrm>
          <a:prstGeom prst="rect">
            <a:avLst/>
          </a:prstGeom>
          <a:noFill/>
          <a:effectLst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252725"/>
                </a:solidFill>
                <a:latin typeface="Liberation Sans"/>
              </a:defRPr>
            </a:pPr>
            <a:r>
              <a:t>AP-05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08000" y="2088000"/>
            <a:ext cx="3564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9A825A"/>
                </a:solidFill>
                <a:latin typeface="Liberation Sans"/>
              </a:defRPr>
            </a:pPr>
            <a:r>
              <a:t>TRACK LIGHTING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08000" y="2448000"/>
            <a:ext cx="3528000" cy="122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Two matte-black tracks, four cylindrical adjustable heads each. 3000 K. Track coordinates dimensioned directly.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08000" y="3852000"/>
            <a:ext cx="3564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9A825A"/>
                </a:solidFill>
                <a:latin typeface="Liberation Sans"/>
              </a:defRPr>
            </a:pPr>
            <a:r>
              <a:t>ENTRANCE DOWNLIGHTS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08000" y="4212000"/>
            <a:ext cx="3528000" cy="122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Three downlights at x=700 / 1200 / 1700; y=225. Symbol sizes indicative, not cut-out sizes.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08000" y="5616000"/>
            <a:ext cx="3564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9A825A"/>
                </a:solidFill>
                <a:latin typeface="Liberation Sans"/>
              </a:defRPr>
            </a:pPr>
            <a:r>
              <a:t>DISPLAY LIGHTING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08000" y="5976000"/>
            <a:ext cx="3528000" cy="122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Concealed LEDs beneath shelves, and two 2656-long plinth runs. Dashed joinery footprint coordinates the ceiling with displays below.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08000" y="7380000"/>
            <a:ext cx="3564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9A825A"/>
                </a:solidFill>
                <a:latin typeface="Liberation Sans"/>
              </a:defRPr>
            </a:pPr>
            <a:r>
              <a:t>CEILING / SERVICES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08000" y="7740000"/>
            <a:ext cx="3528000" cy="122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Warm off-white gypsum at 2600. No invented fire devices, wiring circuits or access panels. Consultant to coordinate under TBC #16.</a:t>
            </a:r>
          </a:p>
        </p:txBody>
      </p:sp>
      <p:sp>
        <p:nvSpPr>
          <p:cNvPr id="19" name="GEOM:internal-envelope"/>
          <p:cNvSpPr/>
          <p:nvPr/>
        </p:nvSpPr>
        <p:spPr>
          <a:xfrm>
            <a:off x="2700000" y="2977199"/>
            <a:ext cx="4320000" cy="5590800"/>
          </a:xfrm>
          <a:prstGeom prst="rect">
            <a:avLst/>
          </a:prstGeom>
          <a:noFill/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00000" y="2977199"/>
            <a:ext cx="450000" cy="4780800"/>
          </a:xfrm>
          <a:prstGeom prst="rect">
            <a:avLst/>
          </a:prstGeom>
          <a:noFill/>
          <a:ln w="8890">
            <a:solidFill>
              <a:srgbClr val="B8B7AE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70000" y="2977199"/>
            <a:ext cx="450000" cy="4780800"/>
          </a:xfrm>
          <a:prstGeom prst="rect">
            <a:avLst/>
          </a:prstGeom>
          <a:noFill/>
          <a:ln w="8890">
            <a:solidFill>
              <a:srgbClr val="B8B7AE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00000" y="7758000"/>
            <a:ext cx="810000" cy="810000"/>
          </a:xfrm>
          <a:prstGeom prst="rect">
            <a:avLst/>
          </a:prstGeom>
          <a:noFill/>
          <a:ln w="8890">
            <a:solidFill>
              <a:srgbClr val="B8B7AE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0000" y="7758000"/>
            <a:ext cx="810000" cy="810000"/>
          </a:xfrm>
          <a:prstGeom prst="rect">
            <a:avLst/>
          </a:prstGeom>
          <a:noFill/>
          <a:ln w="8890">
            <a:solidFill>
              <a:srgbClr val="B8B7AE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960000" y="4687200"/>
            <a:ext cx="1800000" cy="810000"/>
          </a:xfrm>
          <a:prstGeom prst="rect">
            <a:avLst/>
          </a:prstGeom>
          <a:noFill/>
          <a:ln w="8890">
            <a:solidFill>
              <a:srgbClr val="B8B7AE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 flipV="1">
            <a:off x="3870000" y="3787199"/>
            <a:ext cx="0" cy="3970801"/>
          </a:xfrm>
          <a:prstGeom prst="line">
            <a:avLst/>
          </a:prstGeom>
          <a:ln w="25400">
            <a:solidFill>
              <a:srgbClr val="252725"/>
            </a:solidFill>
          </a:ln>
          <a:effectLst/>
        </p:spPr>
      </p:cxnSp>
      <p:sp>
        <p:nvSpPr>
          <p:cNvPr id="26" name="Rectangle 25"/>
          <p:cNvSpPr/>
          <p:nvPr/>
        </p:nvSpPr>
        <p:spPr>
          <a:xfrm>
            <a:off x="3819600" y="7380000"/>
            <a:ext cx="100800" cy="216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 flipH="1" flipV="1">
            <a:off x="3636000" y="7308000"/>
            <a:ext cx="234000" cy="180000"/>
          </a:xfrm>
          <a:prstGeom prst="line">
            <a:avLst/>
          </a:prstGeom>
          <a:ln w="6350">
            <a:solidFill>
              <a:srgbClr val="9A825A"/>
            </a:solidFill>
          </a:ln>
          <a:effectLst/>
        </p:spPr>
      </p:cxnSp>
      <p:sp>
        <p:nvSpPr>
          <p:cNvPr id="28" name="Rectangle 27"/>
          <p:cNvSpPr/>
          <p:nvPr/>
        </p:nvSpPr>
        <p:spPr>
          <a:xfrm>
            <a:off x="3819600" y="6300000"/>
            <a:ext cx="100800" cy="216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 flipH="1" flipV="1">
            <a:off x="3636000" y="6228000"/>
            <a:ext cx="234000" cy="180000"/>
          </a:xfrm>
          <a:prstGeom prst="line">
            <a:avLst/>
          </a:prstGeom>
          <a:ln w="6350">
            <a:solidFill>
              <a:srgbClr val="9A825A"/>
            </a:solidFill>
          </a:ln>
          <a:effectLst/>
        </p:spPr>
      </p:cxnSp>
      <p:sp>
        <p:nvSpPr>
          <p:cNvPr id="30" name="Rectangle 29"/>
          <p:cNvSpPr/>
          <p:nvPr/>
        </p:nvSpPr>
        <p:spPr>
          <a:xfrm>
            <a:off x="3819600" y="5220000"/>
            <a:ext cx="100800" cy="216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 flipH="1" flipV="1">
            <a:off x="3636000" y="5148000"/>
            <a:ext cx="234000" cy="180000"/>
          </a:xfrm>
          <a:prstGeom prst="line">
            <a:avLst/>
          </a:prstGeom>
          <a:ln w="6350">
            <a:solidFill>
              <a:srgbClr val="9A825A"/>
            </a:solidFill>
          </a:ln>
          <a:effectLst/>
        </p:spPr>
      </p:cxnSp>
      <p:sp>
        <p:nvSpPr>
          <p:cNvPr id="32" name="Rectangle 31"/>
          <p:cNvSpPr/>
          <p:nvPr/>
        </p:nvSpPr>
        <p:spPr>
          <a:xfrm>
            <a:off x="3819600" y="4140000"/>
            <a:ext cx="100800" cy="216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 flipH="1" flipV="1">
            <a:off x="3636000" y="4068000"/>
            <a:ext cx="234000" cy="180000"/>
          </a:xfrm>
          <a:prstGeom prst="line">
            <a:avLst/>
          </a:prstGeom>
          <a:ln w="6350">
            <a:solidFill>
              <a:srgbClr val="9A825A"/>
            </a:solidFill>
          </a:ln>
          <a:effectLst/>
        </p:spPr>
      </p:cxnSp>
      <p:cxnSp>
        <p:nvCxnSpPr>
          <p:cNvPr id="34" name="Connector 33"/>
          <p:cNvCxnSpPr/>
          <p:nvPr/>
        </p:nvCxnSpPr>
        <p:spPr>
          <a:xfrm flipV="1">
            <a:off x="5850000" y="3787199"/>
            <a:ext cx="0" cy="3970801"/>
          </a:xfrm>
          <a:prstGeom prst="line">
            <a:avLst/>
          </a:prstGeom>
          <a:ln w="25400">
            <a:solidFill>
              <a:srgbClr val="252725"/>
            </a:solidFill>
          </a:ln>
          <a:effectLst/>
        </p:spPr>
      </p:cxnSp>
      <p:sp>
        <p:nvSpPr>
          <p:cNvPr id="35" name="Rectangle 34"/>
          <p:cNvSpPr/>
          <p:nvPr/>
        </p:nvSpPr>
        <p:spPr>
          <a:xfrm>
            <a:off x="5799600" y="7380000"/>
            <a:ext cx="100800" cy="216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6" name="Connector 35"/>
          <p:cNvCxnSpPr/>
          <p:nvPr/>
        </p:nvCxnSpPr>
        <p:spPr>
          <a:xfrm flipV="1">
            <a:off x="5850000" y="7308000"/>
            <a:ext cx="234000" cy="180000"/>
          </a:xfrm>
          <a:prstGeom prst="line">
            <a:avLst/>
          </a:prstGeom>
          <a:ln w="6350">
            <a:solidFill>
              <a:srgbClr val="9A825A"/>
            </a:solidFill>
          </a:ln>
          <a:effectLst/>
        </p:spPr>
      </p:cxnSp>
      <p:sp>
        <p:nvSpPr>
          <p:cNvPr id="37" name="Rectangle 36"/>
          <p:cNvSpPr/>
          <p:nvPr/>
        </p:nvSpPr>
        <p:spPr>
          <a:xfrm>
            <a:off x="5799600" y="6300000"/>
            <a:ext cx="100800" cy="216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8" name="Connector 37"/>
          <p:cNvCxnSpPr/>
          <p:nvPr/>
        </p:nvCxnSpPr>
        <p:spPr>
          <a:xfrm flipV="1">
            <a:off x="5850000" y="6228000"/>
            <a:ext cx="234000" cy="180000"/>
          </a:xfrm>
          <a:prstGeom prst="line">
            <a:avLst/>
          </a:prstGeom>
          <a:ln w="6350">
            <a:solidFill>
              <a:srgbClr val="9A825A"/>
            </a:solidFill>
          </a:ln>
          <a:effectLst/>
        </p:spPr>
      </p:cxnSp>
      <p:sp>
        <p:nvSpPr>
          <p:cNvPr id="39" name="Rectangle 38"/>
          <p:cNvSpPr/>
          <p:nvPr/>
        </p:nvSpPr>
        <p:spPr>
          <a:xfrm>
            <a:off x="5799600" y="5220000"/>
            <a:ext cx="100800" cy="216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0" name="Connector 39"/>
          <p:cNvCxnSpPr/>
          <p:nvPr/>
        </p:nvCxnSpPr>
        <p:spPr>
          <a:xfrm flipV="1">
            <a:off x="5850000" y="5148000"/>
            <a:ext cx="234000" cy="180000"/>
          </a:xfrm>
          <a:prstGeom prst="line">
            <a:avLst/>
          </a:prstGeom>
          <a:ln w="6350">
            <a:solidFill>
              <a:srgbClr val="9A825A"/>
            </a:solidFill>
          </a:ln>
          <a:effectLst/>
        </p:spPr>
      </p:cxnSp>
      <p:sp>
        <p:nvSpPr>
          <p:cNvPr id="41" name="Rectangle 40"/>
          <p:cNvSpPr/>
          <p:nvPr/>
        </p:nvSpPr>
        <p:spPr>
          <a:xfrm>
            <a:off x="5799600" y="4140000"/>
            <a:ext cx="100800" cy="216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2" name="Connector 41"/>
          <p:cNvCxnSpPr/>
          <p:nvPr/>
        </p:nvCxnSpPr>
        <p:spPr>
          <a:xfrm flipV="1">
            <a:off x="5850000" y="4068000"/>
            <a:ext cx="234000" cy="180000"/>
          </a:xfrm>
          <a:prstGeom prst="line">
            <a:avLst/>
          </a:prstGeom>
          <a:ln w="6350">
            <a:solidFill>
              <a:srgbClr val="9A825A"/>
            </a:solidFill>
          </a:ln>
          <a:effectLst/>
        </p:spPr>
      </p:cxnSp>
      <p:sp>
        <p:nvSpPr>
          <p:cNvPr id="43" name="Oval 42"/>
          <p:cNvSpPr/>
          <p:nvPr/>
        </p:nvSpPr>
        <p:spPr>
          <a:xfrm>
            <a:off x="3898800" y="8101800"/>
            <a:ext cx="122400" cy="122400"/>
          </a:xfrm>
          <a:prstGeom prst="ellipse">
            <a:avLst/>
          </a:prstGeom>
          <a:noFill/>
          <a:ln w="8890">
            <a:solidFill>
              <a:srgbClr val="9A825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4" name="Connector 43"/>
          <p:cNvCxnSpPr/>
          <p:nvPr/>
        </p:nvCxnSpPr>
        <p:spPr>
          <a:xfrm>
            <a:off x="3870000" y="8163000"/>
            <a:ext cx="180000" cy="0"/>
          </a:xfrm>
          <a:prstGeom prst="line">
            <a:avLst/>
          </a:prstGeom>
          <a:ln w="4445">
            <a:solidFill>
              <a:srgbClr val="737871"/>
            </a:solidFill>
          </a:ln>
          <a:effectLst/>
        </p:spPr>
      </p:cxnSp>
      <p:sp>
        <p:nvSpPr>
          <p:cNvPr id="45" name="Oval 44"/>
          <p:cNvSpPr/>
          <p:nvPr/>
        </p:nvSpPr>
        <p:spPr>
          <a:xfrm>
            <a:off x="4798800" y="8101800"/>
            <a:ext cx="122400" cy="122400"/>
          </a:xfrm>
          <a:prstGeom prst="ellipse">
            <a:avLst/>
          </a:prstGeom>
          <a:noFill/>
          <a:ln w="8890">
            <a:solidFill>
              <a:srgbClr val="9A825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6" name="Connector 45"/>
          <p:cNvCxnSpPr/>
          <p:nvPr/>
        </p:nvCxnSpPr>
        <p:spPr>
          <a:xfrm>
            <a:off x="4770000" y="8163000"/>
            <a:ext cx="180000" cy="0"/>
          </a:xfrm>
          <a:prstGeom prst="line">
            <a:avLst/>
          </a:prstGeom>
          <a:ln w="4445">
            <a:solidFill>
              <a:srgbClr val="737871"/>
            </a:solidFill>
          </a:ln>
          <a:effectLst/>
        </p:spPr>
      </p:cxnSp>
      <p:sp>
        <p:nvSpPr>
          <p:cNvPr id="47" name="Oval 46"/>
          <p:cNvSpPr/>
          <p:nvPr/>
        </p:nvSpPr>
        <p:spPr>
          <a:xfrm>
            <a:off x="5698800" y="8101800"/>
            <a:ext cx="122400" cy="122400"/>
          </a:xfrm>
          <a:prstGeom prst="ellipse">
            <a:avLst/>
          </a:prstGeom>
          <a:noFill/>
          <a:ln w="8890">
            <a:solidFill>
              <a:srgbClr val="9A825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8" name="Connector 47"/>
          <p:cNvCxnSpPr/>
          <p:nvPr/>
        </p:nvCxnSpPr>
        <p:spPr>
          <a:xfrm>
            <a:off x="5670000" y="8163000"/>
            <a:ext cx="180000" cy="0"/>
          </a:xfrm>
          <a:prstGeom prst="line">
            <a:avLst/>
          </a:prstGeom>
          <a:ln w="4445">
            <a:solidFill>
              <a:srgbClr val="737871"/>
            </a:solidFill>
          </a:ln>
          <a:effectLst/>
        </p:spPr>
      </p:cxnSp>
      <p:cxnSp>
        <p:nvCxnSpPr>
          <p:cNvPr id="49" name="Connector 48"/>
          <p:cNvCxnSpPr/>
          <p:nvPr/>
        </p:nvCxnSpPr>
        <p:spPr>
          <a:xfrm flipV="1">
            <a:off x="3096000" y="2977199"/>
            <a:ext cx="0" cy="4780801"/>
          </a:xfrm>
          <a:prstGeom prst="line">
            <a:avLst/>
          </a:prstGeom>
          <a:ln w="12700">
            <a:solidFill>
              <a:srgbClr val="9A825A"/>
            </a:solidFill>
            <a:prstDash val="dash"/>
          </a:ln>
          <a:effectLst/>
        </p:spPr>
      </p:cxnSp>
      <p:cxnSp>
        <p:nvCxnSpPr>
          <p:cNvPr id="50" name="Connector 49"/>
          <p:cNvCxnSpPr/>
          <p:nvPr/>
        </p:nvCxnSpPr>
        <p:spPr>
          <a:xfrm flipV="1">
            <a:off x="6624000" y="2977199"/>
            <a:ext cx="0" cy="4780801"/>
          </a:xfrm>
          <a:prstGeom prst="line">
            <a:avLst/>
          </a:prstGeom>
          <a:ln w="12700">
            <a:solidFill>
              <a:srgbClr val="9A825A"/>
            </a:solidFill>
            <a:prstDash val="dash"/>
          </a:ln>
          <a:effectLst/>
        </p:spPr>
      </p:cxnSp>
      <p:cxnSp>
        <p:nvCxnSpPr>
          <p:cNvPr id="51" name="Connector 50"/>
          <p:cNvCxnSpPr/>
          <p:nvPr/>
        </p:nvCxnSpPr>
        <p:spPr>
          <a:xfrm flipV="1">
            <a:off x="2700000" y="2689199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52" name="Connector 51"/>
          <p:cNvCxnSpPr/>
          <p:nvPr/>
        </p:nvCxnSpPr>
        <p:spPr>
          <a:xfrm flipV="1">
            <a:off x="3870000" y="2689199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53" name="Connector 52"/>
          <p:cNvCxnSpPr/>
          <p:nvPr/>
        </p:nvCxnSpPr>
        <p:spPr>
          <a:xfrm>
            <a:off x="2700000" y="2689199"/>
            <a:ext cx="117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54" name="Connector 53"/>
          <p:cNvCxnSpPr/>
          <p:nvPr/>
        </p:nvCxnSpPr>
        <p:spPr>
          <a:xfrm flipV="1">
            <a:off x="2664000" y="2653199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55" name="Connector 54"/>
          <p:cNvCxnSpPr/>
          <p:nvPr/>
        </p:nvCxnSpPr>
        <p:spPr>
          <a:xfrm flipV="1">
            <a:off x="3834000" y="2653199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56" name="TextBox 55"/>
          <p:cNvSpPr txBox="1"/>
          <p:nvPr/>
        </p:nvSpPr>
        <p:spPr>
          <a:xfrm>
            <a:off x="2745000" y="2509199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650</a:t>
            </a:r>
          </a:p>
        </p:txBody>
      </p:sp>
      <p:cxnSp>
        <p:nvCxnSpPr>
          <p:cNvPr id="57" name="Connector 56"/>
          <p:cNvCxnSpPr/>
          <p:nvPr/>
        </p:nvCxnSpPr>
        <p:spPr>
          <a:xfrm flipV="1">
            <a:off x="3870000" y="2689199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58" name="Connector 57"/>
          <p:cNvCxnSpPr/>
          <p:nvPr/>
        </p:nvCxnSpPr>
        <p:spPr>
          <a:xfrm flipV="1">
            <a:off x="5850000" y="2689199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59" name="Connector 58"/>
          <p:cNvCxnSpPr/>
          <p:nvPr/>
        </p:nvCxnSpPr>
        <p:spPr>
          <a:xfrm>
            <a:off x="3870000" y="2689199"/>
            <a:ext cx="198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60" name="Connector 59"/>
          <p:cNvCxnSpPr/>
          <p:nvPr/>
        </p:nvCxnSpPr>
        <p:spPr>
          <a:xfrm flipV="1">
            <a:off x="3834000" y="2653199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61" name="Connector 60"/>
          <p:cNvCxnSpPr/>
          <p:nvPr/>
        </p:nvCxnSpPr>
        <p:spPr>
          <a:xfrm flipV="1">
            <a:off x="5814000" y="2653199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62" name="TextBox 61"/>
          <p:cNvSpPr txBox="1"/>
          <p:nvPr/>
        </p:nvSpPr>
        <p:spPr>
          <a:xfrm>
            <a:off x="4320000" y="2509199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1100</a:t>
            </a:r>
          </a:p>
        </p:txBody>
      </p:sp>
      <p:cxnSp>
        <p:nvCxnSpPr>
          <p:cNvPr id="63" name="Connector 62"/>
          <p:cNvCxnSpPr/>
          <p:nvPr/>
        </p:nvCxnSpPr>
        <p:spPr>
          <a:xfrm flipV="1">
            <a:off x="5850000" y="2689199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64" name="Connector 63"/>
          <p:cNvCxnSpPr/>
          <p:nvPr/>
        </p:nvCxnSpPr>
        <p:spPr>
          <a:xfrm flipV="1">
            <a:off x="7020000" y="2689199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65" name="Connector 64"/>
          <p:cNvCxnSpPr/>
          <p:nvPr/>
        </p:nvCxnSpPr>
        <p:spPr>
          <a:xfrm>
            <a:off x="5850000" y="2689199"/>
            <a:ext cx="117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66" name="Connector 65"/>
          <p:cNvCxnSpPr/>
          <p:nvPr/>
        </p:nvCxnSpPr>
        <p:spPr>
          <a:xfrm flipV="1">
            <a:off x="5814000" y="2653199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67" name="Connector 66"/>
          <p:cNvCxnSpPr/>
          <p:nvPr/>
        </p:nvCxnSpPr>
        <p:spPr>
          <a:xfrm flipV="1">
            <a:off x="6984000" y="2653199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68" name="TextBox 67"/>
          <p:cNvSpPr txBox="1"/>
          <p:nvPr/>
        </p:nvSpPr>
        <p:spPr>
          <a:xfrm>
            <a:off x="5895000" y="2509199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650</a:t>
            </a:r>
          </a:p>
        </p:txBody>
      </p:sp>
      <p:cxnSp>
        <p:nvCxnSpPr>
          <p:cNvPr id="69" name="Connector 68"/>
          <p:cNvCxnSpPr/>
          <p:nvPr/>
        </p:nvCxnSpPr>
        <p:spPr>
          <a:xfrm flipH="1">
            <a:off x="2160000" y="8568000"/>
            <a:ext cx="540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70" name="Connector 69"/>
          <p:cNvCxnSpPr/>
          <p:nvPr/>
        </p:nvCxnSpPr>
        <p:spPr>
          <a:xfrm flipH="1">
            <a:off x="2160000" y="2977199"/>
            <a:ext cx="540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71" name="Connector 70"/>
          <p:cNvCxnSpPr/>
          <p:nvPr/>
        </p:nvCxnSpPr>
        <p:spPr>
          <a:xfrm flipV="1">
            <a:off x="2160000" y="2977199"/>
            <a:ext cx="0" cy="5590801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72" name="Connector 71"/>
          <p:cNvCxnSpPr/>
          <p:nvPr/>
        </p:nvCxnSpPr>
        <p:spPr>
          <a:xfrm flipV="1">
            <a:off x="2124000" y="8532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73" name="Connector 72"/>
          <p:cNvCxnSpPr/>
          <p:nvPr/>
        </p:nvCxnSpPr>
        <p:spPr>
          <a:xfrm flipV="1">
            <a:off x="2124000" y="2941199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74" name="TextBox 73"/>
          <p:cNvSpPr txBox="1"/>
          <p:nvPr/>
        </p:nvSpPr>
        <p:spPr>
          <a:xfrm>
            <a:off x="1728000" y="5772600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3106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3870000" y="7758000"/>
            <a:ext cx="360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76" name="Connector 75"/>
          <p:cNvCxnSpPr/>
          <p:nvPr/>
        </p:nvCxnSpPr>
        <p:spPr>
          <a:xfrm>
            <a:off x="3870000" y="3787199"/>
            <a:ext cx="360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77" name="Connector 76"/>
          <p:cNvCxnSpPr/>
          <p:nvPr/>
        </p:nvCxnSpPr>
        <p:spPr>
          <a:xfrm flipV="1">
            <a:off x="4230000" y="3787199"/>
            <a:ext cx="0" cy="3970801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78" name="Connector 77"/>
          <p:cNvCxnSpPr/>
          <p:nvPr/>
        </p:nvCxnSpPr>
        <p:spPr>
          <a:xfrm flipV="1">
            <a:off x="4194000" y="7722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79" name="Connector 78"/>
          <p:cNvCxnSpPr/>
          <p:nvPr/>
        </p:nvCxnSpPr>
        <p:spPr>
          <a:xfrm flipV="1">
            <a:off x="4194000" y="3751199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80" name="TextBox 79"/>
          <p:cNvSpPr txBox="1"/>
          <p:nvPr/>
        </p:nvSpPr>
        <p:spPr>
          <a:xfrm>
            <a:off x="3798000" y="5772600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2206</a:t>
            </a:r>
          </a:p>
        </p:txBody>
      </p:sp>
      <p:cxnSp>
        <p:nvCxnSpPr>
          <p:cNvPr id="81" name="Connector 80"/>
          <p:cNvCxnSpPr/>
          <p:nvPr/>
        </p:nvCxnSpPr>
        <p:spPr>
          <a:xfrm>
            <a:off x="2700000" y="8568000"/>
            <a:ext cx="0" cy="504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82" name="Connector 81"/>
          <p:cNvCxnSpPr/>
          <p:nvPr/>
        </p:nvCxnSpPr>
        <p:spPr>
          <a:xfrm>
            <a:off x="7020000" y="8568000"/>
            <a:ext cx="0" cy="504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83" name="Connector 82"/>
          <p:cNvCxnSpPr/>
          <p:nvPr/>
        </p:nvCxnSpPr>
        <p:spPr>
          <a:xfrm>
            <a:off x="2700000" y="9072000"/>
            <a:ext cx="432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84" name="Connector 83"/>
          <p:cNvCxnSpPr/>
          <p:nvPr/>
        </p:nvCxnSpPr>
        <p:spPr>
          <a:xfrm flipV="1">
            <a:off x="2664000" y="903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85" name="Connector 84"/>
          <p:cNvCxnSpPr/>
          <p:nvPr/>
        </p:nvCxnSpPr>
        <p:spPr>
          <a:xfrm flipV="1">
            <a:off x="6984000" y="903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86" name="TextBox 85"/>
          <p:cNvSpPr txBox="1"/>
          <p:nvPr/>
        </p:nvSpPr>
        <p:spPr>
          <a:xfrm>
            <a:off x="4320000" y="8892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2400</a:t>
            </a:r>
          </a:p>
        </p:txBody>
      </p:sp>
      <p:cxnSp>
        <p:nvCxnSpPr>
          <p:cNvPr id="87" name="Connector 86"/>
          <p:cNvCxnSpPr/>
          <p:nvPr/>
        </p:nvCxnSpPr>
        <p:spPr>
          <a:xfrm flipV="1">
            <a:off x="5850000" y="3780000"/>
            <a:ext cx="1746000" cy="468000"/>
          </a:xfrm>
          <a:prstGeom prst="line">
            <a:avLst/>
          </a:prstGeom>
          <a:ln w="5715">
            <a:solidFill>
              <a:srgbClr val="737871"/>
            </a:solidFill>
          </a:ln>
          <a:effectLst/>
        </p:spPr>
      </p:cxnSp>
      <p:sp>
        <p:nvSpPr>
          <p:cNvPr id="88" name="Oval 87"/>
          <p:cNvSpPr/>
          <p:nvPr/>
        </p:nvSpPr>
        <p:spPr>
          <a:xfrm>
            <a:off x="5826600" y="4224600"/>
            <a:ext cx="46800" cy="46800"/>
          </a:xfrm>
          <a:prstGeom prst="ellipse">
            <a:avLst/>
          </a:prstGeom>
          <a:solidFill>
            <a:srgbClr val="737871"/>
          </a:solidFill>
          <a:ln w="8890">
            <a:solidFill>
              <a:srgbClr val="73787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668000" y="3636000"/>
            <a:ext cx="2376000" cy="432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BLACK TRACK</a:t>
            </a:r>
          </a:p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Adjustable spot heads</a:t>
            </a:r>
          </a:p>
        </p:txBody>
      </p:sp>
      <p:cxnSp>
        <p:nvCxnSpPr>
          <p:cNvPr id="90" name="Connector 89"/>
          <p:cNvCxnSpPr/>
          <p:nvPr/>
        </p:nvCxnSpPr>
        <p:spPr>
          <a:xfrm flipV="1">
            <a:off x="6624000" y="5184000"/>
            <a:ext cx="972000" cy="684000"/>
          </a:xfrm>
          <a:prstGeom prst="line">
            <a:avLst/>
          </a:prstGeom>
          <a:ln w="5715">
            <a:solidFill>
              <a:srgbClr val="737871"/>
            </a:solidFill>
          </a:ln>
          <a:effectLst/>
        </p:spPr>
      </p:cxnSp>
      <p:sp>
        <p:nvSpPr>
          <p:cNvPr id="91" name="Oval 90"/>
          <p:cNvSpPr/>
          <p:nvPr/>
        </p:nvSpPr>
        <p:spPr>
          <a:xfrm>
            <a:off x="6600600" y="5844600"/>
            <a:ext cx="46800" cy="46800"/>
          </a:xfrm>
          <a:prstGeom prst="ellipse">
            <a:avLst/>
          </a:prstGeom>
          <a:solidFill>
            <a:srgbClr val="737871"/>
          </a:solidFill>
          <a:ln w="8890">
            <a:solidFill>
              <a:srgbClr val="73787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7668000" y="5040000"/>
            <a:ext cx="2376000" cy="432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SHELF LEDs BELOW</a:t>
            </a:r>
          </a:p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3000 K concealed light</a:t>
            </a:r>
          </a:p>
        </p:txBody>
      </p:sp>
      <p:cxnSp>
        <p:nvCxnSpPr>
          <p:cNvPr id="93" name="Connector 92"/>
          <p:cNvCxnSpPr/>
          <p:nvPr/>
        </p:nvCxnSpPr>
        <p:spPr>
          <a:xfrm flipV="1">
            <a:off x="5760000" y="8028000"/>
            <a:ext cx="1836000" cy="135000"/>
          </a:xfrm>
          <a:prstGeom prst="line">
            <a:avLst/>
          </a:prstGeom>
          <a:ln w="5715">
            <a:solidFill>
              <a:srgbClr val="737871"/>
            </a:solidFill>
          </a:ln>
          <a:effectLst/>
        </p:spPr>
      </p:cxnSp>
      <p:sp>
        <p:nvSpPr>
          <p:cNvPr id="94" name="Oval 93"/>
          <p:cNvSpPr/>
          <p:nvPr/>
        </p:nvSpPr>
        <p:spPr>
          <a:xfrm>
            <a:off x="5736600" y="8139600"/>
            <a:ext cx="46800" cy="46800"/>
          </a:xfrm>
          <a:prstGeom prst="ellipse">
            <a:avLst/>
          </a:prstGeom>
          <a:solidFill>
            <a:srgbClr val="737871"/>
          </a:solidFill>
          <a:ln w="8890">
            <a:solidFill>
              <a:srgbClr val="73787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668000" y="7884000"/>
            <a:ext cx="2376000" cy="432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ENTRANCE DOWNLIGHTS</a:t>
            </a:r>
          </a:p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Three approved positions</a:t>
            </a:r>
          </a:p>
        </p:txBody>
      </p:sp>
      <p:sp>
        <p:nvSpPr>
          <p:cNvPr id="96" name="Freeform 95"/>
          <p:cNvSpPr/>
          <p:nvPr/>
        </p:nvSpPr>
        <p:spPr>
          <a:xfrm>
            <a:off x="7408800" y="6040800"/>
            <a:ext cx="2858400" cy="1238400"/>
          </a:xfrm>
          <a:custGeom>
            <a:avLst/>
            <a:gdLst/>
            <a:ahLst/>
            <a:cxnLst/>
            <a:rect l="l" t="t" r="r" b="b"/>
            <a:pathLst>
              <a:path w="2858400" h="1238400">
                <a:moveTo>
                  <a:pt x="43200" y="43200"/>
                </a:moveTo>
                <a:lnTo>
                  <a:pt x="66300" y="26668"/>
                </a:lnTo>
                <a:lnTo>
                  <a:pt x="89400" y="12652"/>
                </a:lnTo>
                <a:lnTo>
                  <a:pt x="112500" y="3288"/>
                </a:lnTo>
                <a:lnTo>
                  <a:pt x="135600" y="0"/>
                </a:lnTo>
                <a:lnTo>
                  <a:pt x="158700" y="3288"/>
                </a:lnTo>
                <a:lnTo>
                  <a:pt x="181800" y="12652"/>
                </a:lnTo>
                <a:lnTo>
                  <a:pt x="204900" y="26668"/>
                </a:lnTo>
                <a:lnTo>
                  <a:pt x="228000" y="43200"/>
                </a:lnTo>
                <a:lnTo>
                  <a:pt x="228000" y="43200"/>
                </a:lnTo>
                <a:lnTo>
                  <a:pt x="251100" y="26668"/>
                </a:lnTo>
                <a:lnTo>
                  <a:pt x="274200" y="12652"/>
                </a:lnTo>
                <a:lnTo>
                  <a:pt x="297300" y="3288"/>
                </a:lnTo>
                <a:lnTo>
                  <a:pt x="320400" y="0"/>
                </a:lnTo>
                <a:lnTo>
                  <a:pt x="343500" y="3288"/>
                </a:lnTo>
                <a:lnTo>
                  <a:pt x="366600" y="12652"/>
                </a:lnTo>
                <a:lnTo>
                  <a:pt x="389700" y="26668"/>
                </a:lnTo>
                <a:lnTo>
                  <a:pt x="412799" y="43200"/>
                </a:lnTo>
                <a:lnTo>
                  <a:pt x="412799" y="43200"/>
                </a:lnTo>
                <a:lnTo>
                  <a:pt x="435900" y="26668"/>
                </a:lnTo>
                <a:lnTo>
                  <a:pt x="459000" y="12652"/>
                </a:lnTo>
                <a:lnTo>
                  <a:pt x="482100" y="3288"/>
                </a:lnTo>
                <a:lnTo>
                  <a:pt x="505200" y="0"/>
                </a:lnTo>
                <a:lnTo>
                  <a:pt x="528300" y="3288"/>
                </a:lnTo>
                <a:lnTo>
                  <a:pt x="551400" y="12652"/>
                </a:lnTo>
                <a:lnTo>
                  <a:pt x="574500" y="26668"/>
                </a:lnTo>
                <a:lnTo>
                  <a:pt x="597600" y="43200"/>
                </a:lnTo>
                <a:lnTo>
                  <a:pt x="597600" y="43200"/>
                </a:lnTo>
                <a:lnTo>
                  <a:pt x="620700" y="26668"/>
                </a:lnTo>
                <a:lnTo>
                  <a:pt x="643800" y="12652"/>
                </a:lnTo>
                <a:lnTo>
                  <a:pt x="666900" y="3288"/>
                </a:lnTo>
                <a:lnTo>
                  <a:pt x="690000" y="0"/>
                </a:lnTo>
                <a:lnTo>
                  <a:pt x="713100" y="3288"/>
                </a:lnTo>
                <a:lnTo>
                  <a:pt x="736200" y="12652"/>
                </a:lnTo>
                <a:lnTo>
                  <a:pt x="759300" y="26668"/>
                </a:lnTo>
                <a:lnTo>
                  <a:pt x="782400" y="43200"/>
                </a:lnTo>
                <a:lnTo>
                  <a:pt x="782400" y="43200"/>
                </a:lnTo>
                <a:lnTo>
                  <a:pt x="805500" y="26668"/>
                </a:lnTo>
                <a:lnTo>
                  <a:pt x="828600" y="12652"/>
                </a:lnTo>
                <a:lnTo>
                  <a:pt x="851700" y="3288"/>
                </a:lnTo>
                <a:lnTo>
                  <a:pt x="874800" y="0"/>
                </a:lnTo>
                <a:lnTo>
                  <a:pt x="897900" y="3288"/>
                </a:lnTo>
                <a:lnTo>
                  <a:pt x="921000" y="12652"/>
                </a:lnTo>
                <a:lnTo>
                  <a:pt x="944100" y="26668"/>
                </a:lnTo>
                <a:lnTo>
                  <a:pt x="967200" y="43200"/>
                </a:lnTo>
                <a:lnTo>
                  <a:pt x="967200" y="43200"/>
                </a:lnTo>
                <a:lnTo>
                  <a:pt x="990300" y="26668"/>
                </a:lnTo>
                <a:lnTo>
                  <a:pt x="1013400" y="12652"/>
                </a:lnTo>
                <a:lnTo>
                  <a:pt x="1036500" y="3288"/>
                </a:lnTo>
                <a:lnTo>
                  <a:pt x="1059600" y="0"/>
                </a:lnTo>
                <a:lnTo>
                  <a:pt x="1082700" y="3288"/>
                </a:lnTo>
                <a:lnTo>
                  <a:pt x="1105800" y="12652"/>
                </a:lnTo>
                <a:lnTo>
                  <a:pt x="1128900" y="26668"/>
                </a:lnTo>
                <a:lnTo>
                  <a:pt x="1152000" y="43200"/>
                </a:lnTo>
                <a:lnTo>
                  <a:pt x="1152000" y="43200"/>
                </a:lnTo>
                <a:lnTo>
                  <a:pt x="1175100" y="26668"/>
                </a:lnTo>
                <a:lnTo>
                  <a:pt x="1198200" y="12652"/>
                </a:lnTo>
                <a:lnTo>
                  <a:pt x="1221300" y="3288"/>
                </a:lnTo>
                <a:lnTo>
                  <a:pt x="1244400" y="0"/>
                </a:lnTo>
                <a:lnTo>
                  <a:pt x="1267500" y="3288"/>
                </a:lnTo>
                <a:lnTo>
                  <a:pt x="1290600" y="12652"/>
                </a:lnTo>
                <a:lnTo>
                  <a:pt x="1313700" y="26668"/>
                </a:lnTo>
                <a:lnTo>
                  <a:pt x="1336800" y="43200"/>
                </a:lnTo>
                <a:lnTo>
                  <a:pt x="1336800" y="43200"/>
                </a:lnTo>
                <a:lnTo>
                  <a:pt x="1359900" y="26668"/>
                </a:lnTo>
                <a:lnTo>
                  <a:pt x="1383000" y="12652"/>
                </a:lnTo>
                <a:lnTo>
                  <a:pt x="1406100" y="3288"/>
                </a:lnTo>
                <a:lnTo>
                  <a:pt x="1429200" y="0"/>
                </a:lnTo>
                <a:lnTo>
                  <a:pt x="1452300" y="3288"/>
                </a:lnTo>
                <a:lnTo>
                  <a:pt x="1475400" y="12652"/>
                </a:lnTo>
                <a:lnTo>
                  <a:pt x="1498500" y="26668"/>
                </a:lnTo>
                <a:lnTo>
                  <a:pt x="1521600" y="43200"/>
                </a:lnTo>
                <a:lnTo>
                  <a:pt x="1521600" y="43200"/>
                </a:lnTo>
                <a:lnTo>
                  <a:pt x="1544700" y="26668"/>
                </a:lnTo>
                <a:lnTo>
                  <a:pt x="1567800" y="12652"/>
                </a:lnTo>
                <a:lnTo>
                  <a:pt x="1590900" y="3288"/>
                </a:lnTo>
                <a:lnTo>
                  <a:pt x="1614000" y="0"/>
                </a:lnTo>
                <a:lnTo>
                  <a:pt x="1637100" y="3288"/>
                </a:lnTo>
                <a:lnTo>
                  <a:pt x="1660200" y="12652"/>
                </a:lnTo>
                <a:lnTo>
                  <a:pt x="1683300" y="26668"/>
                </a:lnTo>
                <a:lnTo>
                  <a:pt x="1706400" y="43200"/>
                </a:lnTo>
                <a:lnTo>
                  <a:pt x="1706400" y="43200"/>
                </a:lnTo>
                <a:lnTo>
                  <a:pt x="1729500" y="26668"/>
                </a:lnTo>
                <a:lnTo>
                  <a:pt x="1752600" y="12652"/>
                </a:lnTo>
                <a:lnTo>
                  <a:pt x="1775700" y="3288"/>
                </a:lnTo>
                <a:lnTo>
                  <a:pt x="1798800" y="0"/>
                </a:lnTo>
                <a:lnTo>
                  <a:pt x="1821900" y="3288"/>
                </a:lnTo>
                <a:lnTo>
                  <a:pt x="1845000" y="12652"/>
                </a:lnTo>
                <a:lnTo>
                  <a:pt x="1868100" y="26668"/>
                </a:lnTo>
                <a:lnTo>
                  <a:pt x="1891200" y="43200"/>
                </a:lnTo>
                <a:lnTo>
                  <a:pt x="1891200" y="43200"/>
                </a:lnTo>
                <a:lnTo>
                  <a:pt x="1914300" y="26668"/>
                </a:lnTo>
                <a:lnTo>
                  <a:pt x="1937400" y="12652"/>
                </a:lnTo>
                <a:lnTo>
                  <a:pt x="1960500" y="3288"/>
                </a:lnTo>
                <a:lnTo>
                  <a:pt x="1983600" y="0"/>
                </a:lnTo>
                <a:lnTo>
                  <a:pt x="2006700" y="3288"/>
                </a:lnTo>
                <a:lnTo>
                  <a:pt x="2029800" y="12652"/>
                </a:lnTo>
                <a:lnTo>
                  <a:pt x="2052900" y="26668"/>
                </a:lnTo>
                <a:lnTo>
                  <a:pt x="2075999" y="43200"/>
                </a:lnTo>
                <a:lnTo>
                  <a:pt x="2075999" y="43200"/>
                </a:lnTo>
                <a:lnTo>
                  <a:pt x="2099100" y="26668"/>
                </a:lnTo>
                <a:lnTo>
                  <a:pt x="2122200" y="12652"/>
                </a:lnTo>
                <a:lnTo>
                  <a:pt x="2145300" y="3288"/>
                </a:lnTo>
                <a:lnTo>
                  <a:pt x="2168400" y="0"/>
                </a:lnTo>
                <a:lnTo>
                  <a:pt x="2191500" y="3288"/>
                </a:lnTo>
                <a:lnTo>
                  <a:pt x="2214600" y="12652"/>
                </a:lnTo>
                <a:lnTo>
                  <a:pt x="2237700" y="26668"/>
                </a:lnTo>
                <a:lnTo>
                  <a:pt x="2260800" y="43200"/>
                </a:lnTo>
                <a:lnTo>
                  <a:pt x="2260800" y="43200"/>
                </a:lnTo>
                <a:lnTo>
                  <a:pt x="2283900" y="26668"/>
                </a:lnTo>
                <a:lnTo>
                  <a:pt x="2307000" y="12652"/>
                </a:lnTo>
                <a:lnTo>
                  <a:pt x="2330100" y="3288"/>
                </a:lnTo>
                <a:lnTo>
                  <a:pt x="2353200" y="0"/>
                </a:lnTo>
                <a:lnTo>
                  <a:pt x="2376300" y="3288"/>
                </a:lnTo>
                <a:lnTo>
                  <a:pt x="2399400" y="12652"/>
                </a:lnTo>
                <a:lnTo>
                  <a:pt x="2422500" y="26668"/>
                </a:lnTo>
                <a:lnTo>
                  <a:pt x="2445600" y="43200"/>
                </a:lnTo>
                <a:lnTo>
                  <a:pt x="2445600" y="43200"/>
                </a:lnTo>
                <a:lnTo>
                  <a:pt x="2468700" y="26668"/>
                </a:lnTo>
                <a:lnTo>
                  <a:pt x="2491800" y="12652"/>
                </a:lnTo>
                <a:lnTo>
                  <a:pt x="2514899" y="3288"/>
                </a:lnTo>
                <a:lnTo>
                  <a:pt x="2538000" y="0"/>
                </a:lnTo>
                <a:lnTo>
                  <a:pt x="2561100" y="3288"/>
                </a:lnTo>
                <a:lnTo>
                  <a:pt x="2584200" y="12652"/>
                </a:lnTo>
                <a:lnTo>
                  <a:pt x="2607300" y="26668"/>
                </a:lnTo>
                <a:lnTo>
                  <a:pt x="2630400" y="43200"/>
                </a:lnTo>
                <a:lnTo>
                  <a:pt x="2630400" y="43200"/>
                </a:lnTo>
                <a:lnTo>
                  <a:pt x="2653500" y="26668"/>
                </a:lnTo>
                <a:lnTo>
                  <a:pt x="2676600" y="12652"/>
                </a:lnTo>
                <a:lnTo>
                  <a:pt x="2699700" y="3288"/>
                </a:lnTo>
                <a:lnTo>
                  <a:pt x="2722800" y="0"/>
                </a:lnTo>
                <a:lnTo>
                  <a:pt x="2745900" y="3288"/>
                </a:lnTo>
                <a:lnTo>
                  <a:pt x="2769000" y="12652"/>
                </a:lnTo>
                <a:lnTo>
                  <a:pt x="2792100" y="26668"/>
                </a:lnTo>
                <a:lnTo>
                  <a:pt x="2815200" y="43200"/>
                </a:lnTo>
                <a:lnTo>
                  <a:pt x="2815200" y="43200"/>
                </a:lnTo>
                <a:lnTo>
                  <a:pt x="2831731" y="67200"/>
                </a:lnTo>
                <a:lnTo>
                  <a:pt x="2845747" y="91200"/>
                </a:lnTo>
                <a:lnTo>
                  <a:pt x="2855111" y="115200"/>
                </a:lnTo>
                <a:lnTo>
                  <a:pt x="2858400" y="139200"/>
                </a:lnTo>
                <a:lnTo>
                  <a:pt x="2855111" y="163200"/>
                </a:lnTo>
                <a:lnTo>
                  <a:pt x="2845747" y="187200"/>
                </a:lnTo>
                <a:lnTo>
                  <a:pt x="2831731" y="211200"/>
                </a:lnTo>
                <a:lnTo>
                  <a:pt x="2815200" y="235200"/>
                </a:lnTo>
                <a:lnTo>
                  <a:pt x="2815200" y="235200"/>
                </a:lnTo>
                <a:lnTo>
                  <a:pt x="2831731" y="259200"/>
                </a:lnTo>
                <a:lnTo>
                  <a:pt x="2845747" y="283200"/>
                </a:lnTo>
                <a:lnTo>
                  <a:pt x="2855111" y="307200"/>
                </a:lnTo>
                <a:lnTo>
                  <a:pt x="2858400" y="331200"/>
                </a:lnTo>
                <a:lnTo>
                  <a:pt x="2855111" y="355200"/>
                </a:lnTo>
                <a:lnTo>
                  <a:pt x="2845747" y="379200"/>
                </a:lnTo>
                <a:lnTo>
                  <a:pt x="2831731" y="403200"/>
                </a:lnTo>
                <a:lnTo>
                  <a:pt x="2815200" y="427200"/>
                </a:lnTo>
                <a:lnTo>
                  <a:pt x="2815200" y="427200"/>
                </a:lnTo>
                <a:lnTo>
                  <a:pt x="2831731" y="451200"/>
                </a:lnTo>
                <a:lnTo>
                  <a:pt x="2845747" y="475200"/>
                </a:lnTo>
                <a:lnTo>
                  <a:pt x="2855111" y="499200"/>
                </a:lnTo>
                <a:lnTo>
                  <a:pt x="2858400" y="523200"/>
                </a:lnTo>
                <a:lnTo>
                  <a:pt x="2855111" y="547200"/>
                </a:lnTo>
                <a:lnTo>
                  <a:pt x="2845747" y="571200"/>
                </a:lnTo>
                <a:lnTo>
                  <a:pt x="2831731" y="595200"/>
                </a:lnTo>
                <a:lnTo>
                  <a:pt x="2815200" y="619200"/>
                </a:lnTo>
                <a:lnTo>
                  <a:pt x="2815200" y="619200"/>
                </a:lnTo>
                <a:lnTo>
                  <a:pt x="2831731" y="643200"/>
                </a:lnTo>
                <a:lnTo>
                  <a:pt x="2845747" y="667200"/>
                </a:lnTo>
                <a:lnTo>
                  <a:pt x="2855111" y="691200"/>
                </a:lnTo>
                <a:lnTo>
                  <a:pt x="2858400" y="715200"/>
                </a:lnTo>
                <a:lnTo>
                  <a:pt x="2855111" y="739200"/>
                </a:lnTo>
                <a:lnTo>
                  <a:pt x="2845747" y="763200"/>
                </a:lnTo>
                <a:lnTo>
                  <a:pt x="2831731" y="787200"/>
                </a:lnTo>
                <a:lnTo>
                  <a:pt x="2815200" y="811200"/>
                </a:lnTo>
                <a:lnTo>
                  <a:pt x="2815200" y="811200"/>
                </a:lnTo>
                <a:lnTo>
                  <a:pt x="2831731" y="835200"/>
                </a:lnTo>
                <a:lnTo>
                  <a:pt x="2845747" y="859200"/>
                </a:lnTo>
                <a:lnTo>
                  <a:pt x="2855111" y="883200"/>
                </a:lnTo>
                <a:lnTo>
                  <a:pt x="2858400" y="907200"/>
                </a:lnTo>
                <a:lnTo>
                  <a:pt x="2855111" y="931200"/>
                </a:lnTo>
                <a:lnTo>
                  <a:pt x="2845747" y="955200"/>
                </a:lnTo>
                <a:lnTo>
                  <a:pt x="2831731" y="979200"/>
                </a:lnTo>
                <a:lnTo>
                  <a:pt x="2815200" y="1003200"/>
                </a:lnTo>
                <a:lnTo>
                  <a:pt x="2815200" y="1003200"/>
                </a:lnTo>
                <a:lnTo>
                  <a:pt x="2831731" y="1027200"/>
                </a:lnTo>
                <a:lnTo>
                  <a:pt x="2845747" y="1051200"/>
                </a:lnTo>
                <a:lnTo>
                  <a:pt x="2855111" y="1075200"/>
                </a:lnTo>
                <a:lnTo>
                  <a:pt x="2858400" y="1099200"/>
                </a:lnTo>
                <a:lnTo>
                  <a:pt x="2855111" y="1123200"/>
                </a:lnTo>
                <a:lnTo>
                  <a:pt x="2845747" y="1147200"/>
                </a:lnTo>
                <a:lnTo>
                  <a:pt x="2831731" y="1171200"/>
                </a:lnTo>
                <a:lnTo>
                  <a:pt x="2815200" y="1195200"/>
                </a:lnTo>
                <a:lnTo>
                  <a:pt x="2815200" y="1195200"/>
                </a:lnTo>
                <a:lnTo>
                  <a:pt x="2792100" y="1211731"/>
                </a:lnTo>
                <a:lnTo>
                  <a:pt x="2768999" y="1225747"/>
                </a:lnTo>
                <a:lnTo>
                  <a:pt x="2745900" y="1235111"/>
                </a:lnTo>
                <a:lnTo>
                  <a:pt x="2722800" y="1238400"/>
                </a:lnTo>
                <a:lnTo>
                  <a:pt x="2699700" y="1235111"/>
                </a:lnTo>
                <a:lnTo>
                  <a:pt x="2676600" y="1225747"/>
                </a:lnTo>
                <a:lnTo>
                  <a:pt x="2653500" y="1211731"/>
                </a:lnTo>
                <a:lnTo>
                  <a:pt x="2630400" y="1195200"/>
                </a:lnTo>
                <a:lnTo>
                  <a:pt x="2630400" y="1195200"/>
                </a:lnTo>
                <a:lnTo>
                  <a:pt x="2607300" y="1211731"/>
                </a:lnTo>
                <a:lnTo>
                  <a:pt x="2584200" y="1225747"/>
                </a:lnTo>
                <a:lnTo>
                  <a:pt x="2561100" y="1235111"/>
                </a:lnTo>
                <a:lnTo>
                  <a:pt x="2538000" y="1238400"/>
                </a:lnTo>
                <a:lnTo>
                  <a:pt x="2514900" y="1235111"/>
                </a:lnTo>
                <a:lnTo>
                  <a:pt x="2491800" y="1225747"/>
                </a:lnTo>
                <a:lnTo>
                  <a:pt x="2468700" y="1211731"/>
                </a:lnTo>
                <a:lnTo>
                  <a:pt x="2445600" y="1195200"/>
                </a:lnTo>
                <a:lnTo>
                  <a:pt x="2445600" y="1195200"/>
                </a:lnTo>
                <a:lnTo>
                  <a:pt x="2422499" y="1211731"/>
                </a:lnTo>
                <a:lnTo>
                  <a:pt x="2399400" y="1225747"/>
                </a:lnTo>
                <a:lnTo>
                  <a:pt x="2376300" y="1235111"/>
                </a:lnTo>
                <a:lnTo>
                  <a:pt x="2353200" y="1238400"/>
                </a:lnTo>
                <a:lnTo>
                  <a:pt x="2330100" y="1235111"/>
                </a:lnTo>
                <a:lnTo>
                  <a:pt x="2307000" y="1225747"/>
                </a:lnTo>
                <a:lnTo>
                  <a:pt x="2283900" y="1211731"/>
                </a:lnTo>
                <a:lnTo>
                  <a:pt x="2260800" y="1195200"/>
                </a:lnTo>
                <a:lnTo>
                  <a:pt x="2260800" y="1195200"/>
                </a:lnTo>
                <a:lnTo>
                  <a:pt x="2237700" y="1211731"/>
                </a:lnTo>
                <a:lnTo>
                  <a:pt x="2214600" y="1225747"/>
                </a:lnTo>
                <a:lnTo>
                  <a:pt x="2191500" y="1235111"/>
                </a:lnTo>
                <a:lnTo>
                  <a:pt x="2168399" y="1238400"/>
                </a:lnTo>
                <a:lnTo>
                  <a:pt x="2145300" y="1235111"/>
                </a:lnTo>
                <a:lnTo>
                  <a:pt x="2122200" y="1225747"/>
                </a:lnTo>
                <a:lnTo>
                  <a:pt x="2099100" y="1211731"/>
                </a:lnTo>
                <a:lnTo>
                  <a:pt x="2076000" y="1195200"/>
                </a:lnTo>
                <a:lnTo>
                  <a:pt x="2076000" y="1195200"/>
                </a:lnTo>
                <a:lnTo>
                  <a:pt x="2052900" y="1211731"/>
                </a:lnTo>
                <a:lnTo>
                  <a:pt x="2029800" y="1225747"/>
                </a:lnTo>
                <a:lnTo>
                  <a:pt x="2006700" y="1235111"/>
                </a:lnTo>
                <a:lnTo>
                  <a:pt x="1983600" y="1238400"/>
                </a:lnTo>
                <a:lnTo>
                  <a:pt x="1960500" y="1235111"/>
                </a:lnTo>
                <a:lnTo>
                  <a:pt x="1937400" y="1225747"/>
                </a:lnTo>
                <a:lnTo>
                  <a:pt x="1914300" y="1211731"/>
                </a:lnTo>
                <a:lnTo>
                  <a:pt x="1891200" y="1195200"/>
                </a:lnTo>
                <a:lnTo>
                  <a:pt x="1891200" y="1195200"/>
                </a:lnTo>
                <a:lnTo>
                  <a:pt x="1868100" y="1211731"/>
                </a:lnTo>
                <a:lnTo>
                  <a:pt x="1845000" y="1225747"/>
                </a:lnTo>
                <a:lnTo>
                  <a:pt x="1821899" y="1235111"/>
                </a:lnTo>
                <a:lnTo>
                  <a:pt x="1798800" y="1238400"/>
                </a:lnTo>
                <a:lnTo>
                  <a:pt x="1775700" y="1235111"/>
                </a:lnTo>
                <a:lnTo>
                  <a:pt x="1752600" y="1225747"/>
                </a:lnTo>
                <a:lnTo>
                  <a:pt x="1729500" y="1211731"/>
                </a:lnTo>
                <a:lnTo>
                  <a:pt x="1706400" y="1195200"/>
                </a:lnTo>
                <a:lnTo>
                  <a:pt x="1706400" y="1195200"/>
                </a:lnTo>
                <a:lnTo>
                  <a:pt x="1683300" y="1211731"/>
                </a:lnTo>
                <a:lnTo>
                  <a:pt x="1660200" y="1225747"/>
                </a:lnTo>
                <a:lnTo>
                  <a:pt x="1637100" y="1235111"/>
                </a:lnTo>
                <a:lnTo>
                  <a:pt x="1614000" y="1238400"/>
                </a:lnTo>
                <a:lnTo>
                  <a:pt x="1590900" y="1235111"/>
                </a:lnTo>
                <a:lnTo>
                  <a:pt x="1567800" y="1225747"/>
                </a:lnTo>
                <a:lnTo>
                  <a:pt x="1544700" y="1211731"/>
                </a:lnTo>
                <a:lnTo>
                  <a:pt x="1521600" y="1195200"/>
                </a:lnTo>
                <a:lnTo>
                  <a:pt x="1521600" y="1195200"/>
                </a:lnTo>
                <a:lnTo>
                  <a:pt x="1498500" y="1211731"/>
                </a:lnTo>
                <a:lnTo>
                  <a:pt x="1475400" y="1225747"/>
                </a:lnTo>
                <a:lnTo>
                  <a:pt x="1452300" y="1235111"/>
                </a:lnTo>
                <a:lnTo>
                  <a:pt x="1429200" y="1238400"/>
                </a:lnTo>
                <a:lnTo>
                  <a:pt x="1406100" y="1235111"/>
                </a:lnTo>
                <a:lnTo>
                  <a:pt x="1383000" y="1225747"/>
                </a:lnTo>
                <a:lnTo>
                  <a:pt x="1359900" y="1211731"/>
                </a:lnTo>
                <a:lnTo>
                  <a:pt x="1336800" y="1195200"/>
                </a:lnTo>
                <a:lnTo>
                  <a:pt x="1336800" y="1195200"/>
                </a:lnTo>
                <a:lnTo>
                  <a:pt x="1313700" y="1211731"/>
                </a:lnTo>
                <a:lnTo>
                  <a:pt x="1290600" y="1225747"/>
                </a:lnTo>
                <a:lnTo>
                  <a:pt x="1267500" y="1235111"/>
                </a:lnTo>
                <a:lnTo>
                  <a:pt x="1244400" y="1238400"/>
                </a:lnTo>
                <a:lnTo>
                  <a:pt x="1221300" y="1235111"/>
                </a:lnTo>
                <a:lnTo>
                  <a:pt x="1198200" y="1225747"/>
                </a:lnTo>
                <a:lnTo>
                  <a:pt x="1175100" y="1211731"/>
                </a:lnTo>
                <a:lnTo>
                  <a:pt x="1152000" y="1195200"/>
                </a:lnTo>
                <a:lnTo>
                  <a:pt x="1152000" y="1195200"/>
                </a:lnTo>
                <a:lnTo>
                  <a:pt x="1128900" y="1211731"/>
                </a:lnTo>
                <a:lnTo>
                  <a:pt x="1105800" y="1225747"/>
                </a:lnTo>
                <a:lnTo>
                  <a:pt x="1082700" y="1235111"/>
                </a:lnTo>
                <a:lnTo>
                  <a:pt x="1059600" y="1238400"/>
                </a:lnTo>
                <a:lnTo>
                  <a:pt x="1036500" y="1235111"/>
                </a:lnTo>
                <a:lnTo>
                  <a:pt x="1013400" y="1225747"/>
                </a:lnTo>
                <a:lnTo>
                  <a:pt x="990300" y="1211731"/>
                </a:lnTo>
                <a:lnTo>
                  <a:pt x="967200" y="1195200"/>
                </a:lnTo>
                <a:lnTo>
                  <a:pt x="967200" y="1195200"/>
                </a:lnTo>
                <a:lnTo>
                  <a:pt x="944100" y="1211731"/>
                </a:lnTo>
                <a:lnTo>
                  <a:pt x="921000" y="1225747"/>
                </a:lnTo>
                <a:lnTo>
                  <a:pt x="897900" y="1235111"/>
                </a:lnTo>
                <a:lnTo>
                  <a:pt x="874800" y="1238400"/>
                </a:lnTo>
                <a:lnTo>
                  <a:pt x="851699" y="1235111"/>
                </a:lnTo>
                <a:lnTo>
                  <a:pt x="828600" y="1225747"/>
                </a:lnTo>
                <a:lnTo>
                  <a:pt x="805500" y="1211731"/>
                </a:lnTo>
                <a:lnTo>
                  <a:pt x="782400" y="1195200"/>
                </a:lnTo>
                <a:lnTo>
                  <a:pt x="782400" y="1195200"/>
                </a:lnTo>
                <a:lnTo>
                  <a:pt x="759299" y="1211731"/>
                </a:lnTo>
                <a:lnTo>
                  <a:pt x="736200" y="1225747"/>
                </a:lnTo>
                <a:lnTo>
                  <a:pt x="713100" y="1235111"/>
                </a:lnTo>
                <a:lnTo>
                  <a:pt x="690000" y="1238400"/>
                </a:lnTo>
                <a:lnTo>
                  <a:pt x="666900" y="1235111"/>
                </a:lnTo>
                <a:lnTo>
                  <a:pt x="643800" y="1225747"/>
                </a:lnTo>
                <a:lnTo>
                  <a:pt x="620700" y="1211731"/>
                </a:lnTo>
                <a:lnTo>
                  <a:pt x="597600" y="1195200"/>
                </a:lnTo>
                <a:lnTo>
                  <a:pt x="597600" y="1195200"/>
                </a:lnTo>
                <a:lnTo>
                  <a:pt x="574500" y="1211731"/>
                </a:lnTo>
                <a:lnTo>
                  <a:pt x="551400" y="1225747"/>
                </a:lnTo>
                <a:lnTo>
                  <a:pt x="528300" y="1235111"/>
                </a:lnTo>
                <a:lnTo>
                  <a:pt x="505199" y="1238400"/>
                </a:lnTo>
                <a:lnTo>
                  <a:pt x="482100" y="1235111"/>
                </a:lnTo>
                <a:lnTo>
                  <a:pt x="459000" y="1225747"/>
                </a:lnTo>
                <a:lnTo>
                  <a:pt x="435900" y="1211731"/>
                </a:lnTo>
                <a:lnTo>
                  <a:pt x="412799" y="1195200"/>
                </a:lnTo>
                <a:lnTo>
                  <a:pt x="412799" y="1195200"/>
                </a:lnTo>
                <a:lnTo>
                  <a:pt x="389700" y="1211731"/>
                </a:lnTo>
                <a:lnTo>
                  <a:pt x="366600" y="1225747"/>
                </a:lnTo>
                <a:lnTo>
                  <a:pt x="343500" y="1235111"/>
                </a:lnTo>
                <a:lnTo>
                  <a:pt x="320400" y="1238400"/>
                </a:lnTo>
                <a:lnTo>
                  <a:pt x="297300" y="1235111"/>
                </a:lnTo>
                <a:lnTo>
                  <a:pt x="274200" y="1225747"/>
                </a:lnTo>
                <a:lnTo>
                  <a:pt x="251099" y="1211731"/>
                </a:lnTo>
                <a:lnTo>
                  <a:pt x="228000" y="1195200"/>
                </a:lnTo>
                <a:lnTo>
                  <a:pt x="228000" y="1195200"/>
                </a:lnTo>
                <a:lnTo>
                  <a:pt x="204900" y="1211731"/>
                </a:lnTo>
                <a:lnTo>
                  <a:pt x="181800" y="1225747"/>
                </a:lnTo>
                <a:lnTo>
                  <a:pt x="158699" y="1235111"/>
                </a:lnTo>
                <a:lnTo>
                  <a:pt x="135600" y="1238400"/>
                </a:lnTo>
                <a:lnTo>
                  <a:pt x="112500" y="1235111"/>
                </a:lnTo>
                <a:lnTo>
                  <a:pt x="89400" y="1225747"/>
                </a:lnTo>
                <a:lnTo>
                  <a:pt x="66299" y="1211731"/>
                </a:lnTo>
                <a:lnTo>
                  <a:pt x="43200" y="1195200"/>
                </a:lnTo>
                <a:lnTo>
                  <a:pt x="43200" y="1195200"/>
                </a:lnTo>
                <a:lnTo>
                  <a:pt x="26668" y="1171200"/>
                </a:lnTo>
                <a:lnTo>
                  <a:pt x="12652" y="1147200"/>
                </a:lnTo>
                <a:lnTo>
                  <a:pt x="3288" y="1123200"/>
                </a:lnTo>
                <a:lnTo>
                  <a:pt x="0" y="1099200"/>
                </a:lnTo>
                <a:lnTo>
                  <a:pt x="3288" y="1075200"/>
                </a:lnTo>
                <a:lnTo>
                  <a:pt x="12652" y="1051200"/>
                </a:lnTo>
                <a:lnTo>
                  <a:pt x="26668" y="1027200"/>
                </a:lnTo>
                <a:lnTo>
                  <a:pt x="43200" y="1003200"/>
                </a:lnTo>
                <a:lnTo>
                  <a:pt x="43200" y="1003200"/>
                </a:lnTo>
                <a:lnTo>
                  <a:pt x="26668" y="979200"/>
                </a:lnTo>
                <a:lnTo>
                  <a:pt x="12652" y="955200"/>
                </a:lnTo>
                <a:lnTo>
                  <a:pt x="3288" y="931200"/>
                </a:lnTo>
                <a:lnTo>
                  <a:pt x="0" y="907200"/>
                </a:lnTo>
                <a:lnTo>
                  <a:pt x="3288" y="883200"/>
                </a:lnTo>
                <a:lnTo>
                  <a:pt x="12652" y="859200"/>
                </a:lnTo>
                <a:lnTo>
                  <a:pt x="26668" y="835200"/>
                </a:lnTo>
                <a:lnTo>
                  <a:pt x="43200" y="811200"/>
                </a:lnTo>
                <a:lnTo>
                  <a:pt x="43200" y="811200"/>
                </a:lnTo>
                <a:lnTo>
                  <a:pt x="26668" y="787200"/>
                </a:lnTo>
                <a:lnTo>
                  <a:pt x="12652" y="763200"/>
                </a:lnTo>
                <a:lnTo>
                  <a:pt x="3288" y="739200"/>
                </a:lnTo>
                <a:lnTo>
                  <a:pt x="0" y="715200"/>
                </a:lnTo>
                <a:lnTo>
                  <a:pt x="3288" y="691200"/>
                </a:lnTo>
                <a:lnTo>
                  <a:pt x="12652" y="667200"/>
                </a:lnTo>
                <a:lnTo>
                  <a:pt x="26668" y="643200"/>
                </a:lnTo>
                <a:lnTo>
                  <a:pt x="43200" y="619200"/>
                </a:lnTo>
                <a:lnTo>
                  <a:pt x="43200" y="619200"/>
                </a:lnTo>
                <a:lnTo>
                  <a:pt x="26668" y="595200"/>
                </a:lnTo>
                <a:lnTo>
                  <a:pt x="12652" y="571200"/>
                </a:lnTo>
                <a:lnTo>
                  <a:pt x="3288" y="547200"/>
                </a:lnTo>
                <a:lnTo>
                  <a:pt x="0" y="523200"/>
                </a:lnTo>
                <a:lnTo>
                  <a:pt x="3288" y="499200"/>
                </a:lnTo>
                <a:lnTo>
                  <a:pt x="12652" y="475200"/>
                </a:lnTo>
                <a:lnTo>
                  <a:pt x="26668" y="451200"/>
                </a:lnTo>
                <a:lnTo>
                  <a:pt x="43200" y="427200"/>
                </a:lnTo>
                <a:lnTo>
                  <a:pt x="43200" y="427200"/>
                </a:lnTo>
                <a:lnTo>
                  <a:pt x="26668" y="403200"/>
                </a:lnTo>
                <a:lnTo>
                  <a:pt x="12652" y="379200"/>
                </a:lnTo>
                <a:lnTo>
                  <a:pt x="3288" y="355200"/>
                </a:lnTo>
                <a:lnTo>
                  <a:pt x="0" y="331200"/>
                </a:lnTo>
                <a:lnTo>
                  <a:pt x="3288" y="307200"/>
                </a:lnTo>
                <a:lnTo>
                  <a:pt x="12652" y="283200"/>
                </a:lnTo>
                <a:lnTo>
                  <a:pt x="26668" y="259200"/>
                </a:lnTo>
                <a:lnTo>
                  <a:pt x="43200" y="235200"/>
                </a:lnTo>
                <a:lnTo>
                  <a:pt x="43200" y="235200"/>
                </a:lnTo>
                <a:lnTo>
                  <a:pt x="26668" y="211200"/>
                </a:lnTo>
                <a:lnTo>
                  <a:pt x="12652" y="187200"/>
                </a:lnTo>
                <a:lnTo>
                  <a:pt x="3288" y="163200"/>
                </a:lnTo>
                <a:lnTo>
                  <a:pt x="0" y="139200"/>
                </a:lnTo>
                <a:lnTo>
                  <a:pt x="3288" y="115200"/>
                </a:lnTo>
                <a:lnTo>
                  <a:pt x="12652" y="91200"/>
                </a:lnTo>
                <a:lnTo>
                  <a:pt x="26668" y="67200"/>
                </a:lnTo>
                <a:lnTo>
                  <a:pt x="43200" y="43200"/>
                </a:lnTo>
                <a:close/>
              </a:path>
            </a:pathLst>
          </a:custGeom>
          <a:noFill/>
          <a:ln w="7620">
            <a:solidFill>
              <a:srgbClr val="A4433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560000" y="6192000"/>
            <a:ext cx="2556000" cy="972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50" b="0">
                <a:solidFill>
                  <a:srgbClr val="A44338"/>
                </a:solidFill>
                <a:latin typeface="Liberation Sans"/>
              </a:defRPr>
            </a:pPr>
            <a:r>
              <a:t>TBC #16</a:t>
            </a:r>
          </a:p>
          <a:p>
            <a:pPr>
              <a:spcAft>
                <a:spcPts val="400"/>
              </a:spcAft>
              <a:defRPr sz="850" b="0">
                <a:solidFill>
                  <a:srgbClr val="A44338"/>
                </a:solidFill>
                <a:latin typeface="Liberation Sans"/>
              </a:defRPr>
            </a:pPr>
            <a:r>
              <a:t>Head stations / aiming indicative.</a:t>
            </a:r>
          </a:p>
          <a:p>
            <a:pPr>
              <a:spcAft>
                <a:spcPts val="400"/>
              </a:spcAft>
              <a:defRPr sz="850" b="0">
                <a:solidFill>
                  <a:srgbClr val="A44338"/>
                </a:solidFill>
                <a:latin typeface="Liberation Sans"/>
              </a:defRPr>
            </a:pPr>
            <a:r>
              <a:t>Confirm MEP, fixings, drivers</a:t>
            </a:r>
          </a:p>
          <a:p>
            <a:pPr>
              <a:spcAft>
                <a:spcPts val="400"/>
              </a:spcAft>
              <a:defRPr sz="850" b="0">
                <a:solidFill>
                  <a:srgbClr val="A44338"/>
                </a:solidFill>
                <a:latin typeface="Liberation Sans"/>
              </a:defRPr>
            </a:pPr>
            <a:r>
              <a:t>and ceiling access on site.</a:t>
            </a:r>
          </a:p>
        </p:txBody>
      </p:sp>
      <p:cxnSp>
        <p:nvCxnSpPr>
          <p:cNvPr id="98" name="Connector 97"/>
          <p:cNvCxnSpPr/>
          <p:nvPr/>
        </p:nvCxnSpPr>
        <p:spPr>
          <a:xfrm>
            <a:off x="2700000" y="9522000"/>
            <a:ext cx="1800000" cy="0"/>
          </a:xfrm>
          <a:prstGeom prst="line">
            <a:avLst/>
          </a:prstGeom>
          <a:ln w="19050">
            <a:solidFill>
              <a:srgbClr val="252725"/>
            </a:solidFill>
          </a:ln>
          <a:effectLst/>
        </p:spPr>
      </p:cxnSp>
      <p:cxnSp>
        <p:nvCxnSpPr>
          <p:cNvPr id="99" name="Connector 98"/>
          <p:cNvCxnSpPr/>
          <p:nvPr/>
        </p:nvCxnSpPr>
        <p:spPr>
          <a:xfrm>
            <a:off x="2700000" y="9486000"/>
            <a:ext cx="0" cy="7200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cxnSp>
        <p:nvCxnSpPr>
          <p:cNvPr id="100" name="Connector 99"/>
          <p:cNvCxnSpPr/>
          <p:nvPr/>
        </p:nvCxnSpPr>
        <p:spPr>
          <a:xfrm>
            <a:off x="3600000" y="9486000"/>
            <a:ext cx="0" cy="7200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cxnSp>
        <p:nvCxnSpPr>
          <p:cNvPr id="101" name="Connector 100"/>
          <p:cNvCxnSpPr/>
          <p:nvPr/>
        </p:nvCxnSpPr>
        <p:spPr>
          <a:xfrm>
            <a:off x="4500000" y="9486000"/>
            <a:ext cx="0" cy="7200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sp>
        <p:nvSpPr>
          <p:cNvPr id="102" name="TextBox 101"/>
          <p:cNvSpPr txBox="1"/>
          <p:nvPr/>
        </p:nvSpPr>
        <p:spPr>
          <a:xfrm>
            <a:off x="2700000" y="9594000"/>
            <a:ext cx="2340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700" b="0">
                <a:solidFill>
                  <a:srgbClr val="737871"/>
                </a:solidFill>
                <a:latin typeface="Liberation Sans"/>
              </a:defRPr>
            </a:pPr>
            <a:r>
              <a:t>0                         1000 mm   |   1:20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360000"/>
            <a:ext cx="10620000" cy="216000"/>
          </a:xfrm>
          <a:prstGeom prst="rect">
            <a:avLst/>
          </a:prstGeom>
          <a:noFill/>
          <a:effectLst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9A825A"/>
                </a:solidFill>
                <a:latin typeface="Liberation Sans"/>
              </a:defRPr>
            </a:pPr>
            <a:r>
              <a:t>BORN FRAGRANCE  /  ARCHITECTURE + INTERIOR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720000"/>
            <a:ext cx="11880000" cy="504000"/>
          </a:xfrm>
          <a:prstGeom prst="rect">
            <a:avLst/>
          </a:prstGeom>
          <a:noFill/>
          <a:effectLst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300" b="0">
                <a:solidFill>
                  <a:srgbClr val="252725"/>
                </a:solidFill>
                <a:latin typeface="Liberation Serif"/>
              </a:defRPr>
            </a:pPr>
            <a:r>
              <a:t>Storefront / external elevation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1296000"/>
            <a:ext cx="12420000" cy="288000"/>
          </a:xfrm>
          <a:prstGeom prst="rect">
            <a:avLst/>
          </a:prstGeom>
          <a:noFill/>
          <a:effectLst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737871"/>
                </a:solidFill>
                <a:latin typeface="Liberation Sans"/>
              </a:defRPr>
            </a:pPr>
            <a:r>
              <a:t>Developed storefront · street-facing displays, glazed entrance and halo-lit brand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40000" y="468000"/>
            <a:ext cx="1368000" cy="619671"/>
          </a:xfrm>
          <a:prstGeom prst="rect">
            <a:avLst/>
          </a:prstGeom>
          <a:effectLst/>
          <a:effectLst/>
        </p:spPr>
      </p:pic>
      <p:cxnSp>
        <p:nvCxnSpPr>
          <p:cNvPr id="6" name="Connector 5"/>
          <p:cNvCxnSpPr/>
          <p:nvPr/>
        </p:nvCxnSpPr>
        <p:spPr>
          <a:xfrm>
            <a:off x="540000" y="1728000"/>
            <a:ext cx="14040000" cy="0"/>
          </a:xfrm>
          <a:prstGeom prst="line">
            <a:avLst/>
          </a:prstGeom>
          <a:ln w="8890">
            <a:solidFill>
              <a:srgbClr val="9A825A"/>
            </a:solidFill>
          </a:ln>
          <a:effectLst/>
          <a:effectLst/>
        </p:spPr>
      </p:cxnSp>
      <p:cxnSp>
        <p:nvCxnSpPr>
          <p:cNvPr id="7" name="Connector 6"/>
          <p:cNvCxnSpPr/>
          <p:nvPr/>
        </p:nvCxnSpPr>
        <p:spPr>
          <a:xfrm>
            <a:off x="540000" y="9792000"/>
            <a:ext cx="14040000" cy="0"/>
          </a:xfrm>
          <a:prstGeom prst="line">
            <a:avLst/>
          </a:prstGeom>
          <a:ln w="8890">
            <a:solidFill>
              <a:srgbClr val="9A825A"/>
            </a:solidFill>
          </a:ln>
          <a:effectLst/>
          <a:effectLst/>
        </p:spPr>
      </p:cxnSp>
      <p:sp>
        <p:nvSpPr>
          <p:cNvPr id="8" name="TextBox 7"/>
          <p:cNvSpPr txBox="1"/>
          <p:nvPr/>
        </p:nvSpPr>
        <p:spPr>
          <a:xfrm>
            <a:off x="540000" y="10008000"/>
            <a:ext cx="7128000" cy="360000"/>
          </a:xfrm>
          <a:prstGeom prst="rect">
            <a:avLst/>
          </a:prstGeom>
          <a:noFill/>
          <a:effectLst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750" b="0">
                <a:solidFill>
                  <a:srgbClr val="737871"/>
                </a:solidFill>
                <a:latin typeface="Liberation Sans"/>
              </a:defRPr>
            </a:pPr>
            <a:r>
              <a:t>FOR COORDINATION  ·  SITE ITEMS OPEN  ·  REV D
06 OCT 2026  /  SOURCE REV A</a:t>
            </a:r>
          </a:p>
          <a:p>
            <a:pPr>
              <a:spcAft>
                <a:spcPts val="400"/>
              </a:spcAft>
              <a:defRPr sz="750" b="0">
                <a:solidFill>
                  <a:srgbClr val="737871"/>
                </a:solidFill>
                <a:latin typeface="Liberation Sans"/>
              </a:defRPr>
            </a:pPr>
            <a:r>
              <a:t>06 OCT 2026  /  SOURCE REV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04000" y="10008000"/>
            <a:ext cx="5220000" cy="360000"/>
          </a:xfrm>
          <a:prstGeom prst="rect">
            <a:avLst/>
          </a:prstGeom>
          <a:noFill/>
          <a:effectLst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750" b="0">
                <a:solidFill>
                  <a:srgbClr val="737871"/>
                </a:solidFill>
                <a:latin typeface="Liberation Sans"/>
              </a:defRPr>
            </a:pPr>
            <a:r>
              <a:t>1:20 @ A3  ·  DIMENSIONS mm</a:t>
            </a:r>
          </a:p>
          <a:p>
            <a:pPr>
              <a:spcAft>
                <a:spcPts val="400"/>
              </a:spcAft>
              <a:defRPr sz="750" b="0">
                <a:solidFill>
                  <a:srgbClr val="737871"/>
                </a:solidFill>
                <a:latin typeface="Liberation Sans"/>
              </a:defRPr>
            </a:pPr>
            <a:r>
              <a:t>SPEC SNAPSHOT eeccbde1cd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392000" y="10008000"/>
            <a:ext cx="1152000" cy="288000"/>
          </a:xfrm>
          <a:prstGeom prst="rect">
            <a:avLst/>
          </a:prstGeom>
          <a:noFill/>
          <a:effectLst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252725"/>
                </a:solidFill>
                <a:latin typeface="Liberation Sans"/>
              </a:defRPr>
            </a:pPr>
            <a:r>
              <a:t>AP-06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08000" y="2088000"/>
            <a:ext cx="3564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9A825A"/>
                </a:solidFill>
                <a:latin typeface="Liberation Sans"/>
              </a:defRPr>
            </a:pPr>
            <a:r>
              <a:t>DISPLAY COLUMNS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08000" y="2448000"/>
            <a:ext cx="3528000" cy="122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450 wide, 450 deep; shelf depth 250. Black frame and folded trays; warm concealed LEDs. Bottles indicate use only.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08000" y="3852000"/>
            <a:ext cx="3564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9A825A"/>
                </a:solidFill>
                <a:latin typeface="Liberation Sans"/>
              </a:defRPr>
            </a:pPr>
            <a:r>
              <a:t>CLEAR GLASS ENTRANCE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08000" y="4212000"/>
            <a:ext cx="3528000" cy="122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488 fixed pane, 1000 pivot leaf; 12 toughened glass. Faint rear joinery is visible through glass, not applied to 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08000" y="5616000"/>
            <a:ext cx="3564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9A825A"/>
                </a:solidFill>
                <a:latin typeface="Liberation Sans"/>
              </a:defRPr>
            </a:pPr>
            <a:r>
              <a:t>BRANDING / FINISH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08000" y="5976000"/>
            <a:ext cx="3528000" cy="122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600-high plaster fascia. 1000-wide native logo; black halo-lit letters on 25 stand-offs. Supports remain TBC #16.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08000" y="7380000"/>
            <a:ext cx="3564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9A825A"/>
                </a:solidFill>
                <a:latin typeface="Liberation Sans"/>
              </a:defRPr>
            </a:pPr>
            <a:r>
              <a:t>GLAZING COORDINATION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08000" y="7740000"/>
            <a:ext cx="3528000" cy="122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Door fittings are indicative only. Handle, pivots, patch fittings, structural support and glass procurement require supplier confirmation.</a:t>
            </a:r>
          </a:p>
        </p:txBody>
      </p:sp>
      <p:sp>
        <p:nvSpPr>
          <p:cNvPr id="19" name="GEOM:storefront-envelope"/>
          <p:cNvSpPr/>
          <p:nvPr/>
        </p:nvSpPr>
        <p:spPr>
          <a:xfrm>
            <a:off x="2340000" y="2772000"/>
            <a:ext cx="4320000" cy="5760000"/>
          </a:xfrm>
          <a:prstGeom prst="rect">
            <a:avLst/>
          </a:prstGeom>
          <a:noFill/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340000" y="2772000"/>
            <a:ext cx="4320000" cy="1080000"/>
          </a:xfrm>
          <a:prstGeom prst="rect">
            <a:avLst/>
          </a:prstGeom>
          <a:solidFill>
            <a:srgbClr val="E8E1D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000" y="2904321"/>
            <a:ext cx="1800000" cy="815357"/>
          </a:xfrm>
          <a:prstGeom prst="rect">
            <a:avLst/>
          </a:prstGeom>
          <a:effectLst/>
        </p:spPr>
      </p:pic>
      <p:sp>
        <p:nvSpPr>
          <p:cNvPr id="22" name="Rectangle 21"/>
          <p:cNvSpPr/>
          <p:nvPr/>
        </p:nvSpPr>
        <p:spPr>
          <a:xfrm>
            <a:off x="3150000" y="7452000"/>
            <a:ext cx="540000" cy="1080000"/>
          </a:xfrm>
          <a:prstGeom prst="rect">
            <a:avLst/>
          </a:prstGeom>
          <a:noFill/>
          <a:ln w="8890">
            <a:solidFill>
              <a:srgbClr val="D7D0C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3150000" y="7452000"/>
            <a:ext cx="540000" cy="0"/>
          </a:xfrm>
          <a:prstGeom prst="line">
            <a:avLst/>
          </a:prstGeom>
          <a:ln w="3810">
            <a:solidFill>
              <a:srgbClr val="D7D0C3"/>
            </a:solidFill>
          </a:ln>
          <a:effectLst/>
        </p:spPr>
      </p:cxnSp>
      <p:cxnSp>
        <p:nvCxnSpPr>
          <p:cNvPr id="24" name="Connector 23"/>
          <p:cNvCxnSpPr/>
          <p:nvPr/>
        </p:nvCxnSpPr>
        <p:spPr>
          <a:xfrm>
            <a:off x="3150000" y="6732000"/>
            <a:ext cx="540000" cy="0"/>
          </a:xfrm>
          <a:prstGeom prst="line">
            <a:avLst/>
          </a:prstGeom>
          <a:ln w="3810">
            <a:solidFill>
              <a:srgbClr val="D7D0C3"/>
            </a:solidFill>
          </a:ln>
          <a:effectLst/>
        </p:spPr>
      </p:cxnSp>
      <p:cxnSp>
        <p:nvCxnSpPr>
          <p:cNvPr id="25" name="Connector 24"/>
          <p:cNvCxnSpPr/>
          <p:nvPr/>
        </p:nvCxnSpPr>
        <p:spPr>
          <a:xfrm>
            <a:off x="3150000" y="6012000"/>
            <a:ext cx="540000" cy="0"/>
          </a:xfrm>
          <a:prstGeom prst="line">
            <a:avLst/>
          </a:prstGeom>
          <a:ln w="3810">
            <a:solidFill>
              <a:srgbClr val="D7D0C3"/>
            </a:solidFill>
          </a:ln>
          <a:effectLst/>
        </p:spPr>
      </p:cxnSp>
      <p:cxnSp>
        <p:nvCxnSpPr>
          <p:cNvPr id="26" name="Connector 25"/>
          <p:cNvCxnSpPr/>
          <p:nvPr/>
        </p:nvCxnSpPr>
        <p:spPr>
          <a:xfrm>
            <a:off x="3150000" y="5292000"/>
            <a:ext cx="540000" cy="0"/>
          </a:xfrm>
          <a:prstGeom prst="line">
            <a:avLst/>
          </a:prstGeom>
          <a:ln w="3810">
            <a:solidFill>
              <a:srgbClr val="D7D0C3"/>
            </a:solidFill>
          </a:ln>
          <a:effectLst/>
        </p:spPr>
      </p:cxnSp>
      <p:cxnSp>
        <p:nvCxnSpPr>
          <p:cNvPr id="27" name="Connector 26"/>
          <p:cNvCxnSpPr/>
          <p:nvPr/>
        </p:nvCxnSpPr>
        <p:spPr>
          <a:xfrm>
            <a:off x="3150000" y="4572000"/>
            <a:ext cx="540000" cy="0"/>
          </a:xfrm>
          <a:prstGeom prst="line">
            <a:avLst/>
          </a:prstGeom>
          <a:ln w="3810">
            <a:solidFill>
              <a:srgbClr val="D7D0C3"/>
            </a:solidFill>
          </a:ln>
          <a:effectLst/>
        </p:spPr>
      </p:cxnSp>
      <p:sp>
        <p:nvSpPr>
          <p:cNvPr id="28" name="Rectangle 27"/>
          <p:cNvSpPr/>
          <p:nvPr/>
        </p:nvSpPr>
        <p:spPr>
          <a:xfrm>
            <a:off x="5310000" y="7452000"/>
            <a:ext cx="540000" cy="1080000"/>
          </a:xfrm>
          <a:prstGeom prst="rect">
            <a:avLst/>
          </a:prstGeom>
          <a:noFill/>
          <a:ln w="8890">
            <a:solidFill>
              <a:srgbClr val="D7D0C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10000" y="7452000"/>
            <a:ext cx="540000" cy="0"/>
          </a:xfrm>
          <a:prstGeom prst="line">
            <a:avLst/>
          </a:prstGeom>
          <a:ln w="3810">
            <a:solidFill>
              <a:srgbClr val="D7D0C3"/>
            </a:solidFill>
          </a:ln>
          <a:effectLst/>
        </p:spPr>
      </p:cxnSp>
      <p:cxnSp>
        <p:nvCxnSpPr>
          <p:cNvPr id="30" name="Connector 29"/>
          <p:cNvCxnSpPr/>
          <p:nvPr/>
        </p:nvCxnSpPr>
        <p:spPr>
          <a:xfrm>
            <a:off x="5310000" y="6732000"/>
            <a:ext cx="540000" cy="0"/>
          </a:xfrm>
          <a:prstGeom prst="line">
            <a:avLst/>
          </a:prstGeom>
          <a:ln w="3810">
            <a:solidFill>
              <a:srgbClr val="D7D0C3"/>
            </a:solidFill>
          </a:ln>
          <a:effectLst/>
        </p:spPr>
      </p:cxnSp>
      <p:cxnSp>
        <p:nvCxnSpPr>
          <p:cNvPr id="31" name="Connector 30"/>
          <p:cNvCxnSpPr/>
          <p:nvPr/>
        </p:nvCxnSpPr>
        <p:spPr>
          <a:xfrm>
            <a:off x="5310000" y="6012000"/>
            <a:ext cx="540000" cy="0"/>
          </a:xfrm>
          <a:prstGeom prst="line">
            <a:avLst/>
          </a:prstGeom>
          <a:ln w="3810">
            <a:solidFill>
              <a:srgbClr val="D7D0C3"/>
            </a:solidFill>
          </a:ln>
          <a:effectLst/>
        </p:spPr>
      </p:cxnSp>
      <p:cxnSp>
        <p:nvCxnSpPr>
          <p:cNvPr id="32" name="Connector 31"/>
          <p:cNvCxnSpPr/>
          <p:nvPr/>
        </p:nvCxnSpPr>
        <p:spPr>
          <a:xfrm>
            <a:off x="5310000" y="5292000"/>
            <a:ext cx="540000" cy="0"/>
          </a:xfrm>
          <a:prstGeom prst="line">
            <a:avLst/>
          </a:prstGeom>
          <a:ln w="3810">
            <a:solidFill>
              <a:srgbClr val="D7D0C3"/>
            </a:solidFill>
          </a:ln>
          <a:effectLst/>
        </p:spPr>
      </p:cxnSp>
      <p:cxnSp>
        <p:nvCxnSpPr>
          <p:cNvPr id="33" name="Connector 32"/>
          <p:cNvCxnSpPr/>
          <p:nvPr/>
        </p:nvCxnSpPr>
        <p:spPr>
          <a:xfrm>
            <a:off x="5310000" y="4572000"/>
            <a:ext cx="540000" cy="0"/>
          </a:xfrm>
          <a:prstGeom prst="line">
            <a:avLst/>
          </a:prstGeom>
          <a:ln w="3810">
            <a:solidFill>
              <a:srgbClr val="D7D0C3"/>
            </a:solidFill>
          </a:ln>
          <a:effectLst/>
        </p:spPr>
      </p:cxnSp>
      <p:sp>
        <p:nvSpPr>
          <p:cNvPr id="34" name="Rectangle 33"/>
          <p:cNvSpPr/>
          <p:nvPr/>
        </p:nvSpPr>
        <p:spPr>
          <a:xfrm>
            <a:off x="3600000" y="6912000"/>
            <a:ext cx="1800000" cy="1620000"/>
          </a:xfrm>
          <a:prstGeom prst="rect">
            <a:avLst/>
          </a:prstGeom>
          <a:noFill/>
          <a:ln w="8890">
            <a:solidFill>
              <a:srgbClr val="D7D0C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340000" y="3852000"/>
            <a:ext cx="810000" cy="4680000"/>
          </a:xfrm>
          <a:prstGeom prst="rect">
            <a:avLst/>
          </a:prstGeom>
          <a:solidFill>
            <a:srgbClr val="E8DFCF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340000" y="3852000"/>
            <a:ext cx="810000" cy="720000"/>
          </a:xfrm>
          <a:prstGeom prst="rect">
            <a:avLst/>
          </a:prstGeom>
          <a:solidFill>
            <a:srgbClr val="B6AD9A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7" name="Connector 36"/>
          <p:cNvCxnSpPr/>
          <p:nvPr/>
        </p:nvCxnSpPr>
        <p:spPr>
          <a:xfrm flipV="1">
            <a:off x="2340000" y="3852000"/>
            <a:ext cx="36000" cy="72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38" name="Connector 37"/>
          <p:cNvCxnSpPr/>
          <p:nvPr/>
        </p:nvCxnSpPr>
        <p:spPr>
          <a:xfrm>
            <a:off x="2340000" y="4500000"/>
            <a:ext cx="36000" cy="72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39" name="Connector 38"/>
          <p:cNvCxnSpPr/>
          <p:nvPr/>
        </p:nvCxnSpPr>
        <p:spPr>
          <a:xfrm flipV="1">
            <a:off x="2340000" y="3852000"/>
            <a:ext cx="72000" cy="144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40" name="Connector 39"/>
          <p:cNvCxnSpPr/>
          <p:nvPr/>
        </p:nvCxnSpPr>
        <p:spPr>
          <a:xfrm>
            <a:off x="2340000" y="4428000"/>
            <a:ext cx="72000" cy="144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41" name="Connector 40"/>
          <p:cNvCxnSpPr/>
          <p:nvPr/>
        </p:nvCxnSpPr>
        <p:spPr>
          <a:xfrm flipV="1">
            <a:off x="2340000" y="3852000"/>
            <a:ext cx="108000" cy="216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42" name="Connector 41"/>
          <p:cNvCxnSpPr/>
          <p:nvPr/>
        </p:nvCxnSpPr>
        <p:spPr>
          <a:xfrm>
            <a:off x="2340000" y="4356000"/>
            <a:ext cx="108000" cy="216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43" name="Connector 42"/>
          <p:cNvCxnSpPr/>
          <p:nvPr/>
        </p:nvCxnSpPr>
        <p:spPr>
          <a:xfrm flipV="1">
            <a:off x="2340000" y="3852000"/>
            <a:ext cx="144000" cy="288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44" name="Connector 43"/>
          <p:cNvCxnSpPr/>
          <p:nvPr/>
        </p:nvCxnSpPr>
        <p:spPr>
          <a:xfrm>
            <a:off x="2340000" y="4284000"/>
            <a:ext cx="144000" cy="288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45" name="Connector 44"/>
          <p:cNvCxnSpPr/>
          <p:nvPr/>
        </p:nvCxnSpPr>
        <p:spPr>
          <a:xfrm flipV="1">
            <a:off x="2340000" y="3852000"/>
            <a:ext cx="180000" cy="36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46" name="Connector 45"/>
          <p:cNvCxnSpPr/>
          <p:nvPr/>
        </p:nvCxnSpPr>
        <p:spPr>
          <a:xfrm>
            <a:off x="2340000" y="4212000"/>
            <a:ext cx="180000" cy="36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47" name="Connector 46"/>
          <p:cNvCxnSpPr/>
          <p:nvPr/>
        </p:nvCxnSpPr>
        <p:spPr>
          <a:xfrm flipV="1">
            <a:off x="2340000" y="3852000"/>
            <a:ext cx="216000" cy="432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48" name="Connector 47"/>
          <p:cNvCxnSpPr/>
          <p:nvPr/>
        </p:nvCxnSpPr>
        <p:spPr>
          <a:xfrm>
            <a:off x="2340000" y="4140000"/>
            <a:ext cx="216000" cy="432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49" name="Connector 48"/>
          <p:cNvCxnSpPr/>
          <p:nvPr/>
        </p:nvCxnSpPr>
        <p:spPr>
          <a:xfrm flipV="1">
            <a:off x="2340000" y="3852000"/>
            <a:ext cx="252000" cy="504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50" name="Connector 49"/>
          <p:cNvCxnSpPr/>
          <p:nvPr/>
        </p:nvCxnSpPr>
        <p:spPr>
          <a:xfrm>
            <a:off x="2340000" y="4068000"/>
            <a:ext cx="252000" cy="504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51" name="Connector 50"/>
          <p:cNvCxnSpPr/>
          <p:nvPr/>
        </p:nvCxnSpPr>
        <p:spPr>
          <a:xfrm flipV="1">
            <a:off x="2340000" y="3852000"/>
            <a:ext cx="288000" cy="576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52" name="Connector 51"/>
          <p:cNvCxnSpPr/>
          <p:nvPr/>
        </p:nvCxnSpPr>
        <p:spPr>
          <a:xfrm>
            <a:off x="2340000" y="3996000"/>
            <a:ext cx="288000" cy="576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53" name="Connector 52"/>
          <p:cNvCxnSpPr/>
          <p:nvPr/>
        </p:nvCxnSpPr>
        <p:spPr>
          <a:xfrm flipV="1">
            <a:off x="2340000" y="3852000"/>
            <a:ext cx="324000" cy="648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54" name="Connector 53"/>
          <p:cNvCxnSpPr/>
          <p:nvPr/>
        </p:nvCxnSpPr>
        <p:spPr>
          <a:xfrm>
            <a:off x="2340000" y="3924000"/>
            <a:ext cx="324000" cy="648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55" name="Connector 54"/>
          <p:cNvCxnSpPr/>
          <p:nvPr/>
        </p:nvCxnSpPr>
        <p:spPr>
          <a:xfrm flipV="1">
            <a:off x="2340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56" name="Connector 55"/>
          <p:cNvCxnSpPr/>
          <p:nvPr/>
        </p:nvCxnSpPr>
        <p:spPr>
          <a:xfrm>
            <a:off x="2340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57" name="Connector 56"/>
          <p:cNvCxnSpPr/>
          <p:nvPr/>
        </p:nvCxnSpPr>
        <p:spPr>
          <a:xfrm flipV="1">
            <a:off x="2376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58" name="Connector 57"/>
          <p:cNvCxnSpPr/>
          <p:nvPr/>
        </p:nvCxnSpPr>
        <p:spPr>
          <a:xfrm>
            <a:off x="2376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59" name="Connector 58"/>
          <p:cNvCxnSpPr/>
          <p:nvPr/>
        </p:nvCxnSpPr>
        <p:spPr>
          <a:xfrm flipV="1">
            <a:off x="2412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60" name="Connector 59"/>
          <p:cNvCxnSpPr/>
          <p:nvPr/>
        </p:nvCxnSpPr>
        <p:spPr>
          <a:xfrm>
            <a:off x="2412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61" name="Connector 60"/>
          <p:cNvCxnSpPr/>
          <p:nvPr/>
        </p:nvCxnSpPr>
        <p:spPr>
          <a:xfrm flipV="1">
            <a:off x="2448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62" name="Connector 61"/>
          <p:cNvCxnSpPr/>
          <p:nvPr/>
        </p:nvCxnSpPr>
        <p:spPr>
          <a:xfrm>
            <a:off x="2448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63" name="Connector 62"/>
          <p:cNvCxnSpPr/>
          <p:nvPr/>
        </p:nvCxnSpPr>
        <p:spPr>
          <a:xfrm flipV="1">
            <a:off x="2484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64" name="Connector 63"/>
          <p:cNvCxnSpPr/>
          <p:nvPr/>
        </p:nvCxnSpPr>
        <p:spPr>
          <a:xfrm>
            <a:off x="2484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65" name="Connector 64"/>
          <p:cNvCxnSpPr/>
          <p:nvPr/>
        </p:nvCxnSpPr>
        <p:spPr>
          <a:xfrm flipV="1">
            <a:off x="2520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66" name="Connector 65"/>
          <p:cNvCxnSpPr/>
          <p:nvPr/>
        </p:nvCxnSpPr>
        <p:spPr>
          <a:xfrm>
            <a:off x="2520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67" name="Connector 66"/>
          <p:cNvCxnSpPr/>
          <p:nvPr/>
        </p:nvCxnSpPr>
        <p:spPr>
          <a:xfrm flipV="1">
            <a:off x="2556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68" name="Connector 67"/>
          <p:cNvCxnSpPr/>
          <p:nvPr/>
        </p:nvCxnSpPr>
        <p:spPr>
          <a:xfrm>
            <a:off x="2556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69" name="Connector 68"/>
          <p:cNvCxnSpPr/>
          <p:nvPr/>
        </p:nvCxnSpPr>
        <p:spPr>
          <a:xfrm flipV="1">
            <a:off x="2592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70" name="Connector 69"/>
          <p:cNvCxnSpPr/>
          <p:nvPr/>
        </p:nvCxnSpPr>
        <p:spPr>
          <a:xfrm>
            <a:off x="2592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71" name="Connector 70"/>
          <p:cNvCxnSpPr/>
          <p:nvPr/>
        </p:nvCxnSpPr>
        <p:spPr>
          <a:xfrm flipV="1">
            <a:off x="2628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72" name="Connector 71"/>
          <p:cNvCxnSpPr/>
          <p:nvPr/>
        </p:nvCxnSpPr>
        <p:spPr>
          <a:xfrm>
            <a:off x="2628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73" name="Connector 72"/>
          <p:cNvCxnSpPr/>
          <p:nvPr/>
        </p:nvCxnSpPr>
        <p:spPr>
          <a:xfrm flipV="1">
            <a:off x="2664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74" name="Connector 73"/>
          <p:cNvCxnSpPr/>
          <p:nvPr/>
        </p:nvCxnSpPr>
        <p:spPr>
          <a:xfrm>
            <a:off x="2664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75" name="Connector 74"/>
          <p:cNvCxnSpPr/>
          <p:nvPr/>
        </p:nvCxnSpPr>
        <p:spPr>
          <a:xfrm flipV="1">
            <a:off x="2700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76" name="Connector 75"/>
          <p:cNvCxnSpPr/>
          <p:nvPr/>
        </p:nvCxnSpPr>
        <p:spPr>
          <a:xfrm>
            <a:off x="2700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77" name="Connector 76"/>
          <p:cNvCxnSpPr/>
          <p:nvPr/>
        </p:nvCxnSpPr>
        <p:spPr>
          <a:xfrm flipV="1">
            <a:off x="2736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78" name="Connector 77"/>
          <p:cNvCxnSpPr/>
          <p:nvPr/>
        </p:nvCxnSpPr>
        <p:spPr>
          <a:xfrm>
            <a:off x="2736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79" name="Connector 78"/>
          <p:cNvCxnSpPr/>
          <p:nvPr/>
        </p:nvCxnSpPr>
        <p:spPr>
          <a:xfrm flipV="1">
            <a:off x="2772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80" name="Connector 79"/>
          <p:cNvCxnSpPr/>
          <p:nvPr/>
        </p:nvCxnSpPr>
        <p:spPr>
          <a:xfrm>
            <a:off x="2772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81" name="Connector 80"/>
          <p:cNvCxnSpPr/>
          <p:nvPr/>
        </p:nvCxnSpPr>
        <p:spPr>
          <a:xfrm flipV="1">
            <a:off x="2808000" y="3888000"/>
            <a:ext cx="342000" cy="684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82" name="Connector 81"/>
          <p:cNvCxnSpPr/>
          <p:nvPr/>
        </p:nvCxnSpPr>
        <p:spPr>
          <a:xfrm>
            <a:off x="2808000" y="3852000"/>
            <a:ext cx="342000" cy="684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83" name="Connector 82"/>
          <p:cNvCxnSpPr/>
          <p:nvPr/>
        </p:nvCxnSpPr>
        <p:spPr>
          <a:xfrm flipV="1">
            <a:off x="2844000" y="3960000"/>
            <a:ext cx="306000" cy="612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84" name="Connector 83"/>
          <p:cNvCxnSpPr/>
          <p:nvPr/>
        </p:nvCxnSpPr>
        <p:spPr>
          <a:xfrm>
            <a:off x="2844000" y="3852000"/>
            <a:ext cx="306000" cy="612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85" name="Connector 84"/>
          <p:cNvCxnSpPr/>
          <p:nvPr/>
        </p:nvCxnSpPr>
        <p:spPr>
          <a:xfrm flipV="1">
            <a:off x="2880000" y="4032000"/>
            <a:ext cx="270000" cy="54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86" name="Connector 85"/>
          <p:cNvCxnSpPr/>
          <p:nvPr/>
        </p:nvCxnSpPr>
        <p:spPr>
          <a:xfrm>
            <a:off x="2880000" y="3852000"/>
            <a:ext cx="270000" cy="54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87" name="Connector 86"/>
          <p:cNvCxnSpPr/>
          <p:nvPr/>
        </p:nvCxnSpPr>
        <p:spPr>
          <a:xfrm flipV="1">
            <a:off x="2916000" y="4104000"/>
            <a:ext cx="234000" cy="468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88" name="Connector 87"/>
          <p:cNvCxnSpPr/>
          <p:nvPr/>
        </p:nvCxnSpPr>
        <p:spPr>
          <a:xfrm>
            <a:off x="2916000" y="3852000"/>
            <a:ext cx="234000" cy="468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89" name="Connector 88"/>
          <p:cNvCxnSpPr/>
          <p:nvPr/>
        </p:nvCxnSpPr>
        <p:spPr>
          <a:xfrm flipV="1">
            <a:off x="2952000" y="4176000"/>
            <a:ext cx="198000" cy="396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90" name="Connector 89"/>
          <p:cNvCxnSpPr/>
          <p:nvPr/>
        </p:nvCxnSpPr>
        <p:spPr>
          <a:xfrm>
            <a:off x="2952000" y="3852000"/>
            <a:ext cx="198000" cy="396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91" name="Connector 90"/>
          <p:cNvCxnSpPr/>
          <p:nvPr/>
        </p:nvCxnSpPr>
        <p:spPr>
          <a:xfrm flipV="1">
            <a:off x="2988000" y="4248000"/>
            <a:ext cx="162000" cy="324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92" name="Connector 91"/>
          <p:cNvCxnSpPr/>
          <p:nvPr/>
        </p:nvCxnSpPr>
        <p:spPr>
          <a:xfrm>
            <a:off x="2988000" y="3852000"/>
            <a:ext cx="162000" cy="324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93" name="Connector 92"/>
          <p:cNvCxnSpPr/>
          <p:nvPr/>
        </p:nvCxnSpPr>
        <p:spPr>
          <a:xfrm flipV="1">
            <a:off x="3024000" y="4320000"/>
            <a:ext cx="126000" cy="252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94" name="Connector 93"/>
          <p:cNvCxnSpPr/>
          <p:nvPr/>
        </p:nvCxnSpPr>
        <p:spPr>
          <a:xfrm>
            <a:off x="3024000" y="3852000"/>
            <a:ext cx="126000" cy="252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95" name="Connector 94"/>
          <p:cNvCxnSpPr/>
          <p:nvPr/>
        </p:nvCxnSpPr>
        <p:spPr>
          <a:xfrm flipV="1">
            <a:off x="3060000" y="4392000"/>
            <a:ext cx="90000" cy="18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96" name="Connector 95"/>
          <p:cNvCxnSpPr/>
          <p:nvPr/>
        </p:nvCxnSpPr>
        <p:spPr>
          <a:xfrm>
            <a:off x="3060000" y="3852000"/>
            <a:ext cx="90000" cy="18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97" name="Connector 96"/>
          <p:cNvCxnSpPr/>
          <p:nvPr/>
        </p:nvCxnSpPr>
        <p:spPr>
          <a:xfrm flipV="1">
            <a:off x="3096000" y="4464000"/>
            <a:ext cx="54000" cy="108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98" name="Connector 97"/>
          <p:cNvCxnSpPr/>
          <p:nvPr/>
        </p:nvCxnSpPr>
        <p:spPr>
          <a:xfrm>
            <a:off x="3096000" y="3852000"/>
            <a:ext cx="54000" cy="108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99" name="Connector 98"/>
          <p:cNvCxnSpPr/>
          <p:nvPr/>
        </p:nvCxnSpPr>
        <p:spPr>
          <a:xfrm flipV="1">
            <a:off x="3132000" y="4536000"/>
            <a:ext cx="18000" cy="36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00" name="Connector 99"/>
          <p:cNvCxnSpPr/>
          <p:nvPr/>
        </p:nvCxnSpPr>
        <p:spPr>
          <a:xfrm>
            <a:off x="3132000" y="3852000"/>
            <a:ext cx="18000" cy="36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sp>
        <p:nvSpPr>
          <p:cNvPr id="101" name="Rectangle 100"/>
          <p:cNvSpPr/>
          <p:nvPr/>
        </p:nvSpPr>
        <p:spPr>
          <a:xfrm>
            <a:off x="2340000" y="3852000"/>
            <a:ext cx="45000" cy="468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3105000" y="3852000"/>
            <a:ext cx="45000" cy="468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2340000" y="3852000"/>
            <a:ext cx="810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2340000" y="7452000"/>
            <a:ext cx="810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05" name="Connector 104"/>
          <p:cNvCxnSpPr/>
          <p:nvPr/>
        </p:nvCxnSpPr>
        <p:spPr>
          <a:xfrm>
            <a:off x="2385000" y="7491600"/>
            <a:ext cx="720000" cy="0"/>
          </a:xfrm>
          <a:prstGeom prst="line">
            <a:avLst/>
          </a:prstGeom>
          <a:ln w="10160">
            <a:solidFill>
              <a:srgbClr val="9A825A"/>
            </a:solidFill>
          </a:ln>
          <a:effectLst/>
        </p:spPr>
      </p:cxnSp>
      <p:sp>
        <p:nvSpPr>
          <p:cNvPr id="106" name="Rectangle 105"/>
          <p:cNvSpPr/>
          <p:nvPr/>
        </p:nvSpPr>
        <p:spPr>
          <a:xfrm>
            <a:off x="2484000" y="7275600"/>
            <a:ext cx="90000" cy="171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2508300" y="7243200"/>
            <a:ext cx="41400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08" name="Connector 107"/>
          <p:cNvCxnSpPr/>
          <p:nvPr/>
        </p:nvCxnSpPr>
        <p:spPr>
          <a:xfrm>
            <a:off x="2498400" y="7374780"/>
            <a:ext cx="612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109" name="Rectangle 108"/>
          <p:cNvSpPr/>
          <p:nvPr/>
        </p:nvSpPr>
        <p:spPr>
          <a:xfrm>
            <a:off x="2880000" y="7230600"/>
            <a:ext cx="111600" cy="216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2910132" y="7198200"/>
            <a:ext cx="51336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11" name="Connector 110"/>
          <p:cNvCxnSpPr/>
          <p:nvPr/>
        </p:nvCxnSpPr>
        <p:spPr>
          <a:xfrm>
            <a:off x="2894400" y="7355879"/>
            <a:ext cx="828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112" name="Rectangle 111"/>
          <p:cNvSpPr/>
          <p:nvPr/>
        </p:nvSpPr>
        <p:spPr>
          <a:xfrm>
            <a:off x="2340000" y="6732000"/>
            <a:ext cx="810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13" name="Connector 112"/>
          <p:cNvCxnSpPr/>
          <p:nvPr/>
        </p:nvCxnSpPr>
        <p:spPr>
          <a:xfrm>
            <a:off x="2385000" y="6771600"/>
            <a:ext cx="720000" cy="0"/>
          </a:xfrm>
          <a:prstGeom prst="line">
            <a:avLst/>
          </a:prstGeom>
          <a:ln w="10160">
            <a:solidFill>
              <a:srgbClr val="9A825A"/>
            </a:solidFill>
          </a:ln>
          <a:effectLst/>
        </p:spPr>
      </p:cxnSp>
      <p:sp>
        <p:nvSpPr>
          <p:cNvPr id="114" name="Rectangle 113"/>
          <p:cNvSpPr/>
          <p:nvPr/>
        </p:nvSpPr>
        <p:spPr>
          <a:xfrm>
            <a:off x="2484000" y="6510600"/>
            <a:ext cx="111600" cy="216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2514132" y="6478200"/>
            <a:ext cx="51336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16" name="Connector 115"/>
          <p:cNvCxnSpPr/>
          <p:nvPr/>
        </p:nvCxnSpPr>
        <p:spPr>
          <a:xfrm>
            <a:off x="2498400" y="6635879"/>
            <a:ext cx="828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117" name="Rectangle 116"/>
          <p:cNvSpPr/>
          <p:nvPr/>
        </p:nvSpPr>
        <p:spPr>
          <a:xfrm>
            <a:off x="2880000" y="6537600"/>
            <a:ext cx="79200" cy="189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2901384" y="6505200"/>
            <a:ext cx="36432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19" name="Connector 118"/>
          <p:cNvCxnSpPr/>
          <p:nvPr/>
        </p:nvCxnSpPr>
        <p:spPr>
          <a:xfrm>
            <a:off x="2894400" y="6647220"/>
            <a:ext cx="504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120" name="Rectangle 119"/>
          <p:cNvSpPr/>
          <p:nvPr/>
        </p:nvSpPr>
        <p:spPr>
          <a:xfrm>
            <a:off x="2340000" y="6012000"/>
            <a:ext cx="810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21" name="Connector 120"/>
          <p:cNvCxnSpPr/>
          <p:nvPr/>
        </p:nvCxnSpPr>
        <p:spPr>
          <a:xfrm>
            <a:off x="2385000" y="6051600"/>
            <a:ext cx="720000" cy="0"/>
          </a:xfrm>
          <a:prstGeom prst="line">
            <a:avLst/>
          </a:prstGeom>
          <a:ln w="10160">
            <a:solidFill>
              <a:srgbClr val="9A825A"/>
            </a:solidFill>
          </a:ln>
          <a:effectLst/>
        </p:spPr>
      </p:cxnSp>
      <p:sp>
        <p:nvSpPr>
          <p:cNvPr id="122" name="Rectangle 121"/>
          <p:cNvSpPr/>
          <p:nvPr/>
        </p:nvSpPr>
        <p:spPr>
          <a:xfrm>
            <a:off x="2484000" y="5817600"/>
            <a:ext cx="79200" cy="189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2505384" y="5785200"/>
            <a:ext cx="36432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24" name="Connector 123"/>
          <p:cNvCxnSpPr/>
          <p:nvPr/>
        </p:nvCxnSpPr>
        <p:spPr>
          <a:xfrm>
            <a:off x="2498400" y="5927220"/>
            <a:ext cx="504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125" name="Rectangle 124"/>
          <p:cNvSpPr/>
          <p:nvPr/>
        </p:nvSpPr>
        <p:spPr>
          <a:xfrm>
            <a:off x="2880000" y="5835600"/>
            <a:ext cx="90000" cy="171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2904300" y="5803200"/>
            <a:ext cx="41400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27" name="Connector 126"/>
          <p:cNvCxnSpPr/>
          <p:nvPr/>
        </p:nvCxnSpPr>
        <p:spPr>
          <a:xfrm>
            <a:off x="2894400" y="5934780"/>
            <a:ext cx="612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128" name="Rectangle 127"/>
          <p:cNvSpPr/>
          <p:nvPr/>
        </p:nvSpPr>
        <p:spPr>
          <a:xfrm>
            <a:off x="2340000" y="5292000"/>
            <a:ext cx="810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29" name="Connector 128"/>
          <p:cNvCxnSpPr/>
          <p:nvPr/>
        </p:nvCxnSpPr>
        <p:spPr>
          <a:xfrm>
            <a:off x="2385000" y="5331600"/>
            <a:ext cx="720000" cy="0"/>
          </a:xfrm>
          <a:prstGeom prst="line">
            <a:avLst/>
          </a:prstGeom>
          <a:ln w="10160">
            <a:solidFill>
              <a:srgbClr val="9A825A"/>
            </a:solidFill>
          </a:ln>
          <a:effectLst/>
        </p:spPr>
      </p:cxnSp>
      <p:sp>
        <p:nvSpPr>
          <p:cNvPr id="130" name="Rectangle 129"/>
          <p:cNvSpPr/>
          <p:nvPr/>
        </p:nvSpPr>
        <p:spPr>
          <a:xfrm>
            <a:off x="2484000" y="5115600"/>
            <a:ext cx="90000" cy="171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2508300" y="5083200"/>
            <a:ext cx="41400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32" name="Connector 131"/>
          <p:cNvCxnSpPr/>
          <p:nvPr/>
        </p:nvCxnSpPr>
        <p:spPr>
          <a:xfrm>
            <a:off x="2498400" y="5214780"/>
            <a:ext cx="612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133" name="Rectangle 132"/>
          <p:cNvSpPr/>
          <p:nvPr/>
        </p:nvSpPr>
        <p:spPr>
          <a:xfrm>
            <a:off x="2880000" y="5070600"/>
            <a:ext cx="111600" cy="216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2910132" y="5038200"/>
            <a:ext cx="51336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35" name="Connector 134"/>
          <p:cNvCxnSpPr/>
          <p:nvPr/>
        </p:nvCxnSpPr>
        <p:spPr>
          <a:xfrm>
            <a:off x="2894400" y="5195879"/>
            <a:ext cx="828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136" name="Rectangle 135"/>
          <p:cNvSpPr/>
          <p:nvPr/>
        </p:nvSpPr>
        <p:spPr>
          <a:xfrm>
            <a:off x="2340000" y="4572000"/>
            <a:ext cx="810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37" name="Connector 136"/>
          <p:cNvCxnSpPr/>
          <p:nvPr/>
        </p:nvCxnSpPr>
        <p:spPr>
          <a:xfrm>
            <a:off x="2385000" y="4611600"/>
            <a:ext cx="720000" cy="0"/>
          </a:xfrm>
          <a:prstGeom prst="line">
            <a:avLst/>
          </a:prstGeom>
          <a:ln w="10160">
            <a:solidFill>
              <a:srgbClr val="9A825A"/>
            </a:solidFill>
          </a:ln>
          <a:effectLst/>
        </p:spPr>
      </p:cxnSp>
      <p:sp>
        <p:nvSpPr>
          <p:cNvPr id="138" name="Rectangle 137"/>
          <p:cNvSpPr/>
          <p:nvPr/>
        </p:nvSpPr>
        <p:spPr>
          <a:xfrm>
            <a:off x="5850000" y="3852000"/>
            <a:ext cx="810000" cy="4680000"/>
          </a:xfrm>
          <a:prstGeom prst="rect">
            <a:avLst/>
          </a:prstGeom>
          <a:solidFill>
            <a:srgbClr val="E8DFCF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5850000" y="3852000"/>
            <a:ext cx="810000" cy="720000"/>
          </a:xfrm>
          <a:prstGeom prst="rect">
            <a:avLst/>
          </a:prstGeom>
          <a:solidFill>
            <a:srgbClr val="B6AD9A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40" name="Connector 139"/>
          <p:cNvCxnSpPr/>
          <p:nvPr/>
        </p:nvCxnSpPr>
        <p:spPr>
          <a:xfrm flipV="1">
            <a:off x="5850000" y="3852000"/>
            <a:ext cx="36000" cy="72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41" name="Connector 140"/>
          <p:cNvCxnSpPr/>
          <p:nvPr/>
        </p:nvCxnSpPr>
        <p:spPr>
          <a:xfrm>
            <a:off x="5850000" y="4500000"/>
            <a:ext cx="36000" cy="72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42" name="Connector 141"/>
          <p:cNvCxnSpPr/>
          <p:nvPr/>
        </p:nvCxnSpPr>
        <p:spPr>
          <a:xfrm flipV="1">
            <a:off x="5850000" y="3852000"/>
            <a:ext cx="72000" cy="144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43" name="Connector 142"/>
          <p:cNvCxnSpPr/>
          <p:nvPr/>
        </p:nvCxnSpPr>
        <p:spPr>
          <a:xfrm>
            <a:off x="5850000" y="4428000"/>
            <a:ext cx="72000" cy="144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44" name="Connector 143"/>
          <p:cNvCxnSpPr/>
          <p:nvPr/>
        </p:nvCxnSpPr>
        <p:spPr>
          <a:xfrm flipV="1">
            <a:off x="5850000" y="3852000"/>
            <a:ext cx="108000" cy="216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45" name="Connector 144"/>
          <p:cNvCxnSpPr/>
          <p:nvPr/>
        </p:nvCxnSpPr>
        <p:spPr>
          <a:xfrm>
            <a:off x="5850000" y="4356000"/>
            <a:ext cx="108000" cy="216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46" name="Connector 145"/>
          <p:cNvCxnSpPr/>
          <p:nvPr/>
        </p:nvCxnSpPr>
        <p:spPr>
          <a:xfrm flipV="1">
            <a:off x="5850000" y="3852000"/>
            <a:ext cx="144000" cy="288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47" name="Connector 146"/>
          <p:cNvCxnSpPr/>
          <p:nvPr/>
        </p:nvCxnSpPr>
        <p:spPr>
          <a:xfrm>
            <a:off x="5850000" y="4284000"/>
            <a:ext cx="144000" cy="288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48" name="Connector 147"/>
          <p:cNvCxnSpPr/>
          <p:nvPr/>
        </p:nvCxnSpPr>
        <p:spPr>
          <a:xfrm flipV="1">
            <a:off x="5850000" y="3852000"/>
            <a:ext cx="180000" cy="36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49" name="Connector 148"/>
          <p:cNvCxnSpPr/>
          <p:nvPr/>
        </p:nvCxnSpPr>
        <p:spPr>
          <a:xfrm>
            <a:off x="5850000" y="4212000"/>
            <a:ext cx="180000" cy="36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50" name="Connector 149"/>
          <p:cNvCxnSpPr/>
          <p:nvPr/>
        </p:nvCxnSpPr>
        <p:spPr>
          <a:xfrm flipV="1">
            <a:off x="5850000" y="3852000"/>
            <a:ext cx="216000" cy="432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51" name="Connector 150"/>
          <p:cNvCxnSpPr/>
          <p:nvPr/>
        </p:nvCxnSpPr>
        <p:spPr>
          <a:xfrm>
            <a:off x="5850000" y="4140000"/>
            <a:ext cx="216000" cy="432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52" name="Connector 151"/>
          <p:cNvCxnSpPr/>
          <p:nvPr/>
        </p:nvCxnSpPr>
        <p:spPr>
          <a:xfrm flipV="1">
            <a:off x="5850000" y="3852000"/>
            <a:ext cx="252000" cy="504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53" name="Connector 152"/>
          <p:cNvCxnSpPr/>
          <p:nvPr/>
        </p:nvCxnSpPr>
        <p:spPr>
          <a:xfrm>
            <a:off x="5850000" y="4068000"/>
            <a:ext cx="252000" cy="504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54" name="Connector 153"/>
          <p:cNvCxnSpPr/>
          <p:nvPr/>
        </p:nvCxnSpPr>
        <p:spPr>
          <a:xfrm flipV="1">
            <a:off x="5850000" y="3852000"/>
            <a:ext cx="288000" cy="576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55" name="Connector 154"/>
          <p:cNvCxnSpPr/>
          <p:nvPr/>
        </p:nvCxnSpPr>
        <p:spPr>
          <a:xfrm>
            <a:off x="5850000" y="3996000"/>
            <a:ext cx="288000" cy="576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56" name="Connector 155"/>
          <p:cNvCxnSpPr/>
          <p:nvPr/>
        </p:nvCxnSpPr>
        <p:spPr>
          <a:xfrm flipV="1">
            <a:off x="5850000" y="3852000"/>
            <a:ext cx="324000" cy="648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57" name="Connector 156"/>
          <p:cNvCxnSpPr/>
          <p:nvPr/>
        </p:nvCxnSpPr>
        <p:spPr>
          <a:xfrm>
            <a:off x="5850000" y="3924000"/>
            <a:ext cx="324000" cy="648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58" name="Connector 157"/>
          <p:cNvCxnSpPr/>
          <p:nvPr/>
        </p:nvCxnSpPr>
        <p:spPr>
          <a:xfrm flipV="1">
            <a:off x="5850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59" name="Connector 158"/>
          <p:cNvCxnSpPr/>
          <p:nvPr/>
        </p:nvCxnSpPr>
        <p:spPr>
          <a:xfrm>
            <a:off x="5850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60" name="Connector 159"/>
          <p:cNvCxnSpPr/>
          <p:nvPr/>
        </p:nvCxnSpPr>
        <p:spPr>
          <a:xfrm flipV="1">
            <a:off x="5886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61" name="Connector 160"/>
          <p:cNvCxnSpPr/>
          <p:nvPr/>
        </p:nvCxnSpPr>
        <p:spPr>
          <a:xfrm>
            <a:off x="5886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62" name="Connector 161"/>
          <p:cNvCxnSpPr/>
          <p:nvPr/>
        </p:nvCxnSpPr>
        <p:spPr>
          <a:xfrm flipV="1">
            <a:off x="5922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63" name="Connector 162"/>
          <p:cNvCxnSpPr/>
          <p:nvPr/>
        </p:nvCxnSpPr>
        <p:spPr>
          <a:xfrm>
            <a:off x="5922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64" name="Connector 163"/>
          <p:cNvCxnSpPr/>
          <p:nvPr/>
        </p:nvCxnSpPr>
        <p:spPr>
          <a:xfrm flipV="1">
            <a:off x="5958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65" name="Connector 164"/>
          <p:cNvCxnSpPr/>
          <p:nvPr/>
        </p:nvCxnSpPr>
        <p:spPr>
          <a:xfrm>
            <a:off x="5958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66" name="Connector 165"/>
          <p:cNvCxnSpPr/>
          <p:nvPr/>
        </p:nvCxnSpPr>
        <p:spPr>
          <a:xfrm flipV="1">
            <a:off x="5994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67" name="Connector 166"/>
          <p:cNvCxnSpPr/>
          <p:nvPr/>
        </p:nvCxnSpPr>
        <p:spPr>
          <a:xfrm>
            <a:off x="5994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68" name="Connector 167"/>
          <p:cNvCxnSpPr/>
          <p:nvPr/>
        </p:nvCxnSpPr>
        <p:spPr>
          <a:xfrm flipV="1">
            <a:off x="6030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69" name="Connector 168"/>
          <p:cNvCxnSpPr/>
          <p:nvPr/>
        </p:nvCxnSpPr>
        <p:spPr>
          <a:xfrm>
            <a:off x="6030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70" name="Connector 169"/>
          <p:cNvCxnSpPr/>
          <p:nvPr/>
        </p:nvCxnSpPr>
        <p:spPr>
          <a:xfrm flipV="1">
            <a:off x="6066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71" name="Connector 170"/>
          <p:cNvCxnSpPr/>
          <p:nvPr/>
        </p:nvCxnSpPr>
        <p:spPr>
          <a:xfrm>
            <a:off x="6066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72" name="Connector 171"/>
          <p:cNvCxnSpPr/>
          <p:nvPr/>
        </p:nvCxnSpPr>
        <p:spPr>
          <a:xfrm flipV="1">
            <a:off x="6102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73" name="Connector 172"/>
          <p:cNvCxnSpPr/>
          <p:nvPr/>
        </p:nvCxnSpPr>
        <p:spPr>
          <a:xfrm>
            <a:off x="6102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74" name="Connector 173"/>
          <p:cNvCxnSpPr/>
          <p:nvPr/>
        </p:nvCxnSpPr>
        <p:spPr>
          <a:xfrm flipV="1">
            <a:off x="6138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75" name="Connector 174"/>
          <p:cNvCxnSpPr/>
          <p:nvPr/>
        </p:nvCxnSpPr>
        <p:spPr>
          <a:xfrm>
            <a:off x="6138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76" name="Connector 175"/>
          <p:cNvCxnSpPr/>
          <p:nvPr/>
        </p:nvCxnSpPr>
        <p:spPr>
          <a:xfrm flipV="1">
            <a:off x="6174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77" name="Connector 176"/>
          <p:cNvCxnSpPr/>
          <p:nvPr/>
        </p:nvCxnSpPr>
        <p:spPr>
          <a:xfrm>
            <a:off x="6174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78" name="Connector 177"/>
          <p:cNvCxnSpPr/>
          <p:nvPr/>
        </p:nvCxnSpPr>
        <p:spPr>
          <a:xfrm flipV="1">
            <a:off x="6210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79" name="Connector 178"/>
          <p:cNvCxnSpPr/>
          <p:nvPr/>
        </p:nvCxnSpPr>
        <p:spPr>
          <a:xfrm>
            <a:off x="6210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80" name="Connector 179"/>
          <p:cNvCxnSpPr/>
          <p:nvPr/>
        </p:nvCxnSpPr>
        <p:spPr>
          <a:xfrm flipV="1">
            <a:off x="6246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81" name="Connector 180"/>
          <p:cNvCxnSpPr/>
          <p:nvPr/>
        </p:nvCxnSpPr>
        <p:spPr>
          <a:xfrm>
            <a:off x="6246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82" name="Connector 181"/>
          <p:cNvCxnSpPr/>
          <p:nvPr/>
        </p:nvCxnSpPr>
        <p:spPr>
          <a:xfrm flipV="1">
            <a:off x="6282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83" name="Connector 182"/>
          <p:cNvCxnSpPr/>
          <p:nvPr/>
        </p:nvCxnSpPr>
        <p:spPr>
          <a:xfrm>
            <a:off x="6282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84" name="Connector 183"/>
          <p:cNvCxnSpPr/>
          <p:nvPr/>
        </p:nvCxnSpPr>
        <p:spPr>
          <a:xfrm flipV="1">
            <a:off x="6318000" y="3888000"/>
            <a:ext cx="342000" cy="684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85" name="Connector 184"/>
          <p:cNvCxnSpPr/>
          <p:nvPr/>
        </p:nvCxnSpPr>
        <p:spPr>
          <a:xfrm>
            <a:off x="6318000" y="3852000"/>
            <a:ext cx="342000" cy="684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86" name="Connector 185"/>
          <p:cNvCxnSpPr/>
          <p:nvPr/>
        </p:nvCxnSpPr>
        <p:spPr>
          <a:xfrm flipV="1">
            <a:off x="6354000" y="3960000"/>
            <a:ext cx="306000" cy="612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87" name="Connector 186"/>
          <p:cNvCxnSpPr/>
          <p:nvPr/>
        </p:nvCxnSpPr>
        <p:spPr>
          <a:xfrm>
            <a:off x="6354000" y="3852000"/>
            <a:ext cx="306000" cy="612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88" name="Connector 187"/>
          <p:cNvCxnSpPr/>
          <p:nvPr/>
        </p:nvCxnSpPr>
        <p:spPr>
          <a:xfrm flipV="1">
            <a:off x="6390000" y="4032000"/>
            <a:ext cx="270000" cy="54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89" name="Connector 188"/>
          <p:cNvCxnSpPr/>
          <p:nvPr/>
        </p:nvCxnSpPr>
        <p:spPr>
          <a:xfrm>
            <a:off x="6390000" y="3852000"/>
            <a:ext cx="270000" cy="54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90" name="Connector 189"/>
          <p:cNvCxnSpPr/>
          <p:nvPr/>
        </p:nvCxnSpPr>
        <p:spPr>
          <a:xfrm flipV="1">
            <a:off x="6426000" y="4104000"/>
            <a:ext cx="234000" cy="468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91" name="Connector 190"/>
          <p:cNvCxnSpPr/>
          <p:nvPr/>
        </p:nvCxnSpPr>
        <p:spPr>
          <a:xfrm>
            <a:off x="6426000" y="3852000"/>
            <a:ext cx="234000" cy="468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92" name="Connector 191"/>
          <p:cNvCxnSpPr/>
          <p:nvPr/>
        </p:nvCxnSpPr>
        <p:spPr>
          <a:xfrm flipV="1">
            <a:off x="6462000" y="4176000"/>
            <a:ext cx="198000" cy="396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93" name="Connector 192"/>
          <p:cNvCxnSpPr/>
          <p:nvPr/>
        </p:nvCxnSpPr>
        <p:spPr>
          <a:xfrm>
            <a:off x="6462000" y="3852000"/>
            <a:ext cx="198000" cy="396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94" name="Connector 193"/>
          <p:cNvCxnSpPr/>
          <p:nvPr/>
        </p:nvCxnSpPr>
        <p:spPr>
          <a:xfrm flipV="1">
            <a:off x="6498000" y="4248000"/>
            <a:ext cx="162000" cy="324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95" name="Connector 194"/>
          <p:cNvCxnSpPr/>
          <p:nvPr/>
        </p:nvCxnSpPr>
        <p:spPr>
          <a:xfrm>
            <a:off x="6498000" y="3852000"/>
            <a:ext cx="162000" cy="324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96" name="Connector 195"/>
          <p:cNvCxnSpPr/>
          <p:nvPr/>
        </p:nvCxnSpPr>
        <p:spPr>
          <a:xfrm flipV="1">
            <a:off x="6534000" y="4320000"/>
            <a:ext cx="126000" cy="252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97" name="Connector 196"/>
          <p:cNvCxnSpPr/>
          <p:nvPr/>
        </p:nvCxnSpPr>
        <p:spPr>
          <a:xfrm>
            <a:off x="6534000" y="3852000"/>
            <a:ext cx="126000" cy="252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98" name="Connector 197"/>
          <p:cNvCxnSpPr/>
          <p:nvPr/>
        </p:nvCxnSpPr>
        <p:spPr>
          <a:xfrm flipV="1">
            <a:off x="6570000" y="4392000"/>
            <a:ext cx="90000" cy="18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99" name="Connector 198"/>
          <p:cNvCxnSpPr/>
          <p:nvPr/>
        </p:nvCxnSpPr>
        <p:spPr>
          <a:xfrm>
            <a:off x="6570000" y="3852000"/>
            <a:ext cx="90000" cy="18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200" name="Connector 199"/>
          <p:cNvCxnSpPr/>
          <p:nvPr/>
        </p:nvCxnSpPr>
        <p:spPr>
          <a:xfrm flipV="1">
            <a:off x="6606000" y="4464000"/>
            <a:ext cx="54000" cy="108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201" name="Connector 200"/>
          <p:cNvCxnSpPr/>
          <p:nvPr/>
        </p:nvCxnSpPr>
        <p:spPr>
          <a:xfrm>
            <a:off x="6606000" y="3852000"/>
            <a:ext cx="54000" cy="108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202" name="Connector 201"/>
          <p:cNvCxnSpPr/>
          <p:nvPr/>
        </p:nvCxnSpPr>
        <p:spPr>
          <a:xfrm flipV="1">
            <a:off x="6642000" y="4536000"/>
            <a:ext cx="18000" cy="36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203" name="Connector 202"/>
          <p:cNvCxnSpPr/>
          <p:nvPr/>
        </p:nvCxnSpPr>
        <p:spPr>
          <a:xfrm>
            <a:off x="6642000" y="3852000"/>
            <a:ext cx="18000" cy="36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sp>
        <p:nvSpPr>
          <p:cNvPr id="204" name="Rectangle 203"/>
          <p:cNvSpPr/>
          <p:nvPr/>
        </p:nvSpPr>
        <p:spPr>
          <a:xfrm>
            <a:off x="5850000" y="3852000"/>
            <a:ext cx="45000" cy="468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6615000" y="3852000"/>
            <a:ext cx="45000" cy="468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5850000" y="3852000"/>
            <a:ext cx="810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5850000" y="7452000"/>
            <a:ext cx="810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08" name="Connector 207"/>
          <p:cNvCxnSpPr/>
          <p:nvPr/>
        </p:nvCxnSpPr>
        <p:spPr>
          <a:xfrm>
            <a:off x="5895000" y="7491600"/>
            <a:ext cx="720000" cy="0"/>
          </a:xfrm>
          <a:prstGeom prst="line">
            <a:avLst/>
          </a:prstGeom>
          <a:ln w="10160">
            <a:solidFill>
              <a:srgbClr val="9A825A"/>
            </a:solidFill>
          </a:ln>
          <a:effectLst/>
        </p:spPr>
      </p:cxnSp>
      <p:sp>
        <p:nvSpPr>
          <p:cNvPr id="209" name="Rectangle 208"/>
          <p:cNvSpPr/>
          <p:nvPr/>
        </p:nvSpPr>
        <p:spPr>
          <a:xfrm>
            <a:off x="5994000" y="7275600"/>
            <a:ext cx="90000" cy="171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6018300" y="7243200"/>
            <a:ext cx="41400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11" name="Connector 210"/>
          <p:cNvCxnSpPr/>
          <p:nvPr/>
        </p:nvCxnSpPr>
        <p:spPr>
          <a:xfrm>
            <a:off x="6008400" y="7374780"/>
            <a:ext cx="612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212" name="Rectangle 211"/>
          <p:cNvSpPr/>
          <p:nvPr/>
        </p:nvSpPr>
        <p:spPr>
          <a:xfrm>
            <a:off x="6390000" y="7230600"/>
            <a:ext cx="111600" cy="216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420132" y="7198200"/>
            <a:ext cx="51336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14" name="Connector 213"/>
          <p:cNvCxnSpPr/>
          <p:nvPr/>
        </p:nvCxnSpPr>
        <p:spPr>
          <a:xfrm>
            <a:off x="6404400" y="7355879"/>
            <a:ext cx="828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215" name="Rectangle 214"/>
          <p:cNvSpPr/>
          <p:nvPr/>
        </p:nvSpPr>
        <p:spPr>
          <a:xfrm>
            <a:off x="5850000" y="6732000"/>
            <a:ext cx="810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16" name="Connector 215"/>
          <p:cNvCxnSpPr/>
          <p:nvPr/>
        </p:nvCxnSpPr>
        <p:spPr>
          <a:xfrm>
            <a:off x="5895000" y="6771600"/>
            <a:ext cx="720000" cy="0"/>
          </a:xfrm>
          <a:prstGeom prst="line">
            <a:avLst/>
          </a:prstGeom>
          <a:ln w="10160">
            <a:solidFill>
              <a:srgbClr val="9A825A"/>
            </a:solidFill>
          </a:ln>
          <a:effectLst/>
        </p:spPr>
      </p:cxnSp>
      <p:sp>
        <p:nvSpPr>
          <p:cNvPr id="217" name="Rectangle 216"/>
          <p:cNvSpPr/>
          <p:nvPr/>
        </p:nvSpPr>
        <p:spPr>
          <a:xfrm>
            <a:off x="5994000" y="6510600"/>
            <a:ext cx="111600" cy="216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024132" y="6478200"/>
            <a:ext cx="51336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19" name="Connector 218"/>
          <p:cNvCxnSpPr/>
          <p:nvPr/>
        </p:nvCxnSpPr>
        <p:spPr>
          <a:xfrm>
            <a:off x="6008400" y="6635879"/>
            <a:ext cx="828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220" name="Rectangle 219"/>
          <p:cNvSpPr/>
          <p:nvPr/>
        </p:nvSpPr>
        <p:spPr>
          <a:xfrm>
            <a:off x="6390000" y="6537600"/>
            <a:ext cx="79200" cy="189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6411384" y="6505200"/>
            <a:ext cx="36432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22" name="Connector 221"/>
          <p:cNvCxnSpPr/>
          <p:nvPr/>
        </p:nvCxnSpPr>
        <p:spPr>
          <a:xfrm>
            <a:off x="6404400" y="6647220"/>
            <a:ext cx="504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223" name="Rectangle 222"/>
          <p:cNvSpPr/>
          <p:nvPr/>
        </p:nvSpPr>
        <p:spPr>
          <a:xfrm>
            <a:off x="5850000" y="6012000"/>
            <a:ext cx="810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24" name="Connector 223"/>
          <p:cNvCxnSpPr/>
          <p:nvPr/>
        </p:nvCxnSpPr>
        <p:spPr>
          <a:xfrm>
            <a:off x="5895000" y="6051600"/>
            <a:ext cx="720000" cy="0"/>
          </a:xfrm>
          <a:prstGeom prst="line">
            <a:avLst/>
          </a:prstGeom>
          <a:ln w="10160">
            <a:solidFill>
              <a:srgbClr val="9A825A"/>
            </a:solidFill>
          </a:ln>
          <a:effectLst/>
        </p:spPr>
      </p:cxnSp>
      <p:sp>
        <p:nvSpPr>
          <p:cNvPr id="225" name="Rectangle 224"/>
          <p:cNvSpPr/>
          <p:nvPr/>
        </p:nvSpPr>
        <p:spPr>
          <a:xfrm>
            <a:off x="5994000" y="5817600"/>
            <a:ext cx="79200" cy="189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6015384" y="5785200"/>
            <a:ext cx="36432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27" name="Connector 226"/>
          <p:cNvCxnSpPr/>
          <p:nvPr/>
        </p:nvCxnSpPr>
        <p:spPr>
          <a:xfrm>
            <a:off x="6008400" y="5927220"/>
            <a:ext cx="504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228" name="Rectangle 227"/>
          <p:cNvSpPr/>
          <p:nvPr/>
        </p:nvSpPr>
        <p:spPr>
          <a:xfrm>
            <a:off x="6390000" y="5835600"/>
            <a:ext cx="90000" cy="171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6414300" y="5803200"/>
            <a:ext cx="41400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30" name="Connector 229"/>
          <p:cNvCxnSpPr/>
          <p:nvPr/>
        </p:nvCxnSpPr>
        <p:spPr>
          <a:xfrm>
            <a:off x="6404400" y="5934780"/>
            <a:ext cx="612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231" name="Rectangle 230"/>
          <p:cNvSpPr/>
          <p:nvPr/>
        </p:nvSpPr>
        <p:spPr>
          <a:xfrm>
            <a:off x="5850000" y="5292000"/>
            <a:ext cx="810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32" name="Connector 231"/>
          <p:cNvCxnSpPr/>
          <p:nvPr/>
        </p:nvCxnSpPr>
        <p:spPr>
          <a:xfrm>
            <a:off x="5895000" y="5331600"/>
            <a:ext cx="720000" cy="0"/>
          </a:xfrm>
          <a:prstGeom prst="line">
            <a:avLst/>
          </a:prstGeom>
          <a:ln w="10160">
            <a:solidFill>
              <a:srgbClr val="9A825A"/>
            </a:solidFill>
          </a:ln>
          <a:effectLst/>
        </p:spPr>
      </p:cxnSp>
      <p:sp>
        <p:nvSpPr>
          <p:cNvPr id="233" name="Rectangle 232"/>
          <p:cNvSpPr/>
          <p:nvPr/>
        </p:nvSpPr>
        <p:spPr>
          <a:xfrm>
            <a:off x="5994000" y="5115600"/>
            <a:ext cx="90000" cy="171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6018300" y="5083200"/>
            <a:ext cx="41400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35" name="Connector 234"/>
          <p:cNvCxnSpPr/>
          <p:nvPr/>
        </p:nvCxnSpPr>
        <p:spPr>
          <a:xfrm>
            <a:off x="6008400" y="5214780"/>
            <a:ext cx="612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236" name="Rectangle 235"/>
          <p:cNvSpPr/>
          <p:nvPr/>
        </p:nvSpPr>
        <p:spPr>
          <a:xfrm>
            <a:off x="6390000" y="5070600"/>
            <a:ext cx="111600" cy="216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6420132" y="5038200"/>
            <a:ext cx="51336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38" name="Connector 237"/>
          <p:cNvCxnSpPr/>
          <p:nvPr/>
        </p:nvCxnSpPr>
        <p:spPr>
          <a:xfrm>
            <a:off x="6404400" y="5195879"/>
            <a:ext cx="828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239" name="Rectangle 238"/>
          <p:cNvSpPr/>
          <p:nvPr/>
        </p:nvSpPr>
        <p:spPr>
          <a:xfrm>
            <a:off x="5850000" y="4572000"/>
            <a:ext cx="810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40" name="Connector 239"/>
          <p:cNvCxnSpPr/>
          <p:nvPr/>
        </p:nvCxnSpPr>
        <p:spPr>
          <a:xfrm>
            <a:off x="5895000" y="4611600"/>
            <a:ext cx="720000" cy="0"/>
          </a:xfrm>
          <a:prstGeom prst="line">
            <a:avLst/>
          </a:prstGeom>
          <a:ln w="10160">
            <a:solidFill>
              <a:srgbClr val="9A825A"/>
            </a:solidFill>
          </a:ln>
          <a:effectLst/>
        </p:spPr>
      </p:cxnSp>
      <p:sp>
        <p:nvSpPr>
          <p:cNvPr id="241" name="Rectangle 240"/>
          <p:cNvSpPr/>
          <p:nvPr/>
        </p:nvSpPr>
        <p:spPr>
          <a:xfrm>
            <a:off x="3157200" y="3870000"/>
            <a:ext cx="878400" cy="4644000"/>
          </a:xfrm>
          <a:prstGeom prst="rect">
            <a:avLst/>
          </a:prstGeom>
          <a:noFill/>
          <a:ln w="8890">
            <a:solidFill>
              <a:srgbClr val="46697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2" name="GEOM:door-leaf"/>
          <p:cNvSpPr/>
          <p:nvPr/>
        </p:nvSpPr>
        <p:spPr>
          <a:xfrm>
            <a:off x="4042800" y="3870000"/>
            <a:ext cx="1800000" cy="4644000"/>
          </a:xfrm>
          <a:prstGeom prst="rect">
            <a:avLst/>
          </a:prstGeom>
          <a:noFill/>
          <a:ln w="8890">
            <a:solidFill>
              <a:srgbClr val="46697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43" name="Connector 242"/>
          <p:cNvCxnSpPr/>
          <p:nvPr/>
        </p:nvCxnSpPr>
        <p:spPr>
          <a:xfrm flipV="1">
            <a:off x="4194000" y="6282000"/>
            <a:ext cx="0" cy="540000"/>
          </a:xfrm>
          <a:prstGeom prst="line">
            <a:avLst/>
          </a:prstGeom>
          <a:ln w="16510">
            <a:solidFill>
              <a:srgbClr val="252725"/>
            </a:solidFill>
          </a:ln>
          <a:effectLst/>
        </p:spPr>
      </p:cxnSp>
      <p:sp>
        <p:nvSpPr>
          <p:cNvPr id="244" name="Rectangle 243"/>
          <p:cNvSpPr/>
          <p:nvPr/>
        </p:nvSpPr>
        <p:spPr>
          <a:xfrm>
            <a:off x="5598000" y="8442000"/>
            <a:ext cx="162000" cy="45000"/>
          </a:xfrm>
          <a:prstGeom prst="rect">
            <a:avLst/>
          </a:prstGeom>
          <a:solidFill>
            <a:srgbClr val="777970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5598000" y="3915000"/>
            <a:ext cx="162000" cy="45000"/>
          </a:xfrm>
          <a:prstGeom prst="rect">
            <a:avLst/>
          </a:prstGeom>
          <a:solidFill>
            <a:srgbClr val="777970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46" name="Connector 245"/>
          <p:cNvCxnSpPr/>
          <p:nvPr/>
        </p:nvCxnSpPr>
        <p:spPr>
          <a:xfrm>
            <a:off x="2340000" y="8532000"/>
            <a:ext cx="0" cy="504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47" name="Connector 246"/>
          <p:cNvCxnSpPr/>
          <p:nvPr/>
        </p:nvCxnSpPr>
        <p:spPr>
          <a:xfrm>
            <a:off x="6660000" y="8532000"/>
            <a:ext cx="0" cy="504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48" name="Connector 247"/>
          <p:cNvCxnSpPr/>
          <p:nvPr/>
        </p:nvCxnSpPr>
        <p:spPr>
          <a:xfrm>
            <a:off x="2340000" y="9036000"/>
            <a:ext cx="432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49" name="Connector 248"/>
          <p:cNvCxnSpPr/>
          <p:nvPr/>
        </p:nvCxnSpPr>
        <p:spPr>
          <a:xfrm flipV="1">
            <a:off x="2304000" y="9000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50" name="Connector 249"/>
          <p:cNvCxnSpPr/>
          <p:nvPr/>
        </p:nvCxnSpPr>
        <p:spPr>
          <a:xfrm flipV="1">
            <a:off x="6624000" y="9000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251" name="TextBox 250"/>
          <p:cNvSpPr txBox="1"/>
          <p:nvPr/>
        </p:nvSpPr>
        <p:spPr>
          <a:xfrm>
            <a:off x="3960000" y="8856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2400</a:t>
            </a:r>
          </a:p>
        </p:txBody>
      </p:sp>
      <p:cxnSp>
        <p:nvCxnSpPr>
          <p:cNvPr id="252" name="Connector 251"/>
          <p:cNvCxnSpPr/>
          <p:nvPr/>
        </p:nvCxnSpPr>
        <p:spPr>
          <a:xfrm>
            <a:off x="2340000" y="8532000"/>
            <a:ext cx="0" cy="252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53" name="Connector 252"/>
          <p:cNvCxnSpPr/>
          <p:nvPr/>
        </p:nvCxnSpPr>
        <p:spPr>
          <a:xfrm>
            <a:off x="3150000" y="8532000"/>
            <a:ext cx="0" cy="252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54" name="Connector 253"/>
          <p:cNvCxnSpPr/>
          <p:nvPr/>
        </p:nvCxnSpPr>
        <p:spPr>
          <a:xfrm>
            <a:off x="2340000" y="8784000"/>
            <a:ext cx="81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55" name="Connector 254"/>
          <p:cNvCxnSpPr/>
          <p:nvPr/>
        </p:nvCxnSpPr>
        <p:spPr>
          <a:xfrm flipV="1">
            <a:off x="2304000" y="8748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56" name="Connector 255"/>
          <p:cNvCxnSpPr/>
          <p:nvPr/>
        </p:nvCxnSpPr>
        <p:spPr>
          <a:xfrm flipV="1">
            <a:off x="3114000" y="8748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257" name="TextBox 256"/>
          <p:cNvSpPr txBox="1"/>
          <p:nvPr/>
        </p:nvSpPr>
        <p:spPr>
          <a:xfrm>
            <a:off x="2205000" y="8604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450</a:t>
            </a:r>
          </a:p>
        </p:txBody>
      </p:sp>
      <p:cxnSp>
        <p:nvCxnSpPr>
          <p:cNvPr id="258" name="Connector 257"/>
          <p:cNvCxnSpPr/>
          <p:nvPr/>
        </p:nvCxnSpPr>
        <p:spPr>
          <a:xfrm>
            <a:off x="3150000" y="8532000"/>
            <a:ext cx="0" cy="252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59" name="Connector 258"/>
          <p:cNvCxnSpPr/>
          <p:nvPr/>
        </p:nvCxnSpPr>
        <p:spPr>
          <a:xfrm>
            <a:off x="5850000" y="8532000"/>
            <a:ext cx="0" cy="252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60" name="Connector 259"/>
          <p:cNvCxnSpPr/>
          <p:nvPr/>
        </p:nvCxnSpPr>
        <p:spPr>
          <a:xfrm>
            <a:off x="3150000" y="8784000"/>
            <a:ext cx="270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61" name="Connector 260"/>
          <p:cNvCxnSpPr/>
          <p:nvPr/>
        </p:nvCxnSpPr>
        <p:spPr>
          <a:xfrm flipV="1">
            <a:off x="3114000" y="8748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62" name="Connector 261"/>
          <p:cNvCxnSpPr/>
          <p:nvPr/>
        </p:nvCxnSpPr>
        <p:spPr>
          <a:xfrm flipV="1">
            <a:off x="5814000" y="8748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263" name="TextBox 262"/>
          <p:cNvSpPr txBox="1"/>
          <p:nvPr/>
        </p:nvSpPr>
        <p:spPr>
          <a:xfrm>
            <a:off x="3960000" y="8604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1500</a:t>
            </a:r>
          </a:p>
        </p:txBody>
      </p:sp>
      <p:cxnSp>
        <p:nvCxnSpPr>
          <p:cNvPr id="264" name="Connector 263"/>
          <p:cNvCxnSpPr/>
          <p:nvPr/>
        </p:nvCxnSpPr>
        <p:spPr>
          <a:xfrm>
            <a:off x="5850000" y="8532000"/>
            <a:ext cx="0" cy="252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65" name="Connector 264"/>
          <p:cNvCxnSpPr/>
          <p:nvPr/>
        </p:nvCxnSpPr>
        <p:spPr>
          <a:xfrm>
            <a:off x="6660000" y="8532000"/>
            <a:ext cx="0" cy="252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66" name="Connector 265"/>
          <p:cNvCxnSpPr/>
          <p:nvPr/>
        </p:nvCxnSpPr>
        <p:spPr>
          <a:xfrm>
            <a:off x="5850000" y="8784000"/>
            <a:ext cx="81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67" name="Connector 266"/>
          <p:cNvCxnSpPr/>
          <p:nvPr/>
        </p:nvCxnSpPr>
        <p:spPr>
          <a:xfrm flipV="1">
            <a:off x="5814000" y="8748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68" name="Connector 267"/>
          <p:cNvCxnSpPr/>
          <p:nvPr/>
        </p:nvCxnSpPr>
        <p:spPr>
          <a:xfrm flipV="1">
            <a:off x="6624000" y="8748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269" name="TextBox 268"/>
          <p:cNvSpPr txBox="1"/>
          <p:nvPr/>
        </p:nvSpPr>
        <p:spPr>
          <a:xfrm>
            <a:off x="5715000" y="8604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450</a:t>
            </a:r>
          </a:p>
        </p:txBody>
      </p:sp>
      <p:cxnSp>
        <p:nvCxnSpPr>
          <p:cNvPr id="270" name="Connector 269"/>
          <p:cNvCxnSpPr/>
          <p:nvPr/>
        </p:nvCxnSpPr>
        <p:spPr>
          <a:xfrm flipH="1">
            <a:off x="1872000" y="8532000"/>
            <a:ext cx="468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71" name="Connector 270"/>
          <p:cNvCxnSpPr/>
          <p:nvPr/>
        </p:nvCxnSpPr>
        <p:spPr>
          <a:xfrm flipH="1">
            <a:off x="1872000" y="2772000"/>
            <a:ext cx="468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72" name="Connector 271"/>
          <p:cNvCxnSpPr/>
          <p:nvPr/>
        </p:nvCxnSpPr>
        <p:spPr>
          <a:xfrm flipV="1">
            <a:off x="1872000" y="2772000"/>
            <a:ext cx="0" cy="5760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73" name="Connector 272"/>
          <p:cNvCxnSpPr/>
          <p:nvPr/>
        </p:nvCxnSpPr>
        <p:spPr>
          <a:xfrm flipV="1">
            <a:off x="1836000" y="849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74" name="Connector 273"/>
          <p:cNvCxnSpPr/>
          <p:nvPr/>
        </p:nvCxnSpPr>
        <p:spPr>
          <a:xfrm flipV="1">
            <a:off x="1836000" y="273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275" name="TextBox 274"/>
          <p:cNvSpPr txBox="1"/>
          <p:nvPr/>
        </p:nvSpPr>
        <p:spPr>
          <a:xfrm>
            <a:off x="1440000" y="5652000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3200</a:t>
            </a:r>
          </a:p>
        </p:txBody>
      </p:sp>
      <p:cxnSp>
        <p:nvCxnSpPr>
          <p:cNvPr id="276" name="Connector 275"/>
          <p:cNvCxnSpPr/>
          <p:nvPr/>
        </p:nvCxnSpPr>
        <p:spPr>
          <a:xfrm>
            <a:off x="6660000" y="3852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77" name="Connector 276"/>
          <p:cNvCxnSpPr/>
          <p:nvPr/>
        </p:nvCxnSpPr>
        <p:spPr>
          <a:xfrm>
            <a:off x="6660000" y="2772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78" name="Connector 277"/>
          <p:cNvCxnSpPr/>
          <p:nvPr/>
        </p:nvCxnSpPr>
        <p:spPr>
          <a:xfrm flipV="1">
            <a:off x="6984000" y="2772000"/>
            <a:ext cx="0" cy="1080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79" name="Connector 278"/>
          <p:cNvCxnSpPr/>
          <p:nvPr/>
        </p:nvCxnSpPr>
        <p:spPr>
          <a:xfrm flipV="1">
            <a:off x="6948000" y="381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80" name="Connector 279"/>
          <p:cNvCxnSpPr/>
          <p:nvPr/>
        </p:nvCxnSpPr>
        <p:spPr>
          <a:xfrm flipV="1">
            <a:off x="6948000" y="273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281" name="TextBox 280"/>
          <p:cNvSpPr txBox="1"/>
          <p:nvPr/>
        </p:nvSpPr>
        <p:spPr>
          <a:xfrm>
            <a:off x="6552000" y="3312000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600</a:t>
            </a:r>
          </a:p>
        </p:txBody>
      </p:sp>
      <p:cxnSp>
        <p:nvCxnSpPr>
          <p:cNvPr id="282" name="Connector 281"/>
          <p:cNvCxnSpPr/>
          <p:nvPr/>
        </p:nvCxnSpPr>
        <p:spPr>
          <a:xfrm flipV="1">
            <a:off x="2745000" y="5076000"/>
            <a:ext cx="4635000" cy="396000"/>
          </a:xfrm>
          <a:prstGeom prst="line">
            <a:avLst/>
          </a:prstGeom>
          <a:ln w="5715">
            <a:solidFill>
              <a:srgbClr val="737871"/>
            </a:solidFill>
          </a:ln>
          <a:effectLst/>
        </p:spPr>
      </p:cxnSp>
      <p:sp>
        <p:nvSpPr>
          <p:cNvPr id="283" name="Oval 282"/>
          <p:cNvSpPr/>
          <p:nvPr/>
        </p:nvSpPr>
        <p:spPr>
          <a:xfrm>
            <a:off x="2721600" y="5448600"/>
            <a:ext cx="46800" cy="46800"/>
          </a:xfrm>
          <a:prstGeom prst="ellipse">
            <a:avLst/>
          </a:prstGeom>
          <a:solidFill>
            <a:srgbClr val="737871"/>
          </a:solidFill>
          <a:ln w="8890">
            <a:solidFill>
              <a:srgbClr val="73787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4" name="TextBox 283"/>
          <p:cNvSpPr txBox="1"/>
          <p:nvPr/>
        </p:nvSpPr>
        <p:spPr>
          <a:xfrm>
            <a:off x="7452000" y="4932000"/>
            <a:ext cx="2376000" cy="432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FOLDED BLACK SHELF</a:t>
            </a:r>
          </a:p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Warm concealed light</a:t>
            </a:r>
          </a:p>
        </p:txBody>
      </p:sp>
      <p:cxnSp>
        <p:nvCxnSpPr>
          <p:cNvPr id="285" name="Connector 284"/>
          <p:cNvCxnSpPr/>
          <p:nvPr/>
        </p:nvCxnSpPr>
        <p:spPr>
          <a:xfrm>
            <a:off x="5040000" y="5652000"/>
            <a:ext cx="2340000" cy="324000"/>
          </a:xfrm>
          <a:prstGeom prst="line">
            <a:avLst/>
          </a:prstGeom>
          <a:ln w="5715">
            <a:solidFill>
              <a:srgbClr val="737871"/>
            </a:solidFill>
          </a:ln>
          <a:effectLst/>
        </p:spPr>
      </p:cxnSp>
      <p:sp>
        <p:nvSpPr>
          <p:cNvPr id="286" name="Oval 285"/>
          <p:cNvSpPr/>
          <p:nvPr/>
        </p:nvSpPr>
        <p:spPr>
          <a:xfrm>
            <a:off x="5016600" y="5628600"/>
            <a:ext cx="46800" cy="46800"/>
          </a:xfrm>
          <a:prstGeom prst="ellipse">
            <a:avLst/>
          </a:prstGeom>
          <a:solidFill>
            <a:srgbClr val="737871"/>
          </a:solidFill>
          <a:ln w="8890">
            <a:solidFill>
              <a:srgbClr val="73787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7" name="TextBox 286"/>
          <p:cNvSpPr txBox="1"/>
          <p:nvPr/>
        </p:nvSpPr>
        <p:spPr>
          <a:xfrm>
            <a:off x="7452000" y="5832000"/>
            <a:ext cx="2376000" cy="432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CLEAR TOUGHENED GLASS</a:t>
            </a:r>
          </a:p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12 mm; interior visible beyond</a:t>
            </a:r>
          </a:p>
        </p:txBody>
      </p:sp>
      <p:cxnSp>
        <p:nvCxnSpPr>
          <p:cNvPr id="288" name="Connector 287"/>
          <p:cNvCxnSpPr/>
          <p:nvPr/>
        </p:nvCxnSpPr>
        <p:spPr>
          <a:xfrm flipV="1">
            <a:off x="4860000" y="2988000"/>
            <a:ext cx="2520000" cy="324000"/>
          </a:xfrm>
          <a:prstGeom prst="line">
            <a:avLst/>
          </a:prstGeom>
          <a:ln w="5715">
            <a:solidFill>
              <a:srgbClr val="737871"/>
            </a:solidFill>
          </a:ln>
          <a:effectLst/>
        </p:spPr>
      </p:cxnSp>
      <p:sp>
        <p:nvSpPr>
          <p:cNvPr id="289" name="Oval 288"/>
          <p:cNvSpPr/>
          <p:nvPr/>
        </p:nvSpPr>
        <p:spPr>
          <a:xfrm>
            <a:off x="4836600" y="3288600"/>
            <a:ext cx="46800" cy="46800"/>
          </a:xfrm>
          <a:prstGeom prst="ellipse">
            <a:avLst/>
          </a:prstGeom>
          <a:solidFill>
            <a:srgbClr val="737871"/>
          </a:solidFill>
          <a:ln w="8890">
            <a:solidFill>
              <a:srgbClr val="73787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0" name="TextBox 289"/>
          <p:cNvSpPr txBox="1"/>
          <p:nvPr/>
        </p:nvSpPr>
        <p:spPr>
          <a:xfrm>
            <a:off x="7452000" y="2844000"/>
            <a:ext cx="2376000" cy="432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HALO-LIT BRAND</a:t>
            </a:r>
          </a:p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1000 wide; 25 stand-offs</a:t>
            </a:r>
          </a:p>
        </p:txBody>
      </p:sp>
      <p:sp>
        <p:nvSpPr>
          <p:cNvPr id="291" name="Freeform 290"/>
          <p:cNvSpPr/>
          <p:nvPr/>
        </p:nvSpPr>
        <p:spPr>
          <a:xfrm>
            <a:off x="7336800" y="7084800"/>
            <a:ext cx="2858400" cy="1274400"/>
          </a:xfrm>
          <a:custGeom>
            <a:avLst/>
            <a:gdLst/>
            <a:ahLst/>
            <a:cxnLst/>
            <a:rect l="l" t="t" r="r" b="b"/>
            <a:pathLst>
              <a:path w="2858400" h="1274400">
                <a:moveTo>
                  <a:pt x="43200" y="43200"/>
                </a:moveTo>
                <a:lnTo>
                  <a:pt x="66300" y="26668"/>
                </a:lnTo>
                <a:lnTo>
                  <a:pt x="89400" y="12652"/>
                </a:lnTo>
                <a:lnTo>
                  <a:pt x="112500" y="3288"/>
                </a:lnTo>
                <a:lnTo>
                  <a:pt x="135600" y="0"/>
                </a:lnTo>
                <a:lnTo>
                  <a:pt x="158700" y="3288"/>
                </a:lnTo>
                <a:lnTo>
                  <a:pt x="181800" y="12652"/>
                </a:lnTo>
                <a:lnTo>
                  <a:pt x="204900" y="26668"/>
                </a:lnTo>
                <a:lnTo>
                  <a:pt x="228000" y="43200"/>
                </a:lnTo>
                <a:lnTo>
                  <a:pt x="228000" y="43200"/>
                </a:lnTo>
                <a:lnTo>
                  <a:pt x="251100" y="26668"/>
                </a:lnTo>
                <a:lnTo>
                  <a:pt x="274200" y="12652"/>
                </a:lnTo>
                <a:lnTo>
                  <a:pt x="297300" y="3288"/>
                </a:lnTo>
                <a:lnTo>
                  <a:pt x="320400" y="0"/>
                </a:lnTo>
                <a:lnTo>
                  <a:pt x="343500" y="3288"/>
                </a:lnTo>
                <a:lnTo>
                  <a:pt x="366600" y="12652"/>
                </a:lnTo>
                <a:lnTo>
                  <a:pt x="389700" y="26668"/>
                </a:lnTo>
                <a:lnTo>
                  <a:pt x="412799" y="43200"/>
                </a:lnTo>
                <a:lnTo>
                  <a:pt x="412799" y="43200"/>
                </a:lnTo>
                <a:lnTo>
                  <a:pt x="435900" y="26668"/>
                </a:lnTo>
                <a:lnTo>
                  <a:pt x="459000" y="12652"/>
                </a:lnTo>
                <a:lnTo>
                  <a:pt x="482100" y="3288"/>
                </a:lnTo>
                <a:lnTo>
                  <a:pt x="505200" y="0"/>
                </a:lnTo>
                <a:lnTo>
                  <a:pt x="528300" y="3288"/>
                </a:lnTo>
                <a:lnTo>
                  <a:pt x="551400" y="12652"/>
                </a:lnTo>
                <a:lnTo>
                  <a:pt x="574500" y="26668"/>
                </a:lnTo>
                <a:lnTo>
                  <a:pt x="597600" y="43200"/>
                </a:lnTo>
                <a:lnTo>
                  <a:pt x="597600" y="43200"/>
                </a:lnTo>
                <a:lnTo>
                  <a:pt x="620700" y="26668"/>
                </a:lnTo>
                <a:lnTo>
                  <a:pt x="643800" y="12652"/>
                </a:lnTo>
                <a:lnTo>
                  <a:pt x="666900" y="3288"/>
                </a:lnTo>
                <a:lnTo>
                  <a:pt x="690000" y="0"/>
                </a:lnTo>
                <a:lnTo>
                  <a:pt x="713100" y="3288"/>
                </a:lnTo>
                <a:lnTo>
                  <a:pt x="736200" y="12652"/>
                </a:lnTo>
                <a:lnTo>
                  <a:pt x="759300" y="26668"/>
                </a:lnTo>
                <a:lnTo>
                  <a:pt x="782400" y="43200"/>
                </a:lnTo>
                <a:lnTo>
                  <a:pt x="782400" y="43200"/>
                </a:lnTo>
                <a:lnTo>
                  <a:pt x="805500" y="26668"/>
                </a:lnTo>
                <a:lnTo>
                  <a:pt x="828600" y="12652"/>
                </a:lnTo>
                <a:lnTo>
                  <a:pt x="851700" y="3288"/>
                </a:lnTo>
                <a:lnTo>
                  <a:pt x="874800" y="0"/>
                </a:lnTo>
                <a:lnTo>
                  <a:pt x="897900" y="3288"/>
                </a:lnTo>
                <a:lnTo>
                  <a:pt x="921000" y="12652"/>
                </a:lnTo>
                <a:lnTo>
                  <a:pt x="944100" y="26668"/>
                </a:lnTo>
                <a:lnTo>
                  <a:pt x="967200" y="43200"/>
                </a:lnTo>
                <a:lnTo>
                  <a:pt x="967200" y="43200"/>
                </a:lnTo>
                <a:lnTo>
                  <a:pt x="990300" y="26668"/>
                </a:lnTo>
                <a:lnTo>
                  <a:pt x="1013400" y="12652"/>
                </a:lnTo>
                <a:lnTo>
                  <a:pt x="1036500" y="3288"/>
                </a:lnTo>
                <a:lnTo>
                  <a:pt x="1059600" y="0"/>
                </a:lnTo>
                <a:lnTo>
                  <a:pt x="1082700" y="3288"/>
                </a:lnTo>
                <a:lnTo>
                  <a:pt x="1105800" y="12652"/>
                </a:lnTo>
                <a:lnTo>
                  <a:pt x="1128900" y="26668"/>
                </a:lnTo>
                <a:lnTo>
                  <a:pt x="1152000" y="43200"/>
                </a:lnTo>
                <a:lnTo>
                  <a:pt x="1152000" y="43200"/>
                </a:lnTo>
                <a:lnTo>
                  <a:pt x="1175100" y="26668"/>
                </a:lnTo>
                <a:lnTo>
                  <a:pt x="1198200" y="12652"/>
                </a:lnTo>
                <a:lnTo>
                  <a:pt x="1221300" y="3288"/>
                </a:lnTo>
                <a:lnTo>
                  <a:pt x="1244400" y="0"/>
                </a:lnTo>
                <a:lnTo>
                  <a:pt x="1267500" y="3288"/>
                </a:lnTo>
                <a:lnTo>
                  <a:pt x="1290600" y="12652"/>
                </a:lnTo>
                <a:lnTo>
                  <a:pt x="1313700" y="26668"/>
                </a:lnTo>
                <a:lnTo>
                  <a:pt x="1336800" y="43200"/>
                </a:lnTo>
                <a:lnTo>
                  <a:pt x="1336800" y="43200"/>
                </a:lnTo>
                <a:lnTo>
                  <a:pt x="1359900" y="26668"/>
                </a:lnTo>
                <a:lnTo>
                  <a:pt x="1383000" y="12652"/>
                </a:lnTo>
                <a:lnTo>
                  <a:pt x="1406100" y="3288"/>
                </a:lnTo>
                <a:lnTo>
                  <a:pt x="1429200" y="0"/>
                </a:lnTo>
                <a:lnTo>
                  <a:pt x="1452300" y="3288"/>
                </a:lnTo>
                <a:lnTo>
                  <a:pt x="1475400" y="12652"/>
                </a:lnTo>
                <a:lnTo>
                  <a:pt x="1498500" y="26668"/>
                </a:lnTo>
                <a:lnTo>
                  <a:pt x="1521600" y="43200"/>
                </a:lnTo>
                <a:lnTo>
                  <a:pt x="1521600" y="43200"/>
                </a:lnTo>
                <a:lnTo>
                  <a:pt x="1544700" y="26668"/>
                </a:lnTo>
                <a:lnTo>
                  <a:pt x="1567800" y="12652"/>
                </a:lnTo>
                <a:lnTo>
                  <a:pt x="1590900" y="3288"/>
                </a:lnTo>
                <a:lnTo>
                  <a:pt x="1614000" y="0"/>
                </a:lnTo>
                <a:lnTo>
                  <a:pt x="1637100" y="3288"/>
                </a:lnTo>
                <a:lnTo>
                  <a:pt x="1660200" y="12652"/>
                </a:lnTo>
                <a:lnTo>
                  <a:pt x="1683300" y="26668"/>
                </a:lnTo>
                <a:lnTo>
                  <a:pt x="1706400" y="43200"/>
                </a:lnTo>
                <a:lnTo>
                  <a:pt x="1706400" y="43200"/>
                </a:lnTo>
                <a:lnTo>
                  <a:pt x="1729500" y="26668"/>
                </a:lnTo>
                <a:lnTo>
                  <a:pt x="1752600" y="12652"/>
                </a:lnTo>
                <a:lnTo>
                  <a:pt x="1775700" y="3288"/>
                </a:lnTo>
                <a:lnTo>
                  <a:pt x="1798800" y="0"/>
                </a:lnTo>
                <a:lnTo>
                  <a:pt x="1821900" y="3288"/>
                </a:lnTo>
                <a:lnTo>
                  <a:pt x="1845000" y="12652"/>
                </a:lnTo>
                <a:lnTo>
                  <a:pt x="1868100" y="26668"/>
                </a:lnTo>
                <a:lnTo>
                  <a:pt x="1891200" y="43200"/>
                </a:lnTo>
                <a:lnTo>
                  <a:pt x="1891200" y="43200"/>
                </a:lnTo>
                <a:lnTo>
                  <a:pt x="1914300" y="26668"/>
                </a:lnTo>
                <a:lnTo>
                  <a:pt x="1937400" y="12652"/>
                </a:lnTo>
                <a:lnTo>
                  <a:pt x="1960500" y="3288"/>
                </a:lnTo>
                <a:lnTo>
                  <a:pt x="1983600" y="0"/>
                </a:lnTo>
                <a:lnTo>
                  <a:pt x="2006700" y="3288"/>
                </a:lnTo>
                <a:lnTo>
                  <a:pt x="2029800" y="12652"/>
                </a:lnTo>
                <a:lnTo>
                  <a:pt x="2052900" y="26668"/>
                </a:lnTo>
                <a:lnTo>
                  <a:pt x="2075999" y="43200"/>
                </a:lnTo>
                <a:lnTo>
                  <a:pt x="2075999" y="43200"/>
                </a:lnTo>
                <a:lnTo>
                  <a:pt x="2099100" y="26668"/>
                </a:lnTo>
                <a:lnTo>
                  <a:pt x="2122200" y="12652"/>
                </a:lnTo>
                <a:lnTo>
                  <a:pt x="2145300" y="3288"/>
                </a:lnTo>
                <a:lnTo>
                  <a:pt x="2168400" y="0"/>
                </a:lnTo>
                <a:lnTo>
                  <a:pt x="2191500" y="3288"/>
                </a:lnTo>
                <a:lnTo>
                  <a:pt x="2214600" y="12652"/>
                </a:lnTo>
                <a:lnTo>
                  <a:pt x="2237700" y="26668"/>
                </a:lnTo>
                <a:lnTo>
                  <a:pt x="2260800" y="43200"/>
                </a:lnTo>
                <a:lnTo>
                  <a:pt x="2260800" y="43200"/>
                </a:lnTo>
                <a:lnTo>
                  <a:pt x="2283900" y="26668"/>
                </a:lnTo>
                <a:lnTo>
                  <a:pt x="2307000" y="12652"/>
                </a:lnTo>
                <a:lnTo>
                  <a:pt x="2330100" y="3288"/>
                </a:lnTo>
                <a:lnTo>
                  <a:pt x="2353200" y="0"/>
                </a:lnTo>
                <a:lnTo>
                  <a:pt x="2376300" y="3288"/>
                </a:lnTo>
                <a:lnTo>
                  <a:pt x="2399400" y="12652"/>
                </a:lnTo>
                <a:lnTo>
                  <a:pt x="2422500" y="26668"/>
                </a:lnTo>
                <a:lnTo>
                  <a:pt x="2445600" y="43200"/>
                </a:lnTo>
                <a:lnTo>
                  <a:pt x="2445600" y="43200"/>
                </a:lnTo>
                <a:lnTo>
                  <a:pt x="2468700" y="26668"/>
                </a:lnTo>
                <a:lnTo>
                  <a:pt x="2491800" y="12652"/>
                </a:lnTo>
                <a:lnTo>
                  <a:pt x="2514899" y="3288"/>
                </a:lnTo>
                <a:lnTo>
                  <a:pt x="2538000" y="0"/>
                </a:lnTo>
                <a:lnTo>
                  <a:pt x="2561100" y="3288"/>
                </a:lnTo>
                <a:lnTo>
                  <a:pt x="2584200" y="12652"/>
                </a:lnTo>
                <a:lnTo>
                  <a:pt x="2607300" y="26668"/>
                </a:lnTo>
                <a:lnTo>
                  <a:pt x="2630400" y="43200"/>
                </a:lnTo>
                <a:lnTo>
                  <a:pt x="2630400" y="43200"/>
                </a:lnTo>
                <a:lnTo>
                  <a:pt x="2653500" y="26668"/>
                </a:lnTo>
                <a:lnTo>
                  <a:pt x="2676600" y="12652"/>
                </a:lnTo>
                <a:lnTo>
                  <a:pt x="2699700" y="3288"/>
                </a:lnTo>
                <a:lnTo>
                  <a:pt x="2722800" y="0"/>
                </a:lnTo>
                <a:lnTo>
                  <a:pt x="2745900" y="3288"/>
                </a:lnTo>
                <a:lnTo>
                  <a:pt x="2769000" y="12652"/>
                </a:lnTo>
                <a:lnTo>
                  <a:pt x="2792100" y="26668"/>
                </a:lnTo>
                <a:lnTo>
                  <a:pt x="2815200" y="43200"/>
                </a:lnTo>
                <a:lnTo>
                  <a:pt x="2815200" y="43200"/>
                </a:lnTo>
                <a:lnTo>
                  <a:pt x="2831731" y="64414"/>
                </a:lnTo>
                <a:lnTo>
                  <a:pt x="2845747" y="85628"/>
                </a:lnTo>
                <a:lnTo>
                  <a:pt x="2855111" y="106842"/>
                </a:lnTo>
                <a:lnTo>
                  <a:pt x="2858400" y="128057"/>
                </a:lnTo>
                <a:lnTo>
                  <a:pt x="2855111" y="149271"/>
                </a:lnTo>
                <a:lnTo>
                  <a:pt x="2845747" y="170485"/>
                </a:lnTo>
                <a:lnTo>
                  <a:pt x="2831731" y="191700"/>
                </a:lnTo>
                <a:lnTo>
                  <a:pt x="2815200" y="212914"/>
                </a:lnTo>
                <a:lnTo>
                  <a:pt x="2815200" y="212914"/>
                </a:lnTo>
                <a:lnTo>
                  <a:pt x="2831731" y="234128"/>
                </a:lnTo>
                <a:lnTo>
                  <a:pt x="2845747" y="255342"/>
                </a:lnTo>
                <a:lnTo>
                  <a:pt x="2855111" y="276557"/>
                </a:lnTo>
                <a:lnTo>
                  <a:pt x="2858400" y="297771"/>
                </a:lnTo>
                <a:lnTo>
                  <a:pt x="2855111" y="318985"/>
                </a:lnTo>
                <a:lnTo>
                  <a:pt x="2845747" y="340200"/>
                </a:lnTo>
                <a:lnTo>
                  <a:pt x="2831731" y="361414"/>
                </a:lnTo>
                <a:lnTo>
                  <a:pt x="2815200" y="382628"/>
                </a:lnTo>
                <a:lnTo>
                  <a:pt x="2815200" y="382628"/>
                </a:lnTo>
                <a:lnTo>
                  <a:pt x="2831731" y="403842"/>
                </a:lnTo>
                <a:lnTo>
                  <a:pt x="2845747" y="425057"/>
                </a:lnTo>
                <a:lnTo>
                  <a:pt x="2855111" y="446271"/>
                </a:lnTo>
                <a:lnTo>
                  <a:pt x="2858400" y="467485"/>
                </a:lnTo>
                <a:lnTo>
                  <a:pt x="2855111" y="488700"/>
                </a:lnTo>
                <a:lnTo>
                  <a:pt x="2845747" y="509914"/>
                </a:lnTo>
                <a:lnTo>
                  <a:pt x="2831731" y="531128"/>
                </a:lnTo>
                <a:lnTo>
                  <a:pt x="2815200" y="552342"/>
                </a:lnTo>
                <a:lnTo>
                  <a:pt x="2815200" y="552342"/>
                </a:lnTo>
                <a:lnTo>
                  <a:pt x="2831731" y="573557"/>
                </a:lnTo>
                <a:lnTo>
                  <a:pt x="2845747" y="594771"/>
                </a:lnTo>
                <a:lnTo>
                  <a:pt x="2855111" y="615985"/>
                </a:lnTo>
                <a:lnTo>
                  <a:pt x="2858400" y="637200"/>
                </a:lnTo>
                <a:lnTo>
                  <a:pt x="2855111" y="658414"/>
                </a:lnTo>
                <a:lnTo>
                  <a:pt x="2845747" y="679628"/>
                </a:lnTo>
                <a:lnTo>
                  <a:pt x="2831731" y="700842"/>
                </a:lnTo>
                <a:lnTo>
                  <a:pt x="2815200" y="722057"/>
                </a:lnTo>
                <a:lnTo>
                  <a:pt x="2815200" y="722057"/>
                </a:lnTo>
                <a:lnTo>
                  <a:pt x="2831731" y="743271"/>
                </a:lnTo>
                <a:lnTo>
                  <a:pt x="2845747" y="764485"/>
                </a:lnTo>
                <a:lnTo>
                  <a:pt x="2855111" y="785700"/>
                </a:lnTo>
                <a:lnTo>
                  <a:pt x="2858400" y="806914"/>
                </a:lnTo>
                <a:lnTo>
                  <a:pt x="2855111" y="828128"/>
                </a:lnTo>
                <a:lnTo>
                  <a:pt x="2845747" y="849342"/>
                </a:lnTo>
                <a:lnTo>
                  <a:pt x="2831731" y="870557"/>
                </a:lnTo>
                <a:lnTo>
                  <a:pt x="2815200" y="891771"/>
                </a:lnTo>
                <a:lnTo>
                  <a:pt x="2815200" y="891771"/>
                </a:lnTo>
                <a:lnTo>
                  <a:pt x="2831731" y="912985"/>
                </a:lnTo>
                <a:lnTo>
                  <a:pt x="2845747" y="934200"/>
                </a:lnTo>
                <a:lnTo>
                  <a:pt x="2855111" y="955414"/>
                </a:lnTo>
                <a:lnTo>
                  <a:pt x="2858400" y="976628"/>
                </a:lnTo>
                <a:lnTo>
                  <a:pt x="2855111" y="997842"/>
                </a:lnTo>
                <a:lnTo>
                  <a:pt x="2845747" y="1019057"/>
                </a:lnTo>
                <a:lnTo>
                  <a:pt x="2831731" y="1040271"/>
                </a:lnTo>
                <a:lnTo>
                  <a:pt x="2815200" y="1061485"/>
                </a:lnTo>
                <a:lnTo>
                  <a:pt x="2815200" y="1061485"/>
                </a:lnTo>
                <a:lnTo>
                  <a:pt x="2831731" y="1082700"/>
                </a:lnTo>
                <a:lnTo>
                  <a:pt x="2845747" y="1103914"/>
                </a:lnTo>
                <a:lnTo>
                  <a:pt x="2855111" y="1125128"/>
                </a:lnTo>
                <a:lnTo>
                  <a:pt x="2858400" y="1146342"/>
                </a:lnTo>
                <a:lnTo>
                  <a:pt x="2855111" y="1167557"/>
                </a:lnTo>
                <a:lnTo>
                  <a:pt x="2845747" y="1188771"/>
                </a:lnTo>
                <a:lnTo>
                  <a:pt x="2831731" y="1209985"/>
                </a:lnTo>
                <a:lnTo>
                  <a:pt x="2815200" y="1231200"/>
                </a:lnTo>
                <a:lnTo>
                  <a:pt x="2815200" y="1231200"/>
                </a:lnTo>
                <a:lnTo>
                  <a:pt x="2792100" y="1247731"/>
                </a:lnTo>
                <a:lnTo>
                  <a:pt x="2768999" y="1261747"/>
                </a:lnTo>
                <a:lnTo>
                  <a:pt x="2745900" y="1271111"/>
                </a:lnTo>
                <a:lnTo>
                  <a:pt x="2722800" y="1274400"/>
                </a:lnTo>
                <a:lnTo>
                  <a:pt x="2699700" y="1271111"/>
                </a:lnTo>
                <a:lnTo>
                  <a:pt x="2676600" y="1261747"/>
                </a:lnTo>
                <a:lnTo>
                  <a:pt x="2653500" y="1247731"/>
                </a:lnTo>
                <a:lnTo>
                  <a:pt x="2630400" y="1231200"/>
                </a:lnTo>
                <a:lnTo>
                  <a:pt x="2630400" y="1231200"/>
                </a:lnTo>
                <a:lnTo>
                  <a:pt x="2607300" y="1247731"/>
                </a:lnTo>
                <a:lnTo>
                  <a:pt x="2584200" y="1261747"/>
                </a:lnTo>
                <a:lnTo>
                  <a:pt x="2561100" y="1271111"/>
                </a:lnTo>
                <a:lnTo>
                  <a:pt x="2538000" y="1274400"/>
                </a:lnTo>
                <a:lnTo>
                  <a:pt x="2514900" y="1271111"/>
                </a:lnTo>
                <a:lnTo>
                  <a:pt x="2491800" y="1261747"/>
                </a:lnTo>
                <a:lnTo>
                  <a:pt x="2468700" y="1247731"/>
                </a:lnTo>
                <a:lnTo>
                  <a:pt x="2445600" y="1231200"/>
                </a:lnTo>
                <a:lnTo>
                  <a:pt x="2445600" y="1231200"/>
                </a:lnTo>
                <a:lnTo>
                  <a:pt x="2422499" y="1247731"/>
                </a:lnTo>
                <a:lnTo>
                  <a:pt x="2399400" y="1261747"/>
                </a:lnTo>
                <a:lnTo>
                  <a:pt x="2376300" y="1271111"/>
                </a:lnTo>
                <a:lnTo>
                  <a:pt x="2353200" y="1274400"/>
                </a:lnTo>
                <a:lnTo>
                  <a:pt x="2330100" y="1271111"/>
                </a:lnTo>
                <a:lnTo>
                  <a:pt x="2307000" y="1261747"/>
                </a:lnTo>
                <a:lnTo>
                  <a:pt x="2283900" y="1247731"/>
                </a:lnTo>
                <a:lnTo>
                  <a:pt x="2260800" y="1231200"/>
                </a:lnTo>
                <a:lnTo>
                  <a:pt x="2260800" y="1231200"/>
                </a:lnTo>
                <a:lnTo>
                  <a:pt x="2237700" y="1247731"/>
                </a:lnTo>
                <a:lnTo>
                  <a:pt x="2214600" y="1261747"/>
                </a:lnTo>
                <a:lnTo>
                  <a:pt x="2191500" y="1271111"/>
                </a:lnTo>
                <a:lnTo>
                  <a:pt x="2168399" y="1274400"/>
                </a:lnTo>
                <a:lnTo>
                  <a:pt x="2145300" y="1271111"/>
                </a:lnTo>
                <a:lnTo>
                  <a:pt x="2122200" y="1261747"/>
                </a:lnTo>
                <a:lnTo>
                  <a:pt x="2099100" y="1247731"/>
                </a:lnTo>
                <a:lnTo>
                  <a:pt x="2076000" y="1231200"/>
                </a:lnTo>
                <a:lnTo>
                  <a:pt x="2076000" y="1231200"/>
                </a:lnTo>
                <a:lnTo>
                  <a:pt x="2052900" y="1247731"/>
                </a:lnTo>
                <a:lnTo>
                  <a:pt x="2029800" y="1261747"/>
                </a:lnTo>
                <a:lnTo>
                  <a:pt x="2006700" y="1271111"/>
                </a:lnTo>
                <a:lnTo>
                  <a:pt x="1983600" y="1274400"/>
                </a:lnTo>
                <a:lnTo>
                  <a:pt x="1960500" y="1271111"/>
                </a:lnTo>
                <a:lnTo>
                  <a:pt x="1937400" y="1261747"/>
                </a:lnTo>
                <a:lnTo>
                  <a:pt x="1914300" y="1247731"/>
                </a:lnTo>
                <a:lnTo>
                  <a:pt x="1891200" y="1231200"/>
                </a:lnTo>
                <a:lnTo>
                  <a:pt x="1891200" y="1231200"/>
                </a:lnTo>
                <a:lnTo>
                  <a:pt x="1868100" y="1247731"/>
                </a:lnTo>
                <a:lnTo>
                  <a:pt x="1845000" y="1261747"/>
                </a:lnTo>
                <a:lnTo>
                  <a:pt x="1821900" y="1271111"/>
                </a:lnTo>
                <a:lnTo>
                  <a:pt x="1798800" y="1274400"/>
                </a:lnTo>
                <a:lnTo>
                  <a:pt x="1775700" y="1271111"/>
                </a:lnTo>
                <a:lnTo>
                  <a:pt x="1752600" y="1261747"/>
                </a:lnTo>
                <a:lnTo>
                  <a:pt x="1729500" y="1247731"/>
                </a:lnTo>
                <a:lnTo>
                  <a:pt x="1706400" y="1231200"/>
                </a:lnTo>
                <a:lnTo>
                  <a:pt x="1706400" y="1231200"/>
                </a:lnTo>
                <a:lnTo>
                  <a:pt x="1683300" y="1247731"/>
                </a:lnTo>
                <a:lnTo>
                  <a:pt x="1660200" y="1261747"/>
                </a:lnTo>
                <a:lnTo>
                  <a:pt x="1637100" y="1271111"/>
                </a:lnTo>
                <a:lnTo>
                  <a:pt x="1614000" y="1274400"/>
                </a:lnTo>
                <a:lnTo>
                  <a:pt x="1590900" y="1271111"/>
                </a:lnTo>
                <a:lnTo>
                  <a:pt x="1567800" y="1261747"/>
                </a:lnTo>
                <a:lnTo>
                  <a:pt x="1544700" y="1247731"/>
                </a:lnTo>
                <a:lnTo>
                  <a:pt x="1521600" y="1231200"/>
                </a:lnTo>
                <a:lnTo>
                  <a:pt x="1521600" y="1231200"/>
                </a:lnTo>
                <a:lnTo>
                  <a:pt x="1498500" y="1247731"/>
                </a:lnTo>
                <a:lnTo>
                  <a:pt x="1475400" y="1261747"/>
                </a:lnTo>
                <a:lnTo>
                  <a:pt x="1452300" y="1271111"/>
                </a:lnTo>
                <a:lnTo>
                  <a:pt x="1429200" y="1274400"/>
                </a:lnTo>
                <a:lnTo>
                  <a:pt x="1406100" y="1271111"/>
                </a:lnTo>
                <a:lnTo>
                  <a:pt x="1383000" y="1261747"/>
                </a:lnTo>
                <a:lnTo>
                  <a:pt x="1359900" y="1247731"/>
                </a:lnTo>
                <a:lnTo>
                  <a:pt x="1336800" y="1231200"/>
                </a:lnTo>
                <a:lnTo>
                  <a:pt x="1336800" y="1231200"/>
                </a:lnTo>
                <a:lnTo>
                  <a:pt x="1313700" y="1247731"/>
                </a:lnTo>
                <a:lnTo>
                  <a:pt x="1290600" y="1261747"/>
                </a:lnTo>
                <a:lnTo>
                  <a:pt x="1267500" y="1271111"/>
                </a:lnTo>
                <a:lnTo>
                  <a:pt x="1244400" y="1274400"/>
                </a:lnTo>
                <a:lnTo>
                  <a:pt x="1221300" y="1271111"/>
                </a:lnTo>
                <a:lnTo>
                  <a:pt x="1198200" y="1261747"/>
                </a:lnTo>
                <a:lnTo>
                  <a:pt x="1175100" y="1247731"/>
                </a:lnTo>
                <a:lnTo>
                  <a:pt x="1152000" y="1231200"/>
                </a:lnTo>
                <a:lnTo>
                  <a:pt x="1152000" y="1231200"/>
                </a:lnTo>
                <a:lnTo>
                  <a:pt x="1128900" y="1247731"/>
                </a:lnTo>
                <a:lnTo>
                  <a:pt x="1105800" y="1261747"/>
                </a:lnTo>
                <a:lnTo>
                  <a:pt x="1082700" y="1271111"/>
                </a:lnTo>
                <a:lnTo>
                  <a:pt x="1059600" y="1274400"/>
                </a:lnTo>
                <a:lnTo>
                  <a:pt x="1036500" y="1271111"/>
                </a:lnTo>
                <a:lnTo>
                  <a:pt x="1013400" y="1261747"/>
                </a:lnTo>
                <a:lnTo>
                  <a:pt x="990300" y="1247731"/>
                </a:lnTo>
                <a:lnTo>
                  <a:pt x="967200" y="1231200"/>
                </a:lnTo>
                <a:lnTo>
                  <a:pt x="967200" y="1231200"/>
                </a:lnTo>
                <a:lnTo>
                  <a:pt x="944100" y="1247731"/>
                </a:lnTo>
                <a:lnTo>
                  <a:pt x="921000" y="1261747"/>
                </a:lnTo>
                <a:lnTo>
                  <a:pt x="897900" y="1271111"/>
                </a:lnTo>
                <a:lnTo>
                  <a:pt x="874800" y="1274400"/>
                </a:lnTo>
                <a:lnTo>
                  <a:pt x="851699" y="1271111"/>
                </a:lnTo>
                <a:lnTo>
                  <a:pt x="828600" y="1261747"/>
                </a:lnTo>
                <a:lnTo>
                  <a:pt x="805500" y="1247731"/>
                </a:lnTo>
                <a:lnTo>
                  <a:pt x="782400" y="1231200"/>
                </a:lnTo>
                <a:lnTo>
                  <a:pt x="782400" y="1231200"/>
                </a:lnTo>
                <a:lnTo>
                  <a:pt x="759299" y="1247731"/>
                </a:lnTo>
                <a:lnTo>
                  <a:pt x="736200" y="1261747"/>
                </a:lnTo>
                <a:lnTo>
                  <a:pt x="713100" y="1271111"/>
                </a:lnTo>
                <a:lnTo>
                  <a:pt x="690000" y="1274400"/>
                </a:lnTo>
                <a:lnTo>
                  <a:pt x="666900" y="1271111"/>
                </a:lnTo>
                <a:lnTo>
                  <a:pt x="643800" y="1261747"/>
                </a:lnTo>
                <a:lnTo>
                  <a:pt x="620700" y="1247731"/>
                </a:lnTo>
                <a:lnTo>
                  <a:pt x="597600" y="1231200"/>
                </a:lnTo>
                <a:lnTo>
                  <a:pt x="597600" y="1231200"/>
                </a:lnTo>
                <a:lnTo>
                  <a:pt x="574500" y="1247731"/>
                </a:lnTo>
                <a:lnTo>
                  <a:pt x="551400" y="1261747"/>
                </a:lnTo>
                <a:lnTo>
                  <a:pt x="528300" y="1271111"/>
                </a:lnTo>
                <a:lnTo>
                  <a:pt x="505199" y="1274400"/>
                </a:lnTo>
                <a:lnTo>
                  <a:pt x="482100" y="1271111"/>
                </a:lnTo>
                <a:lnTo>
                  <a:pt x="459000" y="1261747"/>
                </a:lnTo>
                <a:lnTo>
                  <a:pt x="435900" y="1247731"/>
                </a:lnTo>
                <a:lnTo>
                  <a:pt x="412799" y="1231200"/>
                </a:lnTo>
                <a:lnTo>
                  <a:pt x="412799" y="1231200"/>
                </a:lnTo>
                <a:lnTo>
                  <a:pt x="389700" y="1247731"/>
                </a:lnTo>
                <a:lnTo>
                  <a:pt x="366600" y="1261747"/>
                </a:lnTo>
                <a:lnTo>
                  <a:pt x="343500" y="1271111"/>
                </a:lnTo>
                <a:lnTo>
                  <a:pt x="320400" y="1274400"/>
                </a:lnTo>
                <a:lnTo>
                  <a:pt x="297300" y="1271111"/>
                </a:lnTo>
                <a:lnTo>
                  <a:pt x="274200" y="1261747"/>
                </a:lnTo>
                <a:lnTo>
                  <a:pt x="251099" y="1247731"/>
                </a:lnTo>
                <a:lnTo>
                  <a:pt x="228000" y="1231200"/>
                </a:lnTo>
                <a:lnTo>
                  <a:pt x="228000" y="1231200"/>
                </a:lnTo>
                <a:lnTo>
                  <a:pt x="204900" y="1247731"/>
                </a:lnTo>
                <a:lnTo>
                  <a:pt x="181800" y="1261747"/>
                </a:lnTo>
                <a:lnTo>
                  <a:pt x="158699" y="1271111"/>
                </a:lnTo>
                <a:lnTo>
                  <a:pt x="135600" y="1274400"/>
                </a:lnTo>
                <a:lnTo>
                  <a:pt x="112500" y="1271111"/>
                </a:lnTo>
                <a:lnTo>
                  <a:pt x="89400" y="1261747"/>
                </a:lnTo>
                <a:lnTo>
                  <a:pt x="66299" y="1247731"/>
                </a:lnTo>
                <a:lnTo>
                  <a:pt x="43200" y="1231200"/>
                </a:lnTo>
                <a:lnTo>
                  <a:pt x="43200" y="1231200"/>
                </a:lnTo>
                <a:lnTo>
                  <a:pt x="26668" y="1209985"/>
                </a:lnTo>
                <a:lnTo>
                  <a:pt x="12652" y="1188771"/>
                </a:lnTo>
                <a:lnTo>
                  <a:pt x="3288" y="1167557"/>
                </a:lnTo>
                <a:lnTo>
                  <a:pt x="0" y="1146342"/>
                </a:lnTo>
                <a:lnTo>
                  <a:pt x="3288" y="1125128"/>
                </a:lnTo>
                <a:lnTo>
                  <a:pt x="12652" y="1103914"/>
                </a:lnTo>
                <a:lnTo>
                  <a:pt x="26668" y="1082700"/>
                </a:lnTo>
                <a:lnTo>
                  <a:pt x="43200" y="1061485"/>
                </a:lnTo>
                <a:lnTo>
                  <a:pt x="43200" y="1061485"/>
                </a:lnTo>
                <a:lnTo>
                  <a:pt x="26668" y="1040271"/>
                </a:lnTo>
                <a:lnTo>
                  <a:pt x="12652" y="1019057"/>
                </a:lnTo>
                <a:lnTo>
                  <a:pt x="3288" y="997842"/>
                </a:lnTo>
                <a:lnTo>
                  <a:pt x="0" y="976628"/>
                </a:lnTo>
                <a:lnTo>
                  <a:pt x="3288" y="955414"/>
                </a:lnTo>
                <a:lnTo>
                  <a:pt x="12652" y="934200"/>
                </a:lnTo>
                <a:lnTo>
                  <a:pt x="26668" y="912985"/>
                </a:lnTo>
                <a:lnTo>
                  <a:pt x="43200" y="891771"/>
                </a:lnTo>
                <a:lnTo>
                  <a:pt x="43200" y="891771"/>
                </a:lnTo>
                <a:lnTo>
                  <a:pt x="26668" y="870557"/>
                </a:lnTo>
                <a:lnTo>
                  <a:pt x="12652" y="849342"/>
                </a:lnTo>
                <a:lnTo>
                  <a:pt x="3288" y="828128"/>
                </a:lnTo>
                <a:lnTo>
                  <a:pt x="0" y="806914"/>
                </a:lnTo>
                <a:lnTo>
                  <a:pt x="3288" y="785700"/>
                </a:lnTo>
                <a:lnTo>
                  <a:pt x="12652" y="764485"/>
                </a:lnTo>
                <a:lnTo>
                  <a:pt x="26668" y="743271"/>
                </a:lnTo>
                <a:lnTo>
                  <a:pt x="43200" y="722057"/>
                </a:lnTo>
                <a:lnTo>
                  <a:pt x="43200" y="722057"/>
                </a:lnTo>
                <a:lnTo>
                  <a:pt x="26668" y="700842"/>
                </a:lnTo>
                <a:lnTo>
                  <a:pt x="12652" y="679628"/>
                </a:lnTo>
                <a:lnTo>
                  <a:pt x="3288" y="658414"/>
                </a:lnTo>
                <a:lnTo>
                  <a:pt x="0" y="637200"/>
                </a:lnTo>
                <a:lnTo>
                  <a:pt x="3288" y="615985"/>
                </a:lnTo>
                <a:lnTo>
                  <a:pt x="12652" y="594771"/>
                </a:lnTo>
                <a:lnTo>
                  <a:pt x="26668" y="573557"/>
                </a:lnTo>
                <a:lnTo>
                  <a:pt x="43200" y="552342"/>
                </a:lnTo>
                <a:lnTo>
                  <a:pt x="43200" y="552342"/>
                </a:lnTo>
                <a:lnTo>
                  <a:pt x="26668" y="531128"/>
                </a:lnTo>
                <a:lnTo>
                  <a:pt x="12652" y="509914"/>
                </a:lnTo>
                <a:lnTo>
                  <a:pt x="3288" y="488700"/>
                </a:lnTo>
                <a:lnTo>
                  <a:pt x="0" y="467485"/>
                </a:lnTo>
                <a:lnTo>
                  <a:pt x="3288" y="446271"/>
                </a:lnTo>
                <a:lnTo>
                  <a:pt x="12652" y="425057"/>
                </a:lnTo>
                <a:lnTo>
                  <a:pt x="26668" y="403842"/>
                </a:lnTo>
                <a:lnTo>
                  <a:pt x="43200" y="382628"/>
                </a:lnTo>
                <a:lnTo>
                  <a:pt x="43200" y="382628"/>
                </a:lnTo>
                <a:lnTo>
                  <a:pt x="26668" y="361414"/>
                </a:lnTo>
                <a:lnTo>
                  <a:pt x="12652" y="340200"/>
                </a:lnTo>
                <a:lnTo>
                  <a:pt x="3288" y="318985"/>
                </a:lnTo>
                <a:lnTo>
                  <a:pt x="0" y="297771"/>
                </a:lnTo>
                <a:lnTo>
                  <a:pt x="3288" y="276557"/>
                </a:lnTo>
                <a:lnTo>
                  <a:pt x="12652" y="255342"/>
                </a:lnTo>
                <a:lnTo>
                  <a:pt x="26668" y="234128"/>
                </a:lnTo>
                <a:lnTo>
                  <a:pt x="43200" y="212914"/>
                </a:lnTo>
                <a:lnTo>
                  <a:pt x="43200" y="212914"/>
                </a:lnTo>
                <a:lnTo>
                  <a:pt x="26668" y="191700"/>
                </a:lnTo>
                <a:lnTo>
                  <a:pt x="12652" y="170485"/>
                </a:lnTo>
                <a:lnTo>
                  <a:pt x="3288" y="149271"/>
                </a:lnTo>
                <a:lnTo>
                  <a:pt x="0" y="128057"/>
                </a:lnTo>
                <a:lnTo>
                  <a:pt x="3288" y="106842"/>
                </a:lnTo>
                <a:lnTo>
                  <a:pt x="12652" y="85628"/>
                </a:lnTo>
                <a:lnTo>
                  <a:pt x="26668" y="64414"/>
                </a:lnTo>
                <a:lnTo>
                  <a:pt x="43200" y="43200"/>
                </a:lnTo>
                <a:close/>
              </a:path>
            </a:pathLst>
          </a:custGeom>
          <a:noFill/>
          <a:ln w="7620">
            <a:solidFill>
              <a:srgbClr val="A4433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2" name="TextBox 291"/>
          <p:cNvSpPr txBox="1"/>
          <p:nvPr/>
        </p:nvSpPr>
        <p:spPr>
          <a:xfrm>
            <a:off x="7488000" y="7236000"/>
            <a:ext cx="2556000" cy="100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50" b="0">
                <a:solidFill>
                  <a:srgbClr val="A44338"/>
                </a:solidFill>
                <a:latin typeface="Liberation Sans"/>
              </a:defRPr>
            </a:pPr>
            <a:r>
              <a:t>TBC #16</a:t>
            </a:r>
          </a:p>
          <a:p>
            <a:pPr>
              <a:spcAft>
                <a:spcPts val="400"/>
              </a:spcAft>
              <a:defRPr sz="850" b="0">
                <a:solidFill>
                  <a:srgbClr val="A44338"/>
                </a:solidFill>
                <a:latin typeface="Liberation Sans"/>
              </a:defRPr>
            </a:pPr>
            <a:r>
              <a:t>Handle / fittings schematic.</a:t>
            </a:r>
          </a:p>
          <a:p>
            <a:pPr>
              <a:spcAft>
                <a:spcPts val="400"/>
              </a:spcAft>
              <a:defRPr sz="850" b="0">
                <a:solidFill>
                  <a:srgbClr val="A44338"/>
                </a:solidFill>
                <a:latin typeface="Liberation Sans"/>
              </a:defRPr>
            </a:pPr>
            <a:r>
              <a:t>10 + 2580 + 10 height split</a:t>
            </a:r>
          </a:p>
          <a:p>
            <a:pPr>
              <a:spcAft>
                <a:spcPts val="400"/>
              </a:spcAft>
              <a:defRPr sz="850" b="0">
                <a:solidFill>
                  <a:srgbClr val="A44338"/>
                </a:solidFill>
                <a:latin typeface="Liberation Sans"/>
              </a:defRPr>
            </a:pPr>
            <a:r>
              <a:t>requires glazier confirmation.</a:t>
            </a:r>
          </a:p>
        </p:txBody>
      </p:sp>
      <p:cxnSp>
        <p:nvCxnSpPr>
          <p:cNvPr id="293" name="Connector 292"/>
          <p:cNvCxnSpPr/>
          <p:nvPr/>
        </p:nvCxnSpPr>
        <p:spPr>
          <a:xfrm>
            <a:off x="2340000" y="9396000"/>
            <a:ext cx="1800000" cy="0"/>
          </a:xfrm>
          <a:prstGeom prst="line">
            <a:avLst/>
          </a:prstGeom>
          <a:ln w="19050">
            <a:solidFill>
              <a:srgbClr val="252725"/>
            </a:solidFill>
          </a:ln>
          <a:effectLst/>
        </p:spPr>
      </p:cxnSp>
      <p:cxnSp>
        <p:nvCxnSpPr>
          <p:cNvPr id="294" name="Connector 293"/>
          <p:cNvCxnSpPr/>
          <p:nvPr/>
        </p:nvCxnSpPr>
        <p:spPr>
          <a:xfrm>
            <a:off x="2340000" y="9360000"/>
            <a:ext cx="0" cy="7200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cxnSp>
        <p:nvCxnSpPr>
          <p:cNvPr id="295" name="Connector 294"/>
          <p:cNvCxnSpPr/>
          <p:nvPr/>
        </p:nvCxnSpPr>
        <p:spPr>
          <a:xfrm>
            <a:off x="3240000" y="9360000"/>
            <a:ext cx="0" cy="7200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cxnSp>
        <p:nvCxnSpPr>
          <p:cNvPr id="296" name="Connector 295"/>
          <p:cNvCxnSpPr/>
          <p:nvPr/>
        </p:nvCxnSpPr>
        <p:spPr>
          <a:xfrm>
            <a:off x="4140000" y="9360000"/>
            <a:ext cx="0" cy="7200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sp>
        <p:nvSpPr>
          <p:cNvPr id="297" name="TextBox 296"/>
          <p:cNvSpPr txBox="1"/>
          <p:nvPr/>
        </p:nvSpPr>
        <p:spPr>
          <a:xfrm>
            <a:off x="2340000" y="9468000"/>
            <a:ext cx="2340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700" b="0">
                <a:solidFill>
                  <a:srgbClr val="737871"/>
                </a:solidFill>
                <a:latin typeface="Liberation Sans"/>
              </a:defRPr>
            </a:pPr>
            <a:r>
              <a:t>0                         1000 mm   |   1:20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360000"/>
            <a:ext cx="10620000" cy="216000"/>
          </a:xfrm>
          <a:prstGeom prst="rect">
            <a:avLst/>
          </a:prstGeom>
          <a:noFill/>
          <a:effectLst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9A825A"/>
                </a:solidFill>
                <a:latin typeface="Liberation Sans"/>
              </a:defRPr>
            </a:pPr>
            <a:r>
              <a:t>BORN FRAGRANCE  /  ARCHITECTURE + INTERIOR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720000"/>
            <a:ext cx="11880000" cy="504000"/>
          </a:xfrm>
          <a:prstGeom prst="rect">
            <a:avLst/>
          </a:prstGeom>
          <a:noFill/>
          <a:effectLst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300" b="0">
                <a:solidFill>
                  <a:srgbClr val="252725"/>
                </a:solidFill>
                <a:latin typeface="Liberation Serif"/>
              </a:defRPr>
            </a:pPr>
            <a:r>
              <a:t>Rear focal wall / internal elevation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1296000"/>
            <a:ext cx="12420000" cy="288000"/>
          </a:xfrm>
          <a:prstGeom prst="rect">
            <a:avLst/>
          </a:prstGeom>
          <a:noFill/>
          <a:effectLst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737871"/>
                </a:solidFill>
                <a:latin typeface="Liberation Sans"/>
              </a:defRPr>
            </a:pPr>
            <a:r>
              <a:t>Rear focal wall · developed shelving + owner-directed counter front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40000" y="468000"/>
            <a:ext cx="1368000" cy="619671"/>
          </a:xfrm>
          <a:prstGeom prst="rect">
            <a:avLst/>
          </a:prstGeom>
          <a:effectLst/>
          <a:effectLst/>
        </p:spPr>
      </p:pic>
      <p:cxnSp>
        <p:nvCxnSpPr>
          <p:cNvPr id="6" name="Connector 5"/>
          <p:cNvCxnSpPr/>
          <p:nvPr/>
        </p:nvCxnSpPr>
        <p:spPr>
          <a:xfrm>
            <a:off x="540000" y="1728000"/>
            <a:ext cx="14040000" cy="0"/>
          </a:xfrm>
          <a:prstGeom prst="line">
            <a:avLst/>
          </a:prstGeom>
          <a:ln w="8890">
            <a:solidFill>
              <a:srgbClr val="9A825A"/>
            </a:solidFill>
          </a:ln>
          <a:effectLst/>
          <a:effectLst/>
        </p:spPr>
      </p:cxnSp>
      <p:cxnSp>
        <p:nvCxnSpPr>
          <p:cNvPr id="7" name="Connector 6"/>
          <p:cNvCxnSpPr/>
          <p:nvPr/>
        </p:nvCxnSpPr>
        <p:spPr>
          <a:xfrm>
            <a:off x="540000" y="9792000"/>
            <a:ext cx="14040000" cy="0"/>
          </a:xfrm>
          <a:prstGeom prst="line">
            <a:avLst/>
          </a:prstGeom>
          <a:ln w="8890">
            <a:solidFill>
              <a:srgbClr val="9A825A"/>
            </a:solidFill>
          </a:ln>
          <a:effectLst/>
          <a:effectLst/>
        </p:spPr>
      </p:cxnSp>
      <p:sp>
        <p:nvSpPr>
          <p:cNvPr id="8" name="TextBox 7"/>
          <p:cNvSpPr txBox="1"/>
          <p:nvPr/>
        </p:nvSpPr>
        <p:spPr>
          <a:xfrm>
            <a:off x="540000" y="10008000"/>
            <a:ext cx="7128000" cy="360000"/>
          </a:xfrm>
          <a:prstGeom prst="rect">
            <a:avLst/>
          </a:prstGeom>
          <a:noFill/>
          <a:effectLst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750" b="0">
                <a:solidFill>
                  <a:srgbClr val="737871"/>
                </a:solidFill>
                <a:latin typeface="Liberation Sans"/>
              </a:defRPr>
            </a:pPr>
            <a:r>
              <a:t>FOR COORDINATION  ·  SITE ITEMS OPEN  ·  REV D
06 OCT 2026  /  SOURCE REV A</a:t>
            </a:r>
          </a:p>
          <a:p>
            <a:pPr>
              <a:spcAft>
                <a:spcPts val="400"/>
              </a:spcAft>
              <a:defRPr sz="750" b="0">
                <a:solidFill>
                  <a:srgbClr val="737871"/>
                </a:solidFill>
                <a:latin typeface="Liberation Sans"/>
              </a:defRPr>
            </a:pPr>
            <a:r>
              <a:t>06 OCT 2026  /  SOURCE REV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04000" y="10008000"/>
            <a:ext cx="5220000" cy="360000"/>
          </a:xfrm>
          <a:prstGeom prst="rect">
            <a:avLst/>
          </a:prstGeom>
          <a:noFill/>
          <a:effectLst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750" b="0">
                <a:solidFill>
                  <a:srgbClr val="737871"/>
                </a:solidFill>
                <a:latin typeface="Liberation Sans"/>
              </a:defRPr>
            </a:pPr>
            <a:r>
              <a:t>1:20 @ A3  ·  DIMENSIONS mm</a:t>
            </a:r>
          </a:p>
          <a:p>
            <a:pPr>
              <a:spcAft>
                <a:spcPts val="400"/>
              </a:spcAft>
              <a:defRPr sz="750" b="0">
                <a:solidFill>
                  <a:srgbClr val="737871"/>
                </a:solidFill>
                <a:latin typeface="Liberation Sans"/>
              </a:defRPr>
            </a:pPr>
            <a:r>
              <a:t>SPEC SNAPSHOT eeccbde1cd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392000" y="10008000"/>
            <a:ext cx="1152000" cy="288000"/>
          </a:xfrm>
          <a:prstGeom prst="rect">
            <a:avLst/>
          </a:prstGeom>
          <a:noFill/>
          <a:effectLst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252725"/>
                </a:solidFill>
                <a:latin typeface="Liberation Sans"/>
              </a:defRPr>
            </a:pPr>
            <a:r>
              <a:t>AP-07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08000" y="2088000"/>
            <a:ext cx="3564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9A825A"/>
                </a:solidFill>
                <a:latin typeface="Liberation Sans"/>
              </a:defRPr>
            </a:pPr>
            <a:r>
              <a:t>REAR DISPLAY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08000" y="2448000"/>
            <a:ext cx="3528000" cy="122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500 / 900 / 500 zones between side units. 25 main posts, 3 mm folded trays, 25 downstands and warm concealed LEDs. No rear mesh.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08000" y="3852000"/>
            <a:ext cx="3564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9A825A"/>
                </a:solidFill>
                <a:latin typeface="Liberation Sans"/>
              </a:defRPr>
            </a:pPr>
            <a:r>
              <a:t>COUNTER / RENDER DIRECTION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08000" y="4212000"/>
            <a:ext cx="3528000" cy="122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Left mesh panel, larger light-neutral right panel, light top and black perimeter frame. Replaces the small central mesh graphic at owner request.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08000" y="5616000"/>
            <a:ext cx="3564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9A825A"/>
                </a:solidFill>
                <a:latin typeface="Liberation Sans"/>
              </a:defRPr>
            </a:pPr>
            <a:r>
              <a:t>DIMENSIONS RETAINED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08000" y="5976000"/>
            <a:ext cx="3528000" cy="122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Counter 1000 × 450 × 900 high, 20 × 20 black frame. Location and 450 side gaps unchanged. Revised front panel split is not a cutting schedule.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08000" y="7380000"/>
            <a:ext cx="3564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9A825A"/>
                </a:solidFill>
                <a:latin typeface="Liberation Sans"/>
              </a:defRPr>
            </a:pPr>
            <a:r>
              <a:t>BRAND / FINISH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08000" y="7740000"/>
            <a:ext cx="3528000" cy="122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600-wide native black logo, centre 1900 AFFL, unlit. Raw light plaster backdrop. Product silhouettes indicative only.</a:t>
            </a:r>
          </a:p>
        </p:txBody>
      </p:sp>
      <p:sp>
        <p:nvSpPr>
          <p:cNvPr id="19" name="GEOM:internal-envelope"/>
          <p:cNvSpPr/>
          <p:nvPr/>
        </p:nvSpPr>
        <p:spPr>
          <a:xfrm>
            <a:off x="2340000" y="3312000"/>
            <a:ext cx="4320000" cy="4680000"/>
          </a:xfrm>
          <a:prstGeom prst="rect">
            <a:avLst/>
          </a:prstGeom>
          <a:solidFill>
            <a:srgbClr val="F0E8DA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340000" y="3312000"/>
            <a:ext cx="450000" cy="4680000"/>
          </a:xfrm>
          <a:prstGeom prst="rect">
            <a:avLst/>
          </a:prstGeom>
          <a:solidFill>
            <a:srgbClr val="DDD5C6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5000" y="3312000"/>
            <a:ext cx="45000" cy="468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0000" y="3312000"/>
            <a:ext cx="450000" cy="4680000"/>
          </a:xfrm>
          <a:prstGeom prst="rect">
            <a:avLst/>
          </a:prstGeom>
          <a:solidFill>
            <a:srgbClr val="DDD5C6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615000" y="3312000"/>
            <a:ext cx="45000" cy="468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90000" y="3312000"/>
            <a:ext cx="900000" cy="4680000"/>
          </a:xfrm>
          <a:prstGeom prst="rect">
            <a:avLst/>
          </a:prstGeom>
          <a:solidFill>
            <a:srgbClr val="E8DFCF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790000" y="7812000"/>
            <a:ext cx="900000" cy="180000"/>
          </a:xfrm>
          <a:prstGeom prst="rect">
            <a:avLst/>
          </a:prstGeom>
          <a:solidFill>
            <a:srgbClr val="424540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790000" y="6912000"/>
            <a:ext cx="900000" cy="900000"/>
          </a:xfrm>
          <a:prstGeom prst="rect">
            <a:avLst/>
          </a:prstGeom>
          <a:solidFill>
            <a:srgbClr val="DAD3C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 flipV="1">
            <a:off x="3240000" y="6957000"/>
            <a:ext cx="0" cy="837000"/>
          </a:xfrm>
          <a:prstGeom prst="line">
            <a:avLst/>
          </a:prstGeom>
          <a:ln w="4445">
            <a:solidFill>
              <a:srgbClr val="737871"/>
            </a:solidFill>
          </a:ln>
          <a:effectLst/>
        </p:spPr>
      </p:cxnSp>
      <p:sp>
        <p:nvSpPr>
          <p:cNvPr id="28" name="Rectangle 27"/>
          <p:cNvSpPr/>
          <p:nvPr/>
        </p:nvSpPr>
        <p:spPr>
          <a:xfrm>
            <a:off x="2790000" y="3312000"/>
            <a:ext cx="45000" cy="468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645000" y="3312000"/>
            <a:ext cx="45000" cy="468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790000" y="3312000"/>
            <a:ext cx="900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790000" y="6912000"/>
            <a:ext cx="900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2" name="Connector 31"/>
          <p:cNvCxnSpPr/>
          <p:nvPr/>
        </p:nvCxnSpPr>
        <p:spPr>
          <a:xfrm>
            <a:off x="2835000" y="6951600"/>
            <a:ext cx="810000" cy="0"/>
          </a:xfrm>
          <a:prstGeom prst="line">
            <a:avLst/>
          </a:prstGeom>
          <a:ln w="10160">
            <a:solidFill>
              <a:srgbClr val="9A825A"/>
            </a:solidFill>
          </a:ln>
          <a:effectLst/>
        </p:spPr>
      </p:cxnSp>
      <p:sp>
        <p:nvSpPr>
          <p:cNvPr id="33" name="Rectangle 32"/>
          <p:cNvSpPr/>
          <p:nvPr/>
        </p:nvSpPr>
        <p:spPr>
          <a:xfrm>
            <a:off x="2934000" y="6735600"/>
            <a:ext cx="90000" cy="171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958300" y="6703200"/>
            <a:ext cx="41400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5" name="Connector 34"/>
          <p:cNvCxnSpPr/>
          <p:nvPr/>
        </p:nvCxnSpPr>
        <p:spPr>
          <a:xfrm>
            <a:off x="2948400" y="6834780"/>
            <a:ext cx="612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36" name="Rectangle 35"/>
          <p:cNvSpPr/>
          <p:nvPr/>
        </p:nvSpPr>
        <p:spPr>
          <a:xfrm>
            <a:off x="3420000" y="6690600"/>
            <a:ext cx="111600" cy="216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450132" y="6658200"/>
            <a:ext cx="51336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8" name="Connector 37"/>
          <p:cNvCxnSpPr/>
          <p:nvPr/>
        </p:nvCxnSpPr>
        <p:spPr>
          <a:xfrm>
            <a:off x="3434400" y="6815879"/>
            <a:ext cx="828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39" name="Rectangle 38"/>
          <p:cNvSpPr/>
          <p:nvPr/>
        </p:nvSpPr>
        <p:spPr>
          <a:xfrm>
            <a:off x="2790000" y="6192000"/>
            <a:ext cx="900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0" name="Connector 39"/>
          <p:cNvCxnSpPr/>
          <p:nvPr/>
        </p:nvCxnSpPr>
        <p:spPr>
          <a:xfrm>
            <a:off x="2835000" y="6231600"/>
            <a:ext cx="810000" cy="0"/>
          </a:xfrm>
          <a:prstGeom prst="line">
            <a:avLst/>
          </a:prstGeom>
          <a:ln w="10160">
            <a:solidFill>
              <a:srgbClr val="9A825A"/>
            </a:solidFill>
          </a:ln>
          <a:effectLst/>
        </p:spPr>
      </p:cxnSp>
      <p:sp>
        <p:nvSpPr>
          <p:cNvPr id="41" name="Rectangle 40"/>
          <p:cNvSpPr/>
          <p:nvPr/>
        </p:nvSpPr>
        <p:spPr>
          <a:xfrm>
            <a:off x="2934000" y="5970600"/>
            <a:ext cx="111600" cy="216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964132" y="5938200"/>
            <a:ext cx="51336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3" name="Connector 42"/>
          <p:cNvCxnSpPr/>
          <p:nvPr/>
        </p:nvCxnSpPr>
        <p:spPr>
          <a:xfrm>
            <a:off x="2948400" y="6095879"/>
            <a:ext cx="828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44" name="Rectangle 43"/>
          <p:cNvSpPr/>
          <p:nvPr/>
        </p:nvSpPr>
        <p:spPr>
          <a:xfrm>
            <a:off x="3420000" y="5997600"/>
            <a:ext cx="79200" cy="189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441384" y="5965200"/>
            <a:ext cx="36432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6" name="Connector 45"/>
          <p:cNvCxnSpPr/>
          <p:nvPr/>
        </p:nvCxnSpPr>
        <p:spPr>
          <a:xfrm>
            <a:off x="3434400" y="6107220"/>
            <a:ext cx="504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47" name="Rectangle 46"/>
          <p:cNvSpPr/>
          <p:nvPr/>
        </p:nvSpPr>
        <p:spPr>
          <a:xfrm>
            <a:off x="2790000" y="5472000"/>
            <a:ext cx="900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8" name="Connector 47"/>
          <p:cNvCxnSpPr/>
          <p:nvPr/>
        </p:nvCxnSpPr>
        <p:spPr>
          <a:xfrm>
            <a:off x="2835000" y="5511600"/>
            <a:ext cx="810000" cy="0"/>
          </a:xfrm>
          <a:prstGeom prst="line">
            <a:avLst/>
          </a:prstGeom>
          <a:ln w="10160">
            <a:solidFill>
              <a:srgbClr val="9A825A"/>
            </a:solidFill>
          </a:ln>
          <a:effectLst/>
        </p:spPr>
      </p:cxnSp>
      <p:sp>
        <p:nvSpPr>
          <p:cNvPr id="49" name="Rectangle 48"/>
          <p:cNvSpPr/>
          <p:nvPr/>
        </p:nvSpPr>
        <p:spPr>
          <a:xfrm>
            <a:off x="2934000" y="5277600"/>
            <a:ext cx="79200" cy="189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955384" y="5245200"/>
            <a:ext cx="36432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1" name="Connector 50"/>
          <p:cNvCxnSpPr/>
          <p:nvPr/>
        </p:nvCxnSpPr>
        <p:spPr>
          <a:xfrm>
            <a:off x="2948400" y="5387220"/>
            <a:ext cx="504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52" name="Rectangle 51"/>
          <p:cNvSpPr/>
          <p:nvPr/>
        </p:nvSpPr>
        <p:spPr>
          <a:xfrm>
            <a:off x="3420000" y="5295600"/>
            <a:ext cx="90000" cy="171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3444300" y="5263200"/>
            <a:ext cx="41400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4" name="Connector 53"/>
          <p:cNvCxnSpPr/>
          <p:nvPr/>
        </p:nvCxnSpPr>
        <p:spPr>
          <a:xfrm>
            <a:off x="3434400" y="5394780"/>
            <a:ext cx="612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55" name="Rectangle 54"/>
          <p:cNvSpPr/>
          <p:nvPr/>
        </p:nvSpPr>
        <p:spPr>
          <a:xfrm>
            <a:off x="2790000" y="4752000"/>
            <a:ext cx="900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6" name="Connector 55"/>
          <p:cNvCxnSpPr/>
          <p:nvPr/>
        </p:nvCxnSpPr>
        <p:spPr>
          <a:xfrm>
            <a:off x="2835000" y="4791600"/>
            <a:ext cx="810000" cy="0"/>
          </a:xfrm>
          <a:prstGeom prst="line">
            <a:avLst/>
          </a:prstGeom>
          <a:ln w="10160">
            <a:solidFill>
              <a:srgbClr val="9A825A"/>
            </a:solidFill>
          </a:ln>
          <a:effectLst/>
        </p:spPr>
      </p:cxnSp>
      <p:sp>
        <p:nvSpPr>
          <p:cNvPr id="57" name="Rectangle 56"/>
          <p:cNvSpPr/>
          <p:nvPr/>
        </p:nvSpPr>
        <p:spPr>
          <a:xfrm>
            <a:off x="2934000" y="4575600"/>
            <a:ext cx="90000" cy="171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2958300" y="4543200"/>
            <a:ext cx="41400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9" name="Connector 58"/>
          <p:cNvCxnSpPr/>
          <p:nvPr/>
        </p:nvCxnSpPr>
        <p:spPr>
          <a:xfrm>
            <a:off x="2948400" y="4674780"/>
            <a:ext cx="612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60" name="Rectangle 59"/>
          <p:cNvSpPr/>
          <p:nvPr/>
        </p:nvSpPr>
        <p:spPr>
          <a:xfrm>
            <a:off x="3420000" y="4530600"/>
            <a:ext cx="111600" cy="216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3450132" y="4498200"/>
            <a:ext cx="51336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62" name="Connector 61"/>
          <p:cNvCxnSpPr/>
          <p:nvPr/>
        </p:nvCxnSpPr>
        <p:spPr>
          <a:xfrm>
            <a:off x="3434400" y="4655879"/>
            <a:ext cx="828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63" name="Rectangle 62"/>
          <p:cNvSpPr/>
          <p:nvPr/>
        </p:nvSpPr>
        <p:spPr>
          <a:xfrm>
            <a:off x="2790000" y="4032000"/>
            <a:ext cx="900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64" name="Connector 63"/>
          <p:cNvCxnSpPr/>
          <p:nvPr/>
        </p:nvCxnSpPr>
        <p:spPr>
          <a:xfrm>
            <a:off x="2835000" y="4071600"/>
            <a:ext cx="810000" cy="0"/>
          </a:xfrm>
          <a:prstGeom prst="line">
            <a:avLst/>
          </a:prstGeom>
          <a:ln w="10160">
            <a:solidFill>
              <a:srgbClr val="9A825A"/>
            </a:solidFill>
          </a:ln>
          <a:effectLst/>
        </p:spPr>
      </p:cxnSp>
      <p:sp>
        <p:nvSpPr>
          <p:cNvPr id="65" name="Rectangle 64"/>
          <p:cNvSpPr/>
          <p:nvPr/>
        </p:nvSpPr>
        <p:spPr>
          <a:xfrm>
            <a:off x="5310000" y="3312000"/>
            <a:ext cx="900000" cy="4680000"/>
          </a:xfrm>
          <a:prstGeom prst="rect">
            <a:avLst/>
          </a:prstGeom>
          <a:solidFill>
            <a:srgbClr val="E8DFCF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310000" y="7812000"/>
            <a:ext cx="900000" cy="180000"/>
          </a:xfrm>
          <a:prstGeom prst="rect">
            <a:avLst/>
          </a:prstGeom>
          <a:solidFill>
            <a:srgbClr val="424540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310000" y="6912000"/>
            <a:ext cx="900000" cy="900000"/>
          </a:xfrm>
          <a:prstGeom prst="rect">
            <a:avLst/>
          </a:prstGeom>
          <a:solidFill>
            <a:srgbClr val="DAD3C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68" name="Connector 67"/>
          <p:cNvCxnSpPr/>
          <p:nvPr/>
        </p:nvCxnSpPr>
        <p:spPr>
          <a:xfrm flipV="1">
            <a:off x="5760000" y="6957000"/>
            <a:ext cx="0" cy="837000"/>
          </a:xfrm>
          <a:prstGeom prst="line">
            <a:avLst/>
          </a:prstGeom>
          <a:ln w="4445">
            <a:solidFill>
              <a:srgbClr val="737871"/>
            </a:solidFill>
          </a:ln>
          <a:effectLst/>
        </p:spPr>
      </p:cxnSp>
      <p:sp>
        <p:nvSpPr>
          <p:cNvPr id="69" name="Rectangle 68"/>
          <p:cNvSpPr/>
          <p:nvPr/>
        </p:nvSpPr>
        <p:spPr>
          <a:xfrm>
            <a:off x="5310000" y="3312000"/>
            <a:ext cx="45000" cy="468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165000" y="3312000"/>
            <a:ext cx="45000" cy="468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5310000" y="3312000"/>
            <a:ext cx="900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5310000" y="6912000"/>
            <a:ext cx="900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73" name="Connector 72"/>
          <p:cNvCxnSpPr/>
          <p:nvPr/>
        </p:nvCxnSpPr>
        <p:spPr>
          <a:xfrm>
            <a:off x="5355000" y="6951600"/>
            <a:ext cx="810000" cy="0"/>
          </a:xfrm>
          <a:prstGeom prst="line">
            <a:avLst/>
          </a:prstGeom>
          <a:ln w="10160">
            <a:solidFill>
              <a:srgbClr val="9A825A"/>
            </a:solidFill>
          </a:ln>
          <a:effectLst/>
        </p:spPr>
      </p:cxnSp>
      <p:sp>
        <p:nvSpPr>
          <p:cNvPr id="74" name="Rectangle 73"/>
          <p:cNvSpPr/>
          <p:nvPr/>
        </p:nvSpPr>
        <p:spPr>
          <a:xfrm>
            <a:off x="5454000" y="6735600"/>
            <a:ext cx="90000" cy="171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5478300" y="6703200"/>
            <a:ext cx="41400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76" name="Connector 75"/>
          <p:cNvCxnSpPr/>
          <p:nvPr/>
        </p:nvCxnSpPr>
        <p:spPr>
          <a:xfrm>
            <a:off x="5468400" y="6834780"/>
            <a:ext cx="612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77" name="Rectangle 76"/>
          <p:cNvSpPr/>
          <p:nvPr/>
        </p:nvSpPr>
        <p:spPr>
          <a:xfrm>
            <a:off x="5940000" y="6690600"/>
            <a:ext cx="111600" cy="216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5970132" y="6658200"/>
            <a:ext cx="51336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79" name="Connector 78"/>
          <p:cNvCxnSpPr/>
          <p:nvPr/>
        </p:nvCxnSpPr>
        <p:spPr>
          <a:xfrm>
            <a:off x="5954400" y="6815879"/>
            <a:ext cx="828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80" name="Rectangle 79"/>
          <p:cNvSpPr/>
          <p:nvPr/>
        </p:nvSpPr>
        <p:spPr>
          <a:xfrm>
            <a:off x="5310000" y="6192000"/>
            <a:ext cx="900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81" name="Connector 80"/>
          <p:cNvCxnSpPr/>
          <p:nvPr/>
        </p:nvCxnSpPr>
        <p:spPr>
          <a:xfrm>
            <a:off x="5355000" y="6231600"/>
            <a:ext cx="810000" cy="0"/>
          </a:xfrm>
          <a:prstGeom prst="line">
            <a:avLst/>
          </a:prstGeom>
          <a:ln w="10160">
            <a:solidFill>
              <a:srgbClr val="9A825A"/>
            </a:solidFill>
          </a:ln>
          <a:effectLst/>
        </p:spPr>
      </p:cxnSp>
      <p:sp>
        <p:nvSpPr>
          <p:cNvPr id="82" name="Rectangle 81"/>
          <p:cNvSpPr/>
          <p:nvPr/>
        </p:nvSpPr>
        <p:spPr>
          <a:xfrm>
            <a:off x="5454000" y="5970600"/>
            <a:ext cx="111600" cy="216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5484132" y="5938200"/>
            <a:ext cx="51336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84" name="Connector 83"/>
          <p:cNvCxnSpPr/>
          <p:nvPr/>
        </p:nvCxnSpPr>
        <p:spPr>
          <a:xfrm>
            <a:off x="5468400" y="6095879"/>
            <a:ext cx="828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85" name="Rectangle 84"/>
          <p:cNvSpPr/>
          <p:nvPr/>
        </p:nvSpPr>
        <p:spPr>
          <a:xfrm>
            <a:off x="5940000" y="5997600"/>
            <a:ext cx="79200" cy="189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5961384" y="5965200"/>
            <a:ext cx="36432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87" name="Connector 86"/>
          <p:cNvCxnSpPr/>
          <p:nvPr/>
        </p:nvCxnSpPr>
        <p:spPr>
          <a:xfrm>
            <a:off x="5954400" y="6107220"/>
            <a:ext cx="504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88" name="Rectangle 87"/>
          <p:cNvSpPr/>
          <p:nvPr/>
        </p:nvSpPr>
        <p:spPr>
          <a:xfrm>
            <a:off x="5310000" y="5472000"/>
            <a:ext cx="900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89" name="Connector 88"/>
          <p:cNvCxnSpPr/>
          <p:nvPr/>
        </p:nvCxnSpPr>
        <p:spPr>
          <a:xfrm>
            <a:off x="5355000" y="5511600"/>
            <a:ext cx="810000" cy="0"/>
          </a:xfrm>
          <a:prstGeom prst="line">
            <a:avLst/>
          </a:prstGeom>
          <a:ln w="10160">
            <a:solidFill>
              <a:srgbClr val="9A825A"/>
            </a:solidFill>
          </a:ln>
          <a:effectLst/>
        </p:spPr>
      </p:cxnSp>
      <p:sp>
        <p:nvSpPr>
          <p:cNvPr id="90" name="Rectangle 89"/>
          <p:cNvSpPr/>
          <p:nvPr/>
        </p:nvSpPr>
        <p:spPr>
          <a:xfrm>
            <a:off x="5454000" y="5277600"/>
            <a:ext cx="79200" cy="189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5475384" y="5245200"/>
            <a:ext cx="36432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92" name="Connector 91"/>
          <p:cNvCxnSpPr/>
          <p:nvPr/>
        </p:nvCxnSpPr>
        <p:spPr>
          <a:xfrm>
            <a:off x="5468400" y="5387220"/>
            <a:ext cx="504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93" name="Rectangle 92"/>
          <p:cNvSpPr/>
          <p:nvPr/>
        </p:nvSpPr>
        <p:spPr>
          <a:xfrm>
            <a:off x="5940000" y="5295600"/>
            <a:ext cx="90000" cy="171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5964300" y="5263200"/>
            <a:ext cx="41400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95" name="Connector 94"/>
          <p:cNvCxnSpPr/>
          <p:nvPr/>
        </p:nvCxnSpPr>
        <p:spPr>
          <a:xfrm>
            <a:off x="5954400" y="5394780"/>
            <a:ext cx="612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96" name="Rectangle 95"/>
          <p:cNvSpPr/>
          <p:nvPr/>
        </p:nvSpPr>
        <p:spPr>
          <a:xfrm>
            <a:off x="5310000" y="4752000"/>
            <a:ext cx="900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97" name="Connector 96"/>
          <p:cNvCxnSpPr/>
          <p:nvPr/>
        </p:nvCxnSpPr>
        <p:spPr>
          <a:xfrm>
            <a:off x="5355000" y="4791600"/>
            <a:ext cx="810000" cy="0"/>
          </a:xfrm>
          <a:prstGeom prst="line">
            <a:avLst/>
          </a:prstGeom>
          <a:ln w="10160">
            <a:solidFill>
              <a:srgbClr val="9A825A"/>
            </a:solidFill>
          </a:ln>
          <a:effectLst/>
        </p:spPr>
      </p:cxnSp>
      <p:sp>
        <p:nvSpPr>
          <p:cNvPr id="98" name="Rectangle 97"/>
          <p:cNvSpPr/>
          <p:nvPr/>
        </p:nvSpPr>
        <p:spPr>
          <a:xfrm>
            <a:off x="5454000" y="4575600"/>
            <a:ext cx="90000" cy="171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5478300" y="4543200"/>
            <a:ext cx="41400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00" name="Connector 99"/>
          <p:cNvCxnSpPr/>
          <p:nvPr/>
        </p:nvCxnSpPr>
        <p:spPr>
          <a:xfrm>
            <a:off x="5468400" y="4674780"/>
            <a:ext cx="612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101" name="Rectangle 100"/>
          <p:cNvSpPr/>
          <p:nvPr/>
        </p:nvSpPr>
        <p:spPr>
          <a:xfrm>
            <a:off x="5940000" y="4530600"/>
            <a:ext cx="111600" cy="216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5970132" y="4498200"/>
            <a:ext cx="51336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03" name="Connector 102"/>
          <p:cNvCxnSpPr/>
          <p:nvPr/>
        </p:nvCxnSpPr>
        <p:spPr>
          <a:xfrm>
            <a:off x="5954400" y="4655879"/>
            <a:ext cx="828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104" name="Rectangle 103"/>
          <p:cNvSpPr/>
          <p:nvPr/>
        </p:nvSpPr>
        <p:spPr>
          <a:xfrm>
            <a:off x="5310000" y="4032000"/>
            <a:ext cx="900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05" name="Connector 104"/>
          <p:cNvCxnSpPr/>
          <p:nvPr/>
        </p:nvCxnSpPr>
        <p:spPr>
          <a:xfrm>
            <a:off x="5355000" y="4071600"/>
            <a:ext cx="810000" cy="0"/>
          </a:xfrm>
          <a:prstGeom prst="line">
            <a:avLst/>
          </a:prstGeom>
          <a:ln w="10160">
            <a:solidFill>
              <a:srgbClr val="9A825A"/>
            </a:solidFill>
          </a:ln>
          <a:effectLst/>
        </p:spPr>
      </p:cxnSp>
      <p:pic>
        <p:nvPicPr>
          <p:cNvPr id="106" name="Picture 10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0000" y="4327392"/>
            <a:ext cx="1080000" cy="489214"/>
          </a:xfrm>
          <a:prstGeom prst="rect">
            <a:avLst/>
          </a:prstGeom>
          <a:effectLst/>
        </p:spPr>
      </p:pic>
      <p:sp>
        <p:nvSpPr>
          <p:cNvPr id="107" name="GEOM:counter-elevation"/>
          <p:cNvSpPr/>
          <p:nvPr/>
        </p:nvSpPr>
        <p:spPr>
          <a:xfrm>
            <a:off x="3600000" y="6372000"/>
            <a:ext cx="1800000" cy="1620000"/>
          </a:xfrm>
          <a:prstGeom prst="rect">
            <a:avLst/>
          </a:prstGeom>
          <a:solidFill>
            <a:srgbClr val="D9CBB4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3636000" y="6444000"/>
            <a:ext cx="594000" cy="1449000"/>
          </a:xfrm>
          <a:prstGeom prst="rect">
            <a:avLst/>
          </a:prstGeom>
          <a:solidFill>
            <a:srgbClr val="B6AD9A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09" name="Connector 108"/>
          <p:cNvCxnSpPr/>
          <p:nvPr/>
        </p:nvCxnSpPr>
        <p:spPr>
          <a:xfrm flipV="1">
            <a:off x="3636000" y="6444000"/>
            <a:ext cx="900" cy="18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10" name="Connector 109"/>
          <p:cNvCxnSpPr/>
          <p:nvPr/>
        </p:nvCxnSpPr>
        <p:spPr>
          <a:xfrm>
            <a:off x="3636000" y="7891200"/>
            <a:ext cx="900" cy="18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11" name="Connector 110"/>
          <p:cNvCxnSpPr/>
          <p:nvPr/>
        </p:nvCxnSpPr>
        <p:spPr>
          <a:xfrm flipV="1">
            <a:off x="3636000" y="6444000"/>
            <a:ext cx="36900" cy="738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12" name="Connector 111"/>
          <p:cNvCxnSpPr/>
          <p:nvPr/>
        </p:nvCxnSpPr>
        <p:spPr>
          <a:xfrm>
            <a:off x="3636000" y="7819200"/>
            <a:ext cx="36900" cy="738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13" name="Connector 112"/>
          <p:cNvCxnSpPr/>
          <p:nvPr/>
        </p:nvCxnSpPr>
        <p:spPr>
          <a:xfrm flipV="1">
            <a:off x="3636000" y="6444000"/>
            <a:ext cx="72900" cy="1458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14" name="Connector 113"/>
          <p:cNvCxnSpPr/>
          <p:nvPr/>
        </p:nvCxnSpPr>
        <p:spPr>
          <a:xfrm>
            <a:off x="3636000" y="7747200"/>
            <a:ext cx="72900" cy="1458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15" name="Connector 114"/>
          <p:cNvCxnSpPr/>
          <p:nvPr/>
        </p:nvCxnSpPr>
        <p:spPr>
          <a:xfrm flipV="1">
            <a:off x="3636000" y="6444000"/>
            <a:ext cx="108900" cy="2178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16" name="Connector 115"/>
          <p:cNvCxnSpPr/>
          <p:nvPr/>
        </p:nvCxnSpPr>
        <p:spPr>
          <a:xfrm>
            <a:off x="3636000" y="7675200"/>
            <a:ext cx="108900" cy="2178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17" name="Connector 116"/>
          <p:cNvCxnSpPr/>
          <p:nvPr/>
        </p:nvCxnSpPr>
        <p:spPr>
          <a:xfrm flipV="1">
            <a:off x="3636000" y="6444000"/>
            <a:ext cx="144900" cy="2898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18" name="Connector 117"/>
          <p:cNvCxnSpPr/>
          <p:nvPr/>
        </p:nvCxnSpPr>
        <p:spPr>
          <a:xfrm>
            <a:off x="3636000" y="7603200"/>
            <a:ext cx="144900" cy="2898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19" name="Connector 118"/>
          <p:cNvCxnSpPr/>
          <p:nvPr/>
        </p:nvCxnSpPr>
        <p:spPr>
          <a:xfrm flipV="1">
            <a:off x="3636000" y="6444000"/>
            <a:ext cx="180900" cy="3618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20" name="Connector 119"/>
          <p:cNvCxnSpPr/>
          <p:nvPr/>
        </p:nvCxnSpPr>
        <p:spPr>
          <a:xfrm>
            <a:off x="3636000" y="7531200"/>
            <a:ext cx="180900" cy="3618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21" name="Connector 120"/>
          <p:cNvCxnSpPr/>
          <p:nvPr/>
        </p:nvCxnSpPr>
        <p:spPr>
          <a:xfrm flipV="1">
            <a:off x="3636000" y="6444000"/>
            <a:ext cx="216900" cy="4338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22" name="Connector 121"/>
          <p:cNvCxnSpPr/>
          <p:nvPr/>
        </p:nvCxnSpPr>
        <p:spPr>
          <a:xfrm>
            <a:off x="3636000" y="7459200"/>
            <a:ext cx="216900" cy="4338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23" name="Connector 122"/>
          <p:cNvCxnSpPr/>
          <p:nvPr/>
        </p:nvCxnSpPr>
        <p:spPr>
          <a:xfrm flipV="1">
            <a:off x="3636000" y="6444000"/>
            <a:ext cx="252900" cy="5058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24" name="Connector 123"/>
          <p:cNvCxnSpPr/>
          <p:nvPr/>
        </p:nvCxnSpPr>
        <p:spPr>
          <a:xfrm>
            <a:off x="3636000" y="7387200"/>
            <a:ext cx="252900" cy="5058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25" name="Connector 124"/>
          <p:cNvCxnSpPr/>
          <p:nvPr/>
        </p:nvCxnSpPr>
        <p:spPr>
          <a:xfrm flipV="1">
            <a:off x="3636000" y="6444000"/>
            <a:ext cx="288900" cy="5778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26" name="Connector 125"/>
          <p:cNvCxnSpPr/>
          <p:nvPr/>
        </p:nvCxnSpPr>
        <p:spPr>
          <a:xfrm>
            <a:off x="3636000" y="7315200"/>
            <a:ext cx="288900" cy="5778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27" name="Connector 126"/>
          <p:cNvCxnSpPr/>
          <p:nvPr/>
        </p:nvCxnSpPr>
        <p:spPr>
          <a:xfrm flipV="1">
            <a:off x="3636000" y="6444000"/>
            <a:ext cx="324900" cy="6498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28" name="Connector 127"/>
          <p:cNvCxnSpPr/>
          <p:nvPr/>
        </p:nvCxnSpPr>
        <p:spPr>
          <a:xfrm>
            <a:off x="3636000" y="7243200"/>
            <a:ext cx="324900" cy="6498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29" name="Connector 128"/>
          <p:cNvCxnSpPr/>
          <p:nvPr/>
        </p:nvCxnSpPr>
        <p:spPr>
          <a:xfrm flipV="1">
            <a:off x="3636000" y="6444000"/>
            <a:ext cx="360900" cy="7218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30" name="Connector 129"/>
          <p:cNvCxnSpPr/>
          <p:nvPr/>
        </p:nvCxnSpPr>
        <p:spPr>
          <a:xfrm>
            <a:off x="3636000" y="7171200"/>
            <a:ext cx="360900" cy="7218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31" name="Connector 130"/>
          <p:cNvCxnSpPr/>
          <p:nvPr/>
        </p:nvCxnSpPr>
        <p:spPr>
          <a:xfrm flipV="1">
            <a:off x="3636000" y="6444000"/>
            <a:ext cx="396900" cy="7938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32" name="Connector 131"/>
          <p:cNvCxnSpPr/>
          <p:nvPr/>
        </p:nvCxnSpPr>
        <p:spPr>
          <a:xfrm>
            <a:off x="3636000" y="7099200"/>
            <a:ext cx="396900" cy="7938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33" name="Connector 132"/>
          <p:cNvCxnSpPr/>
          <p:nvPr/>
        </p:nvCxnSpPr>
        <p:spPr>
          <a:xfrm flipV="1">
            <a:off x="3636000" y="6444000"/>
            <a:ext cx="432900" cy="8658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34" name="Connector 133"/>
          <p:cNvCxnSpPr/>
          <p:nvPr/>
        </p:nvCxnSpPr>
        <p:spPr>
          <a:xfrm>
            <a:off x="3636000" y="7027200"/>
            <a:ext cx="432900" cy="8658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35" name="Connector 134"/>
          <p:cNvCxnSpPr/>
          <p:nvPr/>
        </p:nvCxnSpPr>
        <p:spPr>
          <a:xfrm flipV="1">
            <a:off x="3636000" y="6444000"/>
            <a:ext cx="468900" cy="9378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36" name="Connector 135"/>
          <p:cNvCxnSpPr/>
          <p:nvPr/>
        </p:nvCxnSpPr>
        <p:spPr>
          <a:xfrm>
            <a:off x="3636000" y="6955200"/>
            <a:ext cx="468900" cy="9378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37" name="Connector 136"/>
          <p:cNvCxnSpPr/>
          <p:nvPr/>
        </p:nvCxnSpPr>
        <p:spPr>
          <a:xfrm flipV="1">
            <a:off x="3636000" y="6444000"/>
            <a:ext cx="504900" cy="10098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38" name="Connector 137"/>
          <p:cNvCxnSpPr/>
          <p:nvPr/>
        </p:nvCxnSpPr>
        <p:spPr>
          <a:xfrm>
            <a:off x="3636000" y="6883200"/>
            <a:ext cx="504900" cy="10098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39" name="Connector 138"/>
          <p:cNvCxnSpPr/>
          <p:nvPr/>
        </p:nvCxnSpPr>
        <p:spPr>
          <a:xfrm flipV="1">
            <a:off x="3636000" y="6444000"/>
            <a:ext cx="540900" cy="10818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40" name="Connector 139"/>
          <p:cNvCxnSpPr/>
          <p:nvPr/>
        </p:nvCxnSpPr>
        <p:spPr>
          <a:xfrm>
            <a:off x="3636000" y="6811200"/>
            <a:ext cx="540900" cy="10818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41" name="Connector 140"/>
          <p:cNvCxnSpPr/>
          <p:nvPr/>
        </p:nvCxnSpPr>
        <p:spPr>
          <a:xfrm flipV="1">
            <a:off x="3636000" y="6444000"/>
            <a:ext cx="576900" cy="11538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42" name="Connector 141"/>
          <p:cNvCxnSpPr/>
          <p:nvPr/>
        </p:nvCxnSpPr>
        <p:spPr>
          <a:xfrm>
            <a:off x="3636000" y="6739200"/>
            <a:ext cx="576900" cy="11538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43" name="Connector 142"/>
          <p:cNvCxnSpPr/>
          <p:nvPr/>
        </p:nvCxnSpPr>
        <p:spPr>
          <a:xfrm flipV="1">
            <a:off x="3636000" y="6481800"/>
            <a:ext cx="594000" cy="1188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44" name="Connector 143"/>
          <p:cNvCxnSpPr/>
          <p:nvPr/>
        </p:nvCxnSpPr>
        <p:spPr>
          <a:xfrm>
            <a:off x="3636000" y="6667200"/>
            <a:ext cx="594000" cy="1188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45" name="Connector 144"/>
          <p:cNvCxnSpPr/>
          <p:nvPr/>
        </p:nvCxnSpPr>
        <p:spPr>
          <a:xfrm flipV="1">
            <a:off x="3636000" y="6553800"/>
            <a:ext cx="594000" cy="1188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46" name="Connector 145"/>
          <p:cNvCxnSpPr/>
          <p:nvPr/>
        </p:nvCxnSpPr>
        <p:spPr>
          <a:xfrm>
            <a:off x="3636000" y="6595200"/>
            <a:ext cx="594000" cy="1188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47" name="Connector 146"/>
          <p:cNvCxnSpPr/>
          <p:nvPr/>
        </p:nvCxnSpPr>
        <p:spPr>
          <a:xfrm flipV="1">
            <a:off x="3636000" y="6625800"/>
            <a:ext cx="594000" cy="1188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48" name="Connector 147"/>
          <p:cNvCxnSpPr/>
          <p:nvPr/>
        </p:nvCxnSpPr>
        <p:spPr>
          <a:xfrm>
            <a:off x="3636000" y="6523200"/>
            <a:ext cx="594000" cy="1188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49" name="Connector 148"/>
          <p:cNvCxnSpPr/>
          <p:nvPr/>
        </p:nvCxnSpPr>
        <p:spPr>
          <a:xfrm flipV="1">
            <a:off x="3636000" y="6697800"/>
            <a:ext cx="594000" cy="1188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50" name="Connector 149"/>
          <p:cNvCxnSpPr/>
          <p:nvPr/>
        </p:nvCxnSpPr>
        <p:spPr>
          <a:xfrm>
            <a:off x="3636000" y="6451200"/>
            <a:ext cx="594000" cy="1188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51" name="Connector 150"/>
          <p:cNvCxnSpPr/>
          <p:nvPr/>
        </p:nvCxnSpPr>
        <p:spPr>
          <a:xfrm flipV="1">
            <a:off x="3668400" y="6769800"/>
            <a:ext cx="561600" cy="11232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52" name="Connector 151"/>
          <p:cNvCxnSpPr/>
          <p:nvPr/>
        </p:nvCxnSpPr>
        <p:spPr>
          <a:xfrm>
            <a:off x="3668400" y="6444000"/>
            <a:ext cx="561600" cy="11232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53" name="Connector 152"/>
          <p:cNvCxnSpPr/>
          <p:nvPr/>
        </p:nvCxnSpPr>
        <p:spPr>
          <a:xfrm flipV="1">
            <a:off x="3704400" y="6841800"/>
            <a:ext cx="525600" cy="10512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54" name="Connector 153"/>
          <p:cNvCxnSpPr/>
          <p:nvPr/>
        </p:nvCxnSpPr>
        <p:spPr>
          <a:xfrm>
            <a:off x="3704400" y="6444000"/>
            <a:ext cx="525600" cy="10512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55" name="Connector 154"/>
          <p:cNvCxnSpPr/>
          <p:nvPr/>
        </p:nvCxnSpPr>
        <p:spPr>
          <a:xfrm flipV="1">
            <a:off x="3740400" y="6913800"/>
            <a:ext cx="489600" cy="9792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56" name="Connector 155"/>
          <p:cNvCxnSpPr/>
          <p:nvPr/>
        </p:nvCxnSpPr>
        <p:spPr>
          <a:xfrm>
            <a:off x="3740400" y="6444000"/>
            <a:ext cx="489600" cy="9792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57" name="Connector 156"/>
          <p:cNvCxnSpPr/>
          <p:nvPr/>
        </p:nvCxnSpPr>
        <p:spPr>
          <a:xfrm flipV="1">
            <a:off x="3776400" y="6985800"/>
            <a:ext cx="453600" cy="9072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58" name="Connector 157"/>
          <p:cNvCxnSpPr/>
          <p:nvPr/>
        </p:nvCxnSpPr>
        <p:spPr>
          <a:xfrm>
            <a:off x="3776400" y="6444000"/>
            <a:ext cx="453600" cy="9072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59" name="Connector 158"/>
          <p:cNvCxnSpPr/>
          <p:nvPr/>
        </p:nvCxnSpPr>
        <p:spPr>
          <a:xfrm flipV="1">
            <a:off x="3812400" y="7057800"/>
            <a:ext cx="417600" cy="8352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60" name="Connector 159"/>
          <p:cNvCxnSpPr/>
          <p:nvPr/>
        </p:nvCxnSpPr>
        <p:spPr>
          <a:xfrm>
            <a:off x="3812400" y="6444000"/>
            <a:ext cx="417600" cy="8352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61" name="Connector 160"/>
          <p:cNvCxnSpPr/>
          <p:nvPr/>
        </p:nvCxnSpPr>
        <p:spPr>
          <a:xfrm flipV="1">
            <a:off x="3848400" y="7129800"/>
            <a:ext cx="381600" cy="7632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62" name="Connector 161"/>
          <p:cNvCxnSpPr/>
          <p:nvPr/>
        </p:nvCxnSpPr>
        <p:spPr>
          <a:xfrm>
            <a:off x="3848400" y="6444000"/>
            <a:ext cx="381600" cy="7632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63" name="Connector 162"/>
          <p:cNvCxnSpPr/>
          <p:nvPr/>
        </p:nvCxnSpPr>
        <p:spPr>
          <a:xfrm flipV="1">
            <a:off x="3884400" y="7201800"/>
            <a:ext cx="345600" cy="6912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64" name="Connector 163"/>
          <p:cNvCxnSpPr/>
          <p:nvPr/>
        </p:nvCxnSpPr>
        <p:spPr>
          <a:xfrm>
            <a:off x="3884400" y="6444000"/>
            <a:ext cx="345600" cy="6912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65" name="Connector 164"/>
          <p:cNvCxnSpPr/>
          <p:nvPr/>
        </p:nvCxnSpPr>
        <p:spPr>
          <a:xfrm flipV="1">
            <a:off x="3920400" y="7273800"/>
            <a:ext cx="309600" cy="6192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66" name="Connector 165"/>
          <p:cNvCxnSpPr/>
          <p:nvPr/>
        </p:nvCxnSpPr>
        <p:spPr>
          <a:xfrm>
            <a:off x="3920400" y="6444000"/>
            <a:ext cx="309600" cy="6192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67" name="Connector 166"/>
          <p:cNvCxnSpPr/>
          <p:nvPr/>
        </p:nvCxnSpPr>
        <p:spPr>
          <a:xfrm flipV="1">
            <a:off x="3956400" y="7345800"/>
            <a:ext cx="273600" cy="5472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68" name="Connector 167"/>
          <p:cNvCxnSpPr/>
          <p:nvPr/>
        </p:nvCxnSpPr>
        <p:spPr>
          <a:xfrm>
            <a:off x="3956400" y="6444000"/>
            <a:ext cx="273600" cy="5472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69" name="Connector 168"/>
          <p:cNvCxnSpPr/>
          <p:nvPr/>
        </p:nvCxnSpPr>
        <p:spPr>
          <a:xfrm flipV="1">
            <a:off x="3992400" y="7417800"/>
            <a:ext cx="237600" cy="4752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70" name="Connector 169"/>
          <p:cNvCxnSpPr/>
          <p:nvPr/>
        </p:nvCxnSpPr>
        <p:spPr>
          <a:xfrm>
            <a:off x="3992400" y="6444000"/>
            <a:ext cx="237600" cy="4752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71" name="Connector 170"/>
          <p:cNvCxnSpPr/>
          <p:nvPr/>
        </p:nvCxnSpPr>
        <p:spPr>
          <a:xfrm flipV="1">
            <a:off x="4028400" y="7489800"/>
            <a:ext cx="201600" cy="4032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72" name="Connector 171"/>
          <p:cNvCxnSpPr/>
          <p:nvPr/>
        </p:nvCxnSpPr>
        <p:spPr>
          <a:xfrm>
            <a:off x="4028400" y="6444000"/>
            <a:ext cx="201600" cy="4032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73" name="Connector 172"/>
          <p:cNvCxnSpPr/>
          <p:nvPr/>
        </p:nvCxnSpPr>
        <p:spPr>
          <a:xfrm flipV="1">
            <a:off x="4064400" y="7561800"/>
            <a:ext cx="165600" cy="3312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74" name="Connector 173"/>
          <p:cNvCxnSpPr/>
          <p:nvPr/>
        </p:nvCxnSpPr>
        <p:spPr>
          <a:xfrm>
            <a:off x="4064400" y="6444000"/>
            <a:ext cx="165600" cy="3312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75" name="Connector 174"/>
          <p:cNvCxnSpPr/>
          <p:nvPr/>
        </p:nvCxnSpPr>
        <p:spPr>
          <a:xfrm flipV="1">
            <a:off x="4100400" y="7633800"/>
            <a:ext cx="129600" cy="2592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76" name="Connector 175"/>
          <p:cNvCxnSpPr/>
          <p:nvPr/>
        </p:nvCxnSpPr>
        <p:spPr>
          <a:xfrm>
            <a:off x="4100400" y="6444000"/>
            <a:ext cx="129600" cy="2592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77" name="Connector 176"/>
          <p:cNvCxnSpPr/>
          <p:nvPr/>
        </p:nvCxnSpPr>
        <p:spPr>
          <a:xfrm flipV="1">
            <a:off x="4136400" y="7705800"/>
            <a:ext cx="93600" cy="1872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78" name="Connector 177"/>
          <p:cNvCxnSpPr/>
          <p:nvPr/>
        </p:nvCxnSpPr>
        <p:spPr>
          <a:xfrm>
            <a:off x="4136400" y="6444000"/>
            <a:ext cx="93600" cy="1872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79" name="Connector 178"/>
          <p:cNvCxnSpPr/>
          <p:nvPr/>
        </p:nvCxnSpPr>
        <p:spPr>
          <a:xfrm flipV="1">
            <a:off x="4172400" y="7777800"/>
            <a:ext cx="57600" cy="1152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80" name="Connector 179"/>
          <p:cNvCxnSpPr/>
          <p:nvPr/>
        </p:nvCxnSpPr>
        <p:spPr>
          <a:xfrm>
            <a:off x="4172400" y="6444000"/>
            <a:ext cx="57600" cy="1152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81" name="Connector 180"/>
          <p:cNvCxnSpPr/>
          <p:nvPr/>
        </p:nvCxnSpPr>
        <p:spPr>
          <a:xfrm flipV="1">
            <a:off x="4208400" y="7849800"/>
            <a:ext cx="21600" cy="432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82" name="Connector 181"/>
          <p:cNvCxnSpPr/>
          <p:nvPr/>
        </p:nvCxnSpPr>
        <p:spPr>
          <a:xfrm>
            <a:off x="4208400" y="6444000"/>
            <a:ext cx="21600" cy="432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sp>
        <p:nvSpPr>
          <p:cNvPr id="183" name="Rectangle 182"/>
          <p:cNvSpPr/>
          <p:nvPr/>
        </p:nvSpPr>
        <p:spPr>
          <a:xfrm>
            <a:off x="3600000" y="6408000"/>
            <a:ext cx="36000" cy="1548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4212000" y="6408000"/>
            <a:ext cx="36000" cy="1548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5364000" y="6408000"/>
            <a:ext cx="36000" cy="1548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3600000" y="7920000"/>
            <a:ext cx="1800000" cy="36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3600000" y="6408000"/>
            <a:ext cx="1800000" cy="36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3600000" y="6372000"/>
            <a:ext cx="1800000" cy="36000"/>
          </a:xfrm>
          <a:prstGeom prst="rect">
            <a:avLst/>
          </a:prstGeom>
          <a:solidFill>
            <a:srgbClr val="EEE7DB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89" name="Connector 188"/>
          <p:cNvCxnSpPr/>
          <p:nvPr/>
        </p:nvCxnSpPr>
        <p:spPr>
          <a:xfrm>
            <a:off x="2340000" y="7992000"/>
            <a:ext cx="0" cy="612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190" name="Connector 189"/>
          <p:cNvCxnSpPr/>
          <p:nvPr/>
        </p:nvCxnSpPr>
        <p:spPr>
          <a:xfrm>
            <a:off x="6660000" y="7992000"/>
            <a:ext cx="0" cy="612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191" name="Connector 190"/>
          <p:cNvCxnSpPr/>
          <p:nvPr/>
        </p:nvCxnSpPr>
        <p:spPr>
          <a:xfrm>
            <a:off x="2340000" y="8604000"/>
            <a:ext cx="432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192" name="Connector 191"/>
          <p:cNvCxnSpPr/>
          <p:nvPr/>
        </p:nvCxnSpPr>
        <p:spPr>
          <a:xfrm flipV="1">
            <a:off x="2304000" y="8568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193" name="Connector 192"/>
          <p:cNvCxnSpPr/>
          <p:nvPr/>
        </p:nvCxnSpPr>
        <p:spPr>
          <a:xfrm flipV="1">
            <a:off x="6624000" y="8568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194" name="TextBox 193"/>
          <p:cNvSpPr txBox="1"/>
          <p:nvPr/>
        </p:nvSpPr>
        <p:spPr>
          <a:xfrm>
            <a:off x="3960000" y="8424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2400</a:t>
            </a:r>
          </a:p>
        </p:txBody>
      </p:sp>
      <p:cxnSp>
        <p:nvCxnSpPr>
          <p:cNvPr id="195" name="Connector 194"/>
          <p:cNvCxnSpPr/>
          <p:nvPr/>
        </p:nvCxnSpPr>
        <p:spPr>
          <a:xfrm>
            <a:off x="3600000" y="79920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196" name="Connector 195"/>
          <p:cNvCxnSpPr/>
          <p:nvPr/>
        </p:nvCxnSpPr>
        <p:spPr>
          <a:xfrm>
            <a:off x="5400000" y="79920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197" name="Connector 196"/>
          <p:cNvCxnSpPr/>
          <p:nvPr/>
        </p:nvCxnSpPr>
        <p:spPr>
          <a:xfrm>
            <a:off x="3600000" y="8280000"/>
            <a:ext cx="180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198" name="Connector 197"/>
          <p:cNvCxnSpPr/>
          <p:nvPr/>
        </p:nvCxnSpPr>
        <p:spPr>
          <a:xfrm flipV="1">
            <a:off x="3564000" y="8244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199" name="Connector 198"/>
          <p:cNvCxnSpPr/>
          <p:nvPr/>
        </p:nvCxnSpPr>
        <p:spPr>
          <a:xfrm flipV="1">
            <a:off x="5364000" y="8244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200" name="TextBox 199"/>
          <p:cNvSpPr txBox="1"/>
          <p:nvPr/>
        </p:nvSpPr>
        <p:spPr>
          <a:xfrm>
            <a:off x="3960000" y="8100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1000</a:t>
            </a:r>
          </a:p>
        </p:txBody>
      </p:sp>
      <p:cxnSp>
        <p:nvCxnSpPr>
          <p:cNvPr id="201" name="Connector 200"/>
          <p:cNvCxnSpPr/>
          <p:nvPr/>
        </p:nvCxnSpPr>
        <p:spPr>
          <a:xfrm flipH="1">
            <a:off x="1872000" y="7992000"/>
            <a:ext cx="468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02" name="Connector 201"/>
          <p:cNvCxnSpPr/>
          <p:nvPr/>
        </p:nvCxnSpPr>
        <p:spPr>
          <a:xfrm flipH="1">
            <a:off x="1872000" y="3312000"/>
            <a:ext cx="468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03" name="Connector 202"/>
          <p:cNvCxnSpPr/>
          <p:nvPr/>
        </p:nvCxnSpPr>
        <p:spPr>
          <a:xfrm flipV="1">
            <a:off x="1872000" y="3312000"/>
            <a:ext cx="0" cy="4680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04" name="Connector 203"/>
          <p:cNvCxnSpPr/>
          <p:nvPr/>
        </p:nvCxnSpPr>
        <p:spPr>
          <a:xfrm flipV="1">
            <a:off x="1836000" y="795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05" name="Connector 204"/>
          <p:cNvCxnSpPr/>
          <p:nvPr/>
        </p:nvCxnSpPr>
        <p:spPr>
          <a:xfrm flipV="1">
            <a:off x="1836000" y="327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206" name="TextBox 205"/>
          <p:cNvSpPr txBox="1"/>
          <p:nvPr/>
        </p:nvSpPr>
        <p:spPr>
          <a:xfrm>
            <a:off x="1440000" y="5652000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2600</a:t>
            </a:r>
          </a:p>
        </p:txBody>
      </p:sp>
      <p:cxnSp>
        <p:nvCxnSpPr>
          <p:cNvPr id="207" name="Connector 206"/>
          <p:cNvCxnSpPr/>
          <p:nvPr/>
        </p:nvCxnSpPr>
        <p:spPr>
          <a:xfrm flipV="1">
            <a:off x="2340000" y="2988000"/>
            <a:ext cx="0" cy="324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08" name="Connector 207"/>
          <p:cNvCxnSpPr/>
          <p:nvPr/>
        </p:nvCxnSpPr>
        <p:spPr>
          <a:xfrm flipV="1">
            <a:off x="2790000" y="2988000"/>
            <a:ext cx="0" cy="324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09" name="Connector 208"/>
          <p:cNvCxnSpPr/>
          <p:nvPr/>
        </p:nvCxnSpPr>
        <p:spPr>
          <a:xfrm>
            <a:off x="2340000" y="2988000"/>
            <a:ext cx="45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10" name="Connector 209"/>
          <p:cNvCxnSpPr/>
          <p:nvPr/>
        </p:nvCxnSpPr>
        <p:spPr>
          <a:xfrm flipV="1">
            <a:off x="2304000" y="2952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11" name="Connector 210"/>
          <p:cNvCxnSpPr/>
          <p:nvPr/>
        </p:nvCxnSpPr>
        <p:spPr>
          <a:xfrm flipV="1">
            <a:off x="2754000" y="2952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212" name="TextBox 211"/>
          <p:cNvSpPr txBox="1"/>
          <p:nvPr/>
        </p:nvSpPr>
        <p:spPr>
          <a:xfrm>
            <a:off x="2025000" y="2808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250</a:t>
            </a:r>
          </a:p>
        </p:txBody>
      </p:sp>
      <p:cxnSp>
        <p:nvCxnSpPr>
          <p:cNvPr id="213" name="Connector 212"/>
          <p:cNvCxnSpPr/>
          <p:nvPr/>
        </p:nvCxnSpPr>
        <p:spPr>
          <a:xfrm flipV="1">
            <a:off x="2790000" y="2988000"/>
            <a:ext cx="0" cy="324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14" name="Connector 213"/>
          <p:cNvCxnSpPr/>
          <p:nvPr/>
        </p:nvCxnSpPr>
        <p:spPr>
          <a:xfrm flipV="1">
            <a:off x="3690000" y="2988000"/>
            <a:ext cx="0" cy="324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15" name="Connector 214"/>
          <p:cNvCxnSpPr/>
          <p:nvPr/>
        </p:nvCxnSpPr>
        <p:spPr>
          <a:xfrm>
            <a:off x="2790000" y="2988000"/>
            <a:ext cx="90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16" name="Connector 215"/>
          <p:cNvCxnSpPr/>
          <p:nvPr/>
        </p:nvCxnSpPr>
        <p:spPr>
          <a:xfrm flipV="1">
            <a:off x="2754000" y="2952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17" name="Connector 216"/>
          <p:cNvCxnSpPr/>
          <p:nvPr/>
        </p:nvCxnSpPr>
        <p:spPr>
          <a:xfrm flipV="1">
            <a:off x="3654000" y="2952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218" name="TextBox 217"/>
          <p:cNvSpPr txBox="1"/>
          <p:nvPr/>
        </p:nvSpPr>
        <p:spPr>
          <a:xfrm>
            <a:off x="2700000" y="2808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500</a:t>
            </a:r>
          </a:p>
        </p:txBody>
      </p:sp>
      <p:cxnSp>
        <p:nvCxnSpPr>
          <p:cNvPr id="219" name="Connector 218"/>
          <p:cNvCxnSpPr/>
          <p:nvPr/>
        </p:nvCxnSpPr>
        <p:spPr>
          <a:xfrm flipV="1">
            <a:off x="3690000" y="2988000"/>
            <a:ext cx="0" cy="324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20" name="Connector 219"/>
          <p:cNvCxnSpPr/>
          <p:nvPr/>
        </p:nvCxnSpPr>
        <p:spPr>
          <a:xfrm flipV="1">
            <a:off x="5310000" y="2988000"/>
            <a:ext cx="0" cy="324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21" name="Connector 220"/>
          <p:cNvCxnSpPr/>
          <p:nvPr/>
        </p:nvCxnSpPr>
        <p:spPr>
          <a:xfrm>
            <a:off x="3690000" y="2988000"/>
            <a:ext cx="162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22" name="Connector 221"/>
          <p:cNvCxnSpPr/>
          <p:nvPr/>
        </p:nvCxnSpPr>
        <p:spPr>
          <a:xfrm flipV="1">
            <a:off x="3654000" y="2952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23" name="Connector 222"/>
          <p:cNvCxnSpPr/>
          <p:nvPr/>
        </p:nvCxnSpPr>
        <p:spPr>
          <a:xfrm flipV="1">
            <a:off x="5274000" y="2952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224" name="TextBox 223"/>
          <p:cNvSpPr txBox="1"/>
          <p:nvPr/>
        </p:nvSpPr>
        <p:spPr>
          <a:xfrm>
            <a:off x="3960000" y="2808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900</a:t>
            </a:r>
          </a:p>
        </p:txBody>
      </p:sp>
      <p:cxnSp>
        <p:nvCxnSpPr>
          <p:cNvPr id="225" name="Connector 224"/>
          <p:cNvCxnSpPr/>
          <p:nvPr/>
        </p:nvCxnSpPr>
        <p:spPr>
          <a:xfrm flipV="1">
            <a:off x="5310000" y="2988000"/>
            <a:ext cx="0" cy="324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26" name="Connector 225"/>
          <p:cNvCxnSpPr/>
          <p:nvPr/>
        </p:nvCxnSpPr>
        <p:spPr>
          <a:xfrm flipV="1">
            <a:off x="6210000" y="2988000"/>
            <a:ext cx="0" cy="324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27" name="Connector 226"/>
          <p:cNvCxnSpPr/>
          <p:nvPr/>
        </p:nvCxnSpPr>
        <p:spPr>
          <a:xfrm>
            <a:off x="5310000" y="2988000"/>
            <a:ext cx="90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28" name="Connector 227"/>
          <p:cNvCxnSpPr/>
          <p:nvPr/>
        </p:nvCxnSpPr>
        <p:spPr>
          <a:xfrm flipV="1">
            <a:off x="5274000" y="2952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29" name="Connector 228"/>
          <p:cNvCxnSpPr/>
          <p:nvPr/>
        </p:nvCxnSpPr>
        <p:spPr>
          <a:xfrm flipV="1">
            <a:off x="6174000" y="2952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230" name="TextBox 229"/>
          <p:cNvSpPr txBox="1"/>
          <p:nvPr/>
        </p:nvSpPr>
        <p:spPr>
          <a:xfrm>
            <a:off x="5220000" y="2808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500</a:t>
            </a:r>
          </a:p>
        </p:txBody>
      </p:sp>
      <p:cxnSp>
        <p:nvCxnSpPr>
          <p:cNvPr id="231" name="Connector 230"/>
          <p:cNvCxnSpPr/>
          <p:nvPr/>
        </p:nvCxnSpPr>
        <p:spPr>
          <a:xfrm flipV="1">
            <a:off x="6210000" y="2988000"/>
            <a:ext cx="0" cy="324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32" name="Connector 231"/>
          <p:cNvCxnSpPr/>
          <p:nvPr/>
        </p:nvCxnSpPr>
        <p:spPr>
          <a:xfrm flipV="1">
            <a:off x="6660000" y="2988000"/>
            <a:ext cx="0" cy="324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33" name="Connector 232"/>
          <p:cNvCxnSpPr/>
          <p:nvPr/>
        </p:nvCxnSpPr>
        <p:spPr>
          <a:xfrm>
            <a:off x="6210000" y="2988000"/>
            <a:ext cx="45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34" name="Connector 233"/>
          <p:cNvCxnSpPr/>
          <p:nvPr/>
        </p:nvCxnSpPr>
        <p:spPr>
          <a:xfrm flipV="1">
            <a:off x="6174000" y="2952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35" name="Connector 234"/>
          <p:cNvCxnSpPr/>
          <p:nvPr/>
        </p:nvCxnSpPr>
        <p:spPr>
          <a:xfrm flipV="1">
            <a:off x="6624000" y="2952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236" name="TextBox 235"/>
          <p:cNvSpPr txBox="1"/>
          <p:nvPr/>
        </p:nvSpPr>
        <p:spPr>
          <a:xfrm>
            <a:off x="5895000" y="2808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250</a:t>
            </a:r>
          </a:p>
        </p:txBody>
      </p:sp>
      <p:cxnSp>
        <p:nvCxnSpPr>
          <p:cNvPr id="237" name="Connector 236"/>
          <p:cNvCxnSpPr/>
          <p:nvPr/>
        </p:nvCxnSpPr>
        <p:spPr>
          <a:xfrm>
            <a:off x="5400000" y="7992000"/>
            <a:ext cx="288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38" name="Connector 237"/>
          <p:cNvCxnSpPr/>
          <p:nvPr/>
        </p:nvCxnSpPr>
        <p:spPr>
          <a:xfrm>
            <a:off x="5400000" y="6372000"/>
            <a:ext cx="288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39" name="Connector 238"/>
          <p:cNvCxnSpPr/>
          <p:nvPr/>
        </p:nvCxnSpPr>
        <p:spPr>
          <a:xfrm flipV="1">
            <a:off x="5688000" y="6372000"/>
            <a:ext cx="0" cy="1620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40" name="Connector 239"/>
          <p:cNvCxnSpPr/>
          <p:nvPr/>
        </p:nvCxnSpPr>
        <p:spPr>
          <a:xfrm flipV="1">
            <a:off x="5652000" y="795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41" name="Connector 240"/>
          <p:cNvCxnSpPr/>
          <p:nvPr/>
        </p:nvCxnSpPr>
        <p:spPr>
          <a:xfrm flipV="1">
            <a:off x="5652000" y="633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242" name="TextBox 241"/>
          <p:cNvSpPr txBox="1"/>
          <p:nvPr/>
        </p:nvSpPr>
        <p:spPr>
          <a:xfrm>
            <a:off x="5256000" y="7182000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900</a:t>
            </a:r>
          </a:p>
        </p:txBody>
      </p:sp>
      <p:cxnSp>
        <p:nvCxnSpPr>
          <p:cNvPr id="243" name="Connector 242"/>
          <p:cNvCxnSpPr/>
          <p:nvPr/>
        </p:nvCxnSpPr>
        <p:spPr>
          <a:xfrm flipV="1">
            <a:off x="5850000" y="4716000"/>
            <a:ext cx="1566000" cy="756000"/>
          </a:xfrm>
          <a:prstGeom prst="line">
            <a:avLst/>
          </a:prstGeom>
          <a:ln w="5715">
            <a:solidFill>
              <a:srgbClr val="737871"/>
            </a:solidFill>
          </a:ln>
          <a:effectLst/>
        </p:spPr>
      </p:cxnSp>
      <p:sp>
        <p:nvSpPr>
          <p:cNvPr id="244" name="Oval 243"/>
          <p:cNvSpPr/>
          <p:nvPr/>
        </p:nvSpPr>
        <p:spPr>
          <a:xfrm>
            <a:off x="5826600" y="5448600"/>
            <a:ext cx="46800" cy="46800"/>
          </a:xfrm>
          <a:prstGeom prst="ellipse">
            <a:avLst/>
          </a:prstGeom>
          <a:solidFill>
            <a:srgbClr val="737871"/>
          </a:solidFill>
          <a:ln w="8890">
            <a:solidFill>
              <a:srgbClr val="73787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5" name="TextBox 244"/>
          <p:cNvSpPr txBox="1"/>
          <p:nvPr/>
        </p:nvSpPr>
        <p:spPr>
          <a:xfrm>
            <a:off x="7488000" y="4572000"/>
            <a:ext cx="2376000" cy="432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BLACK TRAY / WARM LED</a:t>
            </a:r>
          </a:p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25 downstand; 250 depth</a:t>
            </a:r>
          </a:p>
        </p:txBody>
      </p:sp>
      <p:cxnSp>
        <p:nvCxnSpPr>
          <p:cNvPr id="246" name="Connector 245"/>
          <p:cNvCxnSpPr/>
          <p:nvPr/>
        </p:nvCxnSpPr>
        <p:spPr>
          <a:xfrm flipV="1">
            <a:off x="4500000" y="3708000"/>
            <a:ext cx="2916000" cy="864000"/>
          </a:xfrm>
          <a:prstGeom prst="line">
            <a:avLst/>
          </a:prstGeom>
          <a:ln w="5715">
            <a:solidFill>
              <a:srgbClr val="737871"/>
            </a:solidFill>
          </a:ln>
          <a:effectLst/>
        </p:spPr>
      </p:cxnSp>
      <p:sp>
        <p:nvSpPr>
          <p:cNvPr id="247" name="Oval 246"/>
          <p:cNvSpPr/>
          <p:nvPr/>
        </p:nvSpPr>
        <p:spPr>
          <a:xfrm>
            <a:off x="4476600" y="4548600"/>
            <a:ext cx="46800" cy="46800"/>
          </a:xfrm>
          <a:prstGeom prst="ellipse">
            <a:avLst/>
          </a:prstGeom>
          <a:solidFill>
            <a:srgbClr val="737871"/>
          </a:solidFill>
          <a:ln w="8890">
            <a:solidFill>
              <a:srgbClr val="73787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8" name="TextBox 247"/>
          <p:cNvSpPr txBox="1"/>
          <p:nvPr/>
        </p:nvSpPr>
        <p:spPr>
          <a:xfrm>
            <a:off x="7488000" y="3564000"/>
            <a:ext cx="2376000" cy="432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UNLIT BLACK LOGO</a:t>
            </a:r>
          </a:p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600 wide; centre 1900</a:t>
            </a:r>
          </a:p>
        </p:txBody>
      </p:sp>
      <p:sp>
        <p:nvSpPr>
          <p:cNvPr id="249" name="Freeform 248"/>
          <p:cNvSpPr/>
          <p:nvPr/>
        </p:nvSpPr>
        <p:spPr>
          <a:xfrm>
            <a:off x="7336800" y="6220800"/>
            <a:ext cx="2894400" cy="1526400"/>
          </a:xfrm>
          <a:custGeom>
            <a:avLst/>
            <a:gdLst/>
            <a:ahLst/>
            <a:cxnLst/>
            <a:rect l="l" t="t" r="r" b="b"/>
            <a:pathLst>
              <a:path w="2894400" h="1526400">
                <a:moveTo>
                  <a:pt x="43200" y="43200"/>
                </a:moveTo>
                <a:lnTo>
                  <a:pt x="65137" y="26668"/>
                </a:lnTo>
                <a:lnTo>
                  <a:pt x="87075" y="12652"/>
                </a:lnTo>
                <a:lnTo>
                  <a:pt x="109012" y="3288"/>
                </a:lnTo>
                <a:lnTo>
                  <a:pt x="130950" y="0"/>
                </a:lnTo>
                <a:lnTo>
                  <a:pt x="152887" y="3288"/>
                </a:lnTo>
                <a:lnTo>
                  <a:pt x="174825" y="12652"/>
                </a:lnTo>
                <a:lnTo>
                  <a:pt x="196762" y="26668"/>
                </a:lnTo>
                <a:lnTo>
                  <a:pt x="218700" y="43200"/>
                </a:lnTo>
                <a:lnTo>
                  <a:pt x="218700" y="43200"/>
                </a:lnTo>
                <a:lnTo>
                  <a:pt x="240637" y="26668"/>
                </a:lnTo>
                <a:lnTo>
                  <a:pt x="262575" y="12652"/>
                </a:lnTo>
                <a:lnTo>
                  <a:pt x="284512" y="3288"/>
                </a:lnTo>
                <a:lnTo>
                  <a:pt x="306450" y="0"/>
                </a:lnTo>
                <a:lnTo>
                  <a:pt x="328387" y="3288"/>
                </a:lnTo>
                <a:lnTo>
                  <a:pt x="350325" y="12652"/>
                </a:lnTo>
                <a:lnTo>
                  <a:pt x="372262" y="26668"/>
                </a:lnTo>
                <a:lnTo>
                  <a:pt x="394200" y="43200"/>
                </a:lnTo>
                <a:lnTo>
                  <a:pt x="394200" y="43200"/>
                </a:lnTo>
                <a:lnTo>
                  <a:pt x="416137" y="26668"/>
                </a:lnTo>
                <a:lnTo>
                  <a:pt x="438075" y="12652"/>
                </a:lnTo>
                <a:lnTo>
                  <a:pt x="460012" y="3288"/>
                </a:lnTo>
                <a:lnTo>
                  <a:pt x="481950" y="0"/>
                </a:lnTo>
                <a:lnTo>
                  <a:pt x="503887" y="3288"/>
                </a:lnTo>
                <a:lnTo>
                  <a:pt x="525825" y="12652"/>
                </a:lnTo>
                <a:lnTo>
                  <a:pt x="547762" y="26668"/>
                </a:lnTo>
                <a:lnTo>
                  <a:pt x="569700" y="43200"/>
                </a:lnTo>
                <a:lnTo>
                  <a:pt x="569700" y="43200"/>
                </a:lnTo>
                <a:lnTo>
                  <a:pt x="591637" y="26668"/>
                </a:lnTo>
                <a:lnTo>
                  <a:pt x="613575" y="12652"/>
                </a:lnTo>
                <a:lnTo>
                  <a:pt x="635512" y="3288"/>
                </a:lnTo>
                <a:lnTo>
                  <a:pt x="657450" y="0"/>
                </a:lnTo>
                <a:lnTo>
                  <a:pt x="679387" y="3288"/>
                </a:lnTo>
                <a:lnTo>
                  <a:pt x="701325" y="12652"/>
                </a:lnTo>
                <a:lnTo>
                  <a:pt x="723262" y="26668"/>
                </a:lnTo>
                <a:lnTo>
                  <a:pt x="745200" y="43200"/>
                </a:lnTo>
                <a:lnTo>
                  <a:pt x="745200" y="43200"/>
                </a:lnTo>
                <a:lnTo>
                  <a:pt x="767137" y="26668"/>
                </a:lnTo>
                <a:lnTo>
                  <a:pt x="789075" y="12652"/>
                </a:lnTo>
                <a:lnTo>
                  <a:pt x="811012" y="3288"/>
                </a:lnTo>
                <a:lnTo>
                  <a:pt x="832950" y="0"/>
                </a:lnTo>
                <a:lnTo>
                  <a:pt x="854887" y="3288"/>
                </a:lnTo>
                <a:lnTo>
                  <a:pt x="876825" y="12652"/>
                </a:lnTo>
                <a:lnTo>
                  <a:pt x="898762" y="26668"/>
                </a:lnTo>
                <a:lnTo>
                  <a:pt x="920700" y="43200"/>
                </a:lnTo>
                <a:lnTo>
                  <a:pt x="920700" y="43200"/>
                </a:lnTo>
                <a:lnTo>
                  <a:pt x="942637" y="26668"/>
                </a:lnTo>
                <a:lnTo>
                  <a:pt x="964575" y="12652"/>
                </a:lnTo>
                <a:lnTo>
                  <a:pt x="986512" y="3288"/>
                </a:lnTo>
                <a:lnTo>
                  <a:pt x="1008450" y="0"/>
                </a:lnTo>
                <a:lnTo>
                  <a:pt x="1030387" y="3288"/>
                </a:lnTo>
                <a:lnTo>
                  <a:pt x="1052325" y="12652"/>
                </a:lnTo>
                <a:lnTo>
                  <a:pt x="1074262" y="26668"/>
                </a:lnTo>
                <a:lnTo>
                  <a:pt x="1096200" y="43200"/>
                </a:lnTo>
                <a:lnTo>
                  <a:pt x="1096200" y="43200"/>
                </a:lnTo>
                <a:lnTo>
                  <a:pt x="1118137" y="26668"/>
                </a:lnTo>
                <a:lnTo>
                  <a:pt x="1140075" y="12652"/>
                </a:lnTo>
                <a:lnTo>
                  <a:pt x="1162012" y="3288"/>
                </a:lnTo>
                <a:lnTo>
                  <a:pt x="1183950" y="0"/>
                </a:lnTo>
                <a:lnTo>
                  <a:pt x="1205887" y="3288"/>
                </a:lnTo>
                <a:lnTo>
                  <a:pt x="1227825" y="12652"/>
                </a:lnTo>
                <a:lnTo>
                  <a:pt x="1249762" y="26668"/>
                </a:lnTo>
                <a:lnTo>
                  <a:pt x="1271700" y="43200"/>
                </a:lnTo>
                <a:lnTo>
                  <a:pt x="1271700" y="43200"/>
                </a:lnTo>
                <a:lnTo>
                  <a:pt x="1293637" y="26668"/>
                </a:lnTo>
                <a:lnTo>
                  <a:pt x="1315575" y="12652"/>
                </a:lnTo>
                <a:lnTo>
                  <a:pt x="1337512" y="3288"/>
                </a:lnTo>
                <a:lnTo>
                  <a:pt x="1359450" y="0"/>
                </a:lnTo>
                <a:lnTo>
                  <a:pt x="1381387" y="3288"/>
                </a:lnTo>
                <a:lnTo>
                  <a:pt x="1403325" y="12652"/>
                </a:lnTo>
                <a:lnTo>
                  <a:pt x="1425262" y="26668"/>
                </a:lnTo>
                <a:lnTo>
                  <a:pt x="1447200" y="43200"/>
                </a:lnTo>
                <a:lnTo>
                  <a:pt x="1447200" y="43200"/>
                </a:lnTo>
                <a:lnTo>
                  <a:pt x="1469137" y="26668"/>
                </a:lnTo>
                <a:lnTo>
                  <a:pt x="1491075" y="12652"/>
                </a:lnTo>
                <a:lnTo>
                  <a:pt x="1513012" y="3288"/>
                </a:lnTo>
                <a:lnTo>
                  <a:pt x="1534950" y="0"/>
                </a:lnTo>
                <a:lnTo>
                  <a:pt x="1556887" y="3288"/>
                </a:lnTo>
                <a:lnTo>
                  <a:pt x="1578825" y="12652"/>
                </a:lnTo>
                <a:lnTo>
                  <a:pt x="1600762" y="26668"/>
                </a:lnTo>
                <a:lnTo>
                  <a:pt x="1622700" y="43200"/>
                </a:lnTo>
                <a:lnTo>
                  <a:pt x="1622700" y="43200"/>
                </a:lnTo>
                <a:lnTo>
                  <a:pt x="1644637" y="26668"/>
                </a:lnTo>
                <a:lnTo>
                  <a:pt x="1666575" y="12652"/>
                </a:lnTo>
                <a:lnTo>
                  <a:pt x="1688512" y="3288"/>
                </a:lnTo>
                <a:lnTo>
                  <a:pt x="1710450" y="0"/>
                </a:lnTo>
                <a:lnTo>
                  <a:pt x="1732387" y="3288"/>
                </a:lnTo>
                <a:lnTo>
                  <a:pt x="1754325" y="12652"/>
                </a:lnTo>
                <a:lnTo>
                  <a:pt x="1776262" y="26668"/>
                </a:lnTo>
                <a:lnTo>
                  <a:pt x="1798200" y="43200"/>
                </a:lnTo>
                <a:lnTo>
                  <a:pt x="1798200" y="43200"/>
                </a:lnTo>
                <a:lnTo>
                  <a:pt x="1820137" y="26668"/>
                </a:lnTo>
                <a:lnTo>
                  <a:pt x="1842075" y="12652"/>
                </a:lnTo>
                <a:lnTo>
                  <a:pt x="1864012" y="3288"/>
                </a:lnTo>
                <a:lnTo>
                  <a:pt x="1885950" y="0"/>
                </a:lnTo>
                <a:lnTo>
                  <a:pt x="1907887" y="3288"/>
                </a:lnTo>
                <a:lnTo>
                  <a:pt x="1929825" y="12652"/>
                </a:lnTo>
                <a:lnTo>
                  <a:pt x="1951762" y="26668"/>
                </a:lnTo>
                <a:lnTo>
                  <a:pt x="1973700" y="43200"/>
                </a:lnTo>
                <a:lnTo>
                  <a:pt x="1973700" y="43200"/>
                </a:lnTo>
                <a:lnTo>
                  <a:pt x="1995637" y="26668"/>
                </a:lnTo>
                <a:lnTo>
                  <a:pt x="2017575" y="12652"/>
                </a:lnTo>
                <a:lnTo>
                  <a:pt x="2039512" y="3288"/>
                </a:lnTo>
                <a:lnTo>
                  <a:pt x="2061450" y="0"/>
                </a:lnTo>
                <a:lnTo>
                  <a:pt x="2083387" y="3288"/>
                </a:lnTo>
                <a:lnTo>
                  <a:pt x="2105325" y="12652"/>
                </a:lnTo>
                <a:lnTo>
                  <a:pt x="2127262" y="26668"/>
                </a:lnTo>
                <a:lnTo>
                  <a:pt x="2149200" y="43200"/>
                </a:lnTo>
                <a:lnTo>
                  <a:pt x="2149200" y="43200"/>
                </a:lnTo>
                <a:lnTo>
                  <a:pt x="2171137" y="26668"/>
                </a:lnTo>
                <a:lnTo>
                  <a:pt x="2193075" y="12652"/>
                </a:lnTo>
                <a:lnTo>
                  <a:pt x="2215012" y="3288"/>
                </a:lnTo>
                <a:lnTo>
                  <a:pt x="2236950" y="0"/>
                </a:lnTo>
                <a:lnTo>
                  <a:pt x="2258887" y="3288"/>
                </a:lnTo>
                <a:lnTo>
                  <a:pt x="2280825" y="12652"/>
                </a:lnTo>
                <a:lnTo>
                  <a:pt x="2302762" y="26668"/>
                </a:lnTo>
                <a:lnTo>
                  <a:pt x="2324700" y="43200"/>
                </a:lnTo>
                <a:lnTo>
                  <a:pt x="2324700" y="43200"/>
                </a:lnTo>
                <a:lnTo>
                  <a:pt x="2346637" y="26668"/>
                </a:lnTo>
                <a:lnTo>
                  <a:pt x="2368575" y="12652"/>
                </a:lnTo>
                <a:lnTo>
                  <a:pt x="2390512" y="3288"/>
                </a:lnTo>
                <a:lnTo>
                  <a:pt x="2412450" y="0"/>
                </a:lnTo>
                <a:lnTo>
                  <a:pt x="2434387" y="3288"/>
                </a:lnTo>
                <a:lnTo>
                  <a:pt x="2456325" y="12652"/>
                </a:lnTo>
                <a:lnTo>
                  <a:pt x="2478262" y="26668"/>
                </a:lnTo>
                <a:lnTo>
                  <a:pt x="2500200" y="43200"/>
                </a:lnTo>
                <a:lnTo>
                  <a:pt x="2500200" y="43200"/>
                </a:lnTo>
                <a:lnTo>
                  <a:pt x="2522137" y="26668"/>
                </a:lnTo>
                <a:lnTo>
                  <a:pt x="2544075" y="12652"/>
                </a:lnTo>
                <a:lnTo>
                  <a:pt x="2566012" y="3288"/>
                </a:lnTo>
                <a:lnTo>
                  <a:pt x="2587950" y="0"/>
                </a:lnTo>
                <a:lnTo>
                  <a:pt x="2609887" y="3288"/>
                </a:lnTo>
                <a:lnTo>
                  <a:pt x="2631825" y="12652"/>
                </a:lnTo>
                <a:lnTo>
                  <a:pt x="2653762" y="26668"/>
                </a:lnTo>
                <a:lnTo>
                  <a:pt x="2675700" y="43200"/>
                </a:lnTo>
                <a:lnTo>
                  <a:pt x="2675700" y="43200"/>
                </a:lnTo>
                <a:lnTo>
                  <a:pt x="2697637" y="26668"/>
                </a:lnTo>
                <a:lnTo>
                  <a:pt x="2719575" y="12652"/>
                </a:lnTo>
                <a:lnTo>
                  <a:pt x="2741512" y="3288"/>
                </a:lnTo>
                <a:lnTo>
                  <a:pt x="2763450" y="0"/>
                </a:lnTo>
                <a:lnTo>
                  <a:pt x="2785387" y="3288"/>
                </a:lnTo>
                <a:lnTo>
                  <a:pt x="2807325" y="12652"/>
                </a:lnTo>
                <a:lnTo>
                  <a:pt x="2829262" y="26668"/>
                </a:lnTo>
                <a:lnTo>
                  <a:pt x="2851200" y="43200"/>
                </a:lnTo>
                <a:lnTo>
                  <a:pt x="2851200" y="43200"/>
                </a:lnTo>
                <a:lnTo>
                  <a:pt x="2867731" y="65700"/>
                </a:lnTo>
                <a:lnTo>
                  <a:pt x="2881747" y="88200"/>
                </a:lnTo>
                <a:lnTo>
                  <a:pt x="2891111" y="110700"/>
                </a:lnTo>
                <a:lnTo>
                  <a:pt x="2894400" y="133200"/>
                </a:lnTo>
                <a:lnTo>
                  <a:pt x="2891111" y="155700"/>
                </a:lnTo>
                <a:lnTo>
                  <a:pt x="2881747" y="178200"/>
                </a:lnTo>
                <a:lnTo>
                  <a:pt x="2867731" y="200700"/>
                </a:lnTo>
                <a:lnTo>
                  <a:pt x="2851200" y="223200"/>
                </a:lnTo>
                <a:lnTo>
                  <a:pt x="2851200" y="223200"/>
                </a:lnTo>
                <a:lnTo>
                  <a:pt x="2867731" y="245700"/>
                </a:lnTo>
                <a:lnTo>
                  <a:pt x="2881747" y="268200"/>
                </a:lnTo>
                <a:lnTo>
                  <a:pt x="2891111" y="290700"/>
                </a:lnTo>
                <a:lnTo>
                  <a:pt x="2894400" y="313200"/>
                </a:lnTo>
                <a:lnTo>
                  <a:pt x="2891111" y="335700"/>
                </a:lnTo>
                <a:lnTo>
                  <a:pt x="2881747" y="358200"/>
                </a:lnTo>
                <a:lnTo>
                  <a:pt x="2867731" y="380700"/>
                </a:lnTo>
                <a:lnTo>
                  <a:pt x="2851200" y="403200"/>
                </a:lnTo>
                <a:lnTo>
                  <a:pt x="2851200" y="403200"/>
                </a:lnTo>
                <a:lnTo>
                  <a:pt x="2867731" y="425700"/>
                </a:lnTo>
                <a:lnTo>
                  <a:pt x="2881747" y="448200"/>
                </a:lnTo>
                <a:lnTo>
                  <a:pt x="2891111" y="470700"/>
                </a:lnTo>
                <a:lnTo>
                  <a:pt x="2894400" y="493200"/>
                </a:lnTo>
                <a:lnTo>
                  <a:pt x="2891111" y="515700"/>
                </a:lnTo>
                <a:lnTo>
                  <a:pt x="2881747" y="538200"/>
                </a:lnTo>
                <a:lnTo>
                  <a:pt x="2867731" y="560700"/>
                </a:lnTo>
                <a:lnTo>
                  <a:pt x="2851200" y="583200"/>
                </a:lnTo>
                <a:lnTo>
                  <a:pt x="2851200" y="583200"/>
                </a:lnTo>
                <a:lnTo>
                  <a:pt x="2867731" y="605700"/>
                </a:lnTo>
                <a:lnTo>
                  <a:pt x="2881747" y="628200"/>
                </a:lnTo>
                <a:lnTo>
                  <a:pt x="2891111" y="650700"/>
                </a:lnTo>
                <a:lnTo>
                  <a:pt x="2894400" y="673200"/>
                </a:lnTo>
                <a:lnTo>
                  <a:pt x="2891111" y="695700"/>
                </a:lnTo>
                <a:lnTo>
                  <a:pt x="2881747" y="718200"/>
                </a:lnTo>
                <a:lnTo>
                  <a:pt x="2867731" y="740700"/>
                </a:lnTo>
                <a:lnTo>
                  <a:pt x="2851200" y="763200"/>
                </a:lnTo>
                <a:lnTo>
                  <a:pt x="2851200" y="763200"/>
                </a:lnTo>
                <a:lnTo>
                  <a:pt x="2867731" y="785700"/>
                </a:lnTo>
                <a:lnTo>
                  <a:pt x="2881747" y="808200"/>
                </a:lnTo>
                <a:lnTo>
                  <a:pt x="2891111" y="830700"/>
                </a:lnTo>
                <a:lnTo>
                  <a:pt x="2894400" y="853200"/>
                </a:lnTo>
                <a:lnTo>
                  <a:pt x="2891111" y="875700"/>
                </a:lnTo>
                <a:lnTo>
                  <a:pt x="2881747" y="898200"/>
                </a:lnTo>
                <a:lnTo>
                  <a:pt x="2867731" y="920700"/>
                </a:lnTo>
                <a:lnTo>
                  <a:pt x="2851200" y="943200"/>
                </a:lnTo>
                <a:lnTo>
                  <a:pt x="2851200" y="943200"/>
                </a:lnTo>
                <a:lnTo>
                  <a:pt x="2867731" y="965700"/>
                </a:lnTo>
                <a:lnTo>
                  <a:pt x="2881747" y="988200"/>
                </a:lnTo>
                <a:lnTo>
                  <a:pt x="2891111" y="1010700"/>
                </a:lnTo>
                <a:lnTo>
                  <a:pt x="2894400" y="1033200"/>
                </a:lnTo>
                <a:lnTo>
                  <a:pt x="2891111" y="1055700"/>
                </a:lnTo>
                <a:lnTo>
                  <a:pt x="2881747" y="1078200"/>
                </a:lnTo>
                <a:lnTo>
                  <a:pt x="2867731" y="1100700"/>
                </a:lnTo>
                <a:lnTo>
                  <a:pt x="2851200" y="1123200"/>
                </a:lnTo>
                <a:lnTo>
                  <a:pt x="2851200" y="1123200"/>
                </a:lnTo>
                <a:lnTo>
                  <a:pt x="2867731" y="1145700"/>
                </a:lnTo>
                <a:lnTo>
                  <a:pt x="2881747" y="1168200"/>
                </a:lnTo>
                <a:lnTo>
                  <a:pt x="2891111" y="1190700"/>
                </a:lnTo>
                <a:lnTo>
                  <a:pt x="2894400" y="1213200"/>
                </a:lnTo>
                <a:lnTo>
                  <a:pt x="2891111" y="1235700"/>
                </a:lnTo>
                <a:lnTo>
                  <a:pt x="2881747" y="1258200"/>
                </a:lnTo>
                <a:lnTo>
                  <a:pt x="2867731" y="1280700"/>
                </a:lnTo>
                <a:lnTo>
                  <a:pt x="2851200" y="1303200"/>
                </a:lnTo>
                <a:lnTo>
                  <a:pt x="2851200" y="1303200"/>
                </a:lnTo>
                <a:lnTo>
                  <a:pt x="2867731" y="1325700"/>
                </a:lnTo>
                <a:lnTo>
                  <a:pt x="2881747" y="1348200"/>
                </a:lnTo>
                <a:lnTo>
                  <a:pt x="2891111" y="1370700"/>
                </a:lnTo>
                <a:lnTo>
                  <a:pt x="2894400" y="1393200"/>
                </a:lnTo>
                <a:lnTo>
                  <a:pt x="2891111" y="1415700"/>
                </a:lnTo>
                <a:lnTo>
                  <a:pt x="2881747" y="1438200"/>
                </a:lnTo>
                <a:lnTo>
                  <a:pt x="2867731" y="1460700"/>
                </a:lnTo>
                <a:lnTo>
                  <a:pt x="2851200" y="1483200"/>
                </a:lnTo>
                <a:lnTo>
                  <a:pt x="2851200" y="1483200"/>
                </a:lnTo>
                <a:lnTo>
                  <a:pt x="2829262" y="1499731"/>
                </a:lnTo>
                <a:lnTo>
                  <a:pt x="2807325" y="1513747"/>
                </a:lnTo>
                <a:lnTo>
                  <a:pt x="2785387" y="1523111"/>
                </a:lnTo>
                <a:lnTo>
                  <a:pt x="2763450" y="1526400"/>
                </a:lnTo>
                <a:lnTo>
                  <a:pt x="2741512" y="1523111"/>
                </a:lnTo>
                <a:lnTo>
                  <a:pt x="2719575" y="1513747"/>
                </a:lnTo>
                <a:lnTo>
                  <a:pt x="2697637" y="1499731"/>
                </a:lnTo>
                <a:lnTo>
                  <a:pt x="2675700" y="1483200"/>
                </a:lnTo>
                <a:lnTo>
                  <a:pt x="2675700" y="1483200"/>
                </a:lnTo>
                <a:lnTo>
                  <a:pt x="2653762" y="1499731"/>
                </a:lnTo>
                <a:lnTo>
                  <a:pt x="2631825" y="1513747"/>
                </a:lnTo>
                <a:lnTo>
                  <a:pt x="2609887" y="1523111"/>
                </a:lnTo>
                <a:lnTo>
                  <a:pt x="2587950" y="1526400"/>
                </a:lnTo>
                <a:lnTo>
                  <a:pt x="2566012" y="1523111"/>
                </a:lnTo>
                <a:lnTo>
                  <a:pt x="2544075" y="1513747"/>
                </a:lnTo>
                <a:lnTo>
                  <a:pt x="2522137" y="1499731"/>
                </a:lnTo>
                <a:lnTo>
                  <a:pt x="2500200" y="1483200"/>
                </a:lnTo>
                <a:lnTo>
                  <a:pt x="2500200" y="1483200"/>
                </a:lnTo>
                <a:lnTo>
                  <a:pt x="2478262" y="1499731"/>
                </a:lnTo>
                <a:lnTo>
                  <a:pt x="2456325" y="1513747"/>
                </a:lnTo>
                <a:lnTo>
                  <a:pt x="2434387" y="1523111"/>
                </a:lnTo>
                <a:lnTo>
                  <a:pt x="2412450" y="1526400"/>
                </a:lnTo>
                <a:lnTo>
                  <a:pt x="2390512" y="1523111"/>
                </a:lnTo>
                <a:lnTo>
                  <a:pt x="2368575" y="1513747"/>
                </a:lnTo>
                <a:lnTo>
                  <a:pt x="2346637" y="1499731"/>
                </a:lnTo>
                <a:lnTo>
                  <a:pt x="2324700" y="1483200"/>
                </a:lnTo>
                <a:lnTo>
                  <a:pt x="2324700" y="1483200"/>
                </a:lnTo>
                <a:lnTo>
                  <a:pt x="2302762" y="1499731"/>
                </a:lnTo>
                <a:lnTo>
                  <a:pt x="2280825" y="1513747"/>
                </a:lnTo>
                <a:lnTo>
                  <a:pt x="2258887" y="1523111"/>
                </a:lnTo>
                <a:lnTo>
                  <a:pt x="2236950" y="1526400"/>
                </a:lnTo>
                <a:lnTo>
                  <a:pt x="2215012" y="1523111"/>
                </a:lnTo>
                <a:lnTo>
                  <a:pt x="2193075" y="1513747"/>
                </a:lnTo>
                <a:lnTo>
                  <a:pt x="2171137" y="1499731"/>
                </a:lnTo>
                <a:lnTo>
                  <a:pt x="2149200" y="1483200"/>
                </a:lnTo>
                <a:lnTo>
                  <a:pt x="2149200" y="1483200"/>
                </a:lnTo>
                <a:lnTo>
                  <a:pt x="2127262" y="1499731"/>
                </a:lnTo>
                <a:lnTo>
                  <a:pt x="2105325" y="1513747"/>
                </a:lnTo>
                <a:lnTo>
                  <a:pt x="2083387" y="1523111"/>
                </a:lnTo>
                <a:lnTo>
                  <a:pt x="2061450" y="1526400"/>
                </a:lnTo>
                <a:lnTo>
                  <a:pt x="2039512" y="1523111"/>
                </a:lnTo>
                <a:lnTo>
                  <a:pt x="2017575" y="1513747"/>
                </a:lnTo>
                <a:lnTo>
                  <a:pt x="1995637" y="1499731"/>
                </a:lnTo>
                <a:lnTo>
                  <a:pt x="1973700" y="1483200"/>
                </a:lnTo>
                <a:lnTo>
                  <a:pt x="1973700" y="1483200"/>
                </a:lnTo>
                <a:lnTo>
                  <a:pt x="1951762" y="1499731"/>
                </a:lnTo>
                <a:lnTo>
                  <a:pt x="1929825" y="1513747"/>
                </a:lnTo>
                <a:lnTo>
                  <a:pt x="1907887" y="1523111"/>
                </a:lnTo>
                <a:lnTo>
                  <a:pt x="1885950" y="1526400"/>
                </a:lnTo>
                <a:lnTo>
                  <a:pt x="1864012" y="1523111"/>
                </a:lnTo>
                <a:lnTo>
                  <a:pt x="1842075" y="1513747"/>
                </a:lnTo>
                <a:lnTo>
                  <a:pt x="1820137" y="1499731"/>
                </a:lnTo>
                <a:lnTo>
                  <a:pt x="1798200" y="1483200"/>
                </a:lnTo>
                <a:lnTo>
                  <a:pt x="1798200" y="1483200"/>
                </a:lnTo>
                <a:lnTo>
                  <a:pt x="1776262" y="1499731"/>
                </a:lnTo>
                <a:lnTo>
                  <a:pt x="1754325" y="1513747"/>
                </a:lnTo>
                <a:lnTo>
                  <a:pt x="1732387" y="1523111"/>
                </a:lnTo>
                <a:lnTo>
                  <a:pt x="1710450" y="1526400"/>
                </a:lnTo>
                <a:lnTo>
                  <a:pt x="1688512" y="1523111"/>
                </a:lnTo>
                <a:lnTo>
                  <a:pt x="1666575" y="1513747"/>
                </a:lnTo>
                <a:lnTo>
                  <a:pt x="1644637" y="1499731"/>
                </a:lnTo>
                <a:lnTo>
                  <a:pt x="1622700" y="1483200"/>
                </a:lnTo>
                <a:lnTo>
                  <a:pt x="1622700" y="1483200"/>
                </a:lnTo>
                <a:lnTo>
                  <a:pt x="1600762" y="1499731"/>
                </a:lnTo>
                <a:lnTo>
                  <a:pt x="1578825" y="1513747"/>
                </a:lnTo>
                <a:lnTo>
                  <a:pt x="1556887" y="1523111"/>
                </a:lnTo>
                <a:lnTo>
                  <a:pt x="1534950" y="1526400"/>
                </a:lnTo>
                <a:lnTo>
                  <a:pt x="1513012" y="1523111"/>
                </a:lnTo>
                <a:lnTo>
                  <a:pt x="1491075" y="1513747"/>
                </a:lnTo>
                <a:lnTo>
                  <a:pt x="1469137" y="1499731"/>
                </a:lnTo>
                <a:lnTo>
                  <a:pt x="1447200" y="1483200"/>
                </a:lnTo>
                <a:lnTo>
                  <a:pt x="1447200" y="1483200"/>
                </a:lnTo>
                <a:lnTo>
                  <a:pt x="1425262" y="1499731"/>
                </a:lnTo>
                <a:lnTo>
                  <a:pt x="1403325" y="1513747"/>
                </a:lnTo>
                <a:lnTo>
                  <a:pt x="1381387" y="1523111"/>
                </a:lnTo>
                <a:lnTo>
                  <a:pt x="1359450" y="1526400"/>
                </a:lnTo>
                <a:lnTo>
                  <a:pt x="1337512" y="1523111"/>
                </a:lnTo>
                <a:lnTo>
                  <a:pt x="1315575" y="1513747"/>
                </a:lnTo>
                <a:lnTo>
                  <a:pt x="1293637" y="1499731"/>
                </a:lnTo>
                <a:lnTo>
                  <a:pt x="1271700" y="1483200"/>
                </a:lnTo>
                <a:lnTo>
                  <a:pt x="1271700" y="1483200"/>
                </a:lnTo>
                <a:lnTo>
                  <a:pt x="1249762" y="1499731"/>
                </a:lnTo>
                <a:lnTo>
                  <a:pt x="1227825" y="1513747"/>
                </a:lnTo>
                <a:lnTo>
                  <a:pt x="1205887" y="1523111"/>
                </a:lnTo>
                <a:lnTo>
                  <a:pt x="1183950" y="1526400"/>
                </a:lnTo>
                <a:lnTo>
                  <a:pt x="1162012" y="1523111"/>
                </a:lnTo>
                <a:lnTo>
                  <a:pt x="1140075" y="1513747"/>
                </a:lnTo>
                <a:lnTo>
                  <a:pt x="1118137" y="1499731"/>
                </a:lnTo>
                <a:lnTo>
                  <a:pt x="1096200" y="1483200"/>
                </a:lnTo>
                <a:lnTo>
                  <a:pt x="1096200" y="1483200"/>
                </a:lnTo>
                <a:lnTo>
                  <a:pt x="1074262" y="1499731"/>
                </a:lnTo>
                <a:lnTo>
                  <a:pt x="1052325" y="1513747"/>
                </a:lnTo>
                <a:lnTo>
                  <a:pt x="1030387" y="1523111"/>
                </a:lnTo>
                <a:lnTo>
                  <a:pt x="1008450" y="1526400"/>
                </a:lnTo>
                <a:lnTo>
                  <a:pt x="986512" y="1523111"/>
                </a:lnTo>
                <a:lnTo>
                  <a:pt x="964575" y="1513747"/>
                </a:lnTo>
                <a:lnTo>
                  <a:pt x="942637" y="1499731"/>
                </a:lnTo>
                <a:lnTo>
                  <a:pt x="920700" y="1483200"/>
                </a:lnTo>
                <a:lnTo>
                  <a:pt x="920700" y="1483200"/>
                </a:lnTo>
                <a:lnTo>
                  <a:pt x="898762" y="1499731"/>
                </a:lnTo>
                <a:lnTo>
                  <a:pt x="876825" y="1513747"/>
                </a:lnTo>
                <a:lnTo>
                  <a:pt x="854887" y="1523111"/>
                </a:lnTo>
                <a:lnTo>
                  <a:pt x="832950" y="1526400"/>
                </a:lnTo>
                <a:lnTo>
                  <a:pt x="811012" y="1523111"/>
                </a:lnTo>
                <a:lnTo>
                  <a:pt x="789075" y="1513747"/>
                </a:lnTo>
                <a:lnTo>
                  <a:pt x="767137" y="1499731"/>
                </a:lnTo>
                <a:lnTo>
                  <a:pt x="745200" y="1483200"/>
                </a:lnTo>
                <a:lnTo>
                  <a:pt x="745200" y="1483200"/>
                </a:lnTo>
                <a:lnTo>
                  <a:pt x="723262" y="1499731"/>
                </a:lnTo>
                <a:lnTo>
                  <a:pt x="701325" y="1513747"/>
                </a:lnTo>
                <a:lnTo>
                  <a:pt x="679387" y="1523111"/>
                </a:lnTo>
                <a:lnTo>
                  <a:pt x="657450" y="1526400"/>
                </a:lnTo>
                <a:lnTo>
                  <a:pt x="635512" y="1523111"/>
                </a:lnTo>
                <a:lnTo>
                  <a:pt x="613575" y="1513747"/>
                </a:lnTo>
                <a:lnTo>
                  <a:pt x="591637" y="1499731"/>
                </a:lnTo>
                <a:lnTo>
                  <a:pt x="569700" y="1483200"/>
                </a:lnTo>
                <a:lnTo>
                  <a:pt x="569700" y="1483200"/>
                </a:lnTo>
                <a:lnTo>
                  <a:pt x="547762" y="1499731"/>
                </a:lnTo>
                <a:lnTo>
                  <a:pt x="525825" y="1513747"/>
                </a:lnTo>
                <a:lnTo>
                  <a:pt x="503887" y="1523111"/>
                </a:lnTo>
                <a:lnTo>
                  <a:pt x="481950" y="1526400"/>
                </a:lnTo>
                <a:lnTo>
                  <a:pt x="460012" y="1523111"/>
                </a:lnTo>
                <a:lnTo>
                  <a:pt x="438075" y="1513747"/>
                </a:lnTo>
                <a:lnTo>
                  <a:pt x="416137" y="1499731"/>
                </a:lnTo>
                <a:lnTo>
                  <a:pt x="394200" y="1483200"/>
                </a:lnTo>
                <a:lnTo>
                  <a:pt x="394200" y="1483200"/>
                </a:lnTo>
                <a:lnTo>
                  <a:pt x="372262" y="1499731"/>
                </a:lnTo>
                <a:lnTo>
                  <a:pt x="350325" y="1513747"/>
                </a:lnTo>
                <a:lnTo>
                  <a:pt x="328387" y="1523111"/>
                </a:lnTo>
                <a:lnTo>
                  <a:pt x="306450" y="1526400"/>
                </a:lnTo>
                <a:lnTo>
                  <a:pt x="284512" y="1523111"/>
                </a:lnTo>
                <a:lnTo>
                  <a:pt x="262575" y="1513747"/>
                </a:lnTo>
                <a:lnTo>
                  <a:pt x="240637" y="1499731"/>
                </a:lnTo>
                <a:lnTo>
                  <a:pt x="218700" y="1483200"/>
                </a:lnTo>
                <a:lnTo>
                  <a:pt x="218700" y="1483200"/>
                </a:lnTo>
                <a:lnTo>
                  <a:pt x="196762" y="1499731"/>
                </a:lnTo>
                <a:lnTo>
                  <a:pt x="174825" y="1513747"/>
                </a:lnTo>
                <a:lnTo>
                  <a:pt x="152887" y="1523111"/>
                </a:lnTo>
                <a:lnTo>
                  <a:pt x="130950" y="1526400"/>
                </a:lnTo>
                <a:lnTo>
                  <a:pt x="109012" y="1523111"/>
                </a:lnTo>
                <a:lnTo>
                  <a:pt x="87075" y="1513747"/>
                </a:lnTo>
                <a:lnTo>
                  <a:pt x="65137" y="1499731"/>
                </a:lnTo>
                <a:lnTo>
                  <a:pt x="43200" y="1483200"/>
                </a:lnTo>
                <a:lnTo>
                  <a:pt x="43200" y="1483200"/>
                </a:lnTo>
                <a:lnTo>
                  <a:pt x="26668" y="1460700"/>
                </a:lnTo>
                <a:lnTo>
                  <a:pt x="12652" y="1438200"/>
                </a:lnTo>
                <a:lnTo>
                  <a:pt x="3288" y="1415700"/>
                </a:lnTo>
                <a:lnTo>
                  <a:pt x="0" y="1393200"/>
                </a:lnTo>
                <a:lnTo>
                  <a:pt x="3288" y="1370700"/>
                </a:lnTo>
                <a:lnTo>
                  <a:pt x="12652" y="1348200"/>
                </a:lnTo>
                <a:lnTo>
                  <a:pt x="26668" y="1325700"/>
                </a:lnTo>
                <a:lnTo>
                  <a:pt x="43200" y="1303200"/>
                </a:lnTo>
                <a:lnTo>
                  <a:pt x="43200" y="1303200"/>
                </a:lnTo>
                <a:lnTo>
                  <a:pt x="26668" y="1280700"/>
                </a:lnTo>
                <a:lnTo>
                  <a:pt x="12652" y="1258200"/>
                </a:lnTo>
                <a:lnTo>
                  <a:pt x="3288" y="1235700"/>
                </a:lnTo>
                <a:lnTo>
                  <a:pt x="0" y="1213200"/>
                </a:lnTo>
                <a:lnTo>
                  <a:pt x="3288" y="1190700"/>
                </a:lnTo>
                <a:lnTo>
                  <a:pt x="12652" y="1168200"/>
                </a:lnTo>
                <a:lnTo>
                  <a:pt x="26668" y="1145700"/>
                </a:lnTo>
                <a:lnTo>
                  <a:pt x="43200" y="1123200"/>
                </a:lnTo>
                <a:lnTo>
                  <a:pt x="43200" y="1123200"/>
                </a:lnTo>
                <a:lnTo>
                  <a:pt x="26668" y="1100700"/>
                </a:lnTo>
                <a:lnTo>
                  <a:pt x="12652" y="1078200"/>
                </a:lnTo>
                <a:lnTo>
                  <a:pt x="3288" y="1055700"/>
                </a:lnTo>
                <a:lnTo>
                  <a:pt x="0" y="1033200"/>
                </a:lnTo>
                <a:lnTo>
                  <a:pt x="3288" y="1010700"/>
                </a:lnTo>
                <a:lnTo>
                  <a:pt x="12652" y="988200"/>
                </a:lnTo>
                <a:lnTo>
                  <a:pt x="26668" y="965700"/>
                </a:lnTo>
                <a:lnTo>
                  <a:pt x="43200" y="943200"/>
                </a:lnTo>
                <a:lnTo>
                  <a:pt x="43200" y="943200"/>
                </a:lnTo>
                <a:lnTo>
                  <a:pt x="26668" y="920700"/>
                </a:lnTo>
                <a:lnTo>
                  <a:pt x="12652" y="898200"/>
                </a:lnTo>
                <a:lnTo>
                  <a:pt x="3288" y="875700"/>
                </a:lnTo>
                <a:lnTo>
                  <a:pt x="0" y="853200"/>
                </a:lnTo>
                <a:lnTo>
                  <a:pt x="3288" y="830700"/>
                </a:lnTo>
                <a:lnTo>
                  <a:pt x="12652" y="808200"/>
                </a:lnTo>
                <a:lnTo>
                  <a:pt x="26668" y="785700"/>
                </a:lnTo>
                <a:lnTo>
                  <a:pt x="43200" y="763200"/>
                </a:lnTo>
                <a:lnTo>
                  <a:pt x="43200" y="763200"/>
                </a:lnTo>
                <a:lnTo>
                  <a:pt x="26668" y="740700"/>
                </a:lnTo>
                <a:lnTo>
                  <a:pt x="12652" y="718200"/>
                </a:lnTo>
                <a:lnTo>
                  <a:pt x="3288" y="695700"/>
                </a:lnTo>
                <a:lnTo>
                  <a:pt x="0" y="673200"/>
                </a:lnTo>
                <a:lnTo>
                  <a:pt x="3288" y="650700"/>
                </a:lnTo>
                <a:lnTo>
                  <a:pt x="12652" y="628200"/>
                </a:lnTo>
                <a:lnTo>
                  <a:pt x="26668" y="605700"/>
                </a:lnTo>
                <a:lnTo>
                  <a:pt x="43200" y="583200"/>
                </a:lnTo>
                <a:lnTo>
                  <a:pt x="43200" y="583200"/>
                </a:lnTo>
                <a:lnTo>
                  <a:pt x="26668" y="560700"/>
                </a:lnTo>
                <a:lnTo>
                  <a:pt x="12652" y="538200"/>
                </a:lnTo>
                <a:lnTo>
                  <a:pt x="3288" y="515700"/>
                </a:lnTo>
                <a:lnTo>
                  <a:pt x="0" y="493200"/>
                </a:lnTo>
                <a:lnTo>
                  <a:pt x="3288" y="470700"/>
                </a:lnTo>
                <a:lnTo>
                  <a:pt x="12652" y="448200"/>
                </a:lnTo>
                <a:lnTo>
                  <a:pt x="26668" y="425700"/>
                </a:lnTo>
                <a:lnTo>
                  <a:pt x="43200" y="403200"/>
                </a:lnTo>
                <a:lnTo>
                  <a:pt x="43200" y="403200"/>
                </a:lnTo>
                <a:lnTo>
                  <a:pt x="26668" y="380700"/>
                </a:lnTo>
                <a:lnTo>
                  <a:pt x="12652" y="358200"/>
                </a:lnTo>
                <a:lnTo>
                  <a:pt x="3288" y="335700"/>
                </a:lnTo>
                <a:lnTo>
                  <a:pt x="0" y="313200"/>
                </a:lnTo>
                <a:lnTo>
                  <a:pt x="3288" y="290700"/>
                </a:lnTo>
                <a:lnTo>
                  <a:pt x="12652" y="268200"/>
                </a:lnTo>
                <a:lnTo>
                  <a:pt x="26668" y="245700"/>
                </a:lnTo>
                <a:lnTo>
                  <a:pt x="43200" y="223200"/>
                </a:lnTo>
                <a:lnTo>
                  <a:pt x="43200" y="223200"/>
                </a:lnTo>
                <a:lnTo>
                  <a:pt x="26668" y="200700"/>
                </a:lnTo>
                <a:lnTo>
                  <a:pt x="12652" y="178200"/>
                </a:lnTo>
                <a:lnTo>
                  <a:pt x="3288" y="155700"/>
                </a:lnTo>
                <a:lnTo>
                  <a:pt x="0" y="133200"/>
                </a:lnTo>
                <a:lnTo>
                  <a:pt x="3288" y="110700"/>
                </a:lnTo>
                <a:lnTo>
                  <a:pt x="12652" y="88200"/>
                </a:lnTo>
                <a:lnTo>
                  <a:pt x="26668" y="65700"/>
                </a:lnTo>
                <a:lnTo>
                  <a:pt x="43200" y="43200"/>
                </a:lnTo>
                <a:close/>
              </a:path>
            </a:pathLst>
          </a:custGeom>
          <a:noFill/>
          <a:ln w="7620">
            <a:solidFill>
              <a:srgbClr val="A4433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0" name="TextBox 249"/>
          <p:cNvSpPr txBox="1"/>
          <p:nvPr/>
        </p:nvSpPr>
        <p:spPr>
          <a:xfrm>
            <a:off x="7488000" y="6372000"/>
            <a:ext cx="2592000" cy="126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50" b="0">
                <a:solidFill>
                  <a:srgbClr val="A44338"/>
                </a:solidFill>
                <a:latin typeface="Liberation Sans"/>
              </a:defRPr>
            </a:pPr>
            <a:r>
              <a:t>COUNTER REVISION / TBC #16</a:t>
            </a:r>
          </a:p>
          <a:p>
            <a:pPr>
              <a:spcAft>
                <a:spcPts val="400"/>
              </a:spcAft>
              <a:defRPr sz="850" b="0">
                <a:solidFill>
                  <a:srgbClr val="A44338"/>
                </a:solidFill>
                <a:latin typeface="Liberation Sans"/>
              </a:defRPr>
            </a:pPr>
            <a:r>
              <a:t>Owner visual direction: mesh left,</a:t>
            </a:r>
          </a:p>
          <a:p>
            <a:pPr>
              <a:spcAft>
                <a:spcPts val="400"/>
              </a:spcAft>
              <a:defRPr sz="850" b="0">
                <a:solidFill>
                  <a:srgbClr val="A44338"/>
                </a:solidFill>
                <a:latin typeface="Liberation Sans"/>
              </a:defRPr>
            </a:pPr>
            <a:r>
              <a:t>solid panel right. Panel split, top</a:t>
            </a:r>
          </a:p>
          <a:p>
            <a:pPr>
              <a:spcAft>
                <a:spcPts val="400"/>
              </a:spcAft>
              <a:defRPr sz="850" b="0">
                <a:solidFill>
                  <a:srgbClr val="A44338"/>
                </a:solidFill>
                <a:latin typeface="Liberation Sans"/>
              </a:defRPr>
            </a:pPr>
            <a:r>
              <a:t>thickness and connections TBC.</a:t>
            </a:r>
          </a:p>
          <a:p>
            <a:pPr>
              <a:spcAft>
                <a:spcPts val="400"/>
              </a:spcAft>
              <a:defRPr sz="850" b="0">
                <a:solidFill>
                  <a:srgbClr val="A44338"/>
                </a:solidFill>
                <a:latin typeface="Liberation Sans"/>
              </a:defRPr>
            </a:pPr>
            <a:r>
              <a:t>Supersedes central insert depiction.</a:t>
            </a:r>
          </a:p>
        </p:txBody>
      </p:sp>
      <p:cxnSp>
        <p:nvCxnSpPr>
          <p:cNvPr id="251" name="Connector 250"/>
          <p:cNvCxnSpPr/>
          <p:nvPr/>
        </p:nvCxnSpPr>
        <p:spPr>
          <a:xfrm>
            <a:off x="2340000" y="9252000"/>
            <a:ext cx="1800000" cy="0"/>
          </a:xfrm>
          <a:prstGeom prst="line">
            <a:avLst/>
          </a:prstGeom>
          <a:ln w="19050">
            <a:solidFill>
              <a:srgbClr val="252725"/>
            </a:solidFill>
          </a:ln>
          <a:effectLst/>
        </p:spPr>
      </p:cxnSp>
      <p:cxnSp>
        <p:nvCxnSpPr>
          <p:cNvPr id="252" name="Connector 251"/>
          <p:cNvCxnSpPr/>
          <p:nvPr/>
        </p:nvCxnSpPr>
        <p:spPr>
          <a:xfrm>
            <a:off x="2340000" y="9216000"/>
            <a:ext cx="0" cy="7200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cxnSp>
        <p:nvCxnSpPr>
          <p:cNvPr id="253" name="Connector 252"/>
          <p:cNvCxnSpPr/>
          <p:nvPr/>
        </p:nvCxnSpPr>
        <p:spPr>
          <a:xfrm>
            <a:off x="3240000" y="9216000"/>
            <a:ext cx="0" cy="7200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cxnSp>
        <p:nvCxnSpPr>
          <p:cNvPr id="254" name="Connector 253"/>
          <p:cNvCxnSpPr/>
          <p:nvPr/>
        </p:nvCxnSpPr>
        <p:spPr>
          <a:xfrm>
            <a:off x="4140000" y="9216000"/>
            <a:ext cx="0" cy="7200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sp>
        <p:nvSpPr>
          <p:cNvPr id="255" name="TextBox 254"/>
          <p:cNvSpPr txBox="1"/>
          <p:nvPr/>
        </p:nvSpPr>
        <p:spPr>
          <a:xfrm>
            <a:off x="2340000" y="9324000"/>
            <a:ext cx="2340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700" b="0">
                <a:solidFill>
                  <a:srgbClr val="737871"/>
                </a:solidFill>
                <a:latin typeface="Liberation Sans"/>
              </a:defRPr>
            </a:pPr>
            <a:r>
              <a:t>0                         1000 mm   |   1:20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360000"/>
            <a:ext cx="10620000" cy="216000"/>
          </a:xfrm>
          <a:prstGeom prst="rect">
            <a:avLst/>
          </a:prstGeom>
          <a:noFill/>
          <a:effectLst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9A825A"/>
                </a:solidFill>
                <a:latin typeface="Liberation Sans"/>
              </a:defRPr>
            </a:pPr>
            <a:r>
              <a:t>BORN FRAGRANCE  /  ARCHITECTURE + INTERIOR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720000"/>
            <a:ext cx="11880000" cy="504000"/>
          </a:xfrm>
          <a:prstGeom prst="rect">
            <a:avLst/>
          </a:prstGeom>
          <a:noFill/>
          <a:effectLst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300" b="0">
                <a:solidFill>
                  <a:srgbClr val="252725"/>
                </a:solidFill>
                <a:latin typeface="Liberation Serif"/>
              </a:defRPr>
            </a:pPr>
            <a:r>
              <a:t>Left display / internal elevation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1296000"/>
            <a:ext cx="12420000" cy="288000"/>
          </a:xfrm>
          <a:prstGeom prst="rect">
            <a:avLst/>
          </a:prstGeom>
          <a:noFill/>
          <a:effectLst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737871"/>
                </a:solidFill>
                <a:latin typeface="Liberation Sans"/>
              </a:defRPr>
            </a:pPr>
            <a:r>
              <a:t>Developed display elevation · interfaces + material codes · bottles indicative only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40000" y="468000"/>
            <a:ext cx="1368000" cy="619671"/>
          </a:xfrm>
          <a:prstGeom prst="rect">
            <a:avLst/>
          </a:prstGeom>
          <a:effectLst/>
          <a:effectLst/>
        </p:spPr>
      </p:pic>
      <p:cxnSp>
        <p:nvCxnSpPr>
          <p:cNvPr id="6" name="Connector 5"/>
          <p:cNvCxnSpPr/>
          <p:nvPr/>
        </p:nvCxnSpPr>
        <p:spPr>
          <a:xfrm>
            <a:off x="540000" y="1728000"/>
            <a:ext cx="14040000" cy="0"/>
          </a:xfrm>
          <a:prstGeom prst="line">
            <a:avLst/>
          </a:prstGeom>
          <a:ln w="8890">
            <a:solidFill>
              <a:srgbClr val="9A825A"/>
            </a:solidFill>
          </a:ln>
          <a:effectLst/>
          <a:effectLst/>
        </p:spPr>
      </p:cxnSp>
      <p:cxnSp>
        <p:nvCxnSpPr>
          <p:cNvPr id="7" name="Connector 6"/>
          <p:cNvCxnSpPr/>
          <p:nvPr/>
        </p:nvCxnSpPr>
        <p:spPr>
          <a:xfrm>
            <a:off x="540000" y="9792000"/>
            <a:ext cx="14040000" cy="0"/>
          </a:xfrm>
          <a:prstGeom prst="line">
            <a:avLst/>
          </a:prstGeom>
          <a:ln w="8890">
            <a:solidFill>
              <a:srgbClr val="9A825A"/>
            </a:solidFill>
          </a:ln>
          <a:effectLst/>
          <a:effectLst/>
        </p:spPr>
      </p:cxnSp>
      <p:sp>
        <p:nvSpPr>
          <p:cNvPr id="8" name="TextBox 7"/>
          <p:cNvSpPr txBox="1"/>
          <p:nvPr/>
        </p:nvSpPr>
        <p:spPr>
          <a:xfrm>
            <a:off x="540000" y="10008000"/>
            <a:ext cx="7128000" cy="360000"/>
          </a:xfrm>
          <a:prstGeom prst="rect">
            <a:avLst/>
          </a:prstGeom>
          <a:noFill/>
          <a:effectLst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750" b="0">
                <a:solidFill>
                  <a:srgbClr val="737871"/>
                </a:solidFill>
                <a:latin typeface="Liberation Sans"/>
              </a:defRPr>
            </a:pPr>
            <a:r>
              <a:t>FOR COORDINATION  ·  SITE ITEMS OPEN  ·  REV D
06 OCT 2026  /  SOURCE REV A</a:t>
            </a:r>
          </a:p>
          <a:p>
            <a:pPr>
              <a:spcAft>
                <a:spcPts val="400"/>
              </a:spcAft>
              <a:defRPr sz="750" b="0">
                <a:solidFill>
                  <a:srgbClr val="737871"/>
                </a:solidFill>
                <a:latin typeface="Liberation Sans"/>
              </a:defRPr>
            </a:pPr>
            <a:r>
              <a:t>06 OCT 2026  /  SOURCE REV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04000" y="10008000"/>
            <a:ext cx="5220000" cy="360000"/>
          </a:xfrm>
          <a:prstGeom prst="rect">
            <a:avLst/>
          </a:prstGeom>
          <a:noFill/>
          <a:effectLst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750" b="0">
                <a:solidFill>
                  <a:srgbClr val="737871"/>
                </a:solidFill>
                <a:latin typeface="Liberation Sans"/>
              </a:defRPr>
            </a:pPr>
            <a:r>
              <a:t>1:20 @ A3  ·  DIMENSIONS mm</a:t>
            </a:r>
          </a:p>
          <a:p>
            <a:pPr>
              <a:spcAft>
                <a:spcPts val="400"/>
              </a:spcAft>
              <a:defRPr sz="750" b="0">
                <a:solidFill>
                  <a:srgbClr val="737871"/>
                </a:solidFill>
                <a:latin typeface="Liberation Sans"/>
              </a:defRPr>
            </a:pPr>
            <a:r>
              <a:t>SPEC SNAPSHOT eeccbde1cd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392000" y="10008000"/>
            <a:ext cx="1152000" cy="288000"/>
          </a:xfrm>
          <a:prstGeom prst="rect">
            <a:avLst/>
          </a:prstGeom>
          <a:noFill/>
          <a:effectLst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252725"/>
                </a:solidFill>
                <a:latin typeface="Liberation Sans"/>
              </a:defRPr>
            </a:pPr>
            <a:r>
              <a:t>AP-08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08000" y="2088000"/>
            <a:ext cx="3564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9A825A"/>
                </a:solidFill>
                <a:latin typeface="Liberation Sans"/>
              </a:defRPr>
            </a:pPr>
            <a:r>
              <a:t>STEEL FRAME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08000" y="2448000"/>
            <a:ext cx="3528000" cy="122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25 × 25 × 1.6 main SHS; 20 × 20 × 1.6 secondary supports. 664 module is not a fabrication cut size.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08000" y="3852000"/>
            <a:ext cx="3564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9A825A"/>
                </a:solidFill>
                <a:latin typeface="Liberation Sans"/>
              </a:defRPr>
            </a:pPr>
            <a:r>
              <a:t>SHELF + LIGHT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08000" y="4212000"/>
            <a:ext cx="3528000" cy="122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3 mm tray / 25 downstand / 250 depth. Concealed 3000 K LED behind front edge; see section inset.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08000" y="5616000"/>
            <a:ext cx="3564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9A825A"/>
                </a:solidFill>
                <a:latin typeface="Liberation Sans"/>
              </a:defRPr>
            </a:pPr>
            <a:r>
              <a:t>BASE + MESH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08000" y="5976000"/>
            <a:ext cx="3528000" cy="122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600 base includes 100 recessed plinth. 1.5 PPC doors. Mesh at 2200–2600; approximate 20 × 40 diamonds.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08000" y="7380000"/>
            <a:ext cx="3564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9A825A"/>
                </a:solidFill>
                <a:latin typeface="Liberation Sans"/>
              </a:defRPr>
            </a:pPr>
            <a:r>
              <a:t>INDICATIVE CONTENT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08000" y="7740000"/>
            <a:ext cx="3528000" cy="122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Fragrance silhouettes show scale and use. Fixings and cable routing #16 remain open. The solid column return has street-facing displays around the corner.</a:t>
            </a:r>
          </a:p>
        </p:txBody>
      </p:sp>
      <p:sp>
        <p:nvSpPr>
          <p:cNvPr id="19" name="GEOM:side-envelope"/>
          <p:cNvSpPr/>
          <p:nvPr/>
        </p:nvSpPr>
        <p:spPr>
          <a:xfrm>
            <a:off x="1836000" y="3312000"/>
            <a:ext cx="5590800" cy="4680000"/>
          </a:xfrm>
          <a:prstGeom prst="rect">
            <a:avLst/>
          </a:prstGeom>
          <a:solidFill>
            <a:srgbClr val="F1EBE0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836000" y="3312000"/>
            <a:ext cx="810000" cy="4680000"/>
          </a:xfrm>
          <a:prstGeom prst="rect">
            <a:avLst/>
          </a:prstGeom>
          <a:solidFill>
            <a:srgbClr val="DDD5C6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881000" y="3357000"/>
            <a:ext cx="720000" cy="4590000"/>
          </a:xfrm>
          <a:prstGeom prst="rect">
            <a:avLst/>
          </a:prstGeom>
          <a:noFill/>
          <a:ln w="8890">
            <a:solidFill>
              <a:srgbClr val="73787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836000" y="3312000"/>
            <a:ext cx="45000" cy="468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601000" y="3312000"/>
            <a:ext cx="45000" cy="468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935000" y="4932000"/>
            <a:ext cx="684000" cy="432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700" b="0">
                <a:solidFill>
                  <a:srgbClr val="737871"/>
                </a:solidFill>
                <a:latin typeface="Liberation Sans"/>
              </a:defRPr>
            </a:pPr>
            <a:r>
              <a:t>SOLID</a:t>
            </a:r>
          </a:p>
          <a:p>
            <a:pPr>
              <a:spcAft>
                <a:spcPts val="400"/>
              </a:spcAft>
              <a:defRPr sz="700" b="0">
                <a:solidFill>
                  <a:srgbClr val="737871"/>
                </a:solidFill>
                <a:latin typeface="Liberation Sans"/>
              </a:defRPr>
            </a:pPr>
            <a:r>
              <a:t>COLUMN</a:t>
            </a:r>
          </a:p>
          <a:p>
            <a:pPr>
              <a:spcAft>
                <a:spcPts val="400"/>
              </a:spcAft>
              <a:defRPr sz="700" b="0">
                <a:solidFill>
                  <a:srgbClr val="737871"/>
                </a:solidFill>
                <a:latin typeface="Liberation Sans"/>
              </a:defRPr>
            </a:pPr>
            <a:r>
              <a:t>RETURN</a:t>
            </a:r>
          </a:p>
          <a:p>
            <a:pPr>
              <a:spcAft>
                <a:spcPts val="400"/>
              </a:spcAft>
              <a:defRPr sz="700" b="0">
                <a:solidFill>
                  <a:srgbClr val="737871"/>
                </a:solidFill>
                <a:latin typeface="Liberation Sans"/>
              </a:defRPr>
            </a:pPr>
          </a:p>
          <a:p>
            <a:pPr>
              <a:spcAft>
                <a:spcPts val="400"/>
              </a:spcAft>
              <a:defRPr sz="700" b="0">
                <a:solidFill>
                  <a:srgbClr val="737871"/>
                </a:solidFill>
                <a:latin typeface="Liberation Sans"/>
              </a:defRPr>
            </a:pPr>
            <a:r>
              <a:t>DISPLAY</a:t>
            </a:r>
          </a:p>
          <a:p>
            <a:pPr>
              <a:spcAft>
                <a:spcPts val="400"/>
              </a:spcAft>
              <a:defRPr sz="700" b="0">
                <a:solidFill>
                  <a:srgbClr val="737871"/>
                </a:solidFill>
                <a:latin typeface="Liberation Sans"/>
              </a:defRPr>
            </a:pPr>
            <a:r>
              <a:t>FACES</a:t>
            </a:r>
          </a:p>
          <a:p>
            <a:pPr>
              <a:spcAft>
                <a:spcPts val="400"/>
              </a:spcAft>
              <a:defRPr sz="700" b="0">
                <a:solidFill>
                  <a:srgbClr val="737871"/>
                </a:solidFill>
                <a:latin typeface="Liberation Sans"/>
              </a:defRPr>
            </a:pPr>
            <a:r>
              <a:t>STREET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646000" y="7812000"/>
            <a:ext cx="4780800" cy="180000"/>
          </a:xfrm>
          <a:prstGeom prst="rect">
            <a:avLst/>
          </a:prstGeom>
          <a:solidFill>
            <a:srgbClr val="51534E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646000" y="6912000"/>
            <a:ext cx="4780800" cy="900000"/>
          </a:xfrm>
          <a:prstGeom prst="rect">
            <a:avLst/>
          </a:prstGeom>
          <a:solidFill>
            <a:srgbClr val="DED8CD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646000" y="3312000"/>
            <a:ext cx="4780800" cy="720000"/>
          </a:xfrm>
          <a:prstGeom prst="rect">
            <a:avLst/>
          </a:prstGeom>
          <a:solidFill>
            <a:srgbClr val="D3CCBD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 flipV="1">
            <a:off x="2646000" y="3312000"/>
            <a:ext cx="36000" cy="72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9" name="Connector 28"/>
          <p:cNvCxnSpPr/>
          <p:nvPr/>
        </p:nvCxnSpPr>
        <p:spPr>
          <a:xfrm>
            <a:off x="2646000" y="3960000"/>
            <a:ext cx="36000" cy="72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0" name="Connector 29"/>
          <p:cNvCxnSpPr/>
          <p:nvPr/>
        </p:nvCxnSpPr>
        <p:spPr>
          <a:xfrm flipV="1">
            <a:off x="2646000" y="3312000"/>
            <a:ext cx="72000" cy="144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1" name="Connector 30"/>
          <p:cNvCxnSpPr/>
          <p:nvPr/>
        </p:nvCxnSpPr>
        <p:spPr>
          <a:xfrm>
            <a:off x="2646000" y="3888000"/>
            <a:ext cx="72000" cy="144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2" name="Connector 31"/>
          <p:cNvCxnSpPr/>
          <p:nvPr/>
        </p:nvCxnSpPr>
        <p:spPr>
          <a:xfrm flipV="1">
            <a:off x="2646000" y="3312000"/>
            <a:ext cx="108000" cy="216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3" name="Connector 32"/>
          <p:cNvCxnSpPr/>
          <p:nvPr/>
        </p:nvCxnSpPr>
        <p:spPr>
          <a:xfrm>
            <a:off x="2646000" y="3816000"/>
            <a:ext cx="108000" cy="216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4" name="Connector 33"/>
          <p:cNvCxnSpPr/>
          <p:nvPr/>
        </p:nvCxnSpPr>
        <p:spPr>
          <a:xfrm flipV="1">
            <a:off x="2646000" y="3312000"/>
            <a:ext cx="144000" cy="288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5" name="Connector 34"/>
          <p:cNvCxnSpPr/>
          <p:nvPr/>
        </p:nvCxnSpPr>
        <p:spPr>
          <a:xfrm>
            <a:off x="2646000" y="3744000"/>
            <a:ext cx="144000" cy="288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6" name="Connector 35"/>
          <p:cNvCxnSpPr/>
          <p:nvPr/>
        </p:nvCxnSpPr>
        <p:spPr>
          <a:xfrm flipV="1">
            <a:off x="2646000" y="3312000"/>
            <a:ext cx="180000" cy="36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7" name="Connector 36"/>
          <p:cNvCxnSpPr/>
          <p:nvPr/>
        </p:nvCxnSpPr>
        <p:spPr>
          <a:xfrm>
            <a:off x="2646000" y="3672000"/>
            <a:ext cx="180000" cy="36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8" name="Connector 37"/>
          <p:cNvCxnSpPr/>
          <p:nvPr/>
        </p:nvCxnSpPr>
        <p:spPr>
          <a:xfrm flipV="1">
            <a:off x="2646000" y="3312000"/>
            <a:ext cx="216000" cy="432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9" name="Connector 38"/>
          <p:cNvCxnSpPr/>
          <p:nvPr/>
        </p:nvCxnSpPr>
        <p:spPr>
          <a:xfrm>
            <a:off x="2646000" y="3600000"/>
            <a:ext cx="216000" cy="432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40" name="Connector 39"/>
          <p:cNvCxnSpPr/>
          <p:nvPr/>
        </p:nvCxnSpPr>
        <p:spPr>
          <a:xfrm flipV="1">
            <a:off x="2646000" y="3312000"/>
            <a:ext cx="252000" cy="504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41" name="Connector 40"/>
          <p:cNvCxnSpPr/>
          <p:nvPr/>
        </p:nvCxnSpPr>
        <p:spPr>
          <a:xfrm>
            <a:off x="2646000" y="3528000"/>
            <a:ext cx="252000" cy="504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42" name="Connector 41"/>
          <p:cNvCxnSpPr/>
          <p:nvPr/>
        </p:nvCxnSpPr>
        <p:spPr>
          <a:xfrm flipV="1">
            <a:off x="2646000" y="3312000"/>
            <a:ext cx="288000" cy="576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43" name="Connector 42"/>
          <p:cNvCxnSpPr/>
          <p:nvPr/>
        </p:nvCxnSpPr>
        <p:spPr>
          <a:xfrm>
            <a:off x="2646000" y="3456000"/>
            <a:ext cx="288000" cy="576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44" name="Connector 43"/>
          <p:cNvCxnSpPr/>
          <p:nvPr/>
        </p:nvCxnSpPr>
        <p:spPr>
          <a:xfrm flipV="1">
            <a:off x="2646000" y="3312000"/>
            <a:ext cx="324000" cy="648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45" name="Connector 44"/>
          <p:cNvCxnSpPr/>
          <p:nvPr/>
        </p:nvCxnSpPr>
        <p:spPr>
          <a:xfrm>
            <a:off x="2646000" y="3384000"/>
            <a:ext cx="324000" cy="648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46" name="Connector 45"/>
          <p:cNvCxnSpPr/>
          <p:nvPr/>
        </p:nvCxnSpPr>
        <p:spPr>
          <a:xfrm flipV="1">
            <a:off x="264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47" name="Connector 46"/>
          <p:cNvCxnSpPr/>
          <p:nvPr/>
        </p:nvCxnSpPr>
        <p:spPr>
          <a:xfrm>
            <a:off x="264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48" name="Connector 47"/>
          <p:cNvCxnSpPr/>
          <p:nvPr/>
        </p:nvCxnSpPr>
        <p:spPr>
          <a:xfrm flipV="1">
            <a:off x="268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49" name="Connector 48"/>
          <p:cNvCxnSpPr/>
          <p:nvPr/>
        </p:nvCxnSpPr>
        <p:spPr>
          <a:xfrm>
            <a:off x="268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50" name="Connector 49"/>
          <p:cNvCxnSpPr/>
          <p:nvPr/>
        </p:nvCxnSpPr>
        <p:spPr>
          <a:xfrm flipV="1">
            <a:off x="271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51" name="Connector 50"/>
          <p:cNvCxnSpPr/>
          <p:nvPr/>
        </p:nvCxnSpPr>
        <p:spPr>
          <a:xfrm>
            <a:off x="271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52" name="Connector 51"/>
          <p:cNvCxnSpPr/>
          <p:nvPr/>
        </p:nvCxnSpPr>
        <p:spPr>
          <a:xfrm flipV="1">
            <a:off x="275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53" name="Connector 52"/>
          <p:cNvCxnSpPr/>
          <p:nvPr/>
        </p:nvCxnSpPr>
        <p:spPr>
          <a:xfrm>
            <a:off x="275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54" name="Connector 53"/>
          <p:cNvCxnSpPr/>
          <p:nvPr/>
        </p:nvCxnSpPr>
        <p:spPr>
          <a:xfrm flipV="1">
            <a:off x="279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55" name="Connector 54"/>
          <p:cNvCxnSpPr/>
          <p:nvPr/>
        </p:nvCxnSpPr>
        <p:spPr>
          <a:xfrm>
            <a:off x="279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56" name="Connector 55"/>
          <p:cNvCxnSpPr/>
          <p:nvPr/>
        </p:nvCxnSpPr>
        <p:spPr>
          <a:xfrm flipV="1">
            <a:off x="282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57" name="Connector 56"/>
          <p:cNvCxnSpPr/>
          <p:nvPr/>
        </p:nvCxnSpPr>
        <p:spPr>
          <a:xfrm>
            <a:off x="282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58" name="Connector 57"/>
          <p:cNvCxnSpPr/>
          <p:nvPr/>
        </p:nvCxnSpPr>
        <p:spPr>
          <a:xfrm flipV="1">
            <a:off x="286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59" name="Connector 58"/>
          <p:cNvCxnSpPr/>
          <p:nvPr/>
        </p:nvCxnSpPr>
        <p:spPr>
          <a:xfrm>
            <a:off x="286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60" name="Connector 59"/>
          <p:cNvCxnSpPr/>
          <p:nvPr/>
        </p:nvCxnSpPr>
        <p:spPr>
          <a:xfrm flipV="1">
            <a:off x="289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61" name="Connector 60"/>
          <p:cNvCxnSpPr/>
          <p:nvPr/>
        </p:nvCxnSpPr>
        <p:spPr>
          <a:xfrm>
            <a:off x="289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62" name="Connector 61"/>
          <p:cNvCxnSpPr/>
          <p:nvPr/>
        </p:nvCxnSpPr>
        <p:spPr>
          <a:xfrm flipV="1">
            <a:off x="293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63" name="Connector 62"/>
          <p:cNvCxnSpPr/>
          <p:nvPr/>
        </p:nvCxnSpPr>
        <p:spPr>
          <a:xfrm>
            <a:off x="293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64" name="Connector 63"/>
          <p:cNvCxnSpPr/>
          <p:nvPr/>
        </p:nvCxnSpPr>
        <p:spPr>
          <a:xfrm flipV="1">
            <a:off x="297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65" name="Connector 64"/>
          <p:cNvCxnSpPr/>
          <p:nvPr/>
        </p:nvCxnSpPr>
        <p:spPr>
          <a:xfrm>
            <a:off x="297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66" name="Connector 65"/>
          <p:cNvCxnSpPr/>
          <p:nvPr/>
        </p:nvCxnSpPr>
        <p:spPr>
          <a:xfrm flipV="1">
            <a:off x="300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67" name="Connector 66"/>
          <p:cNvCxnSpPr/>
          <p:nvPr/>
        </p:nvCxnSpPr>
        <p:spPr>
          <a:xfrm>
            <a:off x="300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68" name="Connector 67"/>
          <p:cNvCxnSpPr/>
          <p:nvPr/>
        </p:nvCxnSpPr>
        <p:spPr>
          <a:xfrm flipV="1">
            <a:off x="304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69" name="Connector 68"/>
          <p:cNvCxnSpPr/>
          <p:nvPr/>
        </p:nvCxnSpPr>
        <p:spPr>
          <a:xfrm>
            <a:off x="304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70" name="Connector 69"/>
          <p:cNvCxnSpPr/>
          <p:nvPr/>
        </p:nvCxnSpPr>
        <p:spPr>
          <a:xfrm flipV="1">
            <a:off x="307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71" name="Connector 70"/>
          <p:cNvCxnSpPr/>
          <p:nvPr/>
        </p:nvCxnSpPr>
        <p:spPr>
          <a:xfrm>
            <a:off x="307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72" name="Connector 71"/>
          <p:cNvCxnSpPr/>
          <p:nvPr/>
        </p:nvCxnSpPr>
        <p:spPr>
          <a:xfrm flipV="1">
            <a:off x="311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73" name="Connector 72"/>
          <p:cNvCxnSpPr/>
          <p:nvPr/>
        </p:nvCxnSpPr>
        <p:spPr>
          <a:xfrm>
            <a:off x="311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74" name="Connector 73"/>
          <p:cNvCxnSpPr/>
          <p:nvPr/>
        </p:nvCxnSpPr>
        <p:spPr>
          <a:xfrm flipV="1">
            <a:off x="315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75" name="Connector 74"/>
          <p:cNvCxnSpPr/>
          <p:nvPr/>
        </p:nvCxnSpPr>
        <p:spPr>
          <a:xfrm>
            <a:off x="315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76" name="Connector 75"/>
          <p:cNvCxnSpPr/>
          <p:nvPr/>
        </p:nvCxnSpPr>
        <p:spPr>
          <a:xfrm flipV="1">
            <a:off x="318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77" name="Connector 76"/>
          <p:cNvCxnSpPr/>
          <p:nvPr/>
        </p:nvCxnSpPr>
        <p:spPr>
          <a:xfrm>
            <a:off x="318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78" name="Connector 77"/>
          <p:cNvCxnSpPr/>
          <p:nvPr/>
        </p:nvCxnSpPr>
        <p:spPr>
          <a:xfrm flipV="1">
            <a:off x="322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79" name="Connector 78"/>
          <p:cNvCxnSpPr/>
          <p:nvPr/>
        </p:nvCxnSpPr>
        <p:spPr>
          <a:xfrm>
            <a:off x="322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80" name="Connector 79"/>
          <p:cNvCxnSpPr/>
          <p:nvPr/>
        </p:nvCxnSpPr>
        <p:spPr>
          <a:xfrm flipV="1">
            <a:off x="325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81" name="Connector 80"/>
          <p:cNvCxnSpPr/>
          <p:nvPr/>
        </p:nvCxnSpPr>
        <p:spPr>
          <a:xfrm>
            <a:off x="325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82" name="Connector 81"/>
          <p:cNvCxnSpPr/>
          <p:nvPr/>
        </p:nvCxnSpPr>
        <p:spPr>
          <a:xfrm flipV="1">
            <a:off x="329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83" name="Connector 82"/>
          <p:cNvCxnSpPr/>
          <p:nvPr/>
        </p:nvCxnSpPr>
        <p:spPr>
          <a:xfrm>
            <a:off x="329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84" name="Connector 83"/>
          <p:cNvCxnSpPr/>
          <p:nvPr/>
        </p:nvCxnSpPr>
        <p:spPr>
          <a:xfrm flipV="1">
            <a:off x="333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85" name="Connector 84"/>
          <p:cNvCxnSpPr/>
          <p:nvPr/>
        </p:nvCxnSpPr>
        <p:spPr>
          <a:xfrm>
            <a:off x="333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86" name="Connector 85"/>
          <p:cNvCxnSpPr/>
          <p:nvPr/>
        </p:nvCxnSpPr>
        <p:spPr>
          <a:xfrm flipV="1">
            <a:off x="336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87" name="Connector 86"/>
          <p:cNvCxnSpPr/>
          <p:nvPr/>
        </p:nvCxnSpPr>
        <p:spPr>
          <a:xfrm>
            <a:off x="336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88" name="Connector 87"/>
          <p:cNvCxnSpPr/>
          <p:nvPr/>
        </p:nvCxnSpPr>
        <p:spPr>
          <a:xfrm flipV="1">
            <a:off x="340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89" name="Connector 88"/>
          <p:cNvCxnSpPr/>
          <p:nvPr/>
        </p:nvCxnSpPr>
        <p:spPr>
          <a:xfrm>
            <a:off x="340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90" name="Connector 89"/>
          <p:cNvCxnSpPr/>
          <p:nvPr/>
        </p:nvCxnSpPr>
        <p:spPr>
          <a:xfrm flipV="1">
            <a:off x="343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91" name="Connector 90"/>
          <p:cNvCxnSpPr/>
          <p:nvPr/>
        </p:nvCxnSpPr>
        <p:spPr>
          <a:xfrm>
            <a:off x="343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92" name="Connector 91"/>
          <p:cNvCxnSpPr/>
          <p:nvPr/>
        </p:nvCxnSpPr>
        <p:spPr>
          <a:xfrm flipV="1">
            <a:off x="347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93" name="Connector 92"/>
          <p:cNvCxnSpPr/>
          <p:nvPr/>
        </p:nvCxnSpPr>
        <p:spPr>
          <a:xfrm>
            <a:off x="347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94" name="Connector 93"/>
          <p:cNvCxnSpPr/>
          <p:nvPr/>
        </p:nvCxnSpPr>
        <p:spPr>
          <a:xfrm flipV="1">
            <a:off x="351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95" name="Connector 94"/>
          <p:cNvCxnSpPr/>
          <p:nvPr/>
        </p:nvCxnSpPr>
        <p:spPr>
          <a:xfrm>
            <a:off x="351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96" name="Connector 95"/>
          <p:cNvCxnSpPr/>
          <p:nvPr/>
        </p:nvCxnSpPr>
        <p:spPr>
          <a:xfrm flipV="1">
            <a:off x="354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97" name="Connector 96"/>
          <p:cNvCxnSpPr/>
          <p:nvPr/>
        </p:nvCxnSpPr>
        <p:spPr>
          <a:xfrm>
            <a:off x="354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98" name="Connector 97"/>
          <p:cNvCxnSpPr/>
          <p:nvPr/>
        </p:nvCxnSpPr>
        <p:spPr>
          <a:xfrm flipV="1">
            <a:off x="358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99" name="Connector 98"/>
          <p:cNvCxnSpPr/>
          <p:nvPr/>
        </p:nvCxnSpPr>
        <p:spPr>
          <a:xfrm>
            <a:off x="358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00" name="Connector 99"/>
          <p:cNvCxnSpPr/>
          <p:nvPr/>
        </p:nvCxnSpPr>
        <p:spPr>
          <a:xfrm flipV="1">
            <a:off x="361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01" name="Connector 100"/>
          <p:cNvCxnSpPr/>
          <p:nvPr/>
        </p:nvCxnSpPr>
        <p:spPr>
          <a:xfrm>
            <a:off x="361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02" name="Connector 101"/>
          <p:cNvCxnSpPr/>
          <p:nvPr/>
        </p:nvCxnSpPr>
        <p:spPr>
          <a:xfrm flipV="1">
            <a:off x="365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03" name="Connector 102"/>
          <p:cNvCxnSpPr/>
          <p:nvPr/>
        </p:nvCxnSpPr>
        <p:spPr>
          <a:xfrm>
            <a:off x="365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04" name="Connector 103"/>
          <p:cNvCxnSpPr/>
          <p:nvPr/>
        </p:nvCxnSpPr>
        <p:spPr>
          <a:xfrm flipV="1">
            <a:off x="369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05" name="Connector 104"/>
          <p:cNvCxnSpPr/>
          <p:nvPr/>
        </p:nvCxnSpPr>
        <p:spPr>
          <a:xfrm>
            <a:off x="369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06" name="Connector 105"/>
          <p:cNvCxnSpPr/>
          <p:nvPr/>
        </p:nvCxnSpPr>
        <p:spPr>
          <a:xfrm flipV="1">
            <a:off x="372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07" name="Connector 106"/>
          <p:cNvCxnSpPr/>
          <p:nvPr/>
        </p:nvCxnSpPr>
        <p:spPr>
          <a:xfrm>
            <a:off x="372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08" name="Connector 107"/>
          <p:cNvCxnSpPr/>
          <p:nvPr/>
        </p:nvCxnSpPr>
        <p:spPr>
          <a:xfrm flipV="1">
            <a:off x="376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09" name="Connector 108"/>
          <p:cNvCxnSpPr/>
          <p:nvPr/>
        </p:nvCxnSpPr>
        <p:spPr>
          <a:xfrm>
            <a:off x="376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10" name="Connector 109"/>
          <p:cNvCxnSpPr/>
          <p:nvPr/>
        </p:nvCxnSpPr>
        <p:spPr>
          <a:xfrm flipV="1">
            <a:off x="379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11" name="Connector 110"/>
          <p:cNvCxnSpPr/>
          <p:nvPr/>
        </p:nvCxnSpPr>
        <p:spPr>
          <a:xfrm>
            <a:off x="379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12" name="Connector 111"/>
          <p:cNvCxnSpPr/>
          <p:nvPr/>
        </p:nvCxnSpPr>
        <p:spPr>
          <a:xfrm flipV="1">
            <a:off x="383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13" name="Connector 112"/>
          <p:cNvCxnSpPr/>
          <p:nvPr/>
        </p:nvCxnSpPr>
        <p:spPr>
          <a:xfrm>
            <a:off x="383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14" name="Connector 113"/>
          <p:cNvCxnSpPr/>
          <p:nvPr/>
        </p:nvCxnSpPr>
        <p:spPr>
          <a:xfrm flipV="1">
            <a:off x="387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15" name="Connector 114"/>
          <p:cNvCxnSpPr/>
          <p:nvPr/>
        </p:nvCxnSpPr>
        <p:spPr>
          <a:xfrm>
            <a:off x="387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16" name="Connector 115"/>
          <p:cNvCxnSpPr/>
          <p:nvPr/>
        </p:nvCxnSpPr>
        <p:spPr>
          <a:xfrm flipV="1">
            <a:off x="390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17" name="Connector 116"/>
          <p:cNvCxnSpPr/>
          <p:nvPr/>
        </p:nvCxnSpPr>
        <p:spPr>
          <a:xfrm>
            <a:off x="390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18" name="Connector 117"/>
          <p:cNvCxnSpPr/>
          <p:nvPr/>
        </p:nvCxnSpPr>
        <p:spPr>
          <a:xfrm flipV="1">
            <a:off x="394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19" name="Connector 118"/>
          <p:cNvCxnSpPr/>
          <p:nvPr/>
        </p:nvCxnSpPr>
        <p:spPr>
          <a:xfrm>
            <a:off x="394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20" name="Connector 119"/>
          <p:cNvCxnSpPr/>
          <p:nvPr/>
        </p:nvCxnSpPr>
        <p:spPr>
          <a:xfrm flipV="1">
            <a:off x="397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21" name="Connector 120"/>
          <p:cNvCxnSpPr/>
          <p:nvPr/>
        </p:nvCxnSpPr>
        <p:spPr>
          <a:xfrm>
            <a:off x="397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22" name="Connector 121"/>
          <p:cNvCxnSpPr/>
          <p:nvPr/>
        </p:nvCxnSpPr>
        <p:spPr>
          <a:xfrm flipV="1">
            <a:off x="401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23" name="Connector 122"/>
          <p:cNvCxnSpPr/>
          <p:nvPr/>
        </p:nvCxnSpPr>
        <p:spPr>
          <a:xfrm>
            <a:off x="401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24" name="Connector 123"/>
          <p:cNvCxnSpPr/>
          <p:nvPr/>
        </p:nvCxnSpPr>
        <p:spPr>
          <a:xfrm flipV="1">
            <a:off x="405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25" name="Connector 124"/>
          <p:cNvCxnSpPr/>
          <p:nvPr/>
        </p:nvCxnSpPr>
        <p:spPr>
          <a:xfrm>
            <a:off x="405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26" name="Connector 125"/>
          <p:cNvCxnSpPr/>
          <p:nvPr/>
        </p:nvCxnSpPr>
        <p:spPr>
          <a:xfrm flipV="1">
            <a:off x="408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27" name="Connector 126"/>
          <p:cNvCxnSpPr/>
          <p:nvPr/>
        </p:nvCxnSpPr>
        <p:spPr>
          <a:xfrm>
            <a:off x="408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28" name="Connector 127"/>
          <p:cNvCxnSpPr/>
          <p:nvPr/>
        </p:nvCxnSpPr>
        <p:spPr>
          <a:xfrm flipV="1">
            <a:off x="412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29" name="Connector 128"/>
          <p:cNvCxnSpPr/>
          <p:nvPr/>
        </p:nvCxnSpPr>
        <p:spPr>
          <a:xfrm>
            <a:off x="412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30" name="Connector 129"/>
          <p:cNvCxnSpPr/>
          <p:nvPr/>
        </p:nvCxnSpPr>
        <p:spPr>
          <a:xfrm flipV="1">
            <a:off x="415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31" name="Connector 130"/>
          <p:cNvCxnSpPr/>
          <p:nvPr/>
        </p:nvCxnSpPr>
        <p:spPr>
          <a:xfrm>
            <a:off x="415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32" name="Connector 131"/>
          <p:cNvCxnSpPr/>
          <p:nvPr/>
        </p:nvCxnSpPr>
        <p:spPr>
          <a:xfrm flipV="1">
            <a:off x="419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33" name="Connector 132"/>
          <p:cNvCxnSpPr/>
          <p:nvPr/>
        </p:nvCxnSpPr>
        <p:spPr>
          <a:xfrm>
            <a:off x="419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34" name="Connector 133"/>
          <p:cNvCxnSpPr/>
          <p:nvPr/>
        </p:nvCxnSpPr>
        <p:spPr>
          <a:xfrm flipV="1">
            <a:off x="423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35" name="Connector 134"/>
          <p:cNvCxnSpPr/>
          <p:nvPr/>
        </p:nvCxnSpPr>
        <p:spPr>
          <a:xfrm>
            <a:off x="423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36" name="Connector 135"/>
          <p:cNvCxnSpPr/>
          <p:nvPr/>
        </p:nvCxnSpPr>
        <p:spPr>
          <a:xfrm flipV="1">
            <a:off x="426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37" name="Connector 136"/>
          <p:cNvCxnSpPr/>
          <p:nvPr/>
        </p:nvCxnSpPr>
        <p:spPr>
          <a:xfrm>
            <a:off x="426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38" name="Connector 137"/>
          <p:cNvCxnSpPr/>
          <p:nvPr/>
        </p:nvCxnSpPr>
        <p:spPr>
          <a:xfrm flipV="1">
            <a:off x="430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39" name="Connector 138"/>
          <p:cNvCxnSpPr/>
          <p:nvPr/>
        </p:nvCxnSpPr>
        <p:spPr>
          <a:xfrm>
            <a:off x="430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40" name="Connector 139"/>
          <p:cNvCxnSpPr/>
          <p:nvPr/>
        </p:nvCxnSpPr>
        <p:spPr>
          <a:xfrm flipV="1">
            <a:off x="433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41" name="Connector 140"/>
          <p:cNvCxnSpPr/>
          <p:nvPr/>
        </p:nvCxnSpPr>
        <p:spPr>
          <a:xfrm>
            <a:off x="433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42" name="Connector 141"/>
          <p:cNvCxnSpPr/>
          <p:nvPr/>
        </p:nvCxnSpPr>
        <p:spPr>
          <a:xfrm flipV="1">
            <a:off x="437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43" name="Connector 142"/>
          <p:cNvCxnSpPr/>
          <p:nvPr/>
        </p:nvCxnSpPr>
        <p:spPr>
          <a:xfrm>
            <a:off x="437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44" name="Connector 143"/>
          <p:cNvCxnSpPr/>
          <p:nvPr/>
        </p:nvCxnSpPr>
        <p:spPr>
          <a:xfrm flipV="1">
            <a:off x="441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45" name="Connector 144"/>
          <p:cNvCxnSpPr/>
          <p:nvPr/>
        </p:nvCxnSpPr>
        <p:spPr>
          <a:xfrm>
            <a:off x="441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46" name="Connector 145"/>
          <p:cNvCxnSpPr/>
          <p:nvPr/>
        </p:nvCxnSpPr>
        <p:spPr>
          <a:xfrm flipV="1">
            <a:off x="444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47" name="Connector 146"/>
          <p:cNvCxnSpPr/>
          <p:nvPr/>
        </p:nvCxnSpPr>
        <p:spPr>
          <a:xfrm>
            <a:off x="444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48" name="Connector 147"/>
          <p:cNvCxnSpPr/>
          <p:nvPr/>
        </p:nvCxnSpPr>
        <p:spPr>
          <a:xfrm flipV="1">
            <a:off x="448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49" name="Connector 148"/>
          <p:cNvCxnSpPr/>
          <p:nvPr/>
        </p:nvCxnSpPr>
        <p:spPr>
          <a:xfrm>
            <a:off x="448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50" name="Connector 149"/>
          <p:cNvCxnSpPr/>
          <p:nvPr/>
        </p:nvCxnSpPr>
        <p:spPr>
          <a:xfrm flipV="1">
            <a:off x="451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51" name="Connector 150"/>
          <p:cNvCxnSpPr/>
          <p:nvPr/>
        </p:nvCxnSpPr>
        <p:spPr>
          <a:xfrm>
            <a:off x="451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52" name="Connector 151"/>
          <p:cNvCxnSpPr/>
          <p:nvPr/>
        </p:nvCxnSpPr>
        <p:spPr>
          <a:xfrm flipV="1">
            <a:off x="455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53" name="Connector 152"/>
          <p:cNvCxnSpPr/>
          <p:nvPr/>
        </p:nvCxnSpPr>
        <p:spPr>
          <a:xfrm>
            <a:off x="455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54" name="Connector 153"/>
          <p:cNvCxnSpPr/>
          <p:nvPr/>
        </p:nvCxnSpPr>
        <p:spPr>
          <a:xfrm flipV="1">
            <a:off x="459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55" name="Connector 154"/>
          <p:cNvCxnSpPr/>
          <p:nvPr/>
        </p:nvCxnSpPr>
        <p:spPr>
          <a:xfrm>
            <a:off x="459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56" name="Connector 155"/>
          <p:cNvCxnSpPr/>
          <p:nvPr/>
        </p:nvCxnSpPr>
        <p:spPr>
          <a:xfrm flipV="1">
            <a:off x="462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57" name="Connector 156"/>
          <p:cNvCxnSpPr/>
          <p:nvPr/>
        </p:nvCxnSpPr>
        <p:spPr>
          <a:xfrm>
            <a:off x="462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58" name="Connector 157"/>
          <p:cNvCxnSpPr/>
          <p:nvPr/>
        </p:nvCxnSpPr>
        <p:spPr>
          <a:xfrm flipV="1">
            <a:off x="466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59" name="Connector 158"/>
          <p:cNvCxnSpPr/>
          <p:nvPr/>
        </p:nvCxnSpPr>
        <p:spPr>
          <a:xfrm>
            <a:off x="466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60" name="Connector 159"/>
          <p:cNvCxnSpPr/>
          <p:nvPr/>
        </p:nvCxnSpPr>
        <p:spPr>
          <a:xfrm flipV="1">
            <a:off x="469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61" name="Connector 160"/>
          <p:cNvCxnSpPr/>
          <p:nvPr/>
        </p:nvCxnSpPr>
        <p:spPr>
          <a:xfrm>
            <a:off x="469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62" name="Connector 161"/>
          <p:cNvCxnSpPr/>
          <p:nvPr/>
        </p:nvCxnSpPr>
        <p:spPr>
          <a:xfrm flipV="1">
            <a:off x="473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63" name="Connector 162"/>
          <p:cNvCxnSpPr/>
          <p:nvPr/>
        </p:nvCxnSpPr>
        <p:spPr>
          <a:xfrm>
            <a:off x="473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64" name="Connector 163"/>
          <p:cNvCxnSpPr/>
          <p:nvPr/>
        </p:nvCxnSpPr>
        <p:spPr>
          <a:xfrm flipV="1">
            <a:off x="477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65" name="Connector 164"/>
          <p:cNvCxnSpPr/>
          <p:nvPr/>
        </p:nvCxnSpPr>
        <p:spPr>
          <a:xfrm>
            <a:off x="477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66" name="Connector 165"/>
          <p:cNvCxnSpPr/>
          <p:nvPr/>
        </p:nvCxnSpPr>
        <p:spPr>
          <a:xfrm flipV="1">
            <a:off x="480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67" name="Connector 166"/>
          <p:cNvCxnSpPr/>
          <p:nvPr/>
        </p:nvCxnSpPr>
        <p:spPr>
          <a:xfrm>
            <a:off x="480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68" name="Connector 167"/>
          <p:cNvCxnSpPr/>
          <p:nvPr/>
        </p:nvCxnSpPr>
        <p:spPr>
          <a:xfrm flipV="1">
            <a:off x="484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69" name="Connector 168"/>
          <p:cNvCxnSpPr/>
          <p:nvPr/>
        </p:nvCxnSpPr>
        <p:spPr>
          <a:xfrm>
            <a:off x="484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70" name="Connector 169"/>
          <p:cNvCxnSpPr/>
          <p:nvPr/>
        </p:nvCxnSpPr>
        <p:spPr>
          <a:xfrm flipV="1">
            <a:off x="487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71" name="Connector 170"/>
          <p:cNvCxnSpPr/>
          <p:nvPr/>
        </p:nvCxnSpPr>
        <p:spPr>
          <a:xfrm>
            <a:off x="487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72" name="Connector 171"/>
          <p:cNvCxnSpPr/>
          <p:nvPr/>
        </p:nvCxnSpPr>
        <p:spPr>
          <a:xfrm flipV="1">
            <a:off x="491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73" name="Connector 172"/>
          <p:cNvCxnSpPr/>
          <p:nvPr/>
        </p:nvCxnSpPr>
        <p:spPr>
          <a:xfrm>
            <a:off x="491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74" name="Connector 173"/>
          <p:cNvCxnSpPr/>
          <p:nvPr/>
        </p:nvCxnSpPr>
        <p:spPr>
          <a:xfrm flipV="1">
            <a:off x="495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75" name="Connector 174"/>
          <p:cNvCxnSpPr/>
          <p:nvPr/>
        </p:nvCxnSpPr>
        <p:spPr>
          <a:xfrm>
            <a:off x="495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76" name="Connector 175"/>
          <p:cNvCxnSpPr/>
          <p:nvPr/>
        </p:nvCxnSpPr>
        <p:spPr>
          <a:xfrm flipV="1">
            <a:off x="498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77" name="Connector 176"/>
          <p:cNvCxnSpPr/>
          <p:nvPr/>
        </p:nvCxnSpPr>
        <p:spPr>
          <a:xfrm>
            <a:off x="498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78" name="Connector 177"/>
          <p:cNvCxnSpPr/>
          <p:nvPr/>
        </p:nvCxnSpPr>
        <p:spPr>
          <a:xfrm flipV="1">
            <a:off x="502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79" name="Connector 178"/>
          <p:cNvCxnSpPr/>
          <p:nvPr/>
        </p:nvCxnSpPr>
        <p:spPr>
          <a:xfrm>
            <a:off x="502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80" name="Connector 179"/>
          <p:cNvCxnSpPr/>
          <p:nvPr/>
        </p:nvCxnSpPr>
        <p:spPr>
          <a:xfrm flipV="1">
            <a:off x="505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81" name="Connector 180"/>
          <p:cNvCxnSpPr/>
          <p:nvPr/>
        </p:nvCxnSpPr>
        <p:spPr>
          <a:xfrm>
            <a:off x="505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82" name="Connector 181"/>
          <p:cNvCxnSpPr/>
          <p:nvPr/>
        </p:nvCxnSpPr>
        <p:spPr>
          <a:xfrm flipV="1">
            <a:off x="509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83" name="Connector 182"/>
          <p:cNvCxnSpPr/>
          <p:nvPr/>
        </p:nvCxnSpPr>
        <p:spPr>
          <a:xfrm>
            <a:off x="509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84" name="Connector 183"/>
          <p:cNvCxnSpPr/>
          <p:nvPr/>
        </p:nvCxnSpPr>
        <p:spPr>
          <a:xfrm flipV="1">
            <a:off x="513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85" name="Connector 184"/>
          <p:cNvCxnSpPr/>
          <p:nvPr/>
        </p:nvCxnSpPr>
        <p:spPr>
          <a:xfrm>
            <a:off x="513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86" name="Connector 185"/>
          <p:cNvCxnSpPr/>
          <p:nvPr/>
        </p:nvCxnSpPr>
        <p:spPr>
          <a:xfrm flipV="1">
            <a:off x="516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87" name="Connector 186"/>
          <p:cNvCxnSpPr/>
          <p:nvPr/>
        </p:nvCxnSpPr>
        <p:spPr>
          <a:xfrm>
            <a:off x="516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88" name="Connector 187"/>
          <p:cNvCxnSpPr/>
          <p:nvPr/>
        </p:nvCxnSpPr>
        <p:spPr>
          <a:xfrm flipV="1">
            <a:off x="520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89" name="Connector 188"/>
          <p:cNvCxnSpPr/>
          <p:nvPr/>
        </p:nvCxnSpPr>
        <p:spPr>
          <a:xfrm>
            <a:off x="520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90" name="Connector 189"/>
          <p:cNvCxnSpPr/>
          <p:nvPr/>
        </p:nvCxnSpPr>
        <p:spPr>
          <a:xfrm flipV="1">
            <a:off x="523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91" name="Connector 190"/>
          <p:cNvCxnSpPr/>
          <p:nvPr/>
        </p:nvCxnSpPr>
        <p:spPr>
          <a:xfrm>
            <a:off x="523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92" name="Connector 191"/>
          <p:cNvCxnSpPr/>
          <p:nvPr/>
        </p:nvCxnSpPr>
        <p:spPr>
          <a:xfrm flipV="1">
            <a:off x="527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93" name="Connector 192"/>
          <p:cNvCxnSpPr/>
          <p:nvPr/>
        </p:nvCxnSpPr>
        <p:spPr>
          <a:xfrm>
            <a:off x="527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94" name="Connector 193"/>
          <p:cNvCxnSpPr/>
          <p:nvPr/>
        </p:nvCxnSpPr>
        <p:spPr>
          <a:xfrm flipV="1">
            <a:off x="531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95" name="Connector 194"/>
          <p:cNvCxnSpPr/>
          <p:nvPr/>
        </p:nvCxnSpPr>
        <p:spPr>
          <a:xfrm>
            <a:off x="531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96" name="Connector 195"/>
          <p:cNvCxnSpPr/>
          <p:nvPr/>
        </p:nvCxnSpPr>
        <p:spPr>
          <a:xfrm flipV="1">
            <a:off x="534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97" name="Connector 196"/>
          <p:cNvCxnSpPr/>
          <p:nvPr/>
        </p:nvCxnSpPr>
        <p:spPr>
          <a:xfrm>
            <a:off x="534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98" name="Connector 197"/>
          <p:cNvCxnSpPr/>
          <p:nvPr/>
        </p:nvCxnSpPr>
        <p:spPr>
          <a:xfrm flipV="1">
            <a:off x="538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99" name="Connector 198"/>
          <p:cNvCxnSpPr/>
          <p:nvPr/>
        </p:nvCxnSpPr>
        <p:spPr>
          <a:xfrm>
            <a:off x="538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00" name="Connector 199"/>
          <p:cNvCxnSpPr/>
          <p:nvPr/>
        </p:nvCxnSpPr>
        <p:spPr>
          <a:xfrm flipV="1">
            <a:off x="541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01" name="Connector 200"/>
          <p:cNvCxnSpPr/>
          <p:nvPr/>
        </p:nvCxnSpPr>
        <p:spPr>
          <a:xfrm>
            <a:off x="541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02" name="Connector 201"/>
          <p:cNvCxnSpPr/>
          <p:nvPr/>
        </p:nvCxnSpPr>
        <p:spPr>
          <a:xfrm flipV="1">
            <a:off x="545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03" name="Connector 202"/>
          <p:cNvCxnSpPr/>
          <p:nvPr/>
        </p:nvCxnSpPr>
        <p:spPr>
          <a:xfrm>
            <a:off x="545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04" name="Connector 203"/>
          <p:cNvCxnSpPr/>
          <p:nvPr/>
        </p:nvCxnSpPr>
        <p:spPr>
          <a:xfrm flipV="1">
            <a:off x="549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05" name="Connector 204"/>
          <p:cNvCxnSpPr/>
          <p:nvPr/>
        </p:nvCxnSpPr>
        <p:spPr>
          <a:xfrm>
            <a:off x="549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06" name="Connector 205"/>
          <p:cNvCxnSpPr/>
          <p:nvPr/>
        </p:nvCxnSpPr>
        <p:spPr>
          <a:xfrm flipV="1">
            <a:off x="552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07" name="Connector 206"/>
          <p:cNvCxnSpPr/>
          <p:nvPr/>
        </p:nvCxnSpPr>
        <p:spPr>
          <a:xfrm>
            <a:off x="552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08" name="Connector 207"/>
          <p:cNvCxnSpPr/>
          <p:nvPr/>
        </p:nvCxnSpPr>
        <p:spPr>
          <a:xfrm flipV="1">
            <a:off x="556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09" name="Connector 208"/>
          <p:cNvCxnSpPr/>
          <p:nvPr/>
        </p:nvCxnSpPr>
        <p:spPr>
          <a:xfrm>
            <a:off x="556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10" name="Connector 209"/>
          <p:cNvCxnSpPr/>
          <p:nvPr/>
        </p:nvCxnSpPr>
        <p:spPr>
          <a:xfrm flipV="1">
            <a:off x="559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11" name="Connector 210"/>
          <p:cNvCxnSpPr/>
          <p:nvPr/>
        </p:nvCxnSpPr>
        <p:spPr>
          <a:xfrm>
            <a:off x="559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12" name="Connector 211"/>
          <p:cNvCxnSpPr/>
          <p:nvPr/>
        </p:nvCxnSpPr>
        <p:spPr>
          <a:xfrm flipV="1">
            <a:off x="563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13" name="Connector 212"/>
          <p:cNvCxnSpPr/>
          <p:nvPr/>
        </p:nvCxnSpPr>
        <p:spPr>
          <a:xfrm>
            <a:off x="563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14" name="Connector 213"/>
          <p:cNvCxnSpPr/>
          <p:nvPr/>
        </p:nvCxnSpPr>
        <p:spPr>
          <a:xfrm flipV="1">
            <a:off x="567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15" name="Connector 214"/>
          <p:cNvCxnSpPr/>
          <p:nvPr/>
        </p:nvCxnSpPr>
        <p:spPr>
          <a:xfrm>
            <a:off x="567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16" name="Connector 215"/>
          <p:cNvCxnSpPr/>
          <p:nvPr/>
        </p:nvCxnSpPr>
        <p:spPr>
          <a:xfrm flipV="1">
            <a:off x="570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17" name="Connector 216"/>
          <p:cNvCxnSpPr/>
          <p:nvPr/>
        </p:nvCxnSpPr>
        <p:spPr>
          <a:xfrm>
            <a:off x="570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18" name="Connector 217"/>
          <p:cNvCxnSpPr/>
          <p:nvPr/>
        </p:nvCxnSpPr>
        <p:spPr>
          <a:xfrm flipV="1">
            <a:off x="574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19" name="Connector 218"/>
          <p:cNvCxnSpPr/>
          <p:nvPr/>
        </p:nvCxnSpPr>
        <p:spPr>
          <a:xfrm>
            <a:off x="574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20" name="Connector 219"/>
          <p:cNvCxnSpPr/>
          <p:nvPr/>
        </p:nvCxnSpPr>
        <p:spPr>
          <a:xfrm flipV="1">
            <a:off x="577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21" name="Connector 220"/>
          <p:cNvCxnSpPr/>
          <p:nvPr/>
        </p:nvCxnSpPr>
        <p:spPr>
          <a:xfrm>
            <a:off x="577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22" name="Connector 221"/>
          <p:cNvCxnSpPr/>
          <p:nvPr/>
        </p:nvCxnSpPr>
        <p:spPr>
          <a:xfrm flipV="1">
            <a:off x="581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23" name="Connector 222"/>
          <p:cNvCxnSpPr/>
          <p:nvPr/>
        </p:nvCxnSpPr>
        <p:spPr>
          <a:xfrm>
            <a:off x="581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24" name="Connector 223"/>
          <p:cNvCxnSpPr/>
          <p:nvPr/>
        </p:nvCxnSpPr>
        <p:spPr>
          <a:xfrm flipV="1">
            <a:off x="585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25" name="Connector 224"/>
          <p:cNvCxnSpPr/>
          <p:nvPr/>
        </p:nvCxnSpPr>
        <p:spPr>
          <a:xfrm>
            <a:off x="585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26" name="Connector 225"/>
          <p:cNvCxnSpPr/>
          <p:nvPr/>
        </p:nvCxnSpPr>
        <p:spPr>
          <a:xfrm flipV="1">
            <a:off x="588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27" name="Connector 226"/>
          <p:cNvCxnSpPr/>
          <p:nvPr/>
        </p:nvCxnSpPr>
        <p:spPr>
          <a:xfrm>
            <a:off x="588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28" name="Connector 227"/>
          <p:cNvCxnSpPr/>
          <p:nvPr/>
        </p:nvCxnSpPr>
        <p:spPr>
          <a:xfrm flipV="1">
            <a:off x="592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29" name="Connector 228"/>
          <p:cNvCxnSpPr/>
          <p:nvPr/>
        </p:nvCxnSpPr>
        <p:spPr>
          <a:xfrm>
            <a:off x="592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30" name="Connector 229"/>
          <p:cNvCxnSpPr/>
          <p:nvPr/>
        </p:nvCxnSpPr>
        <p:spPr>
          <a:xfrm flipV="1">
            <a:off x="595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31" name="Connector 230"/>
          <p:cNvCxnSpPr/>
          <p:nvPr/>
        </p:nvCxnSpPr>
        <p:spPr>
          <a:xfrm>
            <a:off x="595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32" name="Connector 231"/>
          <p:cNvCxnSpPr/>
          <p:nvPr/>
        </p:nvCxnSpPr>
        <p:spPr>
          <a:xfrm flipV="1">
            <a:off x="599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33" name="Connector 232"/>
          <p:cNvCxnSpPr/>
          <p:nvPr/>
        </p:nvCxnSpPr>
        <p:spPr>
          <a:xfrm>
            <a:off x="599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34" name="Connector 233"/>
          <p:cNvCxnSpPr/>
          <p:nvPr/>
        </p:nvCxnSpPr>
        <p:spPr>
          <a:xfrm flipV="1">
            <a:off x="603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35" name="Connector 234"/>
          <p:cNvCxnSpPr/>
          <p:nvPr/>
        </p:nvCxnSpPr>
        <p:spPr>
          <a:xfrm>
            <a:off x="603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36" name="Connector 235"/>
          <p:cNvCxnSpPr/>
          <p:nvPr/>
        </p:nvCxnSpPr>
        <p:spPr>
          <a:xfrm flipV="1">
            <a:off x="606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37" name="Connector 236"/>
          <p:cNvCxnSpPr/>
          <p:nvPr/>
        </p:nvCxnSpPr>
        <p:spPr>
          <a:xfrm>
            <a:off x="606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38" name="Connector 237"/>
          <p:cNvCxnSpPr/>
          <p:nvPr/>
        </p:nvCxnSpPr>
        <p:spPr>
          <a:xfrm flipV="1">
            <a:off x="610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39" name="Connector 238"/>
          <p:cNvCxnSpPr/>
          <p:nvPr/>
        </p:nvCxnSpPr>
        <p:spPr>
          <a:xfrm>
            <a:off x="610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40" name="Connector 239"/>
          <p:cNvCxnSpPr/>
          <p:nvPr/>
        </p:nvCxnSpPr>
        <p:spPr>
          <a:xfrm flipV="1">
            <a:off x="613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41" name="Connector 240"/>
          <p:cNvCxnSpPr/>
          <p:nvPr/>
        </p:nvCxnSpPr>
        <p:spPr>
          <a:xfrm>
            <a:off x="613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42" name="Connector 241"/>
          <p:cNvCxnSpPr/>
          <p:nvPr/>
        </p:nvCxnSpPr>
        <p:spPr>
          <a:xfrm flipV="1">
            <a:off x="617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43" name="Connector 242"/>
          <p:cNvCxnSpPr/>
          <p:nvPr/>
        </p:nvCxnSpPr>
        <p:spPr>
          <a:xfrm>
            <a:off x="617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44" name="Connector 243"/>
          <p:cNvCxnSpPr/>
          <p:nvPr/>
        </p:nvCxnSpPr>
        <p:spPr>
          <a:xfrm flipV="1">
            <a:off x="621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45" name="Connector 244"/>
          <p:cNvCxnSpPr/>
          <p:nvPr/>
        </p:nvCxnSpPr>
        <p:spPr>
          <a:xfrm>
            <a:off x="621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46" name="Connector 245"/>
          <p:cNvCxnSpPr/>
          <p:nvPr/>
        </p:nvCxnSpPr>
        <p:spPr>
          <a:xfrm flipV="1">
            <a:off x="624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47" name="Connector 246"/>
          <p:cNvCxnSpPr/>
          <p:nvPr/>
        </p:nvCxnSpPr>
        <p:spPr>
          <a:xfrm>
            <a:off x="624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48" name="Connector 247"/>
          <p:cNvCxnSpPr/>
          <p:nvPr/>
        </p:nvCxnSpPr>
        <p:spPr>
          <a:xfrm flipV="1">
            <a:off x="628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49" name="Connector 248"/>
          <p:cNvCxnSpPr/>
          <p:nvPr/>
        </p:nvCxnSpPr>
        <p:spPr>
          <a:xfrm>
            <a:off x="628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50" name="Connector 249"/>
          <p:cNvCxnSpPr/>
          <p:nvPr/>
        </p:nvCxnSpPr>
        <p:spPr>
          <a:xfrm flipV="1">
            <a:off x="631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51" name="Connector 250"/>
          <p:cNvCxnSpPr/>
          <p:nvPr/>
        </p:nvCxnSpPr>
        <p:spPr>
          <a:xfrm>
            <a:off x="631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52" name="Connector 251"/>
          <p:cNvCxnSpPr/>
          <p:nvPr/>
        </p:nvCxnSpPr>
        <p:spPr>
          <a:xfrm flipV="1">
            <a:off x="635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53" name="Connector 252"/>
          <p:cNvCxnSpPr/>
          <p:nvPr/>
        </p:nvCxnSpPr>
        <p:spPr>
          <a:xfrm>
            <a:off x="635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54" name="Connector 253"/>
          <p:cNvCxnSpPr/>
          <p:nvPr/>
        </p:nvCxnSpPr>
        <p:spPr>
          <a:xfrm flipV="1">
            <a:off x="639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55" name="Connector 254"/>
          <p:cNvCxnSpPr/>
          <p:nvPr/>
        </p:nvCxnSpPr>
        <p:spPr>
          <a:xfrm>
            <a:off x="639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56" name="Connector 255"/>
          <p:cNvCxnSpPr/>
          <p:nvPr/>
        </p:nvCxnSpPr>
        <p:spPr>
          <a:xfrm flipV="1">
            <a:off x="642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57" name="Connector 256"/>
          <p:cNvCxnSpPr/>
          <p:nvPr/>
        </p:nvCxnSpPr>
        <p:spPr>
          <a:xfrm>
            <a:off x="642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58" name="Connector 257"/>
          <p:cNvCxnSpPr/>
          <p:nvPr/>
        </p:nvCxnSpPr>
        <p:spPr>
          <a:xfrm flipV="1">
            <a:off x="646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59" name="Connector 258"/>
          <p:cNvCxnSpPr/>
          <p:nvPr/>
        </p:nvCxnSpPr>
        <p:spPr>
          <a:xfrm>
            <a:off x="646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60" name="Connector 259"/>
          <p:cNvCxnSpPr/>
          <p:nvPr/>
        </p:nvCxnSpPr>
        <p:spPr>
          <a:xfrm flipV="1">
            <a:off x="649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61" name="Connector 260"/>
          <p:cNvCxnSpPr/>
          <p:nvPr/>
        </p:nvCxnSpPr>
        <p:spPr>
          <a:xfrm>
            <a:off x="649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62" name="Connector 261"/>
          <p:cNvCxnSpPr/>
          <p:nvPr/>
        </p:nvCxnSpPr>
        <p:spPr>
          <a:xfrm flipV="1">
            <a:off x="653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63" name="Connector 262"/>
          <p:cNvCxnSpPr/>
          <p:nvPr/>
        </p:nvCxnSpPr>
        <p:spPr>
          <a:xfrm>
            <a:off x="653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64" name="Connector 263"/>
          <p:cNvCxnSpPr/>
          <p:nvPr/>
        </p:nvCxnSpPr>
        <p:spPr>
          <a:xfrm flipV="1">
            <a:off x="657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65" name="Connector 264"/>
          <p:cNvCxnSpPr/>
          <p:nvPr/>
        </p:nvCxnSpPr>
        <p:spPr>
          <a:xfrm>
            <a:off x="657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66" name="Connector 265"/>
          <p:cNvCxnSpPr/>
          <p:nvPr/>
        </p:nvCxnSpPr>
        <p:spPr>
          <a:xfrm flipV="1">
            <a:off x="660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67" name="Connector 266"/>
          <p:cNvCxnSpPr/>
          <p:nvPr/>
        </p:nvCxnSpPr>
        <p:spPr>
          <a:xfrm>
            <a:off x="660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68" name="Connector 267"/>
          <p:cNvCxnSpPr/>
          <p:nvPr/>
        </p:nvCxnSpPr>
        <p:spPr>
          <a:xfrm flipV="1">
            <a:off x="664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69" name="Connector 268"/>
          <p:cNvCxnSpPr/>
          <p:nvPr/>
        </p:nvCxnSpPr>
        <p:spPr>
          <a:xfrm>
            <a:off x="664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70" name="Connector 269"/>
          <p:cNvCxnSpPr/>
          <p:nvPr/>
        </p:nvCxnSpPr>
        <p:spPr>
          <a:xfrm flipV="1">
            <a:off x="667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71" name="Connector 270"/>
          <p:cNvCxnSpPr/>
          <p:nvPr/>
        </p:nvCxnSpPr>
        <p:spPr>
          <a:xfrm>
            <a:off x="667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72" name="Connector 271"/>
          <p:cNvCxnSpPr/>
          <p:nvPr/>
        </p:nvCxnSpPr>
        <p:spPr>
          <a:xfrm flipV="1">
            <a:off x="671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73" name="Connector 272"/>
          <p:cNvCxnSpPr/>
          <p:nvPr/>
        </p:nvCxnSpPr>
        <p:spPr>
          <a:xfrm>
            <a:off x="671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74" name="Connector 273"/>
          <p:cNvCxnSpPr/>
          <p:nvPr/>
        </p:nvCxnSpPr>
        <p:spPr>
          <a:xfrm flipV="1">
            <a:off x="675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75" name="Connector 274"/>
          <p:cNvCxnSpPr/>
          <p:nvPr/>
        </p:nvCxnSpPr>
        <p:spPr>
          <a:xfrm>
            <a:off x="675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76" name="Connector 275"/>
          <p:cNvCxnSpPr/>
          <p:nvPr/>
        </p:nvCxnSpPr>
        <p:spPr>
          <a:xfrm flipV="1">
            <a:off x="678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77" name="Connector 276"/>
          <p:cNvCxnSpPr/>
          <p:nvPr/>
        </p:nvCxnSpPr>
        <p:spPr>
          <a:xfrm>
            <a:off x="678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78" name="Connector 277"/>
          <p:cNvCxnSpPr/>
          <p:nvPr/>
        </p:nvCxnSpPr>
        <p:spPr>
          <a:xfrm flipV="1">
            <a:off x="682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79" name="Connector 278"/>
          <p:cNvCxnSpPr/>
          <p:nvPr/>
        </p:nvCxnSpPr>
        <p:spPr>
          <a:xfrm>
            <a:off x="682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80" name="Connector 279"/>
          <p:cNvCxnSpPr/>
          <p:nvPr/>
        </p:nvCxnSpPr>
        <p:spPr>
          <a:xfrm flipV="1">
            <a:off x="685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81" name="Connector 280"/>
          <p:cNvCxnSpPr/>
          <p:nvPr/>
        </p:nvCxnSpPr>
        <p:spPr>
          <a:xfrm>
            <a:off x="685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82" name="Connector 281"/>
          <p:cNvCxnSpPr/>
          <p:nvPr/>
        </p:nvCxnSpPr>
        <p:spPr>
          <a:xfrm flipV="1">
            <a:off x="689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83" name="Connector 282"/>
          <p:cNvCxnSpPr/>
          <p:nvPr/>
        </p:nvCxnSpPr>
        <p:spPr>
          <a:xfrm>
            <a:off x="689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84" name="Connector 283"/>
          <p:cNvCxnSpPr/>
          <p:nvPr/>
        </p:nvCxnSpPr>
        <p:spPr>
          <a:xfrm flipV="1">
            <a:off x="693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85" name="Connector 284"/>
          <p:cNvCxnSpPr/>
          <p:nvPr/>
        </p:nvCxnSpPr>
        <p:spPr>
          <a:xfrm>
            <a:off x="693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86" name="Connector 285"/>
          <p:cNvCxnSpPr/>
          <p:nvPr/>
        </p:nvCxnSpPr>
        <p:spPr>
          <a:xfrm flipV="1">
            <a:off x="696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87" name="Connector 286"/>
          <p:cNvCxnSpPr/>
          <p:nvPr/>
        </p:nvCxnSpPr>
        <p:spPr>
          <a:xfrm>
            <a:off x="696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88" name="Connector 287"/>
          <p:cNvCxnSpPr/>
          <p:nvPr/>
        </p:nvCxnSpPr>
        <p:spPr>
          <a:xfrm flipV="1">
            <a:off x="700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89" name="Connector 288"/>
          <p:cNvCxnSpPr/>
          <p:nvPr/>
        </p:nvCxnSpPr>
        <p:spPr>
          <a:xfrm>
            <a:off x="700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90" name="Connector 289"/>
          <p:cNvCxnSpPr/>
          <p:nvPr/>
        </p:nvCxnSpPr>
        <p:spPr>
          <a:xfrm flipV="1">
            <a:off x="703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91" name="Connector 290"/>
          <p:cNvCxnSpPr/>
          <p:nvPr/>
        </p:nvCxnSpPr>
        <p:spPr>
          <a:xfrm>
            <a:off x="703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92" name="Connector 291"/>
          <p:cNvCxnSpPr/>
          <p:nvPr/>
        </p:nvCxnSpPr>
        <p:spPr>
          <a:xfrm flipV="1">
            <a:off x="7074000" y="3326400"/>
            <a:ext cx="352800" cy="705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93" name="Connector 292"/>
          <p:cNvCxnSpPr/>
          <p:nvPr/>
        </p:nvCxnSpPr>
        <p:spPr>
          <a:xfrm>
            <a:off x="7074000" y="3312000"/>
            <a:ext cx="352800" cy="705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94" name="Connector 293"/>
          <p:cNvCxnSpPr/>
          <p:nvPr/>
        </p:nvCxnSpPr>
        <p:spPr>
          <a:xfrm flipV="1">
            <a:off x="7110000" y="3398400"/>
            <a:ext cx="316800" cy="633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95" name="Connector 294"/>
          <p:cNvCxnSpPr/>
          <p:nvPr/>
        </p:nvCxnSpPr>
        <p:spPr>
          <a:xfrm>
            <a:off x="7110000" y="3312000"/>
            <a:ext cx="316800" cy="633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96" name="Connector 295"/>
          <p:cNvCxnSpPr/>
          <p:nvPr/>
        </p:nvCxnSpPr>
        <p:spPr>
          <a:xfrm flipV="1">
            <a:off x="7146000" y="3470400"/>
            <a:ext cx="280800" cy="561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97" name="Connector 296"/>
          <p:cNvCxnSpPr/>
          <p:nvPr/>
        </p:nvCxnSpPr>
        <p:spPr>
          <a:xfrm>
            <a:off x="7146000" y="3312000"/>
            <a:ext cx="280800" cy="561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98" name="Connector 297"/>
          <p:cNvCxnSpPr/>
          <p:nvPr/>
        </p:nvCxnSpPr>
        <p:spPr>
          <a:xfrm flipV="1">
            <a:off x="7182000" y="3542400"/>
            <a:ext cx="244800" cy="489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99" name="Connector 298"/>
          <p:cNvCxnSpPr/>
          <p:nvPr/>
        </p:nvCxnSpPr>
        <p:spPr>
          <a:xfrm>
            <a:off x="7182000" y="3312000"/>
            <a:ext cx="244800" cy="489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00" name="Connector 299"/>
          <p:cNvCxnSpPr/>
          <p:nvPr/>
        </p:nvCxnSpPr>
        <p:spPr>
          <a:xfrm flipV="1">
            <a:off x="7218000" y="3614400"/>
            <a:ext cx="208800" cy="417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01" name="Connector 300"/>
          <p:cNvCxnSpPr/>
          <p:nvPr/>
        </p:nvCxnSpPr>
        <p:spPr>
          <a:xfrm>
            <a:off x="7218000" y="3312000"/>
            <a:ext cx="208800" cy="417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02" name="Connector 301"/>
          <p:cNvCxnSpPr/>
          <p:nvPr/>
        </p:nvCxnSpPr>
        <p:spPr>
          <a:xfrm flipV="1">
            <a:off x="7254000" y="3686400"/>
            <a:ext cx="172800" cy="345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03" name="Connector 302"/>
          <p:cNvCxnSpPr/>
          <p:nvPr/>
        </p:nvCxnSpPr>
        <p:spPr>
          <a:xfrm>
            <a:off x="7254000" y="3312000"/>
            <a:ext cx="172800" cy="345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04" name="Connector 303"/>
          <p:cNvCxnSpPr/>
          <p:nvPr/>
        </p:nvCxnSpPr>
        <p:spPr>
          <a:xfrm flipV="1">
            <a:off x="7290000" y="3758400"/>
            <a:ext cx="136800" cy="273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05" name="Connector 304"/>
          <p:cNvCxnSpPr/>
          <p:nvPr/>
        </p:nvCxnSpPr>
        <p:spPr>
          <a:xfrm>
            <a:off x="7290000" y="3312000"/>
            <a:ext cx="136800" cy="273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06" name="Connector 305"/>
          <p:cNvCxnSpPr/>
          <p:nvPr/>
        </p:nvCxnSpPr>
        <p:spPr>
          <a:xfrm flipV="1">
            <a:off x="7326000" y="3830400"/>
            <a:ext cx="100800" cy="201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07" name="Connector 306"/>
          <p:cNvCxnSpPr/>
          <p:nvPr/>
        </p:nvCxnSpPr>
        <p:spPr>
          <a:xfrm>
            <a:off x="7326000" y="3312000"/>
            <a:ext cx="100800" cy="201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08" name="Connector 307"/>
          <p:cNvCxnSpPr/>
          <p:nvPr/>
        </p:nvCxnSpPr>
        <p:spPr>
          <a:xfrm flipV="1">
            <a:off x="7362000" y="3902400"/>
            <a:ext cx="64800" cy="129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09" name="Connector 308"/>
          <p:cNvCxnSpPr/>
          <p:nvPr/>
        </p:nvCxnSpPr>
        <p:spPr>
          <a:xfrm>
            <a:off x="7362000" y="3312000"/>
            <a:ext cx="64800" cy="129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10" name="Connector 309"/>
          <p:cNvCxnSpPr/>
          <p:nvPr/>
        </p:nvCxnSpPr>
        <p:spPr>
          <a:xfrm flipV="1">
            <a:off x="7398000" y="3974400"/>
            <a:ext cx="28800" cy="57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11" name="Connector 310"/>
          <p:cNvCxnSpPr/>
          <p:nvPr/>
        </p:nvCxnSpPr>
        <p:spPr>
          <a:xfrm>
            <a:off x="7398000" y="3312000"/>
            <a:ext cx="28800" cy="57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sp>
        <p:nvSpPr>
          <p:cNvPr id="312" name="Rectangle 311"/>
          <p:cNvSpPr/>
          <p:nvPr/>
        </p:nvSpPr>
        <p:spPr>
          <a:xfrm>
            <a:off x="2646000" y="3312000"/>
            <a:ext cx="45000" cy="468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3" name="Rectangle 312"/>
          <p:cNvSpPr/>
          <p:nvPr/>
        </p:nvSpPr>
        <p:spPr>
          <a:xfrm>
            <a:off x="3818700" y="3312000"/>
            <a:ext cx="45000" cy="468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4" name="Rectangle 313"/>
          <p:cNvSpPr/>
          <p:nvPr/>
        </p:nvSpPr>
        <p:spPr>
          <a:xfrm>
            <a:off x="5013900" y="3312000"/>
            <a:ext cx="45000" cy="468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5" name="Rectangle 314"/>
          <p:cNvSpPr/>
          <p:nvPr/>
        </p:nvSpPr>
        <p:spPr>
          <a:xfrm>
            <a:off x="6209100" y="3312000"/>
            <a:ext cx="45000" cy="468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6" name="Rectangle 315"/>
          <p:cNvSpPr/>
          <p:nvPr/>
        </p:nvSpPr>
        <p:spPr>
          <a:xfrm>
            <a:off x="7381800" y="3312000"/>
            <a:ext cx="45000" cy="468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7" name="Rectangle 316"/>
          <p:cNvSpPr/>
          <p:nvPr/>
        </p:nvSpPr>
        <p:spPr>
          <a:xfrm>
            <a:off x="2646000" y="6912000"/>
            <a:ext cx="47808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18" name="Connector 317"/>
          <p:cNvCxnSpPr/>
          <p:nvPr/>
        </p:nvCxnSpPr>
        <p:spPr>
          <a:xfrm>
            <a:off x="2691000" y="6951600"/>
            <a:ext cx="4690800" cy="0"/>
          </a:xfrm>
          <a:prstGeom prst="line">
            <a:avLst/>
          </a:prstGeom>
          <a:ln w="8255">
            <a:solidFill>
              <a:srgbClr val="9A825A"/>
            </a:solidFill>
          </a:ln>
          <a:effectLst/>
        </p:spPr>
      </p:cxnSp>
      <p:sp>
        <p:nvSpPr>
          <p:cNvPr id="319" name="Rectangle 318"/>
          <p:cNvSpPr/>
          <p:nvPr/>
        </p:nvSpPr>
        <p:spPr>
          <a:xfrm>
            <a:off x="2646000" y="6192000"/>
            <a:ext cx="47808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20" name="Connector 319"/>
          <p:cNvCxnSpPr/>
          <p:nvPr/>
        </p:nvCxnSpPr>
        <p:spPr>
          <a:xfrm>
            <a:off x="2691000" y="6231600"/>
            <a:ext cx="4690800" cy="0"/>
          </a:xfrm>
          <a:prstGeom prst="line">
            <a:avLst/>
          </a:prstGeom>
          <a:ln w="8255">
            <a:solidFill>
              <a:srgbClr val="9A825A"/>
            </a:solidFill>
          </a:ln>
          <a:effectLst/>
        </p:spPr>
      </p:cxnSp>
      <p:sp>
        <p:nvSpPr>
          <p:cNvPr id="321" name="Rectangle 320"/>
          <p:cNvSpPr/>
          <p:nvPr/>
        </p:nvSpPr>
        <p:spPr>
          <a:xfrm>
            <a:off x="2646000" y="5472000"/>
            <a:ext cx="47808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22" name="Connector 321"/>
          <p:cNvCxnSpPr/>
          <p:nvPr/>
        </p:nvCxnSpPr>
        <p:spPr>
          <a:xfrm>
            <a:off x="2691000" y="5511600"/>
            <a:ext cx="4690800" cy="0"/>
          </a:xfrm>
          <a:prstGeom prst="line">
            <a:avLst/>
          </a:prstGeom>
          <a:ln w="8255">
            <a:solidFill>
              <a:srgbClr val="9A825A"/>
            </a:solidFill>
          </a:ln>
          <a:effectLst/>
        </p:spPr>
      </p:cxnSp>
      <p:sp>
        <p:nvSpPr>
          <p:cNvPr id="323" name="Rectangle 322"/>
          <p:cNvSpPr/>
          <p:nvPr/>
        </p:nvSpPr>
        <p:spPr>
          <a:xfrm>
            <a:off x="2646000" y="4752000"/>
            <a:ext cx="47808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24" name="Connector 323"/>
          <p:cNvCxnSpPr/>
          <p:nvPr/>
        </p:nvCxnSpPr>
        <p:spPr>
          <a:xfrm>
            <a:off x="2691000" y="4791600"/>
            <a:ext cx="4690800" cy="0"/>
          </a:xfrm>
          <a:prstGeom prst="line">
            <a:avLst/>
          </a:prstGeom>
          <a:ln w="8255">
            <a:solidFill>
              <a:srgbClr val="9A825A"/>
            </a:solidFill>
          </a:ln>
          <a:effectLst/>
        </p:spPr>
      </p:cxnSp>
      <p:sp>
        <p:nvSpPr>
          <p:cNvPr id="325" name="Rectangle 324"/>
          <p:cNvSpPr/>
          <p:nvPr/>
        </p:nvSpPr>
        <p:spPr>
          <a:xfrm>
            <a:off x="2646000" y="4032000"/>
            <a:ext cx="47808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26" name="Connector 325"/>
          <p:cNvCxnSpPr/>
          <p:nvPr/>
        </p:nvCxnSpPr>
        <p:spPr>
          <a:xfrm>
            <a:off x="2691000" y="4071600"/>
            <a:ext cx="4690800" cy="0"/>
          </a:xfrm>
          <a:prstGeom prst="line">
            <a:avLst/>
          </a:prstGeom>
          <a:ln w="8255">
            <a:solidFill>
              <a:srgbClr val="9A825A"/>
            </a:solidFill>
          </a:ln>
          <a:effectLst/>
        </p:spPr>
      </p:cxnSp>
      <p:cxnSp>
        <p:nvCxnSpPr>
          <p:cNvPr id="327" name="Connector 326"/>
          <p:cNvCxnSpPr/>
          <p:nvPr/>
        </p:nvCxnSpPr>
        <p:spPr>
          <a:xfrm flipV="1">
            <a:off x="3243600" y="6957000"/>
            <a:ext cx="0" cy="837000"/>
          </a:xfrm>
          <a:prstGeom prst="line">
            <a:avLst/>
          </a:prstGeom>
          <a:ln w="4445">
            <a:solidFill>
              <a:srgbClr val="B7B0A2"/>
            </a:solidFill>
          </a:ln>
          <a:effectLst/>
        </p:spPr>
      </p:cxnSp>
      <p:cxnSp>
        <p:nvCxnSpPr>
          <p:cNvPr id="328" name="Connector 327"/>
          <p:cNvCxnSpPr/>
          <p:nvPr/>
        </p:nvCxnSpPr>
        <p:spPr>
          <a:xfrm>
            <a:off x="3168000" y="6993000"/>
            <a:ext cx="153000" cy="0"/>
          </a:xfrm>
          <a:prstGeom prst="line">
            <a:avLst/>
          </a:prstGeom>
          <a:ln w="8255">
            <a:solidFill>
              <a:srgbClr val="252725"/>
            </a:solidFill>
          </a:ln>
          <a:effectLst/>
        </p:spPr>
      </p:cxnSp>
      <p:sp>
        <p:nvSpPr>
          <p:cNvPr id="329" name="Rectangle 328"/>
          <p:cNvSpPr/>
          <p:nvPr/>
        </p:nvSpPr>
        <p:spPr>
          <a:xfrm>
            <a:off x="2916000" y="6735600"/>
            <a:ext cx="90000" cy="171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0" name="Rectangle 329"/>
          <p:cNvSpPr/>
          <p:nvPr/>
        </p:nvSpPr>
        <p:spPr>
          <a:xfrm>
            <a:off x="2940300" y="6703200"/>
            <a:ext cx="41400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31" name="Connector 330"/>
          <p:cNvCxnSpPr/>
          <p:nvPr/>
        </p:nvCxnSpPr>
        <p:spPr>
          <a:xfrm>
            <a:off x="2930400" y="6834780"/>
            <a:ext cx="612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332" name="Rectangle 331"/>
          <p:cNvSpPr/>
          <p:nvPr/>
        </p:nvSpPr>
        <p:spPr>
          <a:xfrm>
            <a:off x="3087000" y="6690600"/>
            <a:ext cx="111600" cy="216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3" name="Rectangle 332"/>
          <p:cNvSpPr/>
          <p:nvPr/>
        </p:nvSpPr>
        <p:spPr>
          <a:xfrm>
            <a:off x="3117132" y="6658200"/>
            <a:ext cx="51336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34" name="Connector 333"/>
          <p:cNvCxnSpPr/>
          <p:nvPr/>
        </p:nvCxnSpPr>
        <p:spPr>
          <a:xfrm>
            <a:off x="3101400" y="6815879"/>
            <a:ext cx="828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335" name="Rectangle 334"/>
          <p:cNvSpPr/>
          <p:nvPr/>
        </p:nvSpPr>
        <p:spPr>
          <a:xfrm>
            <a:off x="2916000" y="5277600"/>
            <a:ext cx="79200" cy="189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6" name="Rectangle 335"/>
          <p:cNvSpPr/>
          <p:nvPr/>
        </p:nvSpPr>
        <p:spPr>
          <a:xfrm>
            <a:off x="2937384" y="5245200"/>
            <a:ext cx="36432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37" name="Connector 336"/>
          <p:cNvCxnSpPr/>
          <p:nvPr/>
        </p:nvCxnSpPr>
        <p:spPr>
          <a:xfrm>
            <a:off x="2930400" y="5387220"/>
            <a:ext cx="504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338" name="Rectangle 337"/>
          <p:cNvSpPr/>
          <p:nvPr/>
        </p:nvSpPr>
        <p:spPr>
          <a:xfrm>
            <a:off x="3087000" y="5295600"/>
            <a:ext cx="90000" cy="171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9" name="Rectangle 338"/>
          <p:cNvSpPr/>
          <p:nvPr/>
        </p:nvSpPr>
        <p:spPr>
          <a:xfrm>
            <a:off x="3111300" y="5263200"/>
            <a:ext cx="41400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40" name="Connector 339"/>
          <p:cNvCxnSpPr/>
          <p:nvPr/>
        </p:nvCxnSpPr>
        <p:spPr>
          <a:xfrm>
            <a:off x="3101400" y="5394780"/>
            <a:ext cx="612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cxnSp>
        <p:nvCxnSpPr>
          <p:cNvPr id="341" name="Connector 340"/>
          <p:cNvCxnSpPr/>
          <p:nvPr/>
        </p:nvCxnSpPr>
        <p:spPr>
          <a:xfrm flipV="1">
            <a:off x="4438800" y="6957000"/>
            <a:ext cx="0" cy="837000"/>
          </a:xfrm>
          <a:prstGeom prst="line">
            <a:avLst/>
          </a:prstGeom>
          <a:ln w="4445">
            <a:solidFill>
              <a:srgbClr val="B7B0A2"/>
            </a:solidFill>
          </a:ln>
          <a:effectLst/>
        </p:spPr>
      </p:cxnSp>
      <p:cxnSp>
        <p:nvCxnSpPr>
          <p:cNvPr id="342" name="Connector 341"/>
          <p:cNvCxnSpPr/>
          <p:nvPr/>
        </p:nvCxnSpPr>
        <p:spPr>
          <a:xfrm>
            <a:off x="4363200" y="6993000"/>
            <a:ext cx="153000" cy="0"/>
          </a:xfrm>
          <a:prstGeom prst="line">
            <a:avLst/>
          </a:prstGeom>
          <a:ln w="8255">
            <a:solidFill>
              <a:srgbClr val="252725"/>
            </a:solidFill>
          </a:ln>
          <a:effectLst/>
        </p:spPr>
      </p:cxnSp>
      <p:sp>
        <p:nvSpPr>
          <p:cNvPr id="343" name="Rectangle 342"/>
          <p:cNvSpPr/>
          <p:nvPr/>
        </p:nvSpPr>
        <p:spPr>
          <a:xfrm>
            <a:off x="4111200" y="5970600"/>
            <a:ext cx="111600" cy="216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4" name="Rectangle 343"/>
          <p:cNvSpPr/>
          <p:nvPr/>
        </p:nvSpPr>
        <p:spPr>
          <a:xfrm>
            <a:off x="4141332" y="5938200"/>
            <a:ext cx="51336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45" name="Connector 344"/>
          <p:cNvCxnSpPr/>
          <p:nvPr/>
        </p:nvCxnSpPr>
        <p:spPr>
          <a:xfrm>
            <a:off x="4125600" y="6095879"/>
            <a:ext cx="828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346" name="Rectangle 345"/>
          <p:cNvSpPr/>
          <p:nvPr/>
        </p:nvSpPr>
        <p:spPr>
          <a:xfrm>
            <a:off x="4282200" y="5997600"/>
            <a:ext cx="79200" cy="189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7" name="Rectangle 346"/>
          <p:cNvSpPr/>
          <p:nvPr/>
        </p:nvSpPr>
        <p:spPr>
          <a:xfrm>
            <a:off x="4303584" y="5965200"/>
            <a:ext cx="36432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48" name="Connector 347"/>
          <p:cNvCxnSpPr/>
          <p:nvPr/>
        </p:nvCxnSpPr>
        <p:spPr>
          <a:xfrm>
            <a:off x="4296600" y="6107220"/>
            <a:ext cx="504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349" name="Rectangle 348"/>
          <p:cNvSpPr/>
          <p:nvPr/>
        </p:nvSpPr>
        <p:spPr>
          <a:xfrm>
            <a:off x="4111200" y="4575600"/>
            <a:ext cx="90000" cy="171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0" name="Rectangle 349"/>
          <p:cNvSpPr/>
          <p:nvPr/>
        </p:nvSpPr>
        <p:spPr>
          <a:xfrm>
            <a:off x="4135500" y="4543200"/>
            <a:ext cx="41400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51" name="Connector 350"/>
          <p:cNvCxnSpPr/>
          <p:nvPr/>
        </p:nvCxnSpPr>
        <p:spPr>
          <a:xfrm>
            <a:off x="4125600" y="4674780"/>
            <a:ext cx="612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352" name="Rectangle 351"/>
          <p:cNvSpPr/>
          <p:nvPr/>
        </p:nvSpPr>
        <p:spPr>
          <a:xfrm>
            <a:off x="4282200" y="4530600"/>
            <a:ext cx="111600" cy="216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3" name="Rectangle 352"/>
          <p:cNvSpPr/>
          <p:nvPr/>
        </p:nvSpPr>
        <p:spPr>
          <a:xfrm>
            <a:off x="4312332" y="4498200"/>
            <a:ext cx="51336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54" name="Connector 353"/>
          <p:cNvCxnSpPr/>
          <p:nvPr/>
        </p:nvCxnSpPr>
        <p:spPr>
          <a:xfrm>
            <a:off x="4296600" y="4655879"/>
            <a:ext cx="828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cxnSp>
        <p:nvCxnSpPr>
          <p:cNvPr id="355" name="Connector 354"/>
          <p:cNvCxnSpPr/>
          <p:nvPr/>
        </p:nvCxnSpPr>
        <p:spPr>
          <a:xfrm flipV="1">
            <a:off x="5634000" y="6957000"/>
            <a:ext cx="0" cy="837000"/>
          </a:xfrm>
          <a:prstGeom prst="line">
            <a:avLst/>
          </a:prstGeom>
          <a:ln w="4445">
            <a:solidFill>
              <a:srgbClr val="B7B0A2"/>
            </a:solidFill>
          </a:ln>
          <a:effectLst/>
        </p:spPr>
      </p:cxnSp>
      <p:cxnSp>
        <p:nvCxnSpPr>
          <p:cNvPr id="356" name="Connector 355"/>
          <p:cNvCxnSpPr/>
          <p:nvPr/>
        </p:nvCxnSpPr>
        <p:spPr>
          <a:xfrm>
            <a:off x="5558400" y="6993000"/>
            <a:ext cx="153000" cy="0"/>
          </a:xfrm>
          <a:prstGeom prst="line">
            <a:avLst/>
          </a:prstGeom>
          <a:ln w="8255">
            <a:solidFill>
              <a:srgbClr val="252725"/>
            </a:solidFill>
          </a:ln>
          <a:effectLst/>
        </p:spPr>
      </p:cxnSp>
      <p:sp>
        <p:nvSpPr>
          <p:cNvPr id="357" name="Rectangle 356"/>
          <p:cNvSpPr/>
          <p:nvPr/>
        </p:nvSpPr>
        <p:spPr>
          <a:xfrm>
            <a:off x="5306400" y="6735600"/>
            <a:ext cx="90000" cy="171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8" name="Rectangle 357"/>
          <p:cNvSpPr/>
          <p:nvPr/>
        </p:nvSpPr>
        <p:spPr>
          <a:xfrm>
            <a:off x="5330700" y="6703200"/>
            <a:ext cx="41400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59" name="Connector 358"/>
          <p:cNvCxnSpPr/>
          <p:nvPr/>
        </p:nvCxnSpPr>
        <p:spPr>
          <a:xfrm>
            <a:off x="5320800" y="6834780"/>
            <a:ext cx="612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360" name="Rectangle 359"/>
          <p:cNvSpPr/>
          <p:nvPr/>
        </p:nvSpPr>
        <p:spPr>
          <a:xfrm>
            <a:off x="5477400" y="6690600"/>
            <a:ext cx="111600" cy="216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1" name="Rectangle 360"/>
          <p:cNvSpPr/>
          <p:nvPr/>
        </p:nvSpPr>
        <p:spPr>
          <a:xfrm>
            <a:off x="5507532" y="6658200"/>
            <a:ext cx="51336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62" name="Connector 361"/>
          <p:cNvCxnSpPr/>
          <p:nvPr/>
        </p:nvCxnSpPr>
        <p:spPr>
          <a:xfrm>
            <a:off x="5491800" y="6815879"/>
            <a:ext cx="828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363" name="Rectangle 362"/>
          <p:cNvSpPr/>
          <p:nvPr/>
        </p:nvSpPr>
        <p:spPr>
          <a:xfrm>
            <a:off x="5306400" y="5277600"/>
            <a:ext cx="79200" cy="189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4" name="Rectangle 363"/>
          <p:cNvSpPr/>
          <p:nvPr/>
        </p:nvSpPr>
        <p:spPr>
          <a:xfrm>
            <a:off x="5327784" y="5245200"/>
            <a:ext cx="36432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65" name="Connector 364"/>
          <p:cNvCxnSpPr/>
          <p:nvPr/>
        </p:nvCxnSpPr>
        <p:spPr>
          <a:xfrm>
            <a:off x="5320800" y="5387220"/>
            <a:ext cx="504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366" name="Rectangle 365"/>
          <p:cNvSpPr/>
          <p:nvPr/>
        </p:nvSpPr>
        <p:spPr>
          <a:xfrm>
            <a:off x="5477400" y="5295600"/>
            <a:ext cx="90000" cy="171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7" name="Rectangle 366"/>
          <p:cNvSpPr/>
          <p:nvPr/>
        </p:nvSpPr>
        <p:spPr>
          <a:xfrm>
            <a:off x="5501700" y="5263200"/>
            <a:ext cx="41400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68" name="Connector 367"/>
          <p:cNvCxnSpPr/>
          <p:nvPr/>
        </p:nvCxnSpPr>
        <p:spPr>
          <a:xfrm>
            <a:off x="5491800" y="5394780"/>
            <a:ext cx="612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cxnSp>
        <p:nvCxnSpPr>
          <p:cNvPr id="369" name="Connector 368"/>
          <p:cNvCxnSpPr/>
          <p:nvPr/>
        </p:nvCxnSpPr>
        <p:spPr>
          <a:xfrm flipV="1">
            <a:off x="6829200" y="6957000"/>
            <a:ext cx="0" cy="837000"/>
          </a:xfrm>
          <a:prstGeom prst="line">
            <a:avLst/>
          </a:prstGeom>
          <a:ln w="4445">
            <a:solidFill>
              <a:srgbClr val="B7B0A2"/>
            </a:solidFill>
          </a:ln>
          <a:effectLst/>
        </p:spPr>
      </p:cxnSp>
      <p:cxnSp>
        <p:nvCxnSpPr>
          <p:cNvPr id="370" name="Connector 369"/>
          <p:cNvCxnSpPr/>
          <p:nvPr/>
        </p:nvCxnSpPr>
        <p:spPr>
          <a:xfrm>
            <a:off x="6753600" y="6993000"/>
            <a:ext cx="153000" cy="0"/>
          </a:xfrm>
          <a:prstGeom prst="line">
            <a:avLst/>
          </a:prstGeom>
          <a:ln w="8255">
            <a:solidFill>
              <a:srgbClr val="252725"/>
            </a:solidFill>
          </a:ln>
          <a:effectLst/>
        </p:spPr>
      </p:cxnSp>
      <p:sp>
        <p:nvSpPr>
          <p:cNvPr id="371" name="Rectangle 370"/>
          <p:cNvSpPr/>
          <p:nvPr/>
        </p:nvSpPr>
        <p:spPr>
          <a:xfrm>
            <a:off x="6501600" y="5970600"/>
            <a:ext cx="111600" cy="216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2" name="Rectangle 371"/>
          <p:cNvSpPr/>
          <p:nvPr/>
        </p:nvSpPr>
        <p:spPr>
          <a:xfrm>
            <a:off x="6531731" y="5938200"/>
            <a:ext cx="51336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73" name="Connector 372"/>
          <p:cNvCxnSpPr/>
          <p:nvPr/>
        </p:nvCxnSpPr>
        <p:spPr>
          <a:xfrm>
            <a:off x="6516000" y="6095879"/>
            <a:ext cx="828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374" name="Rectangle 373"/>
          <p:cNvSpPr/>
          <p:nvPr/>
        </p:nvSpPr>
        <p:spPr>
          <a:xfrm>
            <a:off x="6672600" y="5997600"/>
            <a:ext cx="79200" cy="189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5" name="Rectangle 374"/>
          <p:cNvSpPr/>
          <p:nvPr/>
        </p:nvSpPr>
        <p:spPr>
          <a:xfrm>
            <a:off x="6693984" y="5965200"/>
            <a:ext cx="36432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76" name="Connector 375"/>
          <p:cNvCxnSpPr/>
          <p:nvPr/>
        </p:nvCxnSpPr>
        <p:spPr>
          <a:xfrm>
            <a:off x="6687000" y="6107220"/>
            <a:ext cx="504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377" name="Rectangle 376"/>
          <p:cNvSpPr/>
          <p:nvPr/>
        </p:nvSpPr>
        <p:spPr>
          <a:xfrm>
            <a:off x="6501600" y="4575600"/>
            <a:ext cx="90000" cy="171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8" name="Rectangle 377"/>
          <p:cNvSpPr/>
          <p:nvPr/>
        </p:nvSpPr>
        <p:spPr>
          <a:xfrm>
            <a:off x="6525900" y="4543200"/>
            <a:ext cx="41400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79" name="Connector 378"/>
          <p:cNvCxnSpPr/>
          <p:nvPr/>
        </p:nvCxnSpPr>
        <p:spPr>
          <a:xfrm>
            <a:off x="6516000" y="4674780"/>
            <a:ext cx="612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380" name="Rectangle 379"/>
          <p:cNvSpPr/>
          <p:nvPr/>
        </p:nvSpPr>
        <p:spPr>
          <a:xfrm>
            <a:off x="6672600" y="4530600"/>
            <a:ext cx="111600" cy="216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1" name="Rectangle 380"/>
          <p:cNvSpPr/>
          <p:nvPr/>
        </p:nvSpPr>
        <p:spPr>
          <a:xfrm>
            <a:off x="6702731" y="4498200"/>
            <a:ext cx="51336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82" name="Connector 381"/>
          <p:cNvCxnSpPr/>
          <p:nvPr/>
        </p:nvCxnSpPr>
        <p:spPr>
          <a:xfrm>
            <a:off x="6687000" y="4655879"/>
            <a:ext cx="828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cxnSp>
        <p:nvCxnSpPr>
          <p:cNvPr id="383" name="Connector 382"/>
          <p:cNvCxnSpPr/>
          <p:nvPr/>
        </p:nvCxnSpPr>
        <p:spPr>
          <a:xfrm>
            <a:off x="2691000" y="7893000"/>
            <a:ext cx="4690800" cy="0"/>
          </a:xfrm>
          <a:prstGeom prst="line">
            <a:avLst/>
          </a:prstGeom>
          <a:ln w="12700">
            <a:solidFill>
              <a:srgbClr val="9A825A"/>
            </a:solidFill>
          </a:ln>
          <a:effectLst/>
        </p:spPr>
      </p:cxnSp>
      <p:cxnSp>
        <p:nvCxnSpPr>
          <p:cNvPr id="384" name="Connector 383"/>
          <p:cNvCxnSpPr/>
          <p:nvPr/>
        </p:nvCxnSpPr>
        <p:spPr>
          <a:xfrm>
            <a:off x="1836000" y="7992000"/>
            <a:ext cx="0" cy="612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385" name="Connector 384"/>
          <p:cNvCxnSpPr/>
          <p:nvPr/>
        </p:nvCxnSpPr>
        <p:spPr>
          <a:xfrm>
            <a:off x="7426800" y="7992000"/>
            <a:ext cx="0" cy="612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386" name="Connector 385"/>
          <p:cNvCxnSpPr/>
          <p:nvPr/>
        </p:nvCxnSpPr>
        <p:spPr>
          <a:xfrm>
            <a:off x="1836000" y="8604000"/>
            <a:ext cx="55908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387" name="Connector 386"/>
          <p:cNvCxnSpPr/>
          <p:nvPr/>
        </p:nvCxnSpPr>
        <p:spPr>
          <a:xfrm flipV="1">
            <a:off x="1800000" y="8568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388" name="Connector 387"/>
          <p:cNvCxnSpPr/>
          <p:nvPr/>
        </p:nvCxnSpPr>
        <p:spPr>
          <a:xfrm flipV="1">
            <a:off x="7390800" y="8568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389" name="TextBox 388"/>
          <p:cNvSpPr txBox="1"/>
          <p:nvPr/>
        </p:nvSpPr>
        <p:spPr>
          <a:xfrm>
            <a:off x="4091400" y="8424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3106</a:t>
            </a:r>
          </a:p>
        </p:txBody>
      </p:sp>
      <p:cxnSp>
        <p:nvCxnSpPr>
          <p:cNvPr id="390" name="Connector 389"/>
          <p:cNvCxnSpPr/>
          <p:nvPr/>
        </p:nvCxnSpPr>
        <p:spPr>
          <a:xfrm flipH="1">
            <a:off x="1296000" y="7992000"/>
            <a:ext cx="540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391" name="Connector 390"/>
          <p:cNvCxnSpPr/>
          <p:nvPr/>
        </p:nvCxnSpPr>
        <p:spPr>
          <a:xfrm flipH="1">
            <a:off x="1296000" y="3312000"/>
            <a:ext cx="540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392" name="Connector 391"/>
          <p:cNvCxnSpPr/>
          <p:nvPr/>
        </p:nvCxnSpPr>
        <p:spPr>
          <a:xfrm flipV="1">
            <a:off x="1296000" y="3312000"/>
            <a:ext cx="0" cy="4680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393" name="Connector 392"/>
          <p:cNvCxnSpPr/>
          <p:nvPr/>
        </p:nvCxnSpPr>
        <p:spPr>
          <a:xfrm flipV="1">
            <a:off x="1260000" y="795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394" name="Connector 393"/>
          <p:cNvCxnSpPr/>
          <p:nvPr/>
        </p:nvCxnSpPr>
        <p:spPr>
          <a:xfrm flipV="1">
            <a:off x="1260000" y="327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395" name="TextBox 394"/>
          <p:cNvSpPr txBox="1"/>
          <p:nvPr/>
        </p:nvSpPr>
        <p:spPr>
          <a:xfrm>
            <a:off x="864000" y="5652000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2600</a:t>
            </a:r>
          </a:p>
        </p:txBody>
      </p:sp>
      <p:cxnSp>
        <p:nvCxnSpPr>
          <p:cNvPr id="396" name="Connector 395"/>
          <p:cNvCxnSpPr/>
          <p:nvPr/>
        </p:nvCxnSpPr>
        <p:spPr>
          <a:xfrm>
            <a:off x="2646000" y="79920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397" name="Connector 396"/>
          <p:cNvCxnSpPr/>
          <p:nvPr/>
        </p:nvCxnSpPr>
        <p:spPr>
          <a:xfrm>
            <a:off x="3841200" y="79920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398" name="Connector 397"/>
          <p:cNvCxnSpPr/>
          <p:nvPr/>
        </p:nvCxnSpPr>
        <p:spPr>
          <a:xfrm>
            <a:off x="2646000" y="8280000"/>
            <a:ext cx="11952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399" name="Connector 398"/>
          <p:cNvCxnSpPr/>
          <p:nvPr/>
        </p:nvCxnSpPr>
        <p:spPr>
          <a:xfrm flipV="1">
            <a:off x="2610000" y="8244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00" name="Connector 399"/>
          <p:cNvCxnSpPr/>
          <p:nvPr/>
        </p:nvCxnSpPr>
        <p:spPr>
          <a:xfrm flipV="1">
            <a:off x="3805200" y="8244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401" name="TextBox 400"/>
          <p:cNvSpPr txBox="1"/>
          <p:nvPr/>
        </p:nvSpPr>
        <p:spPr>
          <a:xfrm>
            <a:off x="2703600" y="8100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664</a:t>
            </a:r>
          </a:p>
        </p:txBody>
      </p:sp>
      <p:cxnSp>
        <p:nvCxnSpPr>
          <p:cNvPr id="402" name="Connector 401"/>
          <p:cNvCxnSpPr/>
          <p:nvPr/>
        </p:nvCxnSpPr>
        <p:spPr>
          <a:xfrm>
            <a:off x="3841200" y="79920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03" name="Connector 402"/>
          <p:cNvCxnSpPr/>
          <p:nvPr/>
        </p:nvCxnSpPr>
        <p:spPr>
          <a:xfrm>
            <a:off x="5036400" y="79920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04" name="Connector 403"/>
          <p:cNvCxnSpPr/>
          <p:nvPr/>
        </p:nvCxnSpPr>
        <p:spPr>
          <a:xfrm>
            <a:off x="3841200" y="8280000"/>
            <a:ext cx="11952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05" name="Connector 404"/>
          <p:cNvCxnSpPr/>
          <p:nvPr/>
        </p:nvCxnSpPr>
        <p:spPr>
          <a:xfrm flipV="1">
            <a:off x="3805200" y="8244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06" name="Connector 405"/>
          <p:cNvCxnSpPr/>
          <p:nvPr/>
        </p:nvCxnSpPr>
        <p:spPr>
          <a:xfrm flipV="1">
            <a:off x="5000400" y="8244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407" name="TextBox 406"/>
          <p:cNvSpPr txBox="1"/>
          <p:nvPr/>
        </p:nvSpPr>
        <p:spPr>
          <a:xfrm>
            <a:off x="3898800" y="8100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664</a:t>
            </a:r>
          </a:p>
        </p:txBody>
      </p:sp>
      <p:cxnSp>
        <p:nvCxnSpPr>
          <p:cNvPr id="408" name="Connector 407"/>
          <p:cNvCxnSpPr/>
          <p:nvPr/>
        </p:nvCxnSpPr>
        <p:spPr>
          <a:xfrm>
            <a:off x="5036400" y="79920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09" name="Connector 408"/>
          <p:cNvCxnSpPr/>
          <p:nvPr/>
        </p:nvCxnSpPr>
        <p:spPr>
          <a:xfrm>
            <a:off x="6231600" y="79920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10" name="Connector 409"/>
          <p:cNvCxnSpPr/>
          <p:nvPr/>
        </p:nvCxnSpPr>
        <p:spPr>
          <a:xfrm>
            <a:off x="5036400" y="8280000"/>
            <a:ext cx="11952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11" name="Connector 410"/>
          <p:cNvCxnSpPr/>
          <p:nvPr/>
        </p:nvCxnSpPr>
        <p:spPr>
          <a:xfrm flipV="1">
            <a:off x="5000400" y="8244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12" name="Connector 411"/>
          <p:cNvCxnSpPr/>
          <p:nvPr/>
        </p:nvCxnSpPr>
        <p:spPr>
          <a:xfrm flipV="1">
            <a:off x="6195600" y="8244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413" name="TextBox 412"/>
          <p:cNvSpPr txBox="1"/>
          <p:nvPr/>
        </p:nvSpPr>
        <p:spPr>
          <a:xfrm>
            <a:off x="5094000" y="8100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664</a:t>
            </a:r>
          </a:p>
        </p:txBody>
      </p:sp>
      <p:cxnSp>
        <p:nvCxnSpPr>
          <p:cNvPr id="414" name="Connector 413"/>
          <p:cNvCxnSpPr/>
          <p:nvPr/>
        </p:nvCxnSpPr>
        <p:spPr>
          <a:xfrm>
            <a:off x="6231600" y="79920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15" name="Connector 414"/>
          <p:cNvCxnSpPr/>
          <p:nvPr/>
        </p:nvCxnSpPr>
        <p:spPr>
          <a:xfrm>
            <a:off x="7426800" y="79920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16" name="Connector 415"/>
          <p:cNvCxnSpPr/>
          <p:nvPr/>
        </p:nvCxnSpPr>
        <p:spPr>
          <a:xfrm>
            <a:off x="6231600" y="8280000"/>
            <a:ext cx="11952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17" name="Connector 416"/>
          <p:cNvCxnSpPr/>
          <p:nvPr/>
        </p:nvCxnSpPr>
        <p:spPr>
          <a:xfrm flipV="1">
            <a:off x="6195600" y="8244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18" name="Connector 417"/>
          <p:cNvCxnSpPr/>
          <p:nvPr/>
        </p:nvCxnSpPr>
        <p:spPr>
          <a:xfrm flipV="1">
            <a:off x="7390800" y="8244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419" name="TextBox 418"/>
          <p:cNvSpPr txBox="1"/>
          <p:nvPr/>
        </p:nvSpPr>
        <p:spPr>
          <a:xfrm>
            <a:off x="6289200" y="8100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664</a:t>
            </a:r>
          </a:p>
        </p:txBody>
      </p:sp>
      <p:cxnSp>
        <p:nvCxnSpPr>
          <p:cNvPr id="420" name="Connector 419"/>
          <p:cNvCxnSpPr/>
          <p:nvPr/>
        </p:nvCxnSpPr>
        <p:spPr>
          <a:xfrm>
            <a:off x="7426800" y="7992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21" name="Connector 420"/>
          <p:cNvCxnSpPr/>
          <p:nvPr/>
        </p:nvCxnSpPr>
        <p:spPr>
          <a:xfrm>
            <a:off x="7426800" y="7812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22" name="Connector 421"/>
          <p:cNvCxnSpPr/>
          <p:nvPr/>
        </p:nvCxnSpPr>
        <p:spPr>
          <a:xfrm flipV="1">
            <a:off x="7750800" y="7812000"/>
            <a:ext cx="0" cy="180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23" name="Connector 422"/>
          <p:cNvCxnSpPr/>
          <p:nvPr/>
        </p:nvCxnSpPr>
        <p:spPr>
          <a:xfrm flipV="1">
            <a:off x="7714800" y="795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24" name="Connector 423"/>
          <p:cNvCxnSpPr/>
          <p:nvPr/>
        </p:nvCxnSpPr>
        <p:spPr>
          <a:xfrm flipV="1">
            <a:off x="7714800" y="777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425" name="TextBox 424"/>
          <p:cNvSpPr txBox="1"/>
          <p:nvPr/>
        </p:nvSpPr>
        <p:spPr>
          <a:xfrm>
            <a:off x="7318800" y="7902000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100</a:t>
            </a:r>
          </a:p>
        </p:txBody>
      </p:sp>
      <p:cxnSp>
        <p:nvCxnSpPr>
          <p:cNvPr id="426" name="Connector 425"/>
          <p:cNvCxnSpPr/>
          <p:nvPr/>
        </p:nvCxnSpPr>
        <p:spPr>
          <a:xfrm>
            <a:off x="7426800" y="7812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27" name="Connector 426"/>
          <p:cNvCxnSpPr/>
          <p:nvPr/>
        </p:nvCxnSpPr>
        <p:spPr>
          <a:xfrm>
            <a:off x="7426800" y="6912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28" name="Connector 427"/>
          <p:cNvCxnSpPr/>
          <p:nvPr/>
        </p:nvCxnSpPr>
        <p:spPr>
          <a:xfrm flipV="1">
            <a:off x="7750800" y="6912000"/>
            <a:ext cx="0" cy="900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29" name="Connector 428"/>
          <p:cNvCxnSpPr/>
          <p:nvPr/>
        </p:nvCxnSpPr>
        <p:spPr>
          <a:xfrm flipV="1">
            <a:off x="7714800" y="777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30" name="Connector 429"/>
          <p:cNvCxnSpPr/>
          <p:nvPr/>
        </p:nvCxnSpPr>
        <p:spPr>
          <a:xfrm flipV="1">
            <a:off x="7714800" y="687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431" name="TextBox 430"/>
          <p:cNvSpPr txBox="1"/>
          <p:nvPr/>
        </p:nvSpPr>
        <p:spPr>
          <a:xfrm>
            <a:off x="7318800" y="7362000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500</a:t>
            </a:r>
          </a:p>
        </p:txBody>
      </p:sp>
      <p:cxnSp>
        <p:nvCxnSpPr>
          <p:cNvPr id="432" name="Connector 431"/>
          <p:cNvCxnSpPr/>
          <p:nvPr/>
        </p:nvCxnSpPr>
        <p:spPr>
          <a:xfrm>
            <a:off x="7426800" y="6912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33" name="Connector 432"/>
          <p:cNvCxnSpPr/>
          <p:nvPr/>
        </p:nvCxnSpPr>
        <p:spPr>
          <a:xfrm>
            <a:off x="7426800" y="6192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34" name="Connector 433"/>
          <p:cNvCxnSpPr/>
          <p:nvPr/>
        </p:nvCxnSpPr>
        <p:spPr>
          <a:xfrm flipV="1">
            <a:off x="7750800" y="6192000"/>
            <a:ext cx="0" cy="720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35" name="Connector 434"/>
          <p:cNvCxnSpPr/>
          <p:nvPr/>
        </p:nvCxnSpPr>
        <p:spPr>
          <a:xfrm flipV="1">
            <a:off x="7714800" y="687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36" name="Connector 435"/>
          <p:cNvCxnSpPr/>
          <p:nvPr/>
        </p:nvCxnSpPr>
        <p:spPr>
          <a:xfrm flipV="1">
            <a:off x="7714800" y="615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437" name="TextBox 436"/>
          <p:cNvSpPr txBox="1"/>
          <p:nvPr/>
        </p:nvSpPr>
        <p:spPr>
          <a:xfrm>
            <a:off x="7318800" y="6552000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400</a:t>
            </a:r>
          </a:p>
        </p:txBody>
      </p:sp>
      <p:cxnSp>
        <p:nvCxnSpPr>
          <p:cNvPr id="438" name="Connector 437"/>
          <p:cNvCxnSpPr/>
          <p:nvPr/>
        </p:nvCxnSpPr>
        <p:spPr>
          <a:xfrm>
            <a:off x="7426800" y="6192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39" name="Connector 438"/>
          <p:cNvCxnSpPr/>
          <p:nvPr/>
        </p:nvCxnSpPr>
        <p:spPr>
          <a:xfrm>
            <a:off x="7426800" y="5472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40" name="Connector 439"/>
          <p:cNvCxnSpPr/>
          <p:nvPr/>
        </p:nvCxnSpPr>
        <p:spPr>
          <a:xfrm flipV="1">
            <a:off x="7750800" y="5472000"/>
            <a:ext cx="0" cy="720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41" name="Connector 440"/>
          <p:cNvCxnSpPr/>
          <p:nvPr/>
        </p:nvCxnSpPr>
        <p:spPr>
          <a:xfrm flipV="1">
            <a:off x="7714800" y="615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42" name="Connector 441"/>
          <p:cNvCxnSpPr/>
          <p:nvPr/>
        </p:nvCxnSpPr>
        <p:spPr>
          <a:xfrm flipV="1">
            <a:off x="7714800" y="543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443" name="TextBox 442"/>
          <p:cNvSpPr txBox="1"/>
          <p:nvPr/>
        </p:nvSpPr>
        <p:spPr>
          <a:xfrm>
            <a:off x="7318800" y="5832000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400</a:t>
            </a:r>
          </a:p>
        </p:txBody>
      </p:sp>
      <p:cxnSp>
        <p:nvCxnSpPr>
          <p:cNvPr id="444" name="Connector 443"/>
          <p:cNvCxnSpPr/>
          <p:nvPr/>
        </p:nvCxnSpPr>
        <p:spPr>
          <a:xfrm>
            <a:off x="7426800" y="5472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45" name="Connector 444"/>
          <p:cNvCxnSpPr/>
          <p:nvPr/>
        </p:nvCxnSpPr>
        <p:spPr>
          <a:xfrm>
            <a:off x="7426800" y="4752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46" name="Connector 445"/>
          <p:cNvCxnSpPr/>
          <p:nvPr/>
        </p:nvCxnSpPr>
        <p:spPr>
          <a:xfrm flipV="1">
            <a:off x="7750800" y="4752000"/>
            <a:ext cx="0" cy="720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47" name="Connector 446"/>
          <p:cNvCxnSpPr/>
          <p:nvPr/>
        </p:nvCxnSpPr>
        <p:spPr>
          <a:xfrm flipV="1">
            <a:off x="7714800" y="543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48" name="Connector 447"/>
          <p:cNvCxnSpPr/>
          <p:nvPr/>
        </p:nvCxnSpPr>
        <p:spPr>
          <a:xfrm flipV="1">
            <a:off x="7714800" y="471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449" name="TextBox 448"/>
          <p:cNvSpPr txBox="1"/>
          <p:nvPr/>
        </p:nvSpPr>
        <p:spPr>
          <a:xfrm>
            <a:off x="7318800" y="5112000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400</a:t>
            </a:r>
          </a:p>
        </p:txBody>
      </p:sp>
      <p:cxnSp>
        <p:nvCxnSpPr>
          <p:cNvPr id="450" name="Connector 449"/>
          <p:cNvCxnSpPr/>
          <p:nvPr/>
        </p:nvCxnSpPr>
        <p:spPr>
          <a:xfrm>
            <a:off x="7426800" y="4752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51" name="Connector 450"/>
          <p:cNvCxnSpPr/>
          <p:nvPr/>
        </p:nvCxnSpPr>
        <p:spPr>
          <a:xfrm>
            <a:off x="7426800" y="4032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52" name="Connector 451"/>
          <p:cNvCxnSpPr/>
          <p:nvPr/>
        </p:nvCxnSpPr>
        <p:spPr>
          <a:xfrm flipV="1">
            <a:off x="7750800" y="4032000"/>
            <a:ext cx="0" cy="720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53" name="Connector 452"/>
          <p:cNvCxnSpPr/>
          <p:nvPr/>
        </p:nvCxnSpPr>
        <p:spPr>
          <a:xfrm flipV="1">
            <a:off x="7714800" y="471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54" name="Connector 453"/>
          <p:cNvCxnSpPr/>
          <p:nvPr/>
        </p:nvCxnSpPr>
        <p:spPr>
          <a:xfrm flipV="1">
            <a:off x="7714800" y="399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455" name="TextBox 454"/>
          <p:cNvSpPr txBox="1"/>
          <p:nvPr/>
        </p:nvSpPr>
        <p:spPr>
          <a:xfrm>
            <a:off x="7318800" y="4392000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400</a:t>
            </a:r>
          </a:p>
        </p:txBody>
      </p:sp>
      <p:cxnSp>
        <p:nvCxnSpPr>
          <p:cNvPr id="456" name="Connector 455"/>
          <p:cNvCxnSpPr/>
          <p:nvPr/>
        </p:nvCxnSpPr>
        <p:spPr>
          <a:xfrm>
            <a:off x="7426800" y="4032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57" name="Connector 456"/>
          <p:cNvCxnSpPr/>
          <p:nvPr/>
        </p:nvCxnSpPr>
        <p:spPr>
          <a:xfrm>
            <a:off x="7426800" y="3312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58" name="Connector 457"/>
          <p:cNvCxnSpPr/>
          <p:nvPr/>
        </p:nvCxnSpPr>
        <p:spPr>
          <a:xfrm flipV="1">
            <a:off x="7750800" y="3312000"/>
            <a:ext cx="0" cy="720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59" name="Connector 458"/>
          <p:cNvCxnSpPr/>
          <p:nvPr/>
        </p:nvCxnSpPr>
        <p:spPr>
          <a:xfrm flipV="1">
            <a:off x="7714800" y="399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60" name="Connector 459"/>
          <p:cNvCxnSpPr/>
          <p:nvPr/>
        </p:nvCxnSpPr>
        <p:spPr>
          <a:xfrm flipV="1">
            <a:off x="7714800" y="327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461" name="TextBox 460"/>
          <p:cNvSpPr txBox="1"/>
          <p:nvPr/>
        </p:nvSpPr>
        <p:spPr>
          <a:xfrm>
            <a:off x="7318800" y="3672000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400</a:t>
            </a:r>
          </a:p>
        </p:txBody>
      </p:sp>
      <p:cxnSp>
        <p:nvCxnSpPr>
          <p:cNvPr id="462" name="Connector 461"/>
          <p:cNvCxnSpPr/>
          <p:nvPr/>
        </p:nvCxnSpPr>
        <p:spPr>
          <a:xfrm flipV="1">
            <a:off x="5036400" y="3456000"/>
            <a:ext cx="3099600" cy="216000"/>
          </a:xfrm>
          <a:prstGeom prst="line">
            <a:avLst/>
          </a:prstGeom>
          <a:ln w="6985">
            <a:solidFill>
              <a:srgbClr val="737871"/>
            </a:solidFill>
          </a:ln>
          <a:effectLst/>
        </p:spPr>
      </p:cxnSp>
      <p:sp>
        <p:nvSpPr>
          <p:cNvPr id="463" name="TextBox 462"/>
          <p:cNvSpPr txBox="1"/>
          <p:nvPr/>
        </p:nvSpPr>
        <p:spPr>
          <a:xfrm>
            <a:off x="8136000" y="3528000"/>
            <a:ext cx="2052000" cy="50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252725"/>
                </a:solidFill>
                <a:latin typeface="Liberation Sans"/>
              </a:defRPr>
            </a:pPr>
            <a:r>
              <a:t>EXPANDED METAL MESH</a:t>
            </a:r>
          </a:p>
        </p:txBody>
      </p:sp>
      <p:cxnSp>
        <p:nvCxnSpPr>
          <p:cNvPr id="464" name="Connector 463"/>
          <p:cNvCxnSpPr/>
          <p:nvPr/>
        </p:nvCxnSpPr>
        <p:spPr>
          <a:xfrm flipV="1">
            <a:off x="6066000" y="5004000"/>
            <a:ext cx="2070000" cy="486000"/>
          </a:xfrm>
          <a:prstGeom prst="line">
            <a:avLst/>
          </a:prstGeom>
          <a:ln w="6985">
            <a:solidFill>
              <a:srgbClr val="737871"/>
            </a:solidFill>
          </a:ln>
          <a:effectLst/>
        </p:spPr>
      </p:cxnSp>
      <p:sp>
        <p:nvSpPr>
          <p:cNvPr id="465" name="TextBox 464"/>
          <p:cNvSpPr txBox="1"/>
          <p:nvPr/>
        </p:nvSpPr>
        <p:spPr>
          <a:xfrm>
            <a:off x="8136000" y="5076000"/>
            <a:ext cx="2052000" cy="50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252725"/>
                </a:solidFill>
                <a:latin typeface="Liberation Sans"/>
              </a:defRPr>
            </a:pPr>
            <a:r>
              <a:t>BLACK TRAY / WARM LED</a:t>
            </a:r>
          </a:p>
        </p:txBody>
      </p:sp>
      <p:cxnSp>
        <p:nvCxnSpPr>
          <p:cNvPr id="466" name="Connector 465"/>
          <p:cNvCxnSpPr/>
          <p:nvPr/>
        </p:nvCxnSpPr>
        <p:spPr>
          <a:xfrm flipV="1">
            <a:off x="5036400" y="7524000"/>
            <a:ext cx="3099600" cy="198000"/>
          </a:xfrm>
          <a:prstGeom prst="line">
            <a:avLst/>
          </a:prstGeom>
          <a:ln w="6985">
            <a:solidFill>
              <a:srgbClr val="737871"/>
            </a:solidFill>
          </a:ln>
          <a:effectLst/>
        </p:spPr>
      </p:cxnSp>
      <p:sp>
        <p:nvSpPr>
          <p:cNvPr id="467" name="TextBox 466"/>
          <p:cNvSpPr txBox="1"/>
          <p:nvPr/>
        </p:nvSpPr>
        <p:spPr>
          <a:xfrm>
            <a:off x="8136000" y="7596000"/>
            <a:ext cx="2052000" cy="50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252725"/>
                </a:solidFill>
                <a:latin typeface="Liberation Sans"/>
              </a:defRPr>
            </a:pPr>
            <a:r>
              <a:t>RECESSED PLINTH / BASE</a:t>
            </a:r>
          </a:p>
        </p:txBody>
      </p:sp>
      <p:sp>
        <p:nvSpPr>
          <p:cNvPr id="468" name="TextBox 467"/>
          <p:cNvSpPr txBox="1"/>
          <p:nvPr/>
        </p:nvSpPr>
        <p:spPr>
          <a:xfrm>
            <a:off x="792000" y="2196000"/>
            <a:ext cx="9360000" cy="32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9A825A"/>
                </a:solidFill>
                <a:latin typeface="Liberation Sans"/>
              </a:defRPr>
            </a:pPr>
            <a:r>
              <a:t>BLACK STEEL  /  NEUTRAL PPC  /  EXPANDED MESH  /  3000 K LED</a:t>
            </a:r>
          </a:p>
        </p:txBody>
      </p:sp>
      <p:sp>
        <p:nvSpPr>
          <p:cNvPr id="469" name="Rectangle 468"/>
          <p:cNvSpPr/>
          <p:nvPr/>
        </p:nvSpPr>
        <p:spPr>
          <a:xfrm>
            <a:off x="8424000" y="6638400"/>
            <a:ext cx="1800000" cy="216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0" name="Rectangle 469"/>
          <p:cNvSpPr/>
          <p:nvPr/>
        </p:nvSpPr>
        <p:spPr>
          <a:xfrm>
            <a:off x="10202400" y="6638400"/>
            <a:ext cx="21600" cy="18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1" name="Rectangle 470"/>
          <p:cNvSpPr/>
          <p:nvPr/>
        </p:nvSpPr>
        <p:spPr>
          <a:xfrm>
            <a:off x="8532000" y="6660000"/>
            <a:ext cx="144000" cy="144000"/>
          </a:xfrm>
          <a:prstGeom prst="rect">
            <a:avLst/>
          </a:prstGeom>
          <a:noFill/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72" name="Connector 471"/>
          <p:cNvCxnSpPr/>
          <p:nvPr/>
        </p:nvCxnSpPr>
        <p:spPr>
          <a:xfrm flipV="1">
            <a:off x="8424000" y="6422400"/>
            <a:ext cx="0" cy="216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73" name="Connector 472"/>
          <p:cNvCxnSpPr/>
          <p:nvPr/>
        </p:nvCxnSpPr>
        <p:spPr>
          <a:xfrm flipV="1">
            <a:off x="10224000" y="6422400"/>
            <a:ext cx="0" cy="216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74" name="Connector 473"/>
          <p:cNvCxnSpPr/>
          <p:nvPr/>
        </p:nvCxnSpPr>
        <p:spPr>
          <a:xfrm>
            <a:off x="8424000" y="6422400"/>
            <a:ext cx="180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75" name="Connector 474"/>
          <p:cNvCxnSpPr/>
          <p:nvPr/>
        </p:nvCxnSpPr>
        <p:spPr>
          <a:xfrm flipV="1">
            <a:off x="8388000" y="63864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76" name="Connector 475"/>
          <p:cNvCxnSpPr/>
          <p:nvPr/>
        </p:nvCxnSpPr>
        <p:spPr>
          <a:xfrm flipV="1">
            <a:off x="10188000" y="63864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477" name="TextBox 476"/>
          <p:cNvSpPr txBox="1"/>
          <p:nvPr/>
        </p:nvSpPr>
        <p:spPr>
          <a:xfrm>
            <a:off x="8784000" y="62424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250</a:t>
            </a:r>
          </a:p>
        </p:txBody>
      </p:sp>
      <p:sp>
        <p:nvSpPr>
          <p:cNvPr id="478" name="TextBox 477"/>
          <p:cNvSpPr txBox="1"/>
          <p:nvPr/>
        </p:nvSpPr>
        <p:spPr>
          <a:xfrm>
            <a:off x="8424000" y="6912000"/>
            <a:ext cx="1908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SHELF SECTION 1:5</a:t>
            </a:r>
          </a:p>
        </p:txBody>
      </p:sp>
      <p:sp>
        <p:nvSpPr>
          <p:cNvPr id="479" name="TextBox 478"/>
          <p:cNvSpPr txBox="1"/>
          <p:nvPr/>
        </p:nvSpPr>
        <p:spPr>
          <a:xfrm>
            <a:off x="8136000" y="7236000"/>
            <a:ext cx="2160000" cy="54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3 mm tray · 25 downstand</a:t>
            </a:r>
          </a:p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20 × 20 support · LED below</a:t>
            </a:r>
          </a:p>
        </p:txBody>
      </p:sp>
      <p:cxnSp>
        <p:nvCxnSpPr>
          <p:cNvPr id="480" name="Connector 479"/>
          <p:cNvCxnSpPr/>
          <p:nvPr/>
        </p:nvCxnSpPr>
        <p:spPr>
          <a:xfrm>
            <a:off x="1836000" y="9252000"/>
            <a:ext cx="1800000" cy="0"/>
          </a:xfrm>
          <a:prstGeom prst="line">
            <a:avLst/>
          </a:prstGeom>
          <a:ln w="19050">
            <a:solidFill>
              <a:srgbClr val="252725"/>
            </a:solidFill>
          </a:ln>
          <a:effectLst/>
        </p:spPr>
      </p:cxnSp>
      <p:cxnSp>
        <p:nvCxnSpPr>
          <p:cNvPr id="481" name="Connector 480"/>
          <p:cNvCxnSpPr/>
          <p:nvPr/>
        </p:nvCxnSpPr>
        <p:spPr>
          <a:xfrm>
            <a:off x="1836000" y="9216000"/>
            <a:ext cx="0" cy="7200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cxnSp>
        <p:nvCxnSpPr>
          <p:cNvPr id="482" name="Connector 481"/>
          <p:cNvCxnSpPr/>
          <p:nvPr/>
        </p:nvCxnSpPr>
        <p:spPr>
          <a:xfrm>
            <a:off x="2736000" y="9216000"/>
            <a:ext cx="0" cy="7200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cxnSp>
        <p:nvCxnSpPr>
          <p:cNvPr id="483" name="Connector 482"/>
          <p:cNvCxnSpPr/>
          <p:nvPr/>
        </p:nvCxnSpPr>
        <p:spPr>
          <a:xfrm>
            <a:off x="3636000" y="9216000"/>
            <a:ext cx="0" cy="7200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sp>
        <p:nvSpPr>
          <p:cNvPr id="484" name="TextBox 483"/>
          <p:cNvSpPr txBox="1"/>
          <p:nvPr/>
        </p:nvSpPr>
        <p:spPr>
          <a:xfrm>
            <a:off x="1836000" y="9324000"/>
            <a:ext cx="2340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700" b="0">
                <a:solidFill>
                  <a:srgbClr val="737871"/>
                </a:solidFill>
                <a:latin typeface="Liberation Sans"/>
              </a:defRPr>
            </a:pPr>
            <a:r>
              <a:t>0                         1000 mm   |   1:20</a:t>
            </a:r>
          </a:p>
        </p:txBody>
      </p:sp>
      <p:sp>
        <p:nvSpPr>
          <p:cNvPr id="485" name="TextBox 484"/>
          <p:cNvSpPr txBox="1"/>
          <p:nvPr/>
        </p:nvSpPr>
        <p:spPr>
          <a:xfrm>
            <a:off x="4212000" y="8964000"/>
            <a:ext cx="6120000" cy="432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750" b="0">
                <a:solidFill>
                  <a:srgbClr val="737871"/>
                </a:solidFill>
                <a:latin typeface="Liberation Sans"/>
              </a:defRPr>
            </a:pPr>
            <a:r>
              <a:t>INDICATIVE BOTTLES · NOT A STOCK / CAPACITY SCHEDULE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360000"/>
            <a:ext cx="10620000" cy="216000"/>
          </a:xfrm>
          <a:prstGeom prst="rect">
            <a:avLst/>
          </a:prstGeom>
          <a:noFill/>
          <a:effectLst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9A825A"/>
                </a:solidFill>
                <a:latin typeface="Liberation Sans"/>
              </a:defRPr>
            </a:pPr>
            <a:r>
              <a:t>BORN FRAGRANCE  /  ARCHITECTURE + INTERIOR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720000"/>
            <a:ext cx="11880000" cy="504000"/>
          </a:xfrm>
          <a:prstGeom prst="rect">
            <a:avLst/>
          </a:prstGeom>
          <a:noFill/>
          <a:effectLst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300" b="0">
                <a:solidFill>
                  <a:srgbClr val="252725"/>
                </a:solidFill>
                <a:latin typeface="Liberation Serif"/>
              </a:defRPr>
            </a:pPr>
            <a:r>
              <a:t>Right display / internal elevation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1296000"/>
            <a:ext cx="12420000" cy="288000"/>
          </a:xfrm>
          <a:prstGeom prst="rect">
            <a:avLst/>
          </a:prstGeom>
          <a:noFill/>
          <a:effectLst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737871"/>
                </a:solidFill>
                <a:latin typeface="Liberation Sans"/>
              </a:defRPr>
            </a:pPr>
            <a:r>
              <a:t>Developed display elevation · interfaces + material codes · bottles indicative only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40000" y="468000"/>
            <a:ext cx="1368000" cy="619671"/>
          </a:xfrm>
          <a:prstGeom prst="rect">
            <a:avLst/>
          </a:prstGeom>
          <a:effectLst/>
          <a:effectLst/>
        </p:spPr>
      </p:pic>
      <p:cxnSp>
        <p:nvCxnSpPr>
          <p:cNvPr id="6" name="Connector 5"/>
          <p:cNvCxnSpPr/>
          <p:nvPr/>
        </p:nvCxnSpPr>
        <p:spPr>
          <a:xfrm>
            <a:off x="540000" y="1728000"/>
            <a:ext cx="14040000" cy="0"/>
          </a:xfrm>
          <a:prstGeom prst="line">
            <a:avLst/>
          </a:prstGeom>
          <a:ln w="8890">
            <a:solidFill>
              <a:srgbClr val="9A825A"/>
            </a:solidFill>
          </a:ln>
          <a:effectLst/>
          <a:effectLst/>
        </p:spPr>
      </p:cxnSp>
      <p:cxnSp>
        <p:nvCxnSpPr>
          <p:cNvPr id="7" name="Connector 6"/>
          <p:cNvCxnSpPr/>
          <p:nvPr/>
        </p:nvCxnSpPr>
        <p:spPr>
          <a:xfrm>
            <a:off x="540000" y="9792000"/>
            <a:ext cx="14040000" cy="0"/>
          </a:xfrm>
          <a:prstGeom prst="line">
            <a:avLst/>
          </a:prstGeom>
          <a:ln w="8890">
            <a:solidFill>
              <a:srgbClr val="9A825A"/>
            </a:solidFill>
          </a:ln>
          <a:effectLst/>
          <a:effectLst/>
        </p:spPr>
      </p:cxnSp>
      <p:sp>
        <p:nvSpPr>
          <p:cNvPr id="8" name="TextBox 7"/>
          <p:cNvSpPr txBox="1"/>
          <p:nvPr/>
        </p:nvSpPr>
        <p:spPr>
          <a:xfrm>
            <a:off x="540000" y="10008000"/>
            <a:ext cx="7128000" cy="360000"/>
          </a:xfrm>
          <a:prstGeom prst="rect">
            <a:avLst/>
          </a:prstGeom>
          <a:noFill/>
          <a:effectLst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750" b="0">
                <a:solidFill>
                  <a:srgbClr val="737871"/>
                </a:solidFill>
                <a:latin typeface="Liberation Sans"/>
              </a:defRPr>
            </a:pPr>
            <a:r>
              <a:t>FOR COORDINATION  ·  SITE ITEMS OPEN  ·  REV D
06 OCT 2026  /  SOURCE REV A</a:t>
            </a:r>
          </a:p>
          <a:p>
            <a:pPr>
              <a:spcAft>
                <a:spcPts val="400"/>
              </a:spcAft>
              <a:defRPr sz="750" b="0">
                <a:solidFill>
                  <a:srgbClr val="737871"/>
                </a:solidFill>
                <a:latin typeface="Liberation Sans"/>
              </a:defRPr>
            </a:pPr>
            <a:r>
              <a:t>06 OCT 2026  /  SOURCE REV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04000" y="10008000"/>
            <a:ext cx="5220000" cy="360000"/>
          </a:xfrm>
          <a:prstGeom prst="rect">
            <a:avLst/>
          </a:prstGeom>
          <a:noFill/>
          <a:effectLst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750" b="0">
                <a:solidFill>
                  <a:srgbClr val="737871"/>
                </a:solidFill>
                <a:latin typeface="Liberation Sans"/>
              </a:defRPr>
            </a:pPr>
            <a:r>
              <a:t>1:20 @ A3  ·  DIMENSIONS mm</a:t>
            </a:r>
          </a:p>
          <a:p>
            <a:pPr>
              <a:spcAft>
                <a:spcPts val="400"/>
              </a:spcAft>
              <a:defRPr sz="750" b="0">
                <a:solidFill>
                  <a:srgbClr val="737871"/>
                </a:solidFill>
                <a:latin typeface="Liberation Sans"/>
              </a:defRPr>
            </a:pPr>
            <a:r>
              <a:t>SPEC SNAPSHOT eeccbde1cd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392000" y="10008000"/>
            <a:ext cx="1152000" cy="288000"/>
          </a:xfrm>
          <a:prstGeom prst="rect">
            <a:avLst/>
          </a:prstGeom>
          <a:noFill/>
          <a:effectLst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252725"/>
                </a:solidFill>
                <a:latin typeface="Liberation Sans"/>
              </a:defRPr>
            </a:pPr>
            <a:r>
              <a:t>AP-09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08000" y="2088000"/>
            <a:ext cx="3564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9A825A"/>
                </a:solidFill>
                <a:latin typeface="Liberation Sans"/>
              </a:defRPr>
            </a:pPr>
            <a:r>
              <a:t>STEEL FRAME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08000" y="2448000"/>
            <a:ext cx="3528000" cy="122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25 × 25 × 1.6 main SHS; 20 × 20 × 1.6 secondary supports. 664 module is not a fabrication cut size.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08000" y="3852000"/>
            <a:ext cx="3564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9A825A"/>
                </a:solidFill>
                <a:latin typeface="Liberation Sans"/>
              </a:defRPr>
            </a:pPr>
            <a:r>
              <a:t>SHELF + LIGHT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08000" y="4212000"/>
            <a:ext cx="3528000" cy="122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3 mm tray / 25 downstand / 250 depth. Concealed 3000 K LED behind front edge; see section inset.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08000" y="5616000"/>
            <a:ext cx="3564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9A825A"/>
                </a:solidFill>
                <a:latin typeface="Liberation Sans"/>
              </a:defRPr>
            </a:pPr>
            <a:r>
              <a:t>BASE + MESH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08000" y="5976000"/>
            <a:ext cx="3528000" cy="122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600 base includes 100 recessed plinth. 1.5 PPC doors. Mesh at 2200–2600; approximate 20 × 40 diamonds.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08000" y="7380000"/>
            <a:ext cx="3564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9A825A"/>
                </a:solidFill>
                <a:latin typeface="Liberation Sans"/>
              </a:defRPr>
            </a:pPr>
            <a:r>
              <a:t>INDICATIVE CONTENT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08000" y="7740000"/>
            <a:ext cx="3528000" cy="122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Fragrance silhouettes show scale and use. Fixings and cable routing #16 remain open. The solid column return has street-facing displays around the corner.</a:t>
            </a:r>
          </a:p>
        </p:txBody>
      </p:sp>
      <p:sp>
        <p:nvSpPr>
          <p:cNvPr id="19" name="GEOM:side-envelope"/>
          <p:cNvSpPr/>
          <p:nvPr/>
        </p:nvSpPr>
        <p:spPr>
          <a:xfrm>
            <a:off x="1836000" y="3312000"/>
            <a:ext cx="5590800" cy="4680000"/>
          </a:xfrm>
          <a:prstGeom prst="rect">
            <a:avLst/>
          </a:prstGeom>
          <a:solidFill>
            <a:srgbClr val="F1EBE0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616800" y="3312000"/>
            <a:ext cx="810000" cy="4680000"/>
          </a:xfrm>
          <a:prstGeom prst="rect">
            <a:avLst/>
          </a:prstGeom>
          <a:solidFill>
            <a:srgbClr val="DDD5C6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661800" y="3357000"/>
            <a:ext cx="720000" cy="4590000"/>
          </a:xfrm>
          <a:prstGeom prst="rect">
            <a:avLst/>
          </a:prstGeom>
          <a:noFill/>
          <a:ln w="8890">
            <a:solidFill>
              <a:srgbClr val="73787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616800" y="3312000"/>
            <a:ext cx="45000" cy="468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81800" y="3312000"/>
            <a:ext cx="45000" cy="468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15800" y="4932000"/>
            <a:ext cx="684000" cy="432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700" b="0">
                <a:solidFill>
                  <a:srgbClr val="737871"/>
                </a:solidFill>
                <a:latin typeface="Liberation Sans"/>
              </a:defRPr>
            </a:pPr>
            <a:r>
              <a:t>SOLID</a:t>
            </a:r>
          </a:p>
          <a:p>
            <a:pPr>
              <a:spcAft>
                <a:spcPts val="400"/>
              </a:spcAft>
              <a:defRPr sz="700" b="0">
                <a:solidFill>
                  <a:srgbClr val="737871"/>
                </a:solidFill>
                <a:latin typeface="Liberation Sans"/>
              </a:defRPr>
            </a:pPr>
            <a:r>
              <a:t>COLUMN</a:t>
            </a:r>
          </a:p>
          <a:p>
            <a:pPr>
              <a:spcAft>
                <a:spcPts val="400"/>
              </a:spcAft>
              <a:defRPr sz="700" b="0">
                <a:solidFill>
                  <a:srgbClr val="737871"/>
                </a:solidFill>
                <a:latin typeface="Liberation Sans"/>
              </a:defRPr>
            </a:pPr>
            <a:r>
              <a:t>RETURN</a:t>
            </a:r>
          </a:p>
          <a:p>
            <a:pPr>
              <a:spcAft>
                <a:spcPts val="400"/>
              </a:spcAft>
              <a:defRPr sz="700" b="0">
                <a:solidFill>
                  <a:srgbClr val="737871"/>
                </a:solidFill>
                <a:latin typeface="Liberation Sans"/>
              </a:defRPr>
            </a:pPr>
          </a:p>
          <a:p>
            <a:pPr>
              <a:spcAft>
                <a:spcPts val="400"/>
              </a:spcAft>
              <a:defRPr sz="700" b="0">
                <a:solidFill>
                  <a:srgbClr val="737871"/>
                </a:solidFill>
                <a:latin typeface="Liberation Sans"/>
              </a:defRPr>
            </a:pPr>
            <a:r>
              <a:t>DISPLAY</a:t>
            </a:r>
          </a:p>
          <a:p>
            <a:pPr>
              <a:spcAft>
                <a:spcPts val="400"/>
              </a:spcAft>
              <a:defRPr sz="700" b="0">
                <a:solidFill>
                  <a:srgbClr val="737871"/>
                </a:solidFill>
                <a:latin typeface="Liberation Sans"/>
              </a:defRPr>
            </a:pPr>
            <a:r>
              <a:t>FACES</a:t>
            </a:r>
          </a:p>
          <a:p>
            <a:pPr>
              <a:spcAft>
                <a:spcPts val="400"/>
              </a:spcAft>
              <a:defRPr sz="700" b="0">
                <a:solidFill>
                  <a:srgbClr val="737871"/>
                </a:solidFill>
                <a:latin typeface="Liberation Sans"/>
              </a:defRPr>
            </a:pPr>
            <a:r>
              <a:t>STREET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36000" y="7812000"/>
            <a:ext cx="4780800" cy="180000"/>
          </a:xfrm>
          <a:prstGeom prst="rect">
            <a:avLst/>
          </a:prstGeom>
          <a:solidFill>
            <a:srgbClr val="51534E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836000" y="6912000"/>
            <a:ext cx="4780800" cy="900000"/>
          </a:xfrm>
          <a:prstGeom prst="rect">
            <a:avLst/>
          </a:prstGeom>
          <a:solidFill>
            <a:srgbClr val="DED8CD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836000" y="3312000"/>
            <a:ext cx="4780800" cy="720000"/>
          </a:xfrm>
          <a:prstGeom prst="rect">
            <a:avLst/>
          </a:prstGeom>
          <a:solidFill>
            <a:srgbClr val="D3CCBD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 flipV="1">
            <a:off x="1836000" y="3312000"/>
            <a:ext cx="36000" cy="72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9" name="Connector 28"/>
          <p:cNvCxnSpPr/>
          <p:nvPr/>
        </p:nvCxnSpPr>
        <p:spPr>
          <a:xfrm>
            <a:off x="1836000" y="3960000"/>
            <a:ext cx="36000" cy="72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0" name="Connector 29"/>
          <p:cNvCxnSpPr/>
          <p:nvPr/>
        </p:nvCxnSpPr>
        <p:spPr>
          <a:xfrm flipV="1">
            <a:off x="1836000" y="3312000"/>
            <a:ext cx="72000" cy="144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1" name="Connector 30"/>
          <p:cNvCxnSpPr/>
          <p:nvPr/>
        </p:nvCxnSpPr>
        <p:spPr>
          <a:xfrm>
            <a:off x="1836000" y="3888000"/>
            <a:ext cx="72000" cy="144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2" name="Connector 31"/>
          <p:cNvCxnSpPr/>
          <p:nvPr/>
        </p:nvCxnSpPr>
        <p:spPr>
          <a:xfrm flipV="1">
            <a:off x="1836000" y="3312000"/>
            <a:ext cx="108000" cy="216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3" name="Connector 32"/>
          <p:cNvCxnSpPr/>
          <p:nvPr/>
        </p:nvCxnSpPr>
        <p:spPr>
          <a:xfrm>
            <a:off x="1836000" y="3816000"/>
            <a:ext cx="108000" cy="216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4" name="Connector 33"/>
          <p:cNvCxnSpPr/>
          <p:nvPr/>
        </p:nvCxnSpPr>
        <p:spPr>
          <a:xfrm flipV="1">
            <a:off x="1836000" y="3312000"/>
            <a:ext cx="144000" cy="288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5" name="Connector 34"/>
          <p:cNvCxnSpPr/>
          <p:nvPr/>
        </p:nvCxnSpPr>
        <p:spPr>
          <a:xfrm>
            <a:off x="1836000" y="3744000"/>
            <a:ext cx="144000" cy="288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6" name="Connector 35"/>
          <p:cNvCxnSpPr/>
          <p:nvPr/>
        </p:nvCxnSpPr>
        <p:spPr>
          <a:xfrm flipV="1">
            <a:off x="1836000" y="3312000"/>
            <a:ext cx="180000" cy="36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7" name="Connector 36"/>
          <p:cNvCxnSpPr/>
          <p:nvPr/>
        </p:nvCxnSpPr>
        <p:spPr>
          <a:xfrm>
            <a:off x="1836000" y="3672000"/>
            <a:ext cx="180000" cy="36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8" name="Connector 37"/>
          <p:cNvCxnSpPr/>
          <p:nvPr/>
        </p:nvCxnSpPr>
        <p:spPr>
          <a:xfrm flipV="1">
            <a:off x="1836000" y="3312000"/>
            <a:ext cx="216000" cy="432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9" name="Connector 38"/>
          <p:cNvCxnSpPr/>
          <p:nvPr/>
        </p:nvCxnSpPr>
        <p:spPr>
          <a:xfrm>
            <a:off x="1836000" y="3600000"/>
            <a:ext cx="216000" cy="432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40" name="Connector 39"/>
          <p:cNvCxnSpPr/>
          <p:nvPr/>
        </p:nvCxnSpPr>
        <p:spPr>
          <a:xfrm flipV="1">
            <a:off x="1836000" y="3312000"/>
            <a:ext cx="252000" cy="504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41" name="Connector 40"/>
          <p:cNvCxnSpPr/>
          <p:nvPr/>
        </p:nvCxnSpPr>
        <p:spPr>
          <a:xfrm>
            <a:off x="1836000" y="3528000"/>
            <a:ext cx="252000" cy="504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42" name="Connector 41"/>
          <p:cNvCxnSpPr/>
          <p:nvPr/>
        </p:nvCxnSpPr>
        <p:spPr>
          <a:xfrm flipV="1">
            <a:off x="1836000" y="3312000"/>
            <a:ext cx="288000" cy="576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43" name="Connector 42"/>
          <p:cNvCxnSpPr/>
          <p:nvPr/>
        </p:nvCxnSpPr>
        <p:spPr>
          <a:xfrm>
            <a:off x="1836000" y="3456000"/>
            <a:ext cx="288000" cy="576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44" name="Connector 43"/>
          <p:cNvCxnSpPr/>
          <p:nvPr/>
        </p:nvCxnSpPr>
        <p:spPr>
          <a:xfrm flipV="1">
            <a:off x="1836000" y="3312000"/>
            <a:ext cx="324000" cy="648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45" name="Connector 44"/>
          <p:cNvCxnSpPr/>
          <p:nvPr/>
        </p:nvCxnSpPr>
        <p:spPr>
          <a:xfrm>
            <a:off x="1836000" y="3384000"/>
            <a:ext cx="324000" cy="648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46" name="Connector 45"/>
          <p:cNvCxnSpPr/>
          <p:nvPr/>
        </p:nvCxnSpPr>
        <p:spPr>
          <a:xfrm flipV="1">
            <a:off x="183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47" name="Connector 46"/>
          <p:cNvCxnSpPr/>
          <p:nvPr/>
        </p:nvCxnSpPr>
        <p:spPr>
          <a:xfrm>
            <a:off x="183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48" name="Connector 47"/>
          <p:cNvCxnSpPr/>
          <p:nvPr/>
        </p:nvCxnSpPr>
        <p:spPr>
          <a:xfrm flipV="1">
            <a:off x="187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49" name="Connector 48"/>
          <p:cNvCxnSpPr/>
          <p:nvPr/>
        </p:nvCxnSpPr>
        <p:spPr>
          <a:xfrm>
            <a:off x="187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50" name="Connector 49"/>
          <p:cNvCxnSpPr/>
          <p:nvPr/>
        </p:nvCxnSpPr>
        <p:spPr>
          <a:xfrm flipV="1">
            <a:off x="190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51" name="Connector 50"/>
          <p:cNvCxnSpPr/>
          <p:nvPr/>
        </p:nvCxnSpPr>
        <p:spPr>
          <a:xfrm>
            <a:off x="190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52" name="Connector 51"/>
          <p:cNvCxnSpPr/>
          <p:nvPr/>
        </p:nvCxnSpPr>
        <p:spPr>
          <a:xfrm flipV="1">
            <a:off x="194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53" name="Connector 52"/>
          <p:cNvCxnSpPr/>
          <p:nvPr/>
        </p:nvCxnSpPr>
        <p:spPr>
          <a:xfrm>
            <a:off x="194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54" name="Connector 53"/>
          <p:cNvCxnSpPr/>
          <p:nvPr/>
        </p:nvCxnSpPr>
        <p:spPr>
          <a:xfrm flipV="1">
            <a:off x="198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55" name="Connector 54"/>
          <p:cNvCxnSpPr/>
          <p:nvPr/>
        </p:nvCxnSpPr>
        <p:spPr>
          <a:xfrm>
            <a:off x="198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56" name="Connector 55"/>
          <p:cNvCxnSpPr/>
          <p:nvPr/>
        </p:nvCxnSpPr>
        <p:spPr>
          <a:xfrm flipV="1">
            <a:off x="201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57" name="Connector 56"/>
          <p:cNvCxnSpPr/>
          <p:nvPr/>
        </p:nvCxnSpPr>
        <p:spPr>
          <a:xfrm>
            <a:off x="201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58" name="Connector 57"/>
          <p:cNvCxnSpPr/>
          <p:nvPr/>
        </p:nvCxnSpPr>
        <p:spPr>
          <a:xfrm flipV="1">
            <a:off x="205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59" name="Connector 58"/>
          <p:cNvCxnSpPr/>
          <p:nvPr/>
        </p:nvCxnSpPr>
        <p:spPr>
          <a:xfrm>
            <a:off x="205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60" name="Connector 59"/>
          <p:cNvCxnSpPr/>
          <p:nvPr/>
        </p:nvCxnSpPr>
        <p:spPr>
          <a:xfrm flipV="1">
            <a:off x="208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61" name="Connector 60"/>
          <p:cNvCxnSpPr/>
          <p:nvPr/>
        </p:nvCxnSpPr>
        <p:spPr>
          <a:xfrm>
            <a:off x="208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62" name="Connector 61"/>
          <p:cNvCxnSpPr/>
          <p:nvPr/>
        </p:nvCxnSpPr>
        <p:spPr>
          <a:xfrm flipV="1">
            <a:off x="212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63" name="Connector 62"/>
          <p:cNvCxnSpPr/>
          <p:nvPr/>
        </p:nvCxnSpPr>
        <p:spPr>
          <a:xfrm>
            <a:off x="212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64" name="Connector 63"/>
          <p:cNvCxnSpPr/>
          <p:nvPr/>
        </p:nvCxnSpPr>
        <p:spPr>
          <a:xfrm flipV="1">
            <a:off x="216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65" name="Connector 64"/>
          <p:cNvCxnSpPr/>
          <p:nvPr/>
        </p:nvCxnSpPr>
        <p:spPr>
          <a:xfrm>
            <a:off x="216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66" name="Connector 65"/>
          <p:cNvCxnSpPr/>
          <p:nvPr/>
        </p:nvCxnSpPr>
        <p:spPr>
          <a:xfrm flipV="1">
            <a:off x="219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67" name="Connector 66"/>
          <p:cNvCxnSpPr/>
          <p:nvPr/>
        </p:nvCxnSpPr>
        <p:spPr>
          <a:xfrm>
            <a:off x="219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68" name="Connector 67"/>
          <p:cNvCxnSpPr/>
          <p:nvPr/>
        </p:nvCxnSpPr>
        <p:spPr>
          <a:xfrm flipV="1">
            <a:off x="223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69" name="Connector 68"/>
          <p:cNvCxnSpPr/>
          <p:nvPr/>
        </p:nvCxnSpPr>
        <p:spPr>
          <a:xfrm>
            <a:off x="223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70" name="Connector 69"/>
          <p:cNvCxnSpPr/>
          <p:nvPr/>
        </p:nvCxnSpPr>
        <p:spPr>
          <a:xfrm flipV="1">
            <a:off x="226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71" name="Connector 70"/>
          <p:cNvCxnSpPr/>
          <p:nvPr/>
        </p:nvCxnSpPr>
        <p:spPr>
          <a:xfrm>
            <a:off x="226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72" name="Connector 71"/>
          <p:cNvCxnSpPr/>
          <p:nvPr/>
        </p:nvCxnSpPr>
        <p:spPr>
          <a:xfrm flipV="1">
            <a:off x="230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73" name="Connector 72"/>
          <p:cNvCxnSpPr/>
          <p:nvPr/>
        </p:nvCxnSpPr>
        <p:spPr>
          <a:xfrm>
            <a:off x="230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74" name="Connector 73"/>
          <p:cNvCxnSpPr/>
          <p:nvPr/>
        </p:nvCxnSpPr>
        <p:spPr>
          <a:xfrm flipV="1">
            <a:off x="234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75" name="Connector 74"/>
          <p:cNvCxnSpPr/>
          <p:nvPr/>
        </p:nvCxnSpPr>
        <p:spPr>
          <a:xfrm>
            <a:off x="234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76" name="Connector 75"/>
          <p:cNvCxnSpPr/>
          <p:nvPr/>
        </p:nvCxnSpPr>
        <p:spPr>
          <a:xfrm flipV="1">
            <a:off x="237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77" name="Connector 76"/>
          <p:cNvCxnSpPr/>
          <p:nvPr/>
        </p:nvCxnSpPr>
        <p:spPr>
          <a:xfrm>
            <a:off x="237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78" name="Connector 77"/>
          <p:cNvCxnSpPr/>
          <p:nvPr/>
        </p:nvCxnSpPr>
        <p:spPr>
          <a:xfrm flipV="1">
            <a:off x="241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79" name="Connector 78"/>
          <p:cNvCxnSpPr/>
          <p:nvPr/>
        </p:nvCxnSpPr>
        <p:spPr>
          <a:xfrm>
            <a:off x="241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80" name="Connector 79"/>
          <p:cNvCxnSpPr/>
          <p:nvPr/>
        </p:nvCxnSpPr>
        <p:spPr>
          <a:xfrm flipV="1">
            <a:off x="244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81" name="Connector 80"/>
          <p:cNvCxnSpPr/>
          <p:nvPr/>
        </p:nvCxnSpPr>
        <p:spPr>
          <a:xfrm>
            <a:off x="244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82" name="Connector 81"/>
          <p:cNvCxnSpPr/>
          <p:nvPr/>
        </p:nvCxnSpPr>
        <p:spPr>
          <a:xfrm flipV="1">
            <a:off x="248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83" name="Connector 82"/>
          <p:cNvCxnSpPr/>
          <p:nvPr/>
        </p:nvCxnSpPr>
        <p:spPr>
          <a:xfrm>
            <a:off x="248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84" name="Connector 83"/>
          <p:cNvCxnSpPr/>
          <p:nvPr/>
        </p:nvCxnSpPr>
        <p:spPr>
          <a:xfrm flipV="1">
            <a:off x="252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85" name="Connector 84"/>
          <p:cNvCxnSpPr/>
          <p:nvPr/>
        </p:nvCxnSpPr>
        <p:spPr>
          <a:xfrm>
            <a:off x="252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86" name="Connector 85"/>
          <p:cNvCxnSpPr/>
          <p:nvPr/>
        </p:nvCxnSpPr>
        <p:spPr>
          <a:xfrm flipV="1">
            <a:off x="255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87" name="Connector 86"/>
          <p:cNvCxnSpPr/>
          <p:nvPr/>
        </p:nvCxnSpPr>
        <p:spPr>
          <a:xfrm>
            <a:off x="255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88" name="Connector 87"/>
          <p:cNvCxnSpPr/>
          <p:nvPr/>
        </p:nvCxnSpPr>
        <p:spPr>
          <a:xfrm flipV="1">
            <a:off x="259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89" name="Connector 88"/>
          <p:cNvCxnSpPr/>
          <p:nvPr/>
        </p:nvCxnSpPr>
        <p:spPr>
          <a:xfrm>
            <a:off x="259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90" name="Connector 89"/>
          <p:cNvCxnSpPr/>
          <p:nvPr/>
        </p:nvCxnSpPr>
        <p:spPr>
          <a:xfrm flipV="1">
            <a:off x="262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91" name="Connector 90"/>
          <p:cNvCxnSpPr/>
          <p:nvPr/>
        </p:nvCxnSpPr>
        <p:spPr>
          <a:xfrm>
            <a:off x="262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92" name="Connector 91"/>
          <p:cNvCxnSpPr/>
          <p:nvPr/>
        </p:nvCxnSpPr>
        <p:spPr>
          <a:xfrm flipV="1">
            <a:off x="266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93" name="Connector 92"/>
          <p:cNvCxnSpPr/>
          <p:nvPr/>
        </p:nvCxnSpPr>
        <p:spPr>
          <a:xfrm>
            <a:off x="266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94" name="Connector 93"/>
          <p:cNvCxnSpPr/>
          <p:nvPr/>
        </p:nvCxnSpPr>
        <p:spPr>
          <a:xfrm flipV="1">
            <a:off x="270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95" name="Connector 94"/>
          <p:cNvCxnSpPr/>
          <p:nvPr/>
        </p:nvCxnSpPr>
        <p:spPr>
          <a:xfrm>
            <a:off x="270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96" name="Connector 95"/>
          <p:cNvCxnSpPr/>
          <p:nvPr/>
        </p:nvCxnSpPr>
        <p:spPr>
          <a:xfrm flipV="1">
            <a:off x="273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97" name="Connector 96"/>
          <p:cNvCxnSpPr/>
          <p:nvPr/>
        </p:nvCxnSpPr>
        <p:spPr>
          <a:xfrm>
            <a:off x="273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98" name="Connector 97"/>
          <p:cNvCxnSpPr/>
          <p:nvPr/>
        </p:nvCxnSpPr>
        <p:spPr>
          <a:xfrm flipV="1">
            <a:off x="277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99" name="Connector 98"/>
          <p:cNvCxnSpPr/>
          <p:nvPr/>
        </p:nvCxnSpPr>
        <p:spPr>
          <a:xfrm>
            <a:off x="277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00" name="Connector 99"/>
          <p:cNvCxnSpPr/>
          <p:nvPr/>
        </p:nvCxnSpPr>
        <p:spPr>
          <a:xfrm flipV="1">
            <a:off x="280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01" name="Connector 100"/>
          <p:cNvCxnSpPr/>
          <p:nvPr/>
        </p:nvCxnSpPr>
        <p:spPr>
          <a:xfrm>
            <a:off x="280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02" name="Connector 101"/>
          <p:cNvCxnSpPr/>
          <p:nvPr/>
        </p:nvCxnSpPr>
        <p:spPr>
          <a:xfrm flipV="1">
            <a:off x="284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03" name="Connector 102"/>
          <p:cNvCxnSpPr/>
          <p:nvPr/>
        </p:nvCxnSpPr>
        <p:spPr>
          <a:xfrm>
            <a:off x="284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04" name="Connector 103"/>
          <p:cNvCxnSpPr/>
          <p:nvPr/>
        </p:nvCxnSpPr>
        <p:spPr>
          <a:xfrm flipV="1">
            <a:off x="288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05" name="Connector 104"/>
          <p:cNvCxnSpPr/>
          <p:nvPr/>
        </p:nvCxnSpPr>
        <p:spPr>
          <a:xfrm>
            <a:off x="288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06" name="Connector 105"/>
          <p:cNvCxnSpPr/>
          <p:nvPr/>
        </p:nvCxnSpPr>
        <p:spPr>
          <a:xfrm flipV="1">
            <a:off x="291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07" name="Connector 106"/>
          <p:cNvCxnSpPr/>
          <p:nvPr/>
        </p:nvCxnSpPr>
        <p:spPr>
          <a:xfrm>
            <a:off x="291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08" name="Connector 107"/>
          <p:cNvCxnSpPr/>
          <p:nvPr/>
        </p:nvCxnSpPr>
        <p:spPr>
          <a:xfrm flipV="1">
            <a:off x="295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09" name="Connector 108"/>
          <p:cNvCxnSpPr/>
          <p:nvPr/>
        </p:nvCxnSpPr>
        <p:spPr>
          <a:xfrm>
            <a:off x="295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10" name="Connector 109"/>
          <p:cNvCxnSpPr/>
          <p:nvPr/>
        </p:nvCxnSpPr>
        <p:spPr>
          <a:xfrm flipV="1">
            <a:off x="298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11" name="Connector 110"/>
          <p:cNvCxnSpPr/>
          <p:nvPr/>
        </p:nvCxnSpPr>
        <p:spPr>
          <a:xfrm>
            <a:off x="298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12" name="Connector 111"/>
          <p:cNvCxnSpPr/>
          <p:nvPr/>
        </p:nvCxnSpPr>
        <p:spPr>
          <a:xfrm flipV="1">
            <a:off x="302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13" name="Connector 112"/>
          <p:cNvCxnSpPr/>
          <p:nvPr/>
        </p:nvCxnSpPr>
        <p:spPr>
          <a:xfrm>
            <a:off x="302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14" name="Connector 113"/>
          <p:cNvCxnSpPr/>
          <p:nvPr/>
        </p:nvCxnSpPr>
        <p:spPr>
          <a:xfrm flipV="1">
            <a:off x="306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15" name="Connector 114"/>
          <p:cNvCxnSpPr/>
          <p:nvPr/>
        </p:nvCxnSpPr>
        <p:spPr>
          <a:xfrm>
            <a:off x="306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16" name="Connector 115"/>
          <p:cNvCxnSpPr/>
          <p:nvPr/>
        </p:nvCxnSpPr>
        <p:spPr>
          <a:xfrm flipV="1">
            <a:off x="309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17" name="Connector 116"/>
          <p:cNvCxnSpPr/>
          <p:nvPr/>
        </p:nvCxnSpPr>
        <p:spPr>
          <a:xfrm>
            <a:off x="309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18" name="Connector 117"/>
          <p:cNvCxnSpPr/>
          <p:nvPr/>
        </p:nvCxnSpPr>
        <p:spPr>
          <a:xfrm flipV="1">
            <a:off x="313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19" name="Connector 118"/>
          <p:cNvCxnSpPr/>
          <p:nvPr/>
        </p:nvCxnSpPr>
        <p:spPr>
          <a:xfrm>
            <a:off x="313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20" name="Connector 119"/>
          <p:cNvCxnSpPr/>
          <p:nvPr/>
        </p:nvCxnSpPr>
        <p:spPr>
          <a:xfrm flipV="1">
            <a:off x="316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21" name="Connector 120"/>
          <p:cNvCxnSpPr/>
          <p:nvPr/>
        </p:nvCxnSpPr>
        <p:spPr>
          <a:xfrm>
            <a:off x="316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22" name="Connector 121"/>
          <p:cNvCxnSpPr/>
          <p:nvPr/>
        </p:nvCxnSpPr>
        <p:spPr>
          <a:xfrm flipV="1">
            <a:off x="320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23" name="Connector 122"/>
          <p:cNvCxnSpPr/>
          <p:nvPr/>
        </p:nvCxnSpPr>
        <p:spPr>
          <a:xfrm>
            <a:off x="320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24" name="Connector 123"/>
          <p:cNvCxnSpPr/>
          <p:nvPr/>
        </p:nvCxnSpPr>
        <p:spPr>
          <a:xfrm flipV="1">
            <a:off x="324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25" name="Connector 124"/>
          <p:cNvCxnSpPr/>
          <p:nvPr/>
        </p:nvCxnSpPr>
        <p:spPr>
          <a:xfrm>
            <a:off x="324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26" name="Connector 125"/>
          <p:cNvCxnSpPr/>
          <p:nvPr/>
        </p:nvCxnSpPr>
        <p:spPr>
          <a:xfrm flipV="1">
            <a:off x="327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27" name="Connector 126"/>
          <p:cNvCxnSpPr/>
          <p:nvPr/>
        </p:nvCxnSpPr>
        <p:spPr>
          <a:xfrm>
            <a:off x="327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28" name="Connector 127"/>
          <p:cNvCxnSpPr/>
          <p:nvPr/>
        </p:nvCxnSpPr>
        <p:spPr>
          <a:xfrm flipV="1">
            <a:off x="331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29" name="Connector 128"/>
          <p:cNvCxnSpPr/>
          <p:nvPr/>
        </p:nvCxnSpPr>
        <p:spPr>
          <a:xfrm>
            <a:off x="331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30" name="Connector 129"/>
          <p:cNvCxnSpPr/>
          <p:nvPr/>
        </p:nvCxnSpPr>
        <p:spPr>
          <a:xfrm flipV="1">
            <a:off x="334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31" name="Connector 130"/>
          <p:cNvCxnSpPr/>
          <p:nvPr/>
        </p:nvCxnSpPr>
        <p:spPr>
          <a:xfrm>
            <a:off x="334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32" name="Connector 131"/>
          <p:cNvCxnSpPr/>
          <p:nvPr/>
        </p:nvCxnSpPr>
        <p:spPr>
          <a:xfrm flipV="1">
            <a:off x="338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33" name="Connector 132"/>
          <p:cNvCxnSpPr/>
          <p:nvPr/>
        </p:nvCxnSpPr>
        <p:spPr>
          <a:xfrm>
            <a:off x="338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34" name="Connector 133"/>
          <p:cNvCxnSpPr/>
          <p:nvPr/>
        </p:nvCxnSpPr>
        <p:spPr>
          <a:xfrm flipV="1">
            <a:off x="342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35" name="Connector 134"/>
          <p:cNvCxnSpPr/>
          <p:nvPr/>
        </p:nvCxnSpPr>
        <p:spPr>
          <a:xfrm>
            <a:off x="342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36" name="Connector 135"/>
          <p:cNvCxnSpPr/>
          <p:nvPr/>
        </p:nvCxnSpPr>
        <p:spPr>
          <a:xfrm flipV="1">
            <a:off x="345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37" name="Connector 136"/>
          <p:cNvCxnSpPr/>
          <p:nvPr/>
        </p:nvCxnSpPr>
        <p:spPr>
          <a:xfrm>
            <a:off x="345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38" name="Connector 137"/>
          <p:cNvCxnSpPr/>
          <p:nvPr/>
        </p:nvCxnSpPr>
        <p:spPr>
          <a:xfrm flipV="1">
            <a:off x="349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39" name="Connector 138"/>
          <p:cNvCxnSpPr/>
          <p:nvPr/>
        </p:nvCxnSpPr>
        <p:spPr>
          <a:xfrm>
            <a:off x="349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40" name="Connector 139"/>
          <p:cNvCxnSpPr/>
          <p:nvPr/>
        </p:nvCxnSpPr>
        <p:spPr>
          <a:xfrm flipV="1">
            <a:off x="352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41" name="Connector 140"/>
          <p:cNvCxnSpPr/>
          <p:nvPr/>
        </p:nvCxnSpPr>
        <p:spPr>
          <a:xfrm>
            <a:off x="352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42" name="Connector 141"/>
          <p:cNvCxnSpPr/>
          <p:nvPr/>
        </p:nvCxnSpPr>
        <p:spPr>
          <a:xfrm flipV="1">
            <a:off x="356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43" name="Connector 142"/>
          <p:cNvCxnSpPr/>
          <p:nvPr/>
        </p:nvCxnSpPr>
        <p:spPr>
          <a:xfrm>
            <a:off x="356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44" name="Connector 143"/>
          <p:cNvCxnSpPr/>
          <p:nvPr/>
        </p:nvCxnSpPr>
        <p:spPr>
          <a:xfrm flipV="1">
            <a:off x="360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45" name="Connector 144"/>
          <p:cNvCxnSpPr/>
          <p:nvPr/>
        </p:nvCxnSpPr>
        <p:spPr>
          <a:xfrm>
            <a:off x="360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46" name="Connector 145"/>
          <p:cNvCxnSpPr/>
          <p:nvPr/>
        </p:nvCxnSpPr>
        <p:spPr>
          <a:xfrm flipV="1">
            <a:off x="363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47" name="Connector 146"/>
          <p:cNvCxnSpPr/>
          <p:nvPr/>
        </p:nvCxnSpPr>
        <p:spPr>
          <a:xfrm>
            <a:off x="363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48" name="Connector 147"/>
          <p:cNvCxnSpPr/>
          <p:nvPr/>
        </p:nvCxnSpPr>
        <p:spPr>
          <a:xfrm flipV="1">
            <a:off x="367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49" name="Connector 148"/>
          <p:cNvCxnSpPr/>
          <p:nvPr/>
        </p:nvCxnSpPr>
        <p:spPr>
          <a:xfrm>
            <a:off x="367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50" name="Connector 149"/>
          <p:cNvCxnSpPr/>
          <p:nvPr/>
        </p:nvCxnSpPr>
        <p:spPr>
          <a:xfrm flipV="1">
            <a:off x="370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51" name="Connector 150"/>
          <p:cNvCxnSpPr/>
          <p:nvPr/>
        </p:nvCxnSpPr>
        <p:spPr>
          <a:xfrm>
            <a:off x="370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52" name="Connector 151"/>
          <p:cNvCxnSpPr/>
          <p:nvPr/>
        </p:nvCxnSpPr>
        <p:spPr>
          <a:xfrm flipV="1">
            <a:off x="374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53" name="Connector 152"/>
          <p:cNvCxnSpPr/>
          <p:nvPr/>
        </p:nvCxnSpPr>
        <p:spPr>
          <a:xfrm>
            <a:off x="374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54" name="Connector 153"/>
          <p:cNvCxnSpPr/>
          <p:nvPr/>
        </p:nvCxnSpPr>
        <p:spPr>
          <a:xfrm flipV="1">
            <a:off x="378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55" name="Connector 154"/>
          <p:cNvCxnSpPr/>
          <p:nvPr/>
        </p:nvCxnSpPr>
        <p:spPr>
          <a:xfrm>
            <a:off x="378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56" name="Connector 155"/>
          <p:cNvCxnSpPr/>
          <p:nvPr/>
        </p:nvCxnSpPr>
        <p:spPr>
          <a:xfrm flipV="1">
            <a:off x="381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57" name="Connector 156"/>
          <p:cNvCxnSpPr/>
          <p:nvPr/>
        </p:nvCxnSpPr>
        <p:spPr>
          <a:xfrm>
            <a:off x="381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58" name="Connector 157"/>
          <p:cNvCxnSpPr/>
          <p:nvPr/>
        </p:nvCxnSpPr>
        <p:spPr>
          <a:xfrm flipV="1">
            <a:off x="385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59" name="Connector 158"/>
          <p:cNvCxnSpPr/>
          <p:nvPr/>
        </p:nvCxnSpPr>
        <p:spPr>
          <a:xfrm>
            <a:off x="385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60" name="Connector 159"/>
          <p:cNvCxnSpPr/>
          <p:nvPr/>
        </p:nvCxnSpPr>
        <p:spPr>
          <a:xfrm flipV="1">
            <a:off x="388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61" name="Connector 160"/>
          <p:cNvCxnSpPr/>
          <p:nvPr/>
        </p:nvCxnSpPr>
        <p:spPr>
          <a:xfrm>
            <a:off x="388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62" name="Connector 161"/>
          <p:cNvCxnSpPr/>
          <p:nvPr/>
        </p:nvCxnSpPr>
        <p:spPr>
          <a:xfrm flipV="1">
            <a:off x="392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63" name="Connector 162"/>
          <p:cNvCxnSpPr/>
          <p:nvPr/>
        </p:nvCxnSpPr>
        <p:spPr>
          <a:xfrm>
            <a:off x="392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64" name="Connector 163"/>
          <p:cNvCxnSpPr/>
          <p:nvPr/>
        </p:nvCxnSpPr>
        <p:spPr>
          <a:xfrm flipV="1">
            <a:off x="396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65" name="Connector 164"/>
          <p:cNvCxnSpPr/>
          <p:nvPr/>
        </p:nvCxnSpPr>
        <p:spPr>
          <a:xfrm>
            <a:off x="396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66" name="Connector 165"/>
          <p:cNvCxnSpPr/>
          <p:nvPr/>
        </p:nvCxnSpPr>
        <p:spPr>
          <a:xfrm flipV="1">
            <a:off x="399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67" name="Connector 166"/>
          <p:cNvCxnSpPr/>
          <p:nvPr/>
        </p:nvCxnSpPr>
        <p:spPr>
          <a:xfrm>
            <a:off x="399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68" name="Connector 167"/>
          <p:cNvCxnSpPr/>
          <p:nvPr/>
        </p:nvCxnSpPr>
        <p:spPr>
          <a:xfrm flipV="1">
            <a:off x="403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69" name="Connector 168"/>
          <p:cNvCxnSpPr/>
          <p:nvPr/>
        </p:nvCxnSpPr>
        <p:spPr>
          <a:xfrm>
            <a:off x="403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70" name="Connector 169"/>
          <p:cNvCxnSpPr/>
          <p:nvPr/>
        </p:nvCxnSpPr>
        <p:spPr>
          <a:xfrm flipV="1">
            <a:off x="406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71" name="Connector 170"/>
          <p:cNvCxnSpPr/>
          <p:nvPr/>
        </p:nvCxnSpPr>
        <p:spPr>
          <a:xfrm>
            <a:off x="406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72" name="Connector 171"/>
          <p:cNvCxnSpPr/>
          <p:nvPr/>
        </p:nvCxnSpPr>
        <p:spPr>
          <a:xfrm flipV="1">
            <a:off x="410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73" name="Connector 172"/>
          <p:cNvCxnSpPr/>
          <p:nvPr/>
        </p:nvCxnSpPr>
        <p:spPr>
          <a:xfrm>
            <a:off x="410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74" name="Connector 173"/>
          <p:cNvCxnSpPr/>
          <p:nvPr/>
        </p:nvCxnSpPr>
        <p:spPr>
          <a:xfrm flipV="1">
            <a:off x="414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75" name="Connector 174"/>
          <p:cNvCxnSpPr/>
          <p:nvPr/>
        </p:nvCxnSpPr>
        <p:spPr>
          <a:xfrm>
            <a:off x="414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76" name="Connector 175"/>
          <p:cNvCxnSpPr/>
          <p:nvPr/>
        </p:nvCxnSpPr>
        <p:spPr>
          <a:xfrm flipV="1">
            <a:off x="417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77" name="Connector 176"/>
          <p:cNvCxnSpPr/>
          <p:nvPr/>
        </p:nvCxnSpPr>
        <p:spPr>
          <a:xfrm>
            <a:off x="417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78" name="Connector 177"/>
          <p:cNvCxnSpPr/>
          <p:nvPr/>
        </p:nvCxnSpPr>
        <p:spPr>
          <a:xfrm flipV="1">
            <a:off x="421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79" name="Connector 178"/>
          <p:cNvCxnSpPr/>
          <p:nvPr/>
        </p:nvCxnSpPr>
        <p:spPr>
          <a:xfrm>
            <a:off x="421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80" name="Connector 179"/>
          <p:cNvCxnSpPr/>
          <p:nvPr/>
        </p:nvCxnSpPr>
        <p:spPr>
          <a:xfrm flipV="1">
            <a:off x="424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81" name="Connector 180"/>
          <p:cNvCxnSpPr/>
          <p:nvPr/>
        </p:nvCxnSpPr>
        <p:spPr>
          <a:xfrm>
            <a:off x="424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82" name="Connector 181"/>
          <p:cNvCxnSpPr/>
          <p:nvPr/>
        </p:nvCxnSpPr>
        <p:spPr>
          <a:xfrm flipV="1">
            <a:off x="428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83" name="Connector 182"/>
          <p:cNvCxnSpPr/>
          <p:nvPr/>
        </p:nvCxnSpPr>
        <p:spPr>
          <a:xfrm>
            <a:off x="428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84" name="Connector 183"/>
          <p:cNvCxnSpPr/>
          <p:nvPr/>
        </p:nvCxnSpPr>
        <p:spPr>
          <a:xfrm flipV="1">
            <a:off x="432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85" name="Connector 184"/>
          <p:cNvCxnSpPr/>
          <p:nvPr/>
        </p:nvCxnSpPr>
        <p:spPr>
          <a:xfrm>
            <a:off x="432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86" name="Connector 185"/>
          <p:cNvCxnSpPr/>
          <p:nvPr/>
        </p:nvCxnSpPr>
        <p:spPr>
          <a:xfrm flipV="1">
            <a:off x="435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87" name="Connector 186"/>
          <p:cNvCxnSpPr/>
          <p:nvPr/>
        </p:nvCxnSpPr>
        <p:spPr>
          <a:xfrm>
            <a:off x="435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88" name="Connector 187"/>
          <p:cNvCxnSpPr/>
          <p:nvPr/>
        </p:nvCxnSpPr>
        <p:spPr>
          <a:xfrm flipV="1">
            <a:off x="439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89" name="Connector 188"/>
          <p:cNvCxnSpPr/>
          <p:nvPr/>
        </p:nvCxnSpPr>
        <p:spPr>
          <a:xfrm>
            <a:off x="439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90" name="Connector 189"/>
          <p:cNvCxnSpPr/>
          <p:nvPr/>
        </p:nvCxnSpPr>
        <p:spPr>
          <a:xfrm flipV="1">
            <a:off x="442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91" name="Connector 190"/>
          <p:cNvCxnSpPr/>
          <p:nvPr/>
        </p:nvCxnSpPr>
        <p:spPr>
          <a:xfrm>
            <a:off x="442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92" name="Connector 191"/>
          <p:cNvCxnSpPr/>
          <p:nvPr/>
        </p:nvCxnSpPr>
        <p:spPr>
          <a:xfrm flipV="1">
            <a:off x="446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93" name="Connector 192"/>
          <p:cNvCxnSpPr/>
          <p:nvPr/>
        </p:nvCxnSpPr>
        <p:spPr>
          <a:xfrm>
            <a:off x="446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94" name="Connector 193"/>
          <p:cNvCxnSpPr/>
          <p:nvPr/>
        </p:nvCxnSpPr>
        <p:spPr>
          <a:xfrm flipV="1">
            <a:off x="450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95" name="Connector 194"/>
          <p:cNvCxnSpPr/>
          <p:nvPr/>
        </p:nvCxnSpPr>
        <p:spPr>
          <a:xfrm>
            <a:off x="450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96" name="Connector 195"/>
          <p:cNvCxnSpPr/>
          <p:nvPr/>
        </p:nvCxnSpPr>
        <p:spPr>
          <a:xfrm flipV="1">
            <a:off x="453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97" name="Connector 196"/>
          <p:cNvCxnSpPr/>
          <p:nvPr/>
        </p:nvCxnSpPr>
        <p:spPr>
          <a:xfrm>
            <a:off x="453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98" name="Connector 197"/>
          <p:cNvCxnSpPr/>
          <p:nvPr/>
        </p:nvCxnSpPr>
        <p:spPr>
          <a:xfrm flipV="1">
            <a:off x="457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99" name="Connector 198"/>
          <p:cNvCxnSpPr/>
          <p:nvPr/>
        </p:nvCxnSpPr>
        <p:spPr>
          <a:xfrm>
            <a:off x="457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00" name="Connector 199"/>
          <p:cNvCxnSpPr/>
          <p:nvPr/>
        </p:nvCxnSpPr>
        <p:spPr>
          <a:xfrm flipV="1">
            <a:off x="460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01" name="Connector 200"/>
          <p:cNvCxnSpPr/>
          <p:nvPr/>
        </p:nvCxnSpPr>
        <p:spPr>
          <a:xfrm>
            <a:off x="460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02" name="Connector 201"/>
          <p:cNvCxnSpPr/>
          <p:nvPr/>
        </p:nvCxnSpPr>
        <p:spPr>
          <a:xfrm flipV="1">
            <a:off x="464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03" name="Connector 202"/>
          <p:cNvCxnSpPr/>
          <p:nvPr/>
        </p:nvCxnSpPr>
        <p:spPr>
          <a:xfrm>
            <a:off x="464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04" name="Connector 203"/>
          <p:cNvCxnSpPr/>
          <p:nvPr/>
        </p:nvCxnSpPr>
        <p:spPr>
          <a:xfrm flipV="1">
            <a:off x="468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05" name="Connector 204"/>
          <p:cNvCxnSpPr/>
          <p:nvPr/>
        </p:nvCxnSpPr>
        <p:spPr>
          <a:xfrm>
            <a:off x="468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06" name="Connector 205"/>
          <p:cNvCxnSpPr/>
          <p:nvPr/>
        </p:nvCxnSpPr>
        <p:spPr>
          <a:xfrm flipV="1">
            <a:off x="471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07" name="Connector 206"/>
          <p:cNvCxnSpPr/>
          <p:nvPr/>
        </p:nvCxnSpPr>
        <p:spPr>
          <a:xfrm>
            <a:off x="471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08" name="Connector 207"/>
          <p:cNvCxnSpPr/>
          <p:nvPr/>
        </p:nvCxnSpPr>
        <p:spPr>
          <a:xfrm flipV="1">
            <a:off x="475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09" name="Connector 208"/>
          <p:cNvCxnSpPr/>
          <p:nvPr/>
        </p:nvCxnSpPr>
        <p:spPr>
          <a:xfrm>
            <a:off x="475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10" name="Connector 209"/>
          <p:cNvCxnSpPr/>
          <p:nvPr/>
        </p:nvCxnSpPr>
        <p:spPr>
          <a:xfrm flipV="1">
            <a:off x="478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11" name="Connector 210"/>
          <p:cNvCxnSpPr/>
          <p:nvPr/>
        </p:nvCxnSpPr>
        <p:spPr>
          <a:xfrm>
            <a:off x="478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12" name="Connector 211"/>
          <p:cNvCxnSpPr/>
          <p:nvPr/>
        </p:nvCxnSpPr>
        <p:spPr>
          <a:xfrm flipV="1">
            <a:off x="482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13" name="Connector 212"/>
          <p:cNvCxnSpPr/>
          <p:nvPr/>
        </p:nvCxnSpPr>
        <p:spPr>
          <a:xfrm>
            <a:off x="482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14" name="Connector 213"/>
          <p:cNvCxnSpPr/>
          <p:nvPr/>
        </p:nvCxnSpPr>
        <p:spPr>
          <a:xfrm flipV="1">
            <a:off x="486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15" name="Connector 214"/>
          <p:cNvCxnSpPr/>
          <p:nvPr/>
        </p:nvCxnSpPr>
        <p:spPr>
          <a:xfrm>
            <a:off x="486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16" name="Connector 215"/>
          <p:cNvCxnSpPr/>
          <p:nvPr/>
        </p:nvCxnSpPr>
        <p:spPr>
          <a:xfrm flipV="1">
            <a:off x="489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17" name="Connector 216"/>
          <p:cNvCxnSpPr/>
          <p:nvPr/>
        </p:nvCxnSpPr>
        <p:spPr>
          <a:xfrm>
            <a:off x="489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18" name="Connector 217"/>
          <p:cNvCxnSpPr/>
          <p:nvPr/>
        </p:nvCxnSpPr>
        <p:spPr>
          <a:xfrm flipV="1">
            <a:off x="493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19" name="Connector 218"/>
          <p:cNvCxnSpPr/>
          <p:nvPr/>
        </p:nvCxnSpPr>
        <p:spPr>
          <a:xfrm>
            <a:off x="493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20" name="Connector 219"/>
          <p:cNvCxnSpPr/>
          <p:nvPr/>
        </p:nvCxnSpPr>
        <p:spPr>
          <a:xfrm flipV="1">
            <a:off x="496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21" name="Connector 220"/>
          <p:cNvCxnSpPr/>
          <p:nvPr/>
        </p:nvCxnSpPr>
        <p:spPr>
          <a:xfrm>
            <a:off x="496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22" name="Connector 221"/>
          <p:cNvCxnSpPr/>
          <p:nvPr/>
        </p:nvCxnSpPr>
        <p:spPr>
          <a:xfrm flipV="1">
            <a:off x="500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23" name="Connector 222"/>
          <p:cNvCxnSpPr/>
          <p:nvPr/>
        </p:nvCxnSpPr>
        <p:spPr>
          <a:xfrm>
            <a:off x="500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24" name="Connector 223"/>
          <p:cNvCxnSpPr/>
          <p:nvPr/>
        </p:nvCxnSpPr>
        <p:spPr>
          <a:xfrm flipV="1">
            <a:off x="504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25" name="Connector 224"/>
          <p:cNvCxnSpPr/>
          <p:nvPr/>
        </p:nvCxnSpPr>
        <p:spPr>
          <a:xfrm>
            <a:off x="504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26" name="Connector 225"/>
          <p:cNvCxnSpPr/>
          <p:nvPr/>
        </p:nvCxnSpPr>
        <p:spPr>
          <a:xfrm flipV="1">
            <a:off x="507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27" name="Connector 226"/>
          <p:cNvCxnSpPr/>
          <p:nvPr/>
        </p:nvCxnSpPr>
        <p:spPr>
          <a:xfrm>
            <a:off x="507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28" name="Connector 227"/>
          <p:cNvCxnSpPr/>
          <p:nvPr/>
        </p:nvCxnSpPr>
        <p:spPr>
          <a:xfrm flipV="1">
            <a:off x="511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29" name="Connector 228"/>
          <p:cNvCxnSpPr/>
          <p:nvPr/>
        </p:nvCxnSpPr>
        <p:spPr>
          <a:xfrm>
            <a:off x="511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30" name="Connector 229"/>
          <p:cNvCxnSpPr/>
          <p:nvPr/>
        </p:nvCxnSpPr>
        <p:spPr>
          <a:xfrm flipV="1">
            <a:off x="514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31" name="Connector 230"/>
          <p:cNvCxnSpPr/>
          <p:nvPr/>
        </p:nvCxnSpPr>
        <p:spPr>
          <a:xfrm>
            <a:off x="514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32" name="Connector 231"/>
          <p:cNvCxnSpPr/>
          <p:nvPr/>
        </p:nvCxnSpPr>
        <p:spPr>
          <a:xfrm flipV="1">
            <a:off x="518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33" name="Connector 232"/>
          <p:cNvCxnSpPr/>
          <p:nvPr/>
        </p:nvCxnSpPr>
        <p:spPr>
          <a:xfrm>
            <a:off x="518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34" name="Connector 233"/>
          <p:cNvCxnSpPr/>
          <p:nvPr/>
        </p:nvCxnSpPr>
        <p:spPr>
          <a:xfrm flipV="1">
            <a:off x="522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35" name="Connector 234"/>
          <p:cNvCxnSpPr/>
          <p:nvPr/>
        </p:nvCxnSpPr>
        <p:spPr>
          <a:xfrm>
            <a:off x="522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36" name="Connector 235"/>
          <p:cNvCxnSpPr/>
          <p:nvPr/>
        </p:nvCxnSpPr>
        <p:spPr>
          <a:xfrm flipV="1">
            <a:off x="525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37" name="Connector 236"/>
          <p:cNvCxnSpPr/>
          <p:nvPr/>
        </p:nvCxnSpPr>
        <p:spPr>
          <a:xfrm>
            <a:off x="525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38" name="Connector 237"/>
          <p:cNvCxnSpPr/>
          <p:nvPr/>
        </p:nvCxnSpPr>
        <p:spPr>
          <a:xfrm flipV="1">
            <a:off x="529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39" name="Connector 238"/>
          <p:cNvCxnSpPr/>
          <p:nvPr/>
        </p:nvCxnSpPr>
        <p:spPr>
          <a:xfrm>
            <a:off x="529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40" name="Connector 239"/>
          <p:cNvCxnSpPr/>
          <p:nvPr/>
        </p:nvCxnSpPr>
        <p:spPr>
          <a:xfrm flipV="1">
            <a:off x="532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41" name="Connector 240"/>
          <p:cNvCxnSpPr/>
          <p:nvPr/>
        </p:nvCxnSpPr>
        <p:spPr>
          <a:xfrm>
            <a:off x="532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42" name="Connector 241"/>
          <p:cNvCxnSpPr/>
          <p:nvPr/>
        </p:nvCxnSpPr>
        <p:spPr>
          <a:xfrm flipV="1">
            <a:off x="536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43" name="Connector 242"/>
          <p:cNvCxnSpPr/>
          <p:nvPr/>
        </p:nvCxnSpPr>
        <p:spPr>
          <a:xfrm>
            <a:off x="536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44" name="Connector 243"/>
          <p:cNvCxnSpPr/>
          <p:nvPr/>
        </p:nvCxnSpPr>
        <p:spPr>
          <a:xfrm flipV="1">
            <a:off x="540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45" name="Connector 244"/>
          <p:cNvCxnSpPr/>
          <p:nvPr/>
        </p:nvCxnSpPr>
        <p:spPr>
          <a:xfrm>
            <a:off x="540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46" name="Connector 245"/>
          <p:cNvCxnSpPr/>
          <p:nvPr/>
        </p:nvCxnSpPr>
        <p:spPr>
          <a:xfrm flipV="1">
            <a:off x="543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47" name="Connector 246"/>
          <p:cNvCxnSpPr/>
          <p:nvPr/>
        </p:nvCxnSpPr>
        <p:spPr>
          <a:xfrm>
            <a:off x="543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48" name="Connector 247"/>
          <p:cNvCxnSpPr/>
          <p:nvPr/>
        </p:nvCxnSpPr>
        <p:spPr>
          <a:xfrm flipV="1">
            <a:off x="547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49" name="Connector 248"/>
          <p:cNvCxnSpPr/>
          <p:nvPr/>
        </p:nvCxnSpPr>
        <p:spPr>
          <a:xfrm>
            <a:off x="547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50" name="Connector 249"/>
          <p:cNvCxnSpPr/>
          <p:nvPr/>
        </p:nvCxnSpPr>
        <p:spPr>
          <a:xfrm flipV="1">
            <a:off x="550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51" name="Connector 250"/>
          <p:cNvCxnSpPr/>
          <p:nvPr/>
        </p:nvCxnSpPr>
        <p:spPr>
          <a:xfrm>
            <a:off x="550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52" name="Connector 251"/>
          <p:cNvCxnSpPr/>
          <p:nvPr/>
        </p:nvCxnSpPr>
        <p:spPr>
          <a:xfrm flipV="1">
            <a:off x="554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53" name="Connector 252"/>
          <p:cNvCxnSpPr/>
          <p:nvPr/>
        </p:nvCxnSpPr>
        <p:spPr>
          <a:xfrm>
            <a:off x="554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54" name="Connector 253"/>
          <p:cNvCxnSpPr/>
          <p:nvPr/>
        </p:nvCxnSpPr>
        <p:spPr>
          <a:xfrm flipV="1">
            <a:off x="558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55" name="Connector 254"/>
          <p:cNvCxnSpPr/>
          <p:nvPr/>
        </p:nvCxnSpPr>
        <p:spPr>
          <a:xfrm>
            <a:off x="558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56" name="Connector 255"/>
          <p:cNvCxnSpPr/>
          <p:nvPr/>
        </p:nvCxnSpPr>
        <p:spPr>
          <a:xfrm flipV="1">
            <a:off x="561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57" name="Connector 256"/>
          <p:cNvCxnSpPr/>
          <p:nvPr/>
        </p:nvCxnSpPr>
        <p:spPr>
          <a:xfrm>
            <a:off x="561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58" name="Connector 257"/>
          <p:cNvCxnSpPr/>
          <p:nvPr/>
        </p:nvCxnSpPr>
        <p:spPr>
          <a:xfrm flipV="1">
            <a:off x="565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59" name="Connector 258"/>
          <p:cNvCxnSpPr/>
          <p:nvPr/>
        </p:nvCxnSpPr>
        <p:spPr>
          <a:xfrm>
            <a:off x="565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60" name="Connector 259"/>
          <p:cNvCxnSpPr/>
          <p:nvPr/>
        </p:nvCxnSpPr>
        <p:spPr>
          <a:xfrm flipV="1">
            <a:off x="568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61" name="Connector 260"/>
          <p:cNvCxnSpPr/>
          <p:nvPr/>
        </p:nvCxnSpPr>
        <p:spPr>
          <a:xfrm>
            <a:off x="568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62" name="Connector 261"/>
          <p:cNvCxnSpPr/>
          <p:nvPr/>
        </p:nvCxnSpPr>
        <p:spPr>
          <a:xfrm flipV="1">
            <a:off x="572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63" name="Connector 262"/>
          <p:cNvCxnSpPr/>
          <p:nvPr/>
        </p:nvCxnSpPr>
        <p:spPr>
          <a:xfrm>
            <a:off x="572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64" name="Connector 263"/>
          <p:cNvCxnSpPr/>
          <p:nvPr/>
        </p:nvCxnSpPr>
        <p:spPr>
          <a:xfrm flipV="1">
            <a:off x="576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65" name="Connector 264"/>
          <p:cNvCxnSpPr/>
          <p:nvPr/>
        </p:nvCxnSpPr>
        <p:spPr>
          <a:xfrm>
            <a:off x="576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66" name="Connector 265"/>
          <p:cNvCxnSpPr/>
          <p:nvPr/>
        </p:nvCxnSpPr>
        <p:spPr>
          <a:xfrm flipV="1">
            <a:off x="579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67" name="Connector 266"/>
          <p:cNvCxnSpPr/>
          <p:nvPr/>
        </p:nvCxnSpPr>
        <p:spPr>
          <a:xfrm>
            <a:off x="579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68" name="Connector 267"/>
          <p:cNvCxnSpPr/>
          <p:nvPr/>
        </p:nvCxnSpPr>
        <p:spPr>
          <a:xfrm flipV="1">
            <a:off x="583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69" name="Connector 268"/>
          <p:cNvCxnSpPr/>
          <p:nvPr/>
        </p:nvCxnSpPr>
        <p:spPr>
          <a:xfrm>
            <a:off x="583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70" name="Connector 269"/>
          <p:cNvCxnSpPr/>
          <p:nvPr/>
        </p:nvCxnSpPr>
        <p:spPr>
          <a:xfrm flipV="1">
            <a:off x="586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71" name="Connector 270"/>
          <p:cNvCxnSpPr/>
          <p:nvPr/>
        </p:nvCxnSpPr>
        <p:spPr>
          <a:xfrm>
            <a:off x="586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72" name="Connector 271"/>
          <p:cNvCxnSpPr/>
          <p:nvPr/>
        </p:nvCxnSpPr>
        <p:spPr>
          <a:xfrm flipV="1">
            <a:off x="590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73" name="Connector 272"/>
          <p:cNvCxnSpPr/>
          <p:nvPr/>
        </p:nvCxnSpPr>
        <p:spPr>
          <a:xfrm>
            <a:off x="590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74" name="Connector 273"/>
          <p:cNvCxnSpPr/>
          <p:nvPr/>
        </p:nvCxnSpPr>
        <p:spPr>
          <a:xfrm flipV="1">
            <a:off x="594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75" name="Connector 274"/>
          <p:cNvCxnSpPr/>
          <p:nvPr/>
        </p:nvCxnSpPr>
        <p:spPr>
          <a:xfrm>
            <a:off x="594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76" name="Connector 275"/>
          <p:cNvCxnSpPr/>
          <p:nvPr/>
        </p:nvCxnSpPr>
        <p:spPr>
          <a:xfrm flipV="1">
            <a:off x="597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77" name="Connector 276"/>
          <p:cNvCxnSpPr/>
          <p:nvPr/>
        </p:nvCxnSpPr>
        <p:spPr>
          <a:xfrm>
            <a:off x="597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78" name="Connector 277"/>
          <p:cNvCxnSpPr/>
          <p:nvPr/>
        </p:nvCxnSpPr>
        <p:spPr>
          <a:xfrm flipV="1">
            <a:off x="601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79" name="Connector 278"/>
          <p:cNvCxnSpPr/>
          <p:nvPr/>
        </p:nvCxnSpPr>
        <p:spPr>
          <a:xfrm>
            <a:off x="601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80" name="Connector 279"/>
          <p:cNvCxnSpPr/>
          <p:nvPr/>
        </p:nvCxnSpPr>
        <p:spPr>
          <a:xfrm flipV="1">
            <a:off x="604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81" name="Connector 280"/>
          <p:cNvCxnSpPr/>
          <p:nvPr/>
        </p:nvCxnSpPr>
        <p:spPr>
          <a:xfrm>
            <a:off x="604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82" name="Connector 281"/>
          <p:cNvCxnSpPr/>
          <p:nvPr/>
        </p:nvCxnSpPr>
        <p:spPr>
          <a:xfrm flipV="1">
            <a:off x="608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83" name="Connector 282"/>
          <p:cNvCxnSpPr/>
          <p:nvPr/>
        </p:nvCxnSpPr>
        <p:spPr>
          <a:xfrm>
            <a:off x="608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84" name="Connector 283"/>
          <p:cNvCxnSpPr/>
          <p:nvPr/>
        </p:nvCxnSpPr>
        <p:spPr>
          <a:xfrm flipV="1">
            <a:off x="612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85" name="Connector 284"/>
          <p:cNvCxnSpPr/>
          <p:nvPr/>
        </p:nvCxnSpPr>
        <p:spPr>
          <a:xfrm>
            <a:off x="612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86" name="Connector 285"/>
          <p:cNvCxnSpPr/>
          <p:nvPr/>
        </p:nvCxnSpPr>
        <p:spPr>
          <a:xfrm flipV="1">
            <a:off x="615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87" name="Connector 286"/>
          <p:cNvCxnSpPr/>
          <p:nvPr/>
        </p:nvCxnSpPr>
        <p:spPr>
          <a:xfrm>
            <a:off x="615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88" name="Connector 287"/>
          <p:cNvCxnSpPr/>
          <p:nvPr/>
        </p:nvCxnSpPr>
        <p:spPr>
          <a:xfrm flipV="1">
            <a:off x="619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89" name="Connector 288"/>
          <p:cNvCxnSpPr/>
          <p:nvPr/>
        </p:nvCxnSpPr>
        <p:spPr>
          <a:xfrm>
            <a:off x="619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90" name="Connector 289"/>
          <p:cNvCxnSpPr/>
          <p:nvPr/>
        </p:nvCxnSpPr>
        <p:spPr>
          <a:xfrm flipV="1">
            <a:off x="622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91" name="Connector 290"/>
          <p:cNvCxnSpPr/>
          <p:nvPr/>
        </p:nvCxnSpPr>
        <p:spPr>
          <a:xfrm>
            <a:off x="622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92" name="Connector 291"/>
          <p:cNvCxnSpPr/>
          <p:nvPr/>
        </p:nvCxnSpPr>
        <p:spPr>
          <a:xfrm flipV="1">
            <a:off x="6264000" y="3326400"/>
            <a:ext cx="352800" cy="705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93" name="Connector 292"/>
          <p:cNvCxnSpPr/>
          <p:nvPr/>
        </p:nvCxnSpPr>
        <p:spPr>
          <a:xfrm>
            <a:off x="6264000" y="3312000"/>
            <a:ext cx="352800" cy="705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94" name="Connector 293"/>
          <p:cNvCxnSpPr/>
          <p:nvPr/>
        </p:nvCxnSpPr>
        <p:spPr>
          <a:xfrm flipV="1">
            <a:off x="6300000" y="3398400"/>
            <a:ext cx="316800" cy="633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95" name="Connector 294"/>
          <p:cNvCxnSpPr/>
          <p:nvPr/>
        </p:nvCxnSpPr>
        <p:spPr>
          <a:xfrm>
            <a:off x="6300000" y="3312000"/>
            <a:ext cx="316800" cy="633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96" name="Connector 295"/>
          <p:cNvCxnSpPr/>
          <p:nvPr/>
        </p:nvCxnSpPr>
        <p:spPr>
          <a:xfrm flipV="1">
            <a:off x="6336000" y="3470400"/>
            <a:ext cx="280800" cy="561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97" name="Connector 296"/>
          <p:cNvCxnSpPr/>
          <p:nvPr/>
        </p:nvCxnSpPr>
        <p:spPr>
          <a:xfrm>
            <a:off x="6336000" y="3312000"/>
            <a:ext cx="280800" cy="561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98" name="Connector 297"/>
          <p:cNvCxnSpPr/>
          <p:nvPr/>
        </p:nvCxnSpPr>
        <p:spPr>
          <a:xfrm flipV="1">
            <a:off x="6372000" y="3542400"/>
            <a:ext cx="244800" cy="489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99" name="Connector 298"/>
          <p:cNvCxnSpPr/>
          <p:nvPr/>
        </p:nvCxnSpPr>
        <p:spPr>
          <a:xfrm>
            <a:off x="6372000" y="3312000"/>
            <a:ext cx="244800" cy="489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00" name="Connector 299"/>
          <p:cNvCxnSpPr/>
          <p:nvPr/>
        </p:nvCxnSpPr>
        <p:spPr>
          <a:xfrm flipV="1">
            <a:off x="6408000" y="3614400"/>
            <a:ext cx="208800" cy="417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01" name="Connector 300"/>
          <p:cNvCxnSpPr/>
          <p:nvPr/>
        </p:nvCxnSpPr>
        <p:spPr>
          <a:xfrm>
            <a:off x="6408000" y="3312000"/>
            <a:ext cx="208800" cy="417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02" name="Connector 301"/>
          <p:cNvCxnSpPr/>
          <p:nvPr/>
        </p:nvCxnSpPr>
        <p:spPr>
          <a:xfrm flipV="1">
            <a:off x="6444000" y="3686400"/>
            <a:ext cx="172800" cy="345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03" name="Connector 302"/>
          <p:cNvCxnSpPr/>
          <p:nvPr/>
        </p:nvCxnSpPr>
        <p:spPr>
          <a:xfrm>
            <a:off x="6444000" y="3312000"/>
            <a:ext cx="172800" cy="345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04" name="Connector 303"/>
          <p:cNvCxnSpPr/>
          <p:nvPr/>
        </p:nvCxnSpPr>
        <p:spPr>
          <a:xfrm flipV="1">
            <a:off x="6480000" y="3758400"/>
            <a:ext cx="136800" cy="273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05" name="Connector 304"/>
          <p:cNvCxnSpPr/>
          <p:nvPr/>
        </p:nvCxnSpPr>
        <p:spPr>
          <a:xfrm>
            <a:off x="6480000" y="3312000"/>
            <a:ext cx="136800" cy="273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06" name="Connector 305"/>
          <p:cNvCxnSpPr/>
          <p:nvPr/>
        </p:nvCxnSpPr>
        <p:spPr>
          <a:xfrm flipV="1">
            <a:off x="6516000" y="3830400"/>
            <a:ext cx="100800" cy="201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07" name="Connector 306"/>
          <p:cNvCxnSpPr/>
          <p:nvPr/>
        </p:nvCxnSpPr>
        <p:spPr>
          <a:xfrm>
            <a:off x="6516000" y="3312000"/>
            <a:ext cx="100800" cy="201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08" name="Connector 307"/>
          <p:cNvCxnSpPr/>
          <p:nvPr/>
        </p:nvCxnSpPr>
        <p:spPr>
          <a:xfrm flipV="1">
            <a:off x="6552000" y="3902400"/>
            <a:ext cx="64800" cy="129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09" name="Connector 308"/>
          <p:cNvCxnSpPr/>
          <p:nvPr/>
        </p:nvCxnSpPr>
        <p:spPr>
          <a:xfrm>
            <a:off x="6552000" y="3312000"/>
            <a:ext cx="64800" cy="129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10" name="Connector 309"/>
          <p:cNvCxnSpPr/>
          <p:nvPr/>
        </p:nvCxnSpPr>
        <p:spPr>
          <a:xfrm flipV="1">
            <a:off x="6588000" y="3974400"/>
            <a:ext cx="28800" cy="57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11" name="Connector 310"/>
          <p:cNvCxnSpPr/>
          <p:nvPr/>
        </p:nvCxnSpPr>
        <p:spPr>
          <a:xfrm>
            <a:off x="6588000" y="3312000"/>
            <a:ext cx="28800" cy="57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sp>
        <p:nvSpPr>
          <p:cNvPr id="312" name="Rectangle 311"/>
          <p:cNvSpPr/>
          <p:nvPr/>
        </p:nvSpPr>
        <p:spPr>
          <a:xfrm>
            <a:off x="1836000" y="3312000"/>
            <a:ext cx="45000" cy="468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3" name="Rectangle 312"/>
          <p:cNvSpPr/>
          <p:nvPr/>
        </p:nvSpPr>
        <p:spPr>
          <a:xfrm>
            <a:off x="3008700" y="3312000"/>
            <a:ext cx="45000" cy="468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4" name="Rectangle 313"/>
          <p:cNvSpPr/>
          <p:nvPr/>
        </p:nvSpPr>
        <p:spPr>
          <a:xfrm>
            <a:off x="4203900" y="3312000"/>
            <a:ext cx="45000" cy="468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5" name="Rectangle 314"/>
          <p:cNvSpPr/>
          <p:nvPr/>
        </p:nvSpPr>
        <p:spPr>
          <a:xfrm>
            <a:off x="5399100" y="3312000"/>
            <a:ext cx="45000" cy="468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6" name="Rectangle 315"/>
          <p:cNvSpPr/>
          <p:nvPr/>
        </p:nvSpPr>
        <p:spPr>
          <a:xfrm>
            <a:off x="6571800" y="3312000"/>
            <a:ext cx="45000" cy="468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7" name="Rectangle 316"/>
          <p:cNvSpPr/>
          <p:nvPr/>
        </p:nvSpPr>
        <p:spPr>
          <a:xfrm>
            <a:off x="1836000" y="6912000"/>
            <a:ext cx="47808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18" name="Connector 317"/>
          <p:cNvCxnSpPr/>
          <p:nvPr/>
        </p:nvCxnSpPr>
        <p:spPr>
          <a:xfrm>
            <a:off x="1881000" y="6951600"/>
            <a:ext cx="4690800" cy="0"/>
          </a:xfrm>
          <a:prstGeom prst="line">
            <a:avLst/>
          </a:prstGeom>
          <a:ln w="8255">
            <a:solidFill>
              <a:srgbClr val="9A825A"/>
            </a:solidFill>
          </a:ln>
          <a:effectLst/>
        </p:spPr>
      </p:cxnSp>
      <p:sp>
        <p:nvSpPr>
          <p:cNvPr id="319" name="Rectangle 318"/>
          <p:cNvSpPr/>
          <p:nvPr/>
        </p:nvSpPr>
        <p:spPr>
          <a:xfrm>
            <a:off x="1836000" y="6192000"/>
            <a:ext cx="47808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20" name="Connector 319"/>
          <p:cNvCxnSpPr/>
          <p:nvPr/>
        </p:nvCxnSpPr>
        <p:spPr>
          <a:xfrm>
            <a:off x="1881000" y="6231600"/>
            <a:ext cx="4690800" cy="0"/>
          </a:xfrm>
          <a:prstGeom prst="line">
            <a:avLst/>
          </a:prstGeom>
          <a:ln w="8255">
            <a:solidFill>
              <a:srgbClr val="9A825A"/>
            </a:solidFill>
          </a:ln>
          <a:effectLst/>
        </p:spPr>
      </p:cxnSp>
      <p:sp>
        <p:nvSpPr>
          <p:cNvPr id="321" name="Rectangle 320"/>
          <p:cNvSpPr/>
          <p:nvPr/>
        </p:nvSpPr>
        <p:spPr>
          <a:xfrm>
            <a:off x="1836000" y="5472000"/>
            <a:ext cx="47808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22" name="Connector 321"/>
          <p:cNvCxnSpPr/>
          <p:nvPr/>
        </p:nvCxnSpPr>
        <p:spPr>
          <a:xfrm>
            <a:off x="1881000" y="5511600"/>
            <a:ext cx="4690800" cy="0"/>
          </a:xfrm>
          <a:prstGeom prst="line">
            <a:avLst/>
          </a:prstGeom>
          <a:ln w="8255">
            <a:solidFill>
              <a:srgbClr val="9A825A"/>
            </a:solidFill>
          </a:ln>
          <a:effectLst/>
        </p:spPr>
      </p:cxnSp>
      <p:sp>
        <p:nvSpPr>
          <p:cNvPr id="323" name="Rectangle 322"/>
          <p:cNvSpPr/>
          <p:nvPr/>
        </p:nvSpPr>
        <p:spPr>
          <a:xfrm>
            <a:off x="1836000" y="4752000"/>
            <a:ext cx="47808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24" name="Connector 323"/>
          <p:cNvCxnSpPr/>
          <p:nvPr/>
        </p:nvCxnSpPr>
        <p:spPr>
          <a:xfrm>
            <a:off x="1881000" y="4791600"/>
            <a:ext cx="4690800" cy="0"/>
          </a:xfrm>
          <a:prstGeom prst="line">
            <a:avLst/>
          </a:prstGeom>
          <a:ln w="8255">
            <a:solidFill>
              <a:srgbClr val="9A825A"/>
            </a:solidFill>
          </a:ln>
          <a:effectLst/>
        </p:spPr>
      </p:cxnSp>
      <p:sp>
        <p:nvSpPr>
          <p:cNvPr id="325" name="Rectangle 324"/>
          <p:cNvSpPr/>
          <p:nvPr/>
        </p:nvSpPr>
        <p:spPr>
          <a:xfrm>
            <a:off x="1836000" y="4032000"/>
            <a:ext cx="47808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26" name="Connector 325"/>
          <p:cNvCxnSpPr/>
          <p:nvPr/>
        </p:nvCxnSpPr>
        <p:spPr>
          <a:xfrm>
            <a:off x="1881000" y="4071600"/>
            <a:ext cx="4690800" cy="0"/>
          </a:xfrm>
          <a:prstGeom prst="line">
            <a:avLst/>
          </a:prstGeom>
          <a:ln w="8255">
            <a:solidFill>
              <a:srgbClr val="9A825A"/>
            </a:solidFill>
          </a:ln>
          <a:effectLst/>
        </p:spPr>
      </p:cxnSp>
      <p:cxnSp>
        <p:nvCxnSpPr>
          <p:cNvPr id="327" name="Connector 326"/>
          <p:cNvCxnSpPr/>
          <p:nvPr/>
        </p:nvCxnSpPr>
        <p:spPr>
          <a:xfrm flipV="1">
            <a:off x="2433600" y="6957000"/>
            <a:ext cx="0" cy="837000"/>
          </a:xfrm>
          <a:prstGeom prst="line">
            <a:avLst/>
          </a:prstGeom>
          <a:ln w="4445">
            <a:solidFill>
              <a:srgbClr val="B7B0A2"/>
            </a:solidFill>
          </a:ln>
          <a:effectLst/>
        </p:spPr>
      </p:cxnSp>
      <p:cxnSp>
        <p:nvCxnSpPr>
          <p:cNvPr id="328" name="Connector 327"/>
          <p:cNvCxnSpPr/>
          <p:nvPr/>
        </p:nvCxnSpPr>
        <p:spPr>
          <a:xfrm>
            <a:off x="2358000" y="6993000"/>
            <a:ext cx="153000" cy="0"/>
          </a:xfrm>
          <a:prstGeom prst="line">
            <a:avLst/>
          </a:prstGeom>
          <a:ln w="8255">
            <a:solidFill>
              <a:srgbClr val="252725"/>
            </a:solidFill>
          </a:ln>
          <a:effectLst/>
        </p:spPr>
      </p:cxnSp>
      <p:sp>
        <p:nvSpPr>
          <p:cNvPr id="329" name="Rectangle 328"/>
          <p:cNvSpPr/>
          <p:nvPr/>
        </p:nvSpPr>
        <p:spPr>
          <a:xfrm>
            <a:off x="2106000" y="6735600"/>
            <a:ext cx="90000" cy="171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0" name="Rectangle 329"/>
          <p:cNvSpPr/>
          <p:nvPr/>
        </p:nvSpPr>
        <p:spPr>
          <a:xfrm>
            <a:off x="2130300" y="6703200"/>
            <a:ext cx="41400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31" name="Connector 330"/>
          <p:cNvCxnSpPr/>
          <p:nvPr/>
        </p:nvCxnSpPr>
        <p:spPr>
          <a:xfrm>
            <a:off x="2120400" y="6834780"/>
            <a:ext cx="612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332" name="Rectangle 331"/>
          <p:cNvSpPr/>
          <p:nvPr/>
        </p:nvSpPr>
        <p:spPr>
          <a:xfrm>
            <a:off x="2277000" y="6690600"/>
            <a:ext cx="111600" cy="216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3" name="Rectangle 332"/>
          <p:cNvSpPr/>
          <p:nvPr/>
        </p:nvSpPr>
        <p:spPr>
          <a:xfrm>
            <a:off x="2307132" y="6658200"/>
            <a:ext cx="51336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34" name="Connector 333"/>
          <p:cNvCxnSpPr/>
          <p:nvPr/>
        </p:nvCxnSpPr>
        <p:spPr>
          <a:xfrm>
            <a:off x="2291400" y="6815879"/>
            <a:ext cx="828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335" name="Rectangle 334"/>
          <p:cNvSpPr/>
          <p:nvPr/>
        </p:nvSpPr>
        <p:spPr>
          <a:xfrm>
            <a:off x="2106000" y="5277600"/>
            <a:ext cx="79200" cy="189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6" name="Rectangle 335"/>
          <p:cNvSpPr/>
          <p:nvPr/>
        </p:nvSpPr>
        <p:spPr>
          <a:xfrm>
            <a:off x="2127384" y="5245200"/>
            <a:ext cx="36432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37" name="Connector 336"/>
          <p:cNvCxnSpPr/>
          <p:nvPr/>
        </p:nvCxnSpPr>
        <p:spPr>
          <a:xfrm>
            <a:off x="2120400" y="5387220"/>
            <a:ext cx="504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338" name="Rectangle 337"/>
          <p:cNvSpPr/>
          <p:nvPr/>
        </p:nvSpPr>
        <p:spPr>
          <a:xfrm>
            <a:off x="2277000" y="5295600"/>
            <a:ext cx="90000" cy="171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9" name="Rectangle 338"/>
          <p:cNvSpPr/>
          <p:nvPr/>
        </p:nvSpPr>
        <p:spPr>
          <a:xfrm>
            <a:off x="2301300" y="5263200"/>
            <a:ext cx="41400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40" name="Connector 339"/>
          <p:cNvCxnSpPr/>
          <p:nvPr/>
        </p:nvCxnSpPr>
        <p:spPr>
          <a:xfrm>
            <a:off x="2291400" y="5394780"/>
            <a:ext cx="612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cxnSp>
        <p:nvCxnSpPr>
          <p:cNvPr id="341" name="Connector 340"/>
          <p:cNvCxnSpPr/>
          <p:nvPr/>
        </p:nvCxnSpPr>
        <p:spPr>
          <a:xfrm flipV="1">
            <a:off x="3628800" y="6957000"/>
            <a:ext cx="0" cy="837000"/>
          </a:xfrm>
          <a:prstGeom prst="line">
            <a:avLst/>
          </a:prstGeom>
          <a:ln w="4445">
            <a:solidFill>
              <a:srgbClr val="B7B0A2"/>
            </a:solidFill>
          </a:ln>
          <a:effectLst/>
        </p:spPr>
      </p:cxnSp>
      <p:cxnSp>
        <p:nvCxnSpPr>
          <p:cNvPr id="342" name="Connector 341"/>
          <p:cNvCxnSpPr/>
          <p:nvPr/>
        </p:nvCxnSpPr>
        <p:spPr>
          <a:xfrm>
            <a:off x="3553200" y="6993000"/>
            <a:ext cx="153000" cy="0"/>
          </a:xfrm>
          <a:prstGeom prst="line">
            <a:avLst/>
          </a:prstGeom>
          <a:ln w="8255">
            <a:solidFill>
              <a:srgbClr val="252725"/>
            </a:solidFill>
          </a:ln>
          <a:effectLst/>
        </p:spPr>
      </p:cxnSp>
      <p:sp>
        <p:nvSpPr>
          <p:cNvPr id="343" name="Rectangle 342"/>
          <p:cNvSpPr/>
          <p:nvPr/>
        </p:nvSpPr>
        <p:spPr>
          <a:xfrm>
            <a:off x="3301200" y="5970600"/>
            <a:ext cx="111600" cy="216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4" name="Rectangle 343"/>
          <p:cNvSpPr/>
          <p:nvPr/>
        </p:nvSpPr>
        <p:spPr>
          <a:xfrm>
            <a:off x="3331332" y="5938200"/>
            <a:ext cx="51336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45" name="Connector 344"/>
          <p:cNvCxnSpPr/>
          <p:nvPr/>
        </p:nvCxnSpPr>
        <p:spPr>
          <a:xfrm>
            <a:off x="3315600" y="6095879"/>
            <a:ext cx="828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346" name="Rectangle 345"/>
          <p:cNvSpPr/>
          <p:nvPr/>
        </p:nvSpPr>
        <p:spPr>
          <a:xfrm>
            <a:off x="3472200" y="5997600"/>
            <a:ext cx="79200" cy="189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7" name="Rectangle 346"/>
          <p:cNvSpPr/>
          <p:nvPr/>
        </p:nvSpPr>
        <p:spPr>
          <a:xfrm>
            <a:off x="3493584" y="5965200"/>
            <a:ext cx="36432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48" name="Connector 347"/>
          <p:cNvCxnSpPr/>
          <p:nvPr/>
        </p:nvCxnSpPr>
        <p:spPr>
          <a:xfrm>
            <a:off x="3486600" y="6107220"/>
            <a:ext cx="504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349" name="Rectangle 348"/>
          <p:cNvSpPr/>
          <p:nvPr/>
        </p:nvSpPr>
        <p:spPr>
          <a:xfrm>
            <a:off x="3301200" y="4575600"/>
            <a:ext cx="90000" cy="171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0" name="Rectangle 349"/>
          <p:cNvSpPr/>
          <p:nvPr/>
        </p:nvSpPr>
        <p:spPr>
          <a:xfrm>
            <a:off x="3325500" y="4543200"/>
            <a:ext cx="41400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51" name="Connector 350"/>
          <p:cNvCxnSpPr/>
          <p:nvPr/>
        </p:nvCxnSpPr>
        <p:spPr>
          <a:xfrm>
            <a:off x="3315600" y="4674780"/>
            <a:ext cx="612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352" name="Rectangle 351"/>
          <p:cNvSpPr/>
          <p:nvPr/>
        </p:nvSpPr>
        <p:spPr>
          <a:xfrm>
            <a:off x="3472200" y="4530600"/>
            <a:ext cx="111600" cy="216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3" name="Rectangle 352"/>
          <p:cNvSpPr/>
          <p:nvPr/>
        </p:nvSpPr>
        <p:spPr>
          <a:xfrm>
            <a:off x="3502332" y="4498200"/>
            <a:ext cx="51336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54" name="Connector 353"/>
          <p:cNvCxnSpPr/>
          <p:nvPr/>
        </p:nvCxnSpPr>
        <p:spPr>
          <a:xfrm>
            <a:off x="3486600" y="4655879"/>
            <a:ext cx="828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cxnSp>
        <p:nvCxnSpPr>
          <p:cNvPr id="355" name="Connector 354"/>
          <p:cNvCxnSpPr/>
          <p:nvPr/>
        </p:nvCxnSpPr>
        <p:spPr>
          <a:xfrm flipV="1">
            <a:off x="4824000" y="6957000"/>
            <a:ext cx="0" cy="837000"/>
          </a:xfrm>
          <a:prstGeom prst="line">
            <a:avLst/>
          </a:prstGeom>
          <a:ln w="4445">
            <a:solidFill>
              <a:srgbClr val="B7B0A2"/>
            </a:solidFill>
          </a:ln>
          <a:effectLst/>
        </p:spPr>
      </p:cxnSp>
      <p:cxnSp>
        <p:nvCxnSpPr>
          <p:cNvPr id="356" name="Connector 355"/>
          <p:cNvCxnSpPr/>
          <p:nvPr/>
        </p:nvCxnSpPr>
        <p:spPr>
          <a:xfrm>
            <a:off x="4748400" y="6993000"/>
            <a:ext cx="153000" cy="0"/>
          </a:xfrm>
          <a:prstGeom prst="line">
            <a:avLst/>
          </a:prstGeom>
          <a:ln w="8255">
            <a:solidFill>
              <a:srgbClr val="252725"/>
            </a:solidFill>
          </a:ln>
          <a:effectLst/>
        </p:spPr>
      </p:cxnSp>
      <p:sp>
        <p:nvSpPr>
          <p:cNvPr id="357" name="Rectangle 356"/>
          <p:cNvSpPr/>
          <p:nvPr/>
        </p:nvSpPr>
        <p:spPr>
          <a:xfrm>
            <a:off x="4496400" y="6735600"/>
            <a:ext cx="90000" cy="171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8" name="Rectangle 357"/>
          <p:cNvSpPr/>
          <p:nvPr/>
        </p:nvSpPr>
        <p:spPr>
          <a:xfrm>
            <a:off x="4520700" y="6703200"/>
            <a:ext cx="41400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59" name="Connector 358"/>
          <p:cNvCxnSpPr/>
          <p:nvPr/>
        </p:nvCxnSpPr>
        <p:spPr>
          <a:xfrm>
            <a:off x="4510800" y="6834780"/>
            <a:ext cx="612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360" name="Rectangle 359"/>
          <p:cNvSpPr/>
          <p:nvPr/>
        </p:nvSpPr>
        <p:spPr>
          <a:xfrm>
            <a:off x="4667400" y="6690600"/>
            <a:ext cx="111600" cy="216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1" name="Rectangle 360"/>
          <p:cNvSpPr/>
          <p:nvPr/>
        </p:nvSpPr>
        <p:spPr>
          <a:xfrm>
            <a:off x="4697532" y="6658200"/>
            <a:ext cx="51336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62" name="Connector 361"/>
          <p:cNvCxnSpPr/>
          <p:nvPr/>
        </p:nvCxnSpPr>
        <p:spPr>
          <a:xfrm>
            <a:off x="4681800" y="6815879"/>
            <a:ext cx="828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363" name="Rectangle 362"/>
          <p:cNvSpPr/>
          <p:nvPr/>
        </p:nvSpPr>
        <p:spPr>
          <a:xfrm>
            <a:off x="4496400" y="5277600"/>
            <a:ext cx="79200" cy="189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4" name="Rectangle 363"/>
          <p:cNvSpPr/>
          <p:nvPr/>
        </p:nvSpPr>
        <p:spPr>
          <a:xfrm>
            <a:off x="4517784" y="5245200"/>
            <a:ext cx="36432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65" name="Connector 364"/>
          <p:cNvCxnSpPr/>
          <p:nvPr/>
        </p:nvCxnSpPr>
        <p:spPr>
          <a:xfrm>
            <a:off x="4510800" y="5387220"/>
            <a:ext cx="504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366" name="Rectangle 365"/>
          <p:cNvSpPr/>
          <p:nvPr/>
        </p:nvSpPr>
        <p:spPr>
          <a:xfrm>
            <a:off x="4667400" y="5295600"/>
            <a:ext cx="90000" cy="171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7" name="Rectangle 366"/>
          <p:cNvSpPr/>
          <p:nvPr/>
        </p:nvSpPr>
        <p:spPr>
          <a:xfrm>
            <a:off x="4691700" y="5263200"/>
            <a:ext cx="41400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68" name="Connector 367"/>
          <p:cNvCxnSpPr/>
          <p:nvPr/>
        </p:nvCxnSpPr>
        <p:spPr>
          <a:xfrm>
            <a:off x="4681800" y="5394780"/>
            <a:ext cx="612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cxnSp>
        <p:nvCxnSpPr>
          <p:cNvPr id="369" name="Connector 368"/>
          <p:cNvCxnSpPr/>
          <p:nvPr/>
        </p:nvCxnSpPr>
        <p:spPr>
          <a:xfrm flipV="1">
            <a:off x="6019200" y="6957000"/>
            <a:ext cx="0" cy="837000"/>
          </a:xfrm>
          <a:prstGeom prst="line">
            <a:avLst/>
          </a:prstGeom>
          <a:ln w="4445">
            <a:solidFill>
              <a:srgbClr val="B7B0A2"/>
            </a:solidFill>
          </a:ln>
          <a:effectLst/>
        </p:spPr>
      </p:cxnSp>
      <p:cxnSp>
        <p:nvCxnSpPr>
          <p:cNvPr id="370" name="Connector 369"/>
          <p:cNvCxnSpPr/>
          <p:nvPr/>
        </p:nvCxnSpPr>
        <p:spPr>
          <a:xfrm>
            <a:off x="5943600" y="6993000"/>
            <a:ext cx="153000" cy="0"/>
          </a:xfrm>
          <a:prstGeom prst="line">
            <a:avLst/>
          </a:prstGeom>
          <a:ln w="8255">
            <a:solidFill>
              <a:srgbClr val="252725"/>
            </a:solidFill>
          </a:ln>
          <a:effectLst/>
        </p:spPr>
      </p:cxnSp>
      <p:sp>
        <p:nvSpPr>
          <p:cNvPr id="371" name="Rectangle 370"/>
          <p:cNvSpPr/>
          <p:nvPr/>
        </p:nvSpPr>
        <p:spPr>
          <a:xfrm>
            <a:off x="5691600" y="5970600"/>
            <a:ext cx="111600" cy="216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2" name="Rectangle 371"/>
          <p:cNvSpPr/>
          <p:nvPr/>
        </p:nvSpPr>
        <p:spPr>
          <a:xfrm>
            <a:off x="5721731" y="5938200"/>
            <a:ext cx="51336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73" name="Connector 372"/>
          <p:cNvCxnSpPr/>
          <p:nvPr/>
        </p:nvCxnSpPr>
        <p:spPr>
          <a:xfrm>
            <a:off x="5706000" y="6095879"/>
            <a:ext cx="828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374" name="Rectangle 373"/>
          <p:cNvSpPr/>
          <p:nvPr/>
        </p:nvSpPr>
        <p:spPr>
          <a:xfrm>
            <a:off x="5862600" y="5997600"/>
            <a:ext cx="79200" cy="189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5" name="Rectangle 374"/>
          <p:cNvSpPr/>
          <p:nvPr/>
        </p:nvSpPr>
        <p:spPr>
          <a:xfrm>
            <a:off x="5883984" y="5965200"/>
            <a:ext cx="36432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76" name="Connector 375"/>
          <p:cNvCxnSpPr/>
          <p:nvPr/>
        </p:nvCxnSpPr>
        <p:spPr>
          <a:xfrm>
            <a:off x="5877000" y="6107220"/>
            <a:ext cx="504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377" name="Rectangle 376"/>
          <p:cNvSpPr/>
          <p:nvPr/>
        </p:nvSpPr>
        <p:spPr>
          <a:xfrm>
            <a:off x="5691600" y="4575600"/>
            <a:ext cx="90000" cy="171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8" name="Rectangle 377"/>
          <p:cNvSpPr/>
          <p:nvPr/>
        </p:nvSpPr>
        <p:spPr>
          <a:xfrm>
            <a:off x="5715900" y="4543200"/>
            <a:ext cx="41400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79" name="Connector 378"/>
          <p:cNvCxnSpPr/>
          <p:nvPr/>
        </p:nvCxnSpPr>
        <p:spPr>
          <a:xfrm>
            <a:off x="5706000" y="4674780"/>
            <a:ext cx="612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380" name="Rectangle 379"/>
          <p:cNvSpPr/>
          <p:nvPr/>
        </p:nvSpPr>
        <p:spPr>
          <a:xfrm>
            <a:off x="5862600" y="4530600"/>
            <a:ext cx="111600" cy="216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1" name="Rectangle 380"/>
          <p:cNvSpPr/>
          <p:nvPr/>
        </p:nvSpPr>
        <p:spPr>
          <a:xfrm>
            <a:off x="5892731" y="4498200"/>
            <a:ext cx="51336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82" name="Connector 381"/>
          <p:cNvCxnSpPr/>
          <p:nvPr/>
        </p:nvCxnSpPr>
        <p:spPr>
          <a:xfrm>
            <a:off x="5877000" y="4655879"/>
            <a:ext cx="828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cxnSp>
        <p:nvCxnSpPr>
          <p:cNvPr id="383" name="Connector 382"/>
          <p:cNvCxnSpPr/>
          <p:nvPr/>
        </p:nvCxnSpPr>
        <p:spPr>
          <a:xfrm>
            <a:off x="1881000" y="7893000"/>
            <a:ext cx="4690800" cy="0"/>
          </a:xfrm>
          <a:prstGeom prst="line">
            <a:avLst/>
          </a:prstGeom>
          <a:ln w="12700">
            <a:solidFill>
              <a:srgbClr val="9A825A"/>
            </a:solidFill>
          </a:ln>
          <a:effectLst/>
        </p:spPr>
      </p:cxnSp>
      <p:cxnSp>
        <p:nvCxnSpPr>
          <p:cNvPr id="384" name="Connector 383"/>
          <p:cNvCxnSpPr/>
          <p:nvPr/>
        </p:nvCxnSpPr>
        <p:spPr>
          <a:xfrm>
            <a:off x="1836000" y="7992000"/>
            <a:ext cx="0" cy="612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385" name="Connector 384"/>
          <p:cNvCxnSpPr/>
          <p:nvPr/>
        </p:nvCxnSpPr>
        <p:spPr>
          <a:xfrm>
            <a:off x="7426800" y="7992000"/>
            <a:ext cx="0" cy="612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386" name="Connector 385"/>
          <p:cNvCxnSpPr/>
          <p:nvPr/>
        </p:nvCxnSpPr>
        <p:spPr>
          <a:xfrm>
            <a:off x="1836000" y="8604000"/>
            <a:ext cx="55908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387" name="Connector 386"/>
          <p:cNvCxnSpPr/>
          <p:nvPr/>
        </p:nvCxnSpPr>
        <p:spPr>
          <a:xfrm flipV="1">
            <a:off x="1800000" y="8568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388" name="Connector 387"/>
          <p:cNvCxnSpPr/>
          <p:nvPr/>
        </p:nvCxnSpPr>
        <p:spPr>
          <a:xfrm flipV="1">
            <a:off x="7390800" y="8568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389" name="TextBox 388"/>
          <p:cNvSpPr txBox="1"/>
          <p:nvPr/>
        </p:nvSpPr>
        <p:spPr>
          <a:xfrm>
            <a:off x="4091400" y="8424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3106</a:t>
            </a:r>
          </a:p>
        </p:txBody>
      </p:sp>
      <p:cxnSp>
        <p:nvCxnSpPr>
          <p:cNvPr id="390" name="Connector 389"/>
          <p:cNvCxnSpPr/>
          <p:nvPr/>
        </p:nvCxnSpPr>
        <p:spPr>
          <a:xfrm flipH="1">
            <a:off x="1296000" y="7992000"/>
            <a:ext cx="540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391" name="Connector 390"/>
          <p:cNvCxnSpPr/>
          <p:nvPr/>
        </p:nvCxnSpPr>
        <p:spPr>
          <a:xfrm flipH="1">
            <a:off x="1296000" y="3312000"/>
            <a:ext cx="540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392" name="Connector 391"/>
          <p:cNvCxnSpPr/>
          <p:nvPr/>
        </p:nvCxnSpPr>
        <p:spPr>
          <a:xfrm flipV="1">
            <a:off x="1296000" y="3312000"/>
            <a:ext cx="0" cy="4680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393" name="Connector 392"/>
          <p:cNvCxnSpPr/>
          <p:nvPr/>
        </p:nvCxnSpPr>
        <p:spPr>
          <a:xfrm flipV="1">
            <a:off x="1260000" y="795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394" name="Connector 393"/>
          <p:cNvCxnSpPr/>
          <p:nvPr/>
        </p:nvCxnSpPr>
        <p:spPr>
          <a:xfrm flipV="1">
            <a:off x="1260000" y="327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395" name="TextBox 394"/>
          <p:cNvSpPr txBox="1"/>
          <p:nvPr/>
        </p:nvSpPr>
        <p:spPr>
          <a:xfrm>
            <a:off x="864000" y="5652000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2600</a:t>
            </a:r>
          </a:p>
        </p:txBody>
      </p:sp>
      <p:cxnSp>
        <p:nvCxnSpPr>
          <p:cNvPr id="396" name="Connector 395"/>
          <p:cNvCxnSpPr/>
          <p:nvPr/>
        </p:nvCxnSpPr>
        <p:spPr>
          <a:xfrm>
            <a:off x="1836000" y="79920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397" name="Connector 396"/>
          <p:cNvCxnSpPr/>
          <p:nvPr/>
        </p:nvCxnSpPr>
        <p:spPr>
          <a:xfrm>
            <a:off x="3031200" y="79920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398" name="Connector 397"/>
          <p:cNvCxnSpPr/>
          <p:nvPr/>
        </p:nvCxnSpPr>
        <p:spPr>
          <a:xfrm>
            <a:off x="1836000" y="8280000"/>
            <a:ext cx="11952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399" name="Connector 398"/>
          <p:cNvCxnSpPr/>
          <p:nvPr/>
        </p:nvCxnSpPr>
        <p:spPr>
          <a:xfrm flipV="1">
            <a:off x="1800000" y="8244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00" name="Connector 399"/>
          <p:cNvCxnSpPr/>
          <p:nvPr/>
        </p:nvCxnSpPr>
        <p:spPr>
          <a:xfrm flipV="1">
            <a:off x="2995200" y="8244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401" name="TextBox 400"/>
          <p:cNvSpPr txBox="1"/>
          <p:nvPr/>
        </p:nvSpPr>
        <p:spPr>
          <a:xfrm>
            <a:off x="1893599" y="8100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664</a:t>
            </a:r>
          </a:p>
        </p:txBody>
      </p:sp>
      <p:cxnSp>
        <p:nvCxnSpPr>
          <p:cNvPr id="402" name="Connector 401"/>
          <p:cNvCxnSpPr/>
          <p:nvPr/>
        </p:nvCxnSpPr>
        <p:spPr>
          <a:xfrm>
            <a:off x="3031200" y="79920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03" name="Connector 402"/>
          <p:cNvCxnSpPr/>
          <p:nvPr/>
        </p:nvCxnSpPr>
        <p:spPr>
          <a:xfrm>
            <a:off x="4226400" y="79920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04" name="Connector 403"/>
          <p:cNvCxnSpPr/>
          <p:nvPr/>
        </p:nvCxnSpPr>
        <p:spPr>
          <a:xfrm>
            <a:off x="3031200" y="8280000"/>
            <a:ext cx="11952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05" name="Connector 404"/>
          <p:cNvCxnSpPr/>
          <p:nvPr/>
        </p:nvCxnSpPr>
        <p:spPr>
          <a:xfrm flipV="1">
            <a:off x="2995200" y="8244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06" name="Connector 405"/>
          <p:cNvCxnSpPr/>
          <p:nvPr/>
        </p:nvCxnSpPr>
        <p:spPr>
          <a:xfrm flipV="1">
            <a:off x="4190400" y="8244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407" name="TextBox 406"/>
          <p:cNvSpPr txBox="1"/>
          <p:nvPr/>
        </p:nvSpPr>
        <p:spPr>
          <a:xfrm>
            <a:off x="3088800" y="8100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664</a:t>
            </a:r>
          </a:p>
        </p:txBody>
      </p:sp>
      <p:cxnSp>
        <p:nvCxnSpPr>
          <p:cNvPr id="408" name="Connector 407"/>
          <p:cNvCxnSpPr/>
          <p:nvPr/>
        </p:nvCxnSpPr>
        <p:spPr>
          <a:xfrm>
            <a:off x="4226400" y="79920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09" name="Connector 408"/>
          <p:cNvCxnSpPr/>
          <p:nvPr/>
        </p:nvCxnSpPr>
        <p:spPr>
          <a:xfrm>
            <a:off x="5421600" y="79920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10" name="Connector 409"/>
          <p:cNvCxnSpPr/>
          <p:nvPr/>
        </p:nvCxnSpPr>
        <p:spPr>
          <a:xfrm>
            <a:off x="4226400" y="8280000"/>
            <a:ext cx="11952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11" name="Connector 410"/>
          <p:cNvCxnSpPr/>
          <p:nvPr/>
        </p:nvCxnSpPr>
        <p:spPr>
          <a:xfrm flipV="1">
            <a:off x="4190400" y="8244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12" name="Connector 411"/>
          <p:cNvCxnSpPr/>
          <p:nvPr/>
        </p:nvCxnSpPr>
        <p:spPr>
          <a:xfrm flipV="1">
            <a:off x="5385600" y="8244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413" name="TextBox 412"/>
          <p:cNvSpPr txBox="1"/>
          <p:nvPr/>
        </p:nvSpPr>
        <p:spPr>
          <a:xfrm>
            <a:off x="4284000" y="8100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664</a:t>
            </a:r>
          </a:p>
        </p:txBody>
      </p:sp>
      <p:cxnSp>
        <p:nvCxnSpPr>
          <p:cNvPr id="414" name="Connector 413"/>
          <p:cNvCxnSpPr/>
          <p:nvPr/>
        </p:nvCxnSpPr>
        <p:spPr>
          <a:xfrm>
            <a:off x="5421600" y="79920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15" name="Connector 414"/>
          <p:cNvCxnSpPr/>
          <p:nvPr/>
        </p:nvCxnSpPr>
        <p:spPr>
          <a:xfrm>
            <a:off x="6616800" y="79920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16" name="Connector 415"/>
          <p:cNvCxnSpPr/>
          <p:nvPr/>
        </p:nvCxnSpPr>
        <p:spPr>
          <a:xfrm>
            <a:off x="5421600" y="8280000"/>
            <a:ext cx="11952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17" name="Connector 416"/>
          <p:cNvCxnSpPr/>
          <p:nvPr/>
        </p:nvCxnSpPr>
        <p:spPr>
          <a:xfrm flipV="1">
            <a:off x="5385600" y="8244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18" name="Connector 417"/>
          <p:cNvCxnSpPr/>
          <p:nvPr/>
        </p:nvCxnSpPr>
        <p:spPr>
          <a:xfrm flipV="1">
            <a:off x="6580800" y="8244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419" name="TextBox 418"/>
          <p:cNvSpPr txBox="1"/>
          <p:nvPr/>
        </p:nvSpPr>
        <p:spPr>
          <a:xfrm>
            <a:off x="5479200" y="8100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664</a:t>
            </a:r>
          </a:p>
        </p:txBody>
      </p:sp>
      <p:cxnSp>
        <p:nvCxnSpPr>
          <p:cNvPr id="420" name="Connector 419"/>
          <p:cNvCxnSpPr/>
          <p:nvPr/>
        </p:nvCxnSpPr>
        <p:spPr>
          <a:xfrm>
            <a:off x="7426800" y="7992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21" name="Connector 420"/>
          <p:cNvCxnSpPr/>
          <p:nvPr/>
        </p:nvCxnSpPr>
        <p:spPr>
          <a:xfrm>
            <a:off x="7426800" y="7812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22" name="Connector 421"/>
          <p:cNvCxnSpPr/>
          <p:nvPr/>
        </p:nvCxnSpPr>
        <p:spPr>
          <a:xfrm flipV="1">
            <a:off x="7750800" y="7812000"/>
            <a:ext cx="0" cy="180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23" name="Connector 422"/>
          <p:cNvCxnSpPr/>
          <p:nvPr/>
        </p:nvCxnSpPr>
        <p:spPr>
          <a:xfrm flipV="1">
            <a:off x="7714800" y="795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24" name="Connector 423"/>
          <p:cNvCxnSpPr/>
          <p:nvPr/>
        </p:nvCxnSpPr>
        <p:spPr>
          <a:xfrm flipV="1">
            <a:off x="7714800" y="777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425" name="TextBox 424"/>
          <p:cNvSpPr txBox="1"/>
          <p:nvPr/>
        </p:nvSpPr>
        <p:spPr>
          <a:xfrm>
            <a:off x="7318800" y="7902000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100</a:t>
            </a:r>
          </a:p>
        </p:txBody>
      </p:sp>
      <p:cxnSp>
        <p:nvCxnSpPr>
          <p:cNvPr id="426" name="Connector 425"/>
          <p:cNvCxnSpPr/>
          <p:nvPr/>
        </p:nvCxnSpPr>
        <p:spPr>
          <a:xfrm>
            <a:off x="7426800" y="7812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27" name="Connector 426"/>
          <p:cNvCxnSpPr/>
          <p:nvPr/>
        </p:nvCxnSpPr>
        <p:spPr>
          <a:xfrm>
            <a:off x="7426800" y="6912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28" name="Connector 427"/>
          <p:cNvCxnSpPr/>
          <p:nvPr/>
        </p:nvCxnSpPr>
        <p:spPr>
          <a:xfrm flipV="1">
            <a:off x="7750800" y="6912000"/>
            <a:ext cx="0" cy="900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29" name="Connector 428"/>
          <p:cNvCxnSpPr/>
          <p:nvPr/>
        </p:nvCxnSpPr>
        <p:spPr>
          <a:xfrm flipV="1">
            <a:off x="7714800" y="777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30" name="Connector 429"/>
          <p:cNvCxnSpPr/>
          <p:nvPr/>
        </p:nvCxnSpPr>
        <p:spPr>
          <a:xfrm flipV="1">
            <a:off x="7714800" y="687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431" name="TextBox 430"/>
          <p:cNvSpPr txBox="1"/>
          <p:nvPr/>
        </p:nvSpPr>
        <p:spPr>
          <a:xfrm>
            <a:off x="7318800" y="7362000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500</a:t>
            </a:r>
          </a:p>
        </p:txBody>
      </p:sp>
      <p:cxnSp>
        <p:nvCxnSpPr>
          <p:cNvPr id="432" name="Connector 431"/>
          <p:cNvCxnSpPr/>
          <p:nvPr/>
        </p:nvCxnSpPr>
        <p:spPr>
          <a:xfrm>
            <a:off x="7426800" y="6912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33" name="Connector 432"/>
          <p:cNvCxnSpPr/>
          <p:nvPr/>
        </p:nvCxnSpPr>
        <p:spPr>
          <a:xfrm>
            <a:off x="7426800" y="6192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34" name="Connector 433"/>
          <p:cNvCxnSpPr/>
          <p:nvPr/>
        </p:nvCxnSpPr>
        <p:spPr>
          <a:xfrm flipV="1">
            <a:off x="7750800" y="6192000"/>
            <a:ext cx="0" cy="720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35" name="Connector 434"/>
          <p:cNvCxnSpPr/>
          <p:nvPr/>
        </p:nvCxnSpPr>
        <p:spPr>
          <a:xfrm flipV="1">
            <a:off x="7714800" y="687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36" name="Connector 435"/>
          <p:cNvCxnSpPr/>
          <p:nvPr/>
        </p:nvCxnSpPr>
        <p:spPr>
          <a:xfrm flipV="1">
            <a:off x="7714800" y="615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437" name="TextBox 436"/>
          <p:cNvSpPr txBox="1"/>
          <p:nvPr/>
        </p:nvSpPr>
        <p:spPr>
          <a:xfrm>
            <a:off x="7318800" y="6552000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400</a:t>
            </a:r>
          </a:p>
        </p:txBody>
      </p:sp>
      <p:cxnSp>
        <p:nvCxnSpPr>
          <p:cNvPr id="438" name="Connector 437"/>
          <p:cNvCxnSpPr/>
          <p:nvPr/>
        </p:nvCxnSpPr>
        <p:spPr>
          <a:xfrm>
            <a:off x="7426800" y="6192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39" name="Connector 438"/>
          <p:cNvCxnSpPr/>
          <p:nvPr/>
        </p:nvCxnSpPr>
        <p:spPr>
          <a:xfrm>
            <a:off x="7426800" y="5472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40" name="Connector 439"/>
          <p:cNvCxnSpPr/>
          <p:nvPr/>
        </p:nvCxnSpPr>
        <p:spPr>
          <a:xfrm flipV="1">
            <a:off x="7750800" y="5472000"/>
            <a:ext cx="0" cy="720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41" name="Connector 440"/>
          <p:cNvCxnSpPr/>
          <p:nvPr/>
        </p:nvCxnSpPr>
        <p:spPr>
          <a:xfrm flipV="1">
            <a:off x="7714800" y="615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42" name="Connector 441"/>
          <p:cNvCxnSpPr/>
          <p:nvPr/>
        </p:nvCxnSpPr>
        <p:spPr>
          <a:xfrm flipV="1">
            <a:off x="7714800" y="543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443" name="TextBox 442"/>
          <p:cNvSpPr txBox="1"/>
          <p:nvPr/>
        </p:nvSpPr>
        <p:spPr>
          <a:xfrm>
            <a:off x="7318800" y="5832000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400</a:t>
            </a:r>
          </a:p>
        </p:txBody>
      </p:sp>
      <p:cxnSp>
        <p:nvCxnSpPr>
          <p:cNvPr id="444" name="Connector 443"/>
          <p:cNvCxnSpPr/>
          <p:nvPr/>
        </p:nvCxnSpPr>
        <p:spPr>
          <a:xfrm>
            <a:off x="7426800" y="5472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45" name="Connector 444"/>
          <p:cNvCxnSpPr/>
          <p:nvPr/>
        </p:nvCxnSpPr>
        <p:spPr>
          <a:xfrm>
            <a:off x="7426800" y="4752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46" name="Connector 445"/>
          <p:cNvCxnSpPr/>
          <p:nvPr/>
        </p:nvCxnSpPr>
        <p:spPr>
          <a:xfrm flipV="1">
            <a:off x="7750800" y="4752000"/>
            <a:ext cx="0" cy="720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47" name="Connector 446"/>
          <p:cNvCxnSpPr/>
          <p:nvPr/>
        </p:nvCxnSpPr>
        <p:spPr>
          <a:xfrm flipV="1">
            <a:off x="7714800" y="543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48" name="Connector 447"/>
          <p:cNvCxnSpPr/>
          <p:nvPr/>
        </p:nvCxnSpPr>
        <p:spPr>
          <a:xfrm flipV="1">
            <a:off x="7714800" y="471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449" name="TextBox 448"/>
          <p:cNvSpPr txBox="1"/>
          <p:nvPr/>
        </p:nvSpPr>
        <p:spPr>
          <a:xfrm>
            <a:off x="7318800" y="5112000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400</a:t>
            </a:r>
          </a:p>
        </p:txBody>
      </p:sp>
      <p:cxnSp>
        <p:nvCxnSpPr>
          <p:cNvPr id="450" name="Connector 449"/>
          <p:cNvCxnSpPr/>
          <p:nvPr/>
        </p:nvCxnSpPr>
        <p:spPr>
          <a:xfrm>
            <a:off x="7426800" y="4752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51" name="Connector 450"/>
          <p:cNvCxnSpPr/>
          <p:nvPr/>
        </p:nvCxnSpPr>
        <p:spPr>
          <a:xfrm>
            <a:off x="7426800" y="4032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52" name="Connector 451"/>
          <p:cNvCxnSpPr/>
          <p:nvPr/>
        </p:nvCxnSpPr>
        <p:spPr>
          <a:xfrm flipV="1">
            <a:off x="7750800" y="4032000"/>
            <a:ext cx="0" cy="720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53" name="Connector 452"/>
          <p:cNvCxnSpPr/>
          <p:nvPr/>
        </p:nvCxnSpPr>
        <p:spPr>
          <a:xfrm flipV="1">
            <a:off x="7714800" y="471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54" name="Connector 453"/>
          <p:cNvCxnSpPr/>
          <p:nvPr/>
        </p:nvCxnSpPr>
        <p:spPr>
          <a:xfrm flipV="1">
            <a:off x="7714800" y="399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455" name="TextBox 454"/>
          <p:cNvSpPr txBox="1"/>
          <p:nvPr/>
        </p:nvSpPr>
        <p:spPr>
          <a:xfrm>
            <a:off x="7318800" y="4392000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400</a:t>
            </a:r>
          </a:p>
        </p:txBody>
      </p:sp>
      <p:cxnSp>
        <p:nvCxnSpPr>
          <p:cNvPr id="456" name="Connector 455"/>
          <p:cNvCxnSpPr/>
          <p:nvPr/>
        </p:nvCxnSpPr>
        <p:spPr>
          <a:xfrm>
            <a:off x="7426800" y="4032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57" name="Connector 456"/>
          <p:cNvCxnSpPr/>
          <p:nvPr/>
        </p:nvCxnSpPr>
        <p:spPr>
          <a:xfrm>
            <a:off x="7426800" y="3312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58" name="Connector 457"/>
          <p:cNvCxnSpPr/>
          <p:nvPr/>
        </p:nvCxnSpPr>
        <p:spPr>
          <a:xfrm flipV="1">
            <a:off x="7750800" y="3312000"/>
            <a:ext cx="0" cy="720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59" name="Connector 458"/>
          <p:cNvCxnSpPr/>
          <p:nvPr/>
        </p:nvCxnSpPr>
        <p:spPr>
          <a:xfrm flipV="1">
            <a:off x="7714800" y="399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60" name="Connector 459"/>
          <p:cNvCxnSpPr/>
          <p:nvPr/>
        </p:nvCxnSpPr>
        <p:spPr>
          <a:xfrm flipV="1">
            <a:off x="7714800" y="327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461" name="TextBox 460"/>
          <p:cNvSpPr txBox="1"/>
          <p:nvPr/>
        </p:nvSpPr>
        <p:spPr>
          <a:xfrm>
            <a:off x="7318800" y="3672000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400</a:t>
            </a:r>
          </a:p>
        </p:txBody>
      </p:sp>
      <p:cxnSp>
        <p:nvCxnSpPr>
          <p:cNvPr id="462" name="Connector 461"/>
          <p:cNvCxnSpPr/>
          <p:nvPr/>
        </p:nvCxnSpPr>
        <p:spPr>
          <a:xfrm flipV="1">
            <a:off x="4226400" y="3456000"/>
            <a:ext cx="3909600" cy="216000"/>
          </a:xfrm>
          <a:prstGeom prst="line">
            <a:avLst/>
          </a:prstGeom>
          <a:ln w="6985">
            <a:solidFill>
              <a:srgbClr val="737871"/>
            </a:solidFill>
          </a:ln>
          <a:effectLst/>
        </p:spPr>
      </p:cxnSp>
      <p:sp>
        <p:nvSpPr>
          <p:cNvPr id="463" name="TextBox 462"/>
          <p:cNvSpPr txBox="1"/>
          <p:nvPr/>
        </p:nvSpPr>
        <p:spPr>
          <a:xfrm>
            <a:off x="8136000" y="3528000"/>
            <a:ext cx="2052000" cy="50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252725"/>
                </a:solidFill>
                <a:latin typeface="Liberation Sans"/>
              </a:defRPr>
            </a:pPr>
            <a:r>
              <a:t>EXPANDED METAL MESH</a:t>
            </a:r>
          </a:p>
        </p:txBody>
      </p:sp>
      <p:cxnSp>
        <p:nvCxnSpPr>
          <p:cNvPr id="464" name="Connector 463"/>
          <p:cNvCxnSpPr/>
          <p:nvPr/>
        </p:nvCxnSpPr>
        <p:spPr>
          <a:xfrm flipV="1">
            <a:off x="5256000" y="5004000"/>
            <a:ext cx="2880000" cy="486000"/>
          </a:xfrm>
          <a:prstGeom prst="line">
            <a:avLst/>
          </a:prstGeom>
          <a:ln w="6985">
            <a:solidFill>
              <a:srgbClr val="737871"/>
            </a:solidFill>
          </a:ln>
          <a:effectLst/>
        </p:spPr>
      </p:cxnSp>
      <p:sp>
        <p:nvSpPr>
          <p:cNvPr id="465" name="TextBox 464"/>
          <p:cNvSpPr txBox="1"/>
          <p:nvPr/>
        </p:nvSpPr>
        <p:spPr>
          <a:xfrm>
            <a:off x="8136000" y="5076000"/>
            <a:ext cx="2052000" cy="50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252725"/>
                </a:solidFill>
                <a:latin typeface="Liberation Sans"/>
              </a:defRPr>
            </a:pPr>
            <a:r>
              <a:t>BLACK TRAY / WARM LED</a:t>
            </a:r>
          </a:p>
        </p:txBody>
      </p:sp>
      <p:cxnSp>
        <p:nvCxnSpPr>
          <p:cNvPr id="466" name="Connector 465"/>
          <p:cNvCxnSpPr/>
          <p:nvPr/>
        </p:nvCxnSpPr>
        <p:spPr>
          <a:xfrm flipV="1">
            <a:off x="4226400" y="7524000"/>
            <a:ext cx="3909600" cy="198000"/>
          </a:xfrm>
          <a:prstGeom prst="line">
            <a:avLst/>
          </a:prstGeom>
          <a:ln w="6985">
            <a:solidFill>
              <a:srgbClr val="737871"/>
            </a:solidFill>
          </a:ln>
          <a:effectLst/>
        </p:spPr>
      </p:cxnSp>
      <p:sp>
        <p:nvSpPr>
          <p:cNvPr id="467" name="TextBox 466"/>
          <p:cNvSpPr txBox="1"/>
          <p:nvPr/>
        </p:nvSpPr>
        <p:spPr>
          <a:xfrm>
            <a:off x="8136000" y="7596000"/>
            <a:ext cx="2052000" cy="50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252725"/>
                </a:solidFill>
                <a:latin typeface="Liberation Sans"/>
              </a:defRPr>
            </a:pPr>
            <a:r>
              <a:t>RECESSED PLINTH / BASE</a:t>
            </a:r>
          </a:p>
        </p:txBody>
      </p:sp>
      <p:sp>
        <p:nvSpPr>
          <p:cNvPr id="468" name="TextBox 467"/>
          <p:cNvSpPr txBox="1"/>
          <p:nvPr/>
        </p:nvSpPr>
        <p:spPr>
          <a:xfrm>
            <a:off x="792000" y="2196000"/>
            <a:ext cx="9360000" cy="32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9A825A"/>
                </a:solidFill>
                <a:latin typeface="Liberation Sans"/>
              </a:defRPr>
            </a:pPr>
            <a:r>
              <a:t>BLACK STEEL  /  NEUTRAL PPC  /  EXPANDED MESH  /  3000 K LED</a:t>
            </a:r>
          </a:p>
        </p:txBody>
      </p:sp>
      <p:sp>
        <p:nvSpPr>
          <p:cNvPr id="469" name="Rectangle 468"/>
          <p:cNvSpPr/>
          <p:nvPr/>
        </p:nvSpPr>
        <p:spPr>
          <a:xfrm>
            <a:off x="8424000" y="6638400"/>
            <a:ext cx="1800000" cy="216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0" name="Rectangle 469"/>
          <p:cNvSpPr/>
          <p:nvPr/>
        </p:nvSpPr>
        <p:spPr>
          <a:xfrm>
            <a:off x="10202400" y="6638400"/>
            <a:ext cx="21600" cy="18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1" name="Rectangle 470"/>
          <p:cNvSpPr/>
          <p:nvPr/>
        </p:nvSpPr>
        <p:spPr>
          <a:xfrm>
            <a:off x="8532000" y="6660000"/>
            <a:ext cx="144000" cy="144000"/>
          </a:xfrm>
          <a:prstGeom prst="rect">
            <a:avLst/>
          </a:prstGeom>
          <a:noFill/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72" name="Connector 471"/>
          <p:cNvCxnSpPr/>
          <p:nvPr/>
        </p:nvCxnSpPr>
        <p:spPr>
          <a:xfrm flipV="1">
            <a:off x="8424000" y="6422400"/>
            <a:ext cx="0" cy="216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73" name="Connector 472"/>
          <p:cNvCxnSpPr/>
          <p:nvPr/>
        </p:nvCxnSpPr>
        <p:spPr>
          <a:xfrm flipV="1">
            <a:off x="10224000" y="6422400"/>
            <a:ext cx="0" cy="216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74" name="Connector 473"/>
          <p:cNvCxnSpPr/>
          <p:nvPr/>
        </p:nvCxnSpPr>
        <p:spPr>
          <a:xfrm>
            <a:off x="8424000" y="6422400"/>
            <a:ext cx="180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75" name="Connector 474"/>
          <p:cNvCxnSpPr/>
          <p:nvPr/>
        </p:nvCxnSpPr>
        <p:spPr>
          <a:xfrm flipV="1">
            <a:off x="8388000" y="63864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76" name="Connector 475"/>
          <p:cNvCxnSpPr/>
          <p:nvPr/>
        </p:nvCxnSpPr>
        <p:spPr>
          <a:xfrm flipV="1">
            <a:off x="10188000" y="63864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477" name="TextBox 476"/>
          <p:cNvSpPr txBox="1"/>
          <p:nvPr/>
        </p:nvSpPr>
        <p:spPr>
          <a:xfrm>
            <a:off x="8784000" y="62424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250</a:t>
            </a:r>
          </a:p>
        </p:txBody>
      </p:sp>
      <p:sp>
        <p:nvSpPr>
          <p:cNvPr id="478" name="TextBox 477"/>
          <p:cNvSpPr txBox="1"/>
          <p:nvPr/>
        </p:nvSpPr>
        <p:spPr>
          <a:xfrm>
            <a:off x="8424000" y="6912000"/>
            <a:ext cx="1908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SHELF SECTION 1:5</a:t>
            </a:r>
          </a:p>
        </p:txBody>
      </p:sp>
      <p:sp>
        <p:nvSpPr>
          <p:cNvPr id="479" name="TextBox 478"/>
          <p:cNvSpPr txBox="1"/>
          <p:nvPr/>
        </p:nvSpPr>
        <p:spPr>
          <a:xfrm>
            <a:off x="8136000" y="7236000"/>
            <a:ext cx="2160000" cy="54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3 mm tray · 25 downstand</a:t>
            </a:r>
          </a:p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20 × 20 support · LED below</a:t>
            </a:r>
          </a:p>
        </p:txBody>
      </p:sp>
      <p:cxnSp>
        <p:nvCxnSpPr>
          <p:cNvPr id="480" name="Connector 479"/>
          <p:cNvCxnSpPr/>
          <p:nvPr/>
        </p:nvCxnSpPr>
        <p:spPr>
          <a:xfrm>
            <a:off x="1836000" y="9252000"/>
            <a:ext cx="1800000" cy="0"/>
          </a:xfrm>
          <a:prstGeom prst="line">
            <a:avLst/>
          </a:prstGeom>
          <a:ln w="19050">
            <a:solidFill>
              <a:srgbClr val="252725"/>
            </a:solidFill>
          </a:ln>
          <a:effectLst/>
        </p:spPr>
      </p:cxnSp>
      <p:cxnSp>
        <p:nvCxnSpPr>
          <p:cNvPr id="481" name="Connector 480"/>
          <p:cNvCxnSpPr/>
          <p:nvPr/>
        </p:nvCxnSpPr>
        <p:spPr>
          <a:xfrm>
            <a:off x="1836000" y="9216000"/>
            <a:ext cx="0" cy="7200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cxnSp>
        <p:nvCxnSpPr>
          <p:cNvPr id="482" name="Connector 481"/>
          <p:cNvCxnSpPr/>
          <p:nvPr/>
        </p:nvCxnSpPr>
        <p:spPr>
          <a:xfrm>
            <a:off x="2736000" y="9216000"/>
            <a:ext cx="0" cy="7200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cxnSp>
        <p:nvCxnSpPr>
          <p:cNvPr id="483" name="Connector 482"/>
          <p:cNvCxnSpPr/>
          <p:nvPr/>
        </p:nvCxnSpPr>
        <p:spPr>
          <a:xfrm>
            <a:off x="3636000" y="9216000"/>
            <a:ext cx="0" cy="7200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sp>
        <p:nvSpPr>
          <p:cNvPr id="484" name="TextBox 483"/>
          <p:cNvSpPr txBox="1"/>
          <p:nvPr/>
        </p:nvSpPr>
        <p:spPr>
          <a:xfrm>
            <a:off x="1836000" y="9324000"/>
            <a:ext cx="2340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700" b="0">
                <a:solidFill>
                  <a:srgbClr val="737871"/>
                </a:solidFill>
                <a:latin typeface="Liberation Sans"/>
              </a:defRPr>
            </a:pPr>
            <a:r>
              <a:t>0                         1000 mm   |   1:20</a:t>
            </a:r>
          </a:p>
        </p:txBody>
      </p:sp>
      <p:sp>
        <p:nvSpPr>
          <p:cNvPr id="485" name="TextBox 484"/>
          <p:cNvSpPr txBox="1"/>
          <p:nvPr/>
        </p:nvSpPr>
        <p:spPr>
          <a:xfrm>
            <a:off x="4212000" y="8964000"/>
            <a:ext cx="6120000" cy="432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750" b="0">
                <a:solidFill>
                  <a:srgbClr val="737871"/>
                </a:solidFill>
                <a:latin typeface="Liberation Sans"/>
              </a:defRPr>
            </a:pPr>
            <a:r>
              <a:t>INDICATIVE BOTTLES · NOT A STOCK / CAPACITY SCHEDULE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360000"/>
            <a:ext cx="10620000" cy="216000"/>
          </a:xfrm>
          <a:prstGeom prst="rect">
            <a:avLst/>
          </a:prstGeom>
          <a:noFill/>
          <a:effectLst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9A825A"/>
                </a:solidFill>
                <a:latin typeface="Liberation Sans"/>
              </a:defRPr>
            </a:pPr>
            <a:r>
              <a:t>BORN FRAGRANCE  /  ARCHITECTURE + INTERIOR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720000"/>
            <a:ext cx="11880000" cy="504000"/>
          </a:xfrm>
          <a:prstGeom prst="rect">
            <a:avLst/>
          </a:prstGeom>
          <a:noFill/>
          <a:effectLst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300" b="0">
                <a:solidFill>
                  <a:srgbClr val="252725"/>
                </a:solidFill>
                <a:latin typeface="Liberation Serif"/>
              </a:defRPr>
            </a:pPr>
            <a:r>
              <a:t>Spatial assembly / cutaway axonometric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1296000"/>
            <a:ext cx="12420000" cy="288000"/>
          </a:xfrm>
          <a:prstGeom prst="rect">
            <a:avLst/>
          </a:prstGeom>
          <a:noFill/>
          <a:effectLst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737871"/>
                </a:solidFill>
                <a:latin typeface="Liberation Sans"/>
              </a:defRPr>
            </a:pPr>
            <a:r>
              <a:t>Shaded cutaway / approved geometry + render material language · near wall and ceiling removed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40000" y="468000"/>
            <a:ext cx="1368000" cy="619671"/>
          </a:xfrm>
          <a:prstGeom prst="rect">
            <a:avLst/>
          </a:prstGeom>
          <a:effectLst/>
          <a:effectLst/>
        </p:spPr>
      </p:pic>
      <p:cxnSp>
        <p:nvCxnSpPr>
          <p:cNvPr id="6" name="Connector 5"/>
          <p:cNvCxnSpPr/>
          <p:nvPr/>
        </p:nvCxnSpPr>
        <p:spPr>
          <a:xfrm>
            <a:off x="540000" y="1728000"/>
            <a:ext cx="14040000" cy="0"/>
          </a:xfrm>
          <a:prstGeom prst="line">
            <a:avLst/>
          </a:prstGeom>
          <a:ln w="8890">
            <a:solidFill>
              <a:srgbClr val="9A825A"/>
            </a:solidFill>
          </a:ln>
          <a:effectLst/>
          <a:effectLst/>
        </p:spPr>
      </p:cxnSp>
      <p:cxnSp>
        <p:nvCxnSpPr>
          <p:cNvPr id="7" name="Connector 6"/>
          <p:cNvCxnSpPr/>
          <p:nvPr/>
        </p:nvCxnSpPr>
        <p:spPr>
          <a:xfrm>
            <a:off x="540000" y="9792000"/>
            <a:ext cx="14040000" cy="0"/>
          </a:xfrm>
          <a:prstGeom prst="line">
            <a:avLst/>
          </a:prstGeom>
          <a:ln w="8890">
            <a:solidFill>
              <a:srgbClr val="9A825A"/>
            </a:solidFill>
          </a:ln>
          <a:effectLst/>
          <a:effectLst/>
        </p:spPr>
      </p:cxnSp>
      <p:sp>
        <p:nvSpPr>
          <p:cNvPr id="8" name="TextBox 7"/>
          <p:cNvSpPr txBox="1"/>
          <p:nvPr/>
        </p:nvSpPr>
        <p:spPr>
          <a:xfrm>
            <a:off x="540000" y="10008000"/>
            <a:ext cx="7128000" cy="360000"/>
          </a:xfrm>
          <a:prstGeom prst="rect">
            <a:avLst/>
          </a:prstGeom>
          <a:noFill/>
          <a:effectLst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750" b="0">
                <a:solidFill>
                  <a:srgbClr val="737871"/>
                </a:solidFill>
                <a:latin typeface="Liberation Sans"/>
              </a:defRPr>
            </a:pPr>
            <a:r>
              <a:t>FOR COORDINATION  ·  SITE ITEMS OPEN  ·  REV D
06 OCT 2026  /  SOURCE REV A</a:t>
            </a:r>
          </a:p>
          <a:p>
            <a:pPr>
              <a:spcAft>
                <a:spcPts val="400"/>
              </a:spcAft>
              <a:defRPr sz="750" b="0">
                <a:solidFill>
                  <a:srgbClr val="737871"/>
                </a:solidFill>
                <a:latin typeface="Liberation Sans"/>
              </a:defRPr>
            </a:pPr>
            <a:r>
              <a:t>06 OCT 2026  /  SOURCE REV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04000" y="10008000"/>
            <a:ext cx="5220000" cy="360000"/>
          </a:xfrm>
          <a:prstGeom prst="rect">
            <a:avLst/>
          </a:prstGeom>
          <a:noFill/>
          <a:effectLst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750" b="0">
                <a:solidFill>
                  <a:srgbClr val="737871"/>
                </a:solidFill>
                <a:latin typeface="Liberation Sans"/>
              </a:defRPr>
            </a:pPr>
            <a:r>
              <a:t>NTS @ A3  ·  DIMENSIONS mm</a:t>
            </a:r>
          </a:p>
          <a:p>
            <a:pPr>
              <a:spcAft>
                <a:spcPts val="400"/>
              </a:spcAft>
              <a:defRPr sz="750" b="0">
                <a:solidFill>
                  <a:srgbClr val="737871"/>
                </a:solidFill>
                <a:latin typeface="Liberation Sans"/>
              </a:defRPr>
            </a:pPr>
            <a:r>
              <a:t>SPEC SNAPSHOT eeccbde1cd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392000" y="10008000"/>
            <a:ext cx="1152000" cy="288000"/>
          </a:xfrm>
          <a:prstGeom prst="rect">
            <a:avLst/>
          </a:prstGeom>
          <a:noFill/>
          <a:effectLst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252725"/>
                </a:solidFill>
                <a:latin typeface="Liberation Sans"/>
              </a:defRPr>
            </a:pPr>
            <a:r>
              <a:t>AP-10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08000" y="2088000"/>
            <a:ext cx="3564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9A825A"/>
                </a:solidFill>
                <a:latin typeface="Liberation Sans"/>
              </a:defRPr>
            </a:pPr>
            <a:r>
              <a:t>SPATIAL CHARACTER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08000" y="2448000"/>
            <a:ext cx="3528000" cy="122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Warm plaster, black frames, mesh, neutral cabinetry and warm shelf lighting follow the reference render.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08000" y="3852000"/>
            <a:ext cx="3564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9A825A"/>
                </a:solidFill>
                <a:latin typeface="Liberation Sans"/>
              </a:defRPr>
            </a:pPr>
            <a:r>
              <a:t>GEOMETRIC BASIS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08000" y="4212000"/>
            <a:ext cx="3528000" cy="122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2400 × 3106 × 2600 envelope. Four 664 modules; centred 1000 × 450 counter; 500 / 900 / 500 rear zones.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08000" y="5616000"/>
            <a:ext cx="3564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9A825A"/>
                </a:solidFill>
                <a:latin typeface="Liberation Sans"/>
              </a:defRPr>
            </a:pPr>
            <a:r>
              <a:t>CUTAWAY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08000" y="5976000"/>
            <a:ext cx="3528000" cy="122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Near-side upper units and ceiling removed to expose the room. Their full extent remains on the plans and elevations.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08000" y="7380000"/>
            <a:ext cx="3564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9A825A"/>
                </a:solidFill>
                <a:latin typeface="Liberation Sans"/>
              </a:defRPr>
            </a:pPr>
            <a:r>
              <a:t>ACCURACY LIMIT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08000" y="7740000"/>
            <a:ext cx="3528000" cy="122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Visual fidelity target, not a measurable 80% certification. Approved dimensions override the render. Bottles are indicative; hardware and fixings remain TBC.</a:t>
            </a:r>
          </a:p>
        </p:txBody>
      </p:sp>
      <p:pic>
        <p:nvPicPr>
          <p:cNvPr id="19" name="Picture 18" descr="axonometric_rev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000" y="1836000"/>
            <a:ext cx="8820000" cy="7617272"/>
          </a:xfrm>
          <a:prstGeom prst="rect">
            <a:avLst/>
          </a:prstGeom>
          <a:effectLst/>
        </p:spPr>
      </p:pic>
      <p:sp>
        <p:nvSpPr>
          <p:cNvPr id="20" name="TextBox 19"/>
          <p:cNvSpPr txBox="1"/>
          <p:nvPr/>
        </p:nvSpPr>
        <p:spPr>
          <a:xfrm>
            <a:off x="864000" y="9252000"/>
            <a:ext cx="9180000" cy="36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CUTAWAY AXONOMETRIC · NTS · ceiling and near-side upper joinery omitted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360000"/>
            <a:ext cx="10620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9A825A"/>
                </a:solidFill>
                <a:latin typeface="Liberation Sans"/>
              </a:defRPr>
            </a:pPr>
            <a:r>
              <a:t>BORN FRAGRANCE  /  ARCHITECTURE + INTERIOR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720000"/>
            <a:ext cx="11880000" cy="50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300" b="0">
                <a:solidFill>
                  <a:srgbClr val="252725"/>
                </a:solidFill>
                <a:latin typeface="Liberation Serif"/>
              </a:defRPr>
            </a:pPr>
            <a:r>
              <a:t>Material palette / visible finishes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1296000"/>
            <a:ext cx="12420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737871"/>
                </a:solidFill>
                <a:latin typeface="Liberation Sans"/>
              </a:defRPr>
            </a:pPr>
            <a:r>
              <a:t>AP-11 · sample-led specification; colours are indicative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40000" y="468000"/>
            <a:ext cx="1368000" cy="619671"/>
          </a:xfrm>
          <a:prstGeom prst="rect">
            <a:avLst/>
          </a:prstGeom>
          <a:effectLst/>
        </p:spPr>
      </p:pic>
      <p:cxnSp>
        <p:nvCxnSpPr>
          <p:cNvPr id="6" name="Connector 5"/>
          <p:cNvCxnSpPr/>
          <p:nvPr/>
        </p:nvCxnSpPr>
        <p:spPr>
          <a:xfrm>
            <a:off x="540000" y="1728000"/>
            <a:ext cx="14040000" cy="0"/>
          </a:xfrm>
          <a:prstGeom prst="line">
            <a:avLst/>
          </a:prstGeom>
          <a:ln w="8890">
            <a:solidFill>
              <a:srgbClr val="9A825A"/>
            </a:solidFill>
          </a:ln>
          <a:effectLst/>
        </p:spPr>
      </p:cxnSp>
      <p:cxnSp>
        <p:nvCxnSpPr>
          <p:cNvPr id="7" name="Connector 6"/>
          <p:cNvCxnSpPr/>
          <p:nvPr/>
        </p:nvCxnSpPr>
        <p:spPr>
          <a:xfrm>
            <a:off x="540000" y="9792000"/>
            <a:ext cx="14040000" cy="0"/>
          </a:xfrm>
          <a:prstGeom prst="line">
            <a:avLst/>
          </a:prstGeom>
          <a:ln w="8890">
            <a:solidFill>
              <a:srgbClr val="9A825A"/>
            </a:solidFill>
          </a:ln>
          <a:effectLst/>
        </p:spPr>
      </p:cxnSp>
      <p:sp>
        <p:nvSpPr>
          <p:cNvPr id="8" name="TextBox 7"/>
          <p:cNvSpPr txBox="1"/>
          <p:nvPr/>
        </p:nvSpPr>
        <p:spPr>
          <a:xfrm>
            <a:off x="540000" y="10008000"/>
            <a:ext cx="7128000" cy="36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750" b="0">
                <a:solidFill>
                  <a:srgbClr val="737871"/>
                </a:solidFill>
                <a:latin typeface="Liberation Sans"/>
              </a:defRPr>
            </a:pPr>
            <a:r>
              <a:t>FOR COORDINATION  ·  SITE ITEMS OPEN  ·  REV D</a:t>
            </a:r>
          </a:p>
          <a:p>
            <a:pPr>
              <a:spcAft>
                <a:spcPts val="400"/>
              </a:spcAft>
              <a:defRPr sz="750" b="0">
                <a:solidFill>
                  <a:srgbClr val="737871"/>
                </a:solidFill>
                <a:latin typeface="Liberation Sans"/>
              </a:defRPr>
            </a:pPr>
            <a:r>
              <a:t>06 OCT 2026  /  SOURCE REV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04000" y="10008000"/>
            <a:ext cx="5220000" cy="36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750" b="0">
                <a:solidFill>
                  <a:srgbClr val="737871"/>
                </a:solidFill>
                <a:latin typeface="Liberation Sans"/>
              </a:defRPr>
            </a:pPr>
            <a:r>
              <a:t>NTS @ A3  ·  DIMENSIONS mm</a:t>
            </a:r>
          </a:p>
          <a:p>
            <a:pPr>
              <a:spcAft>
                <a:spcPts val="400"/>
              </a:spcAft>
              <a:defRPr sz="750" b="0">
                <a:solidFill>
                  <a:srgbClr val="737871"/>
                </a:solidFill>
                <a:latin typeface="Liberation Sans"/>
              </a:defRPr>
            </a:pPr>
            <a:r>
              <a:t>SPEC SNAPSHOT eeccbde1cd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392000" y="10008000"/>
            <a:ext cx="1152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252725"/>
                </a:solidFill>
                <a:latin typeface="Liberation Sans"/>
              </a:defRPr>
            </a:pPr>
            <a:r>
              <a:t>AP-11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0000" y="2196000"/>
            <a:ext cx="4248000" cy="1080000"/>
          </a:xfrm>
          <a:prstGeom prst="rect">
            <a:avLst/>
          </a:prstGeom>
          <a:solidFill>
            <a:srgbClr val="252725"/>
          </a:solidFill>
          <a:ln w="762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0000" y="3456000"/>
            <a:ext cx="4320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252725"/>
                </a:solidFill>
                <a:latin typeface="Liberation Sans"/>
              </a:defRPr>
            </a:pPr>
            <a:r>
              <a:t>BLACK STEEL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0000" y="3888000"/>
            <a:ext cx="4248000" cy="144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25 × 25 × 1.6 main SHS</a:t>
            </a:r>
          </a:p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20 × 20 × 1.6 secondary SHS</a:t>
            </a:r>
          </a:p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Matte black powder coat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72000" y="2196000"/>
            <a:ext cx="4248000" cy="1080000"/>
          </a:xfrm>
          <a:prstGeom prst="rect">
            <a:avLst/>
          </a:prstGeom>
          <a:solidFill>
            <a:srgbClr val="D6D1C6"/>
          </a:solidFill>
          <a:ln w="7620">
            <a:solidFill>
              <a:srgbClr val="D6D1C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72000" y="3456000"/>
            <a:ext cx="4320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252725"/>
                </a:solidFill>
                <a:latin typeface="Liberation Sans"/>
              </a:defRPr>
            </a:pPr>
            <a:r>
              <a:t>CABINET STEEL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72000" y="3888000"/>
            <a:ext cx="4248000" cy="144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1.5 mm PPC doors</a:t>
            </a:r>
          </a:p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Light-neutral finish</a:t>
            </a:r>
          </a:p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Flush, handleless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24000" y="2196000"/>
            <a:ext cx="4248000" cy="1080000"/>
          </a:xfrm>
          <a:prstGeom prst="rect">
            <a:avLst/>
          </a:prstGeom>
          <a:solidFill>
            <a:srgbClr val="E8E1D5"/>
          </a:solidFill>
          <a:ln w="7620">
            <a:solidFill>
              <a:srgbClr val="E8E1D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24000" y="3456000"/>
            <a:ext cx="4320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252725"/>
                </a:solidFill>
                <a:latin typeface="Liberation Sans"/>
              </a:defRPr>
            </a:pPr>
            <a:r>
              <a:t>PLASTER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24000" y="3888000"/>
            <a:ext cx="4248000" cy="144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Raw light textured plaster</a:t>
            </a:r>
          </a:p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Approve physical sample</a:t>
            </a:r>
          </a:p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Substrate / buildup #26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0000" y="5832000"/>
            <a:ext cx="4248000" cy="1080000"/>
          </a:xfrm>
          <a:prstGeom prst="rect">
            <a:avLst/>
          </a:prstGeom>
          <a:solidFill>
            <a:srgbClr val="C5C0B5"/>
          </a:solidFill>
          <a:ln w="7620">
            <a:solidFill>
              <a:srgbClr val="C5C0B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0000" y="7092000"/>
            <a:ext cx="4320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252725"/>
                </a:solidFill>
                <a:latin typeface="Liberation Sans"/>
              </a:defRPr>
            </a:pPr>
            <a:r>
              <a:t>PORCELAIN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0000" y="7524000"/>
            <a:ext cx="4248000" cy="144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1200 × 600 rectified</a:t>
            </a:r>
          </a:p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2 grout / 5 perimeter joint</a:t>
            </a:r>
          </a:p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Stone-look, sample approval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72000" y="5832000"/>
            <a:ext cx="4248000" cy="1080000"/>
          </a:xfrm>
          <a:prstGeom prst="rect">
            <a:avLst/>
          </a:prstGeom>
          <a:solidFill>
            <a:srgbClr val="DDE8E8"/>
          </a:solidFill>
          <a:ln w="7620">
            <a:solidFill>
              <a:srgbClr val="DDE8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72000" y="7092000"/>
            <a:ext cx="4320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252725"/>
                </a:solidFill>
                <a:latin typeface="Liberation Sans"/>
              </a:defRPr>
            </a:pPr>
            <a:r>
              <a:t>CLEAR GLASS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72000" y="7524000"/>
            <a:ext cx="4248000" cy="144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12 mm toughened door</a:t>
            </a:r>
          </a:p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Hardware / gaps #16</a:t>
            </a:r>
          </a:p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Fixed pane specification TBC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224000" y="5832000"/>
            <a:ext cx="4248000" cy="1080000"/>
          </a:xfrm>
          <a:prstGeom prst="rect">
            <a:avLst/>
          </a:prstGeom>
          <a:solidFill>
            <a:srgbClr val="66665E"/>
          </a:solidFill>
          <a:ln w="7620">
            <a:solidFill>
              <a:srgbClr val="66665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24000" y="7092000"/>
            <a:ext cx="4320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252725"/>
                </a:solidFill>
                <a:latin typeface="Liberation Sans"/>
              </a:defRPr>
            </a:pPr>
            <a:r>
              <a:t>EXPANDED MESH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24000" y="7524000"/>
            <a:ext cx="4248000" cy="144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Approx. 20 × 40 diamond</a:t>
            </a:r>
          </a:p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Black finish / framed edges</a:t>
            </a:r>
          </a:p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Gauge and fixing #16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BORN FRAGRANCE | Architectural Interior Presentation</dc:title>
  <dc:subject>Client and consultant coordination; proposed technical details</dc:subject>
  <dc:creator>ChatGPT / Codex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