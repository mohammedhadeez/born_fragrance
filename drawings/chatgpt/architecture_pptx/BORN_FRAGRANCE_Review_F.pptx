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60" r:id="rId11"/>
    <p:sldId id="261" r:id="rId12"/>
    <p:sldId id="262" r:id="rId13"/>
    <p:sldId id="263" r:id="rId14"/>
    <p:sldId id="264" r:id="rId15"/>
    <p:sldId id="265" r:id="rId16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Retail interior / coordinated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Storefront, interior and display details · neutral material tones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pic>
        <p:nvPicPr>
          <p:cNvPr id="7" name="VIEW:Storefront" descr="born-fragrance-shop-neutral.png"/>
          <p:cNvPicPr>
            <a:picLocks noChangeAspect="1"/>
          </p:cNvPicPr>
          <p:nvPr/>
        </p:nvPicPr>
        <p:blipFill>
          <a:blip r:embed="rId4"/>
          <a:srcRect l="6" r="49522" b="36061"/>
          <a:stretch>
            <a:fillRect/>
          </a:stretch>
        </p:blipFill>
        <p:spPr>
          <a:xfrm>
            <a:off x="612000" y="2088000"/>
            <a:ext cx="6660000" cy="738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000" y="9684000"/>
            <a:ext cx="6660000" cy="2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STOREFRONT / DESIGN INTENT</a:t>
            </a:r>
          </a:p>
        </p:txBody>
      </p:sp>
      <p:pic>
        <p:nvPicPr>
          <p:cNvPr id="9" name="VIEW:Interior" descr="born-fragrance-shop-neutral.png"/>
          <p:cNvPicPr>
            <a:picLocks noChangeAspect="1"/>
          </p:cNvPicPr>
          <p:nvPr/>
        </p:nvPicPr>
        <p:blipFill>
          <a:blip r:embed="rId4"/>
          <a:srcRect r="51902" t="64992" b="968"/>
          <a:stretch>
            <a:fillRect/>
          </a:stretch>
        </p:blipFill>
        <p:spPr>
          <a:xfrm>
            <a:off x="7776000" y="2088000"/>
            <a:ext cx="6804000" cy="421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6000" y="6516000"/>
            <a:ext cx="6804000" cy="2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INTERIOR / DISPLAY AND COUNTER</a:t>
            </a:r>
          </a:p>
        </p:txBody>
      </p:sp>
      <p:pic>
        <p:nvPicPr>
          <p:cNvPr id="11" name="VIEW:Mesh and lighting" descr="born-fragrance-shop-neutral.png"/>
          <p:cNvPicPr>
            <a:picLocks noChangeAspect="1"/>
          </p:cNvPicPr>
          <p:nvPr/>
        </p:nvPicPr>
        <p:blipFill>
          <a:blip r:embed="rId4"/>
          <a:srcRect l="52763" r="21220" b="64109"/>
          <a:stretch>
            <a:fillRect/>
          </a:stretch>
        </p:blipFill>
        <p:spPr>
          <a:xfrm>
            <a:off x="7776000" y="7164000"/>
            <a:ext cx="2148000" cy="259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6000" y="9972000"/>
            <a:ext cx="2148000" cy="2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MESH / LIGHT</a:t>
            </a:r>
          </a:p>
        </p:txBody>
      </p:sp>
      <p:pic>
        <p:nvPicPr>
          <p:cNvPr id="13" name="VIEW:Display frame" descr="born-fragrance-shop-neutral.png"/>
          <p:cNvPicPr>
            <a:picLocks noChangeAspect="1"/>
          </p:cNvPicPr>
          <p:nvPr/>
        </p:nvPicPr>
        <p:blipFill>
          <a:blip r:embed="rId4"/>
          <a:srcRect l="52871" r="27740" t="68638" b="4615"/>
          <a:stretch>
            <a:fillRect/>
          </a:stretch>
        </p:blipFill>
        <p:spPr>
          <a:xfrm>
            <a:off x="10104000" y="7164000"/>
            <a:ext cx="2148000" cy="259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104000" y="9972000"/>
            <a:ext cx="2148000" cy="2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DISPLAY FRAME</a:t>
            </a:r>
          </a:p>
        </p:txBody>
      </p:sp>
      <p:pic>
        <p:nvPicPr>
          <p:cNvPr id="15" name="VIEW:Plaster and shelf" descr="born-fragrance-shop-neutral.png"/>
          <p:cNvPicPr>
            <a:picLocks noChangeAspect="1"/>
          </p:cNvPicPr>
          <p:nvPr/>
        </p:nvPicPr>
        <p:blipFill>
          <a:blip r:embed="rId4"/>
          <a:srcRect l="78449" r="820" t="67713" b="3689"/>
          <a:stretch>
            <a:fillRect/>
          </a:stretch>
        </p:blipFill>
        <p:spPr>
          <a:xfrm>
            <a:off x="12432000" y="7164000"/>
            <a:ext cx="2148000" cy="259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432000" y="9972000"/>
            <a:ext cx="2148000" cy="2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PLASTER / SHELF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Overall plan / setting-out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Setting-out / coordinated interfaces · 1:20 · finish-face dimensions; site verification pending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3150000" y="2977199"/>
            <a:ext cx="90000" cy="55908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60000" y="2977199"/>
            <a:ext cx="90000" cy="55908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50000" y="2887199"/>
            <a:ext cx="4500000" cy="900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GEOM:internal-envelope"/>
          <p:cNvSpPr/>
          <p:nvPr/>
        </p:nvSpPr>
        <p:spPr>
          <a:xfrm>
            <a:off x="3240000" y="2977199"/>
            <a:ext cx="4320000" cy="5590800"/>
          </a:xfrm>
          <a:prstGeom prst="rect">
            <a:avLst/>
          </a:prstGeom>
          <a:solidFill>
            <a:srgbClr val="F5F1E9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240000" y="79416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3240000" y="68580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3240000" y="57744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3240000" y="46908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3240000" y="3607199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 flipV="1">
            <a:off x="5400000" y="2977199"/>
            <a:ext cx="0" cy="5590801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sp>
        <p:nvSpPr>
          <p:cNvPr id="29" name="Rectangle 28"/>
          <p:cNvSpPr/>
          <p:nvPr/>
        </p:nvSpPr>
        <p:spPr>
          <a:xfrm>
            <a:off x="3240000" y="2977199"/>
            <a:ext cx="450000" cy="47808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240000" y="65628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240000" y="53676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3240000" y="41724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33" name="Rectangle 32"/>
          <p:cNvSpPr/>
          <p:nvPr/>
        </p:nvSpPr>
        <p:spPr>
          <a:xfrm>
            <a:off x="7110000" y="2977199"/>
            <a:ext cx="450000" cy="47808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110000" y="65628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7110000" y="53676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7110000" y="41724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37" name="Rectangle 36"/>
          <p:cNvSpPr/>
          <p:nvPr/>
        </p:nvSpPr>
        <p:spPr>
          <a:xfrm>
            <a:off x="3240000" y="7758000"/>
            <a:ext cx="810000" cy="81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50000" y="7758000"/>
            <a:ext cx="810000" cy="81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90000" y="2977199"/>
            <a:ext cx="900000" cy="45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0000" y="2977199"/>
            <a:ext cx="900000" cy="45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85000" y="3022199"/>
            <a:ext cx="360000" cy="4690800"/>
          </a:xfrm>
          <a:prstGeom prst="rect">
            <a:avLst/>
          </a:prstGeom>
          <a:noFill/>
          <a:ln w="8890">
            <a:solidFill>
              <a:srgbClr val="A6A1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4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4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4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4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4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4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4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4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4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4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3645000" y="2977199"/>
            <a:ext cx="0" cy="4780801"/>
          </a:xfrm>
          <a:prstGeom prst="line">
            <a:avLst/>
          </a:prstGeom>
          <a:ln w="6985">
            <a:solidFill>
              <a:srgbClr val="9A825A"/>
            </a:solidFill>
            <a:prstDash val="dash"/>
          </a:ln>
          <a:effectLst/>
        </p:spPr>
      </p:cxnSp>
      <p:sp>
        <p:nvSpPr>
          <p:cNvPr id="53" name="Rectangle 52"/>
          <p:cNvSpPr/>
          <p:nvPr/>
        </p:nvSpPr>
        <p:spPr>
          <a:xfrm>
            <a:off x="7155000" y="3022199"/>
            <a:ext cx="360000" cy="4690800"/>
          </a:xfrm>
          <a:prstGeom prst="rect">
            <a:avLst/>
          </a:prstGeom>
          <a:noFill/>
          <a:ln w="8890">
            <a:solidFill>
              <a:srgbClr val="A6A1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1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1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11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1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1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1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1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51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11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1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V="1">
            <a:off x="7515000" y="2977199"/>
            <a:ext cx="0" cy="4780801"/>
          </a:xfrm>
          <a:prstGeom prst="line">
            <a:avLst/>
          </a:prstGeom>
          <a:ln w="6985">
            <a:solidFill>
              <a:srgbClr val="9A825A"/>
            </a:solidFill>
            <a:prstDash val="dash"/>
          </a:ln>
          <a:effectLst/>
        </p:spPr>
      </p:cxnSp>
      <p:sp>
        <p:nvSpPr>
          <p:cNvPr id="65" name="Rectangle 64"/>
          <p:cNvSpPr/>
          <p:nvPr/>
        </p:nvSpPr>
        <p:spPr>
          <a:xfrm>
            <a:off x="3735000" y="3022199"/>
            <a:ext cx="810000" cy="36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55000" y="3022199"/>
            <a:ext cx="810000" cy="36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GEOM:counter-plan"/>
          <p:cNvSpPr/>
          <p:nvPr/>
        </p:nvSpPr>
        <p:spPr>
          <a:xfrm>
            <a:off x="4500000" y="4687200"/>
            <a:ext cx="1800000" cy="810000"/>
          </a:xfrm>
          <a:prstGeom prst="rect">
            <a:avLst/>
          </a:prstGeom>
          <a:solidFill>
            <a:srgbClr val="D6CEC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36000" y="4723200"/>
            <a:ext cx="1728000" cy="738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4536000" y="4759200"/>
            <a:ext cx="1728000" cy="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5400000" y="4374000"/>
            <a:ext cx="0" cy="1404000"/>
          </a:xfrm>
          <a:prstGeom prst="line">
            <a:avLst/>
          </a:prstGeom>
          <a:ln w="5715">
            <a:solidFill>
              <a:srgbClr val="737871"/>
            </a:solidFill>
            <a:prstDash val="dash"/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4057200" y="8568000"/>
            <a:ext cx="878400" cy="0"/>
          </a:xfrm>
          <a:prstGeom prst="line">
            <a:avLst/>
          </a:prstGeom>
          <a:ln w="20320">
            <a:solidFill>
              <a:srgbClr val="466976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4942800" y="8568000"/>
            <a:ext cx="1800000" cy="0"/>
          </a:xfrm>
          <a:prstGeom prst="line">
            <a:avLst/>
          </a:prstGeom>
          <a:ln w="20320">
            <a:solidFill>
              <a:srgbClr val="466976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4057200" y="8546400"/>
            <a:ext cx="878400" cy="0"/>
          </a:xfrm>
          <a:prstGeom prst="line">
            <a:avLst/>
          </a:prstGeom>
          <a:ln w="6350">
            <a:solidFill>
              <a:srgbClr val="466976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4942800" y="8546400"/>
            <a:ext cx="1800000" cy="0"/>
          </a:xfrm>
          <a:prstGeom prst="line">
            <a:avLst/>
          </a:prstGeom>
          <a:ln w="6350">
            <a:solidFill>
              <a:srgbClr val="466976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 flipV="1">
            <a:off x="4942800" y="8488510"/>
            <a:ext cx="1951" cy="7949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4944751" y="8409212"/>
            <a:ext cx="5849" cy="7929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4950600" y="8330296"/>
            <a:ext cx="9734" cy="7891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4960334" y="8251953"/>
            <a:ext cx="13593" cy="7834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4973927" y="8174372"/>
            <a:ext cx="17422" cy="7758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4991349" y="8097738"/>
            <a:ext cx="21207" cy="7663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1" name="Connector 80"/>
          <p:cNvCxnSpPr/>
          <p:nvPr/>
        </p:nvCxnSpPr>
        <p:spPr>
          <a:xfrm flipV="1">
            <a:off x="5012556" y="8022238"/>
            <a:ext cx="24942" cy="7550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5037498" y="7948052"/>
            <a:ext cx="28617" cy="7418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3" name="Connector 82"/>
          <p:cNvCxnSpPr/>
          <p:nvPr/>
        </p:nvCxnSpPr>
        <p:spPr>
          <a:xfrm flipV="1">
            <a:off x="5066115" y="7875360"/>
            <a:ext cx="32222" cy="726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5098337" y="7804337"/>
            <a:ext cx="35750" cy="7102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5134087" y="7735153"/>
            <a:ext cx="39192" cy="6918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5173279" y="7667976"/>
            <a:ext cx="42540" cy="6717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7" name="Connector 86"/>
          <p:cNvCxnSpPr/>
          <p:nvPr/>
        </p:nvCxnSpPr>
        <p:spPr>
          <a:xfrm flipV="1">
            <a:off x="5215819" y="7602967"/>
            <a:ext cx="45784" cy="6500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5261603" y="7540282"/>
            <a:ext cx="48920" cy="6268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9" name="Connector 88"/>
          <p:cNvCxnSpPr/>
          <p:nvPr/>
        </p:nvCxnSpPr>
        <p:spPr>
          <a:xfrm flipV="1">
            <a:off x="5310523" y="7480074"/>
            <a:ext cx="51936" cy="6020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5362459" y="7422487"/>
            <a:ext cx="54828" cy="575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1" name="Connector 90"/>
          <p:cNvCxnSpPr/>
          <p:nvPr/>
        </p:nvCxnSpPr>
        <p:spPr>
          <a:xfrm flipV="1">
            <a:off x="5417287" y="7367659"/>
            <a:ext cx="57587" cy="5482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5474874" y="7315723"/>
            <a:ext cx="60208" cy="519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3" name="Connector 92"/>
          <p:cNvCxnSpPr/>
          <p:nvPr/>
        </p:nvCxnSpPr>
        <p:spPr>
          <a:xfrm flipV="1">
            <a:off x="5535082" y="7266803"/>
            <a:ext cx="62685" cy="4892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5597767" y="7221019"/>
            <a:ext cx="65009" cy="4578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5" name="Connector 94"/>
          <p:cNvCxnSpPr/>
          <p:nvPr/>
        </p:nvCxnSpPr>
        <p:spPr>
          <a:xfrm flipV="1">
            <a:off x="5662776" y="7178479"/>
            <a:ext cx="67177" cy="4254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5729953" y="7139287"/>
            <a:ext cx="69184" cy="391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7" name="Connector 96"/>
          <p:cNvCxnSpPr/>
          <p:nvPr/>
        </p:nvCxnSpPr>
        <p:spPr>
          <a:xfrm flipV="1">
            <a:off x="5799137" y="7103537"/>
            <a:ext cx="71023" cy="3575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5870160" y="7071315"/>
            <a:ext cx="72692" cy="3222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9" name="Connector 98"/>
          <p:cNvCxnSpPr/>
          <p:nvPr/>
        </p:nvCxnSpPr>
        <p:spPr>
          <a:xfrm flipV="1">
            <a:off x="5942852" y="7042698"/>
            <a:ext cx="74186" cy="2861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6017038" y="7017756"/>
            <a:ext cx="75500" cy="2494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1" name="Connector 100"/>
          <p:cNvCxnSpPr/>
          <p:nvPr/>
        </p:nvCxnSpPr>
        <p:spPr>
          <a:xfrm flipV="1">
            <a:off x="6092538" y="6996549"/>
            <a:ext cx="76634" cy="2120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6169172" y="6979127"/>
            <a:ext cx="77581" cy="1742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3" name="Connector 102"/>
          <p:cNvCxnSpPr/>
          <p:nvPr/>
        </p:nvCxnSpPr>
        <p:spPr>
          <a:xfrm flipV="1">
            <a:off x="6246753" y="6965534"/>
            <a:ext cx="78343" cy="1359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6325096" y="6955800"/>
            <a:ext cx="78916" cy="973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5" name="Connector 104"/>
          <p:cNvCxnSpPr/>
          <p:nvPr/>
        </p:nvCxnSpPr>
        <p:spPr>
          <a:xfrm flipV="1">
            <a:off x="6404012" y="6949951"/>
            <a:ext cx="79298" cy="584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6483310" y="6948000"/>
            <a:ext cx="79490" cy="195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7" name="Connector 106"/>
          <p:cNvCxnSpPr/>
          <p:nvPr/>
        </p:nvCxnSpPr>
        <p:spPr>
          <a:xfrm flipH="1">
            <a:off x="6742583" y="8568000"/>
            <a:ext cx="217" cy="883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8" name="Connector 107"/>
          <p:cNvCxnSpPr/>
          <p:nvPr/>
        </p:nvCxnSpPr>
        <p:spPr>
          <a:xfrm flipH="1">
            <a:off x="6741933" y="8576832"/>
            <a:ext cx="650" cy="881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9" name="Connector 108"/>
          <p:cNvCxnSpPr/>
          <p:nvPr/>
        </p:nvCxnSpPr>
        <p:spPr>
          <a:xfrm flipH="1">
            <a:off x="6740851" y="8585643"/>
            <a:ext cx="1082" cy="876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0" name="Connector 109"/>
          <p:cNvCxnSpPr/>
          <p:nvPr/>
        </p:nvCxnSpPr>
        <p:spPr>
          <a:xfrm flipH="1">
            <a:off x="6739341" y="8594411"/>
            <a:ext cx="1510" cy="870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1" name="Connector 110"/>
          <p:cNvCxnSpPr/>
          <p:nvPr/>
        </p:nvCxnSpPr>
        <p:spPr>
          <a:xfrm flipH="1">
            <a:off x="6737405" y="8603116"/>
            <a:ext cx="1936" cy="862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2" name="Connector 111"/>
          <p:cNvCxnSpPr/>
          <p:nvPr/>
        </p:nvCxnSpPr>
        <p:spPr>
          <a:xfrm flipH="1">
            <a:off x="6735049" y="8611736"/>
            <a:ext cx="2356" cy="851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3" name="Connector 112"/>
          <p:cNvCxnSpPr/>
          <p:nvPr/>
        </p:nvCxnSpPr>
        <p:spPr>
          <a:xfrm flipH="1">
            <a:off x="6732277" y="8620251"/>
            <a:ext cx="2772" cy="838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4" name="Connector 113"/>
          <p:cNvCxnSpPr/>
          <p:nvPr/>
        </p:nvCxnSpPr>
        <p:spPr>
          <a:xfrm flipH="1">
            <a:off x="6729098" y="8628640"/>
            <a:ext cx="3179" cy="824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5" name="Connector 114"/>
          <p:cNvCxnSpPr/>
          <p:nvPr/>
        </p:nvCxnSpPr>
        <p:spPr>
          <a:xfrm flipH="1">
            <a:off x="6725518" y="8636883"/>
            <a:ext cx="3580" cy="807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6" name="Connector 115"/>
          <p:cNvCxnSpPr/>
          <p:nvPr/>
        </p:nvCxnSpPr>
        <p:spPr>
          <a:xfrm flipH="1">
            <a:off x="6721545" y="8644959"/>
            <a:ext cx="3973" cy="78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7" name="Connector 116"/>
          <p:cNvCxnSpPr/>
          <p:nvPr/>
        </p:nvCxnSpPr>
        <p:spPr>
          <a:xfrm flipH="1">
            <a:off x="6717191" y="8652851"/>
            <a:ext cx="4354" cy="76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8" name="Connector 117"/>
          <p:cNvCxnSpPr/>
          <p:nvPr/>
        </p:nvCxnSpPr>
        <p:spPr>
          <a:xfrm flipH="1">
            <a:off x="6712464" y="8660538"/>
            <a:ext cx="4727" cy="746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9" name="Connector 118"/>
          <p:cNvCxnSpPr/>
          <p:nvPr/>
        </p:nvCxnSpPr>
        <p:spPr>
          <a:xfrm flipH="1">
            <a:off x="6707377" y="8668002"/>
            <a:ext cx="5087" cy="722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0" name="Connector 119"/>
          <p:cNvCxnSpPr/>
          <p:nvPr/>
        </p:nvCxnSpPr>
        <p:spPr>
          <a:xfrm flipH="1">
            <a:off x="6701941" y="8675225"/>
            <a:ext cx="5436" cy="696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1" name="Connector 120"/>
          <p:cNvCxnSpPr/>
          <p:nvPr/>
        </p:nvCxnSpPr>
        <p:spPr>
          <a:xfrm flipH="1">
            <a:off x="6696171" y="8682190"/>
            <a:ext cx="5770" cy="669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2" name="Connector 121"/>
          <p:cNvCxnSpPr/>
          <p:nvPr/>
        </p:nvCxnSpPr>
        <p:spPr>
          <a:xfrm flipH="1">
            <a:off x="6690079" y="8688880"/>
            <a:ext cx="6092" cy="639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3" name="Connector 122"/>
          <p:cNvCxnSpPr/>
          <p:nvPr/>
        </p:nvCxnSpPr>
        <p:spPr>
          <a:xfrm flipH="1">
            <a:off x="6683680" y="8695279"/>
            <a:ext cx="6399" cy="60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4" name="Connector 123"/>
          <p:cNvCxnSpPr/>
          <p:nvPr/>
        </p:nvCxnSpPr>
        <p:spPr>
          <a:xfrm flipH="1">
            <a:off x="6676990" y="8701371"/>
            <a:ext cx="6690" cy="577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5" name="Connector 124"/>
          <p:cNvCxnSpPr/>
          <p:nvPr/>
        </p:nvCxnSpPr>
        <p:spPr>
          <a:xfrm flipH="1">
            <a:off x="6670025" y="8707141"/>
            <a:ext cx="6965" cy="54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6" name="Connector 125"/>
          <p:cNvCxnSpPr/>
          <p:nvPr/>
        </p:nvCxnSpPr>
        <p:spPr>
          <a:xfrm flipH="1">
            <a:off x="6662802" y="8712577"/>
            <a:ext cx="7223" cy="50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7" name="Connector 126"/>
          <p:cNvCxnSpPr/>
          <p:nvPr/>
        </p:nvCxnSpPr>
        <p:spPr>
          <a:xfrm flipH="1">
            <a:off x="6655338" y="8717664"/>
            <a:ext cx="7464" cy="472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8" name="Connector 127"/>
          <p:cNvCxnSpPr/>
          <p:nvPr/>
        </p:nvCxnSpPr>
        <p:spPr>
          <a:xfrm flipH="1">
            <a:off x="6647651" y="8722391"/>
            <a:ext cx="7687" cy="435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9" name="Connector 128"/>
          <p:cNvCxnSpPr/>
          <p:nvPr/>
        </p:nvCxnSpPr>
        <p:spPr>
          <a:xfrm flipH="1">
            <a:off x="6639759" y="8726745"/>
            <a:ext cx="7892" cy="397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0" name="Connector 129"/>
          <p:cNvCxnSpPr/>
          <p:nvPr/>
        </p:nvCxnSpPr>
        <p:spPr>
          <a:xfrm flipH="1">
            <a:off x="6631683" y="8730718"/>
            <a:ext cx="8076" cy="358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1" name="Connector 130"/>
          <p:cNvCxnSpPr/>
          <p:nvPr/>
        </p:nvCxnSpPr>
        <p:spPr>
          <a:xfrm flipH="1">
            <a:off x="6623440" y="8734298"/>
            <a:ext cx="8243" cy="317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2" name="Connector 131"/>
          <p:cNvCxnSpPr/>
          <p:nvPr/>
        </p:nvCxnSpPr>
        <p:spPr>
          <a:xfrm flipH="1">
            <a:off x="6615051" y="8737477"/>
            <a:ext cx="8389" cy="277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3" name="Connector 132"/>
          <p:cNvCxnSpPr/>
          <p:nvPr/>
        </p:nvCxnSpPr>
        <p:spPr>
          <a:xfrm flipH="1">
            <a:off x="6606536" y="8740249"/>
            <a:ext cx="8515" cy="235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4" name="Connector 133"/>
          <p:cNvCxnSpPr/>
          <p:nvPr/>
        </p:nvCxnSpPr>
        <p:spPr>
          <a:xfrm flipH="1">
            <a:off x="6597916" y="8742605"/>
            <a:ext cx="8620" cy="19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5" name="Connector 134"/>
          <p:cNvCxnSpPr/>
          <p:nvPr/>
        </p:nvCxnSpPr>
        <p:spPr>
          <a:xfrm flipH="1">
            <a:off x="6589211" y="8744541"/>
            <a:ext cx="8705" cy="151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6" name="Connector 135"/>
          <p:cNvCxnSpPr/>
          <p:nvPr/>
        </p:nvCxnSpPr>
        <p:spPr>
          <a:xfrm flipH="1">
            <a:off x="6580443" y="8746051"/>
            <a:ext cx="8768" cy="108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7" name="Connector 136"/>
          <p:cNvCxnSpPr/>
          <p:nvPr/>
        </p:nvCxnSpPr>
        <p:spPr>
          <a:xfrm flipH="1">
            <a:off x="6571632" y="8747133"/>
            <a:ext cx="8811" cy="65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8" name="Connector 137"/>
          <p:cNvCxnSpPr/>
          <p:nvPr/>
        </p:nvCxnSpPr>
        <p:spPr>
          <a:xfrm flipH="1">
            <a:off x="6562800" y="8747783"/>
            <a:ext cx="8832" cy="21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9" name="Connector 138"/>
          <p:cNvCxnSpPr/>
          <p:nvPr/>
        </p:nvCxnSpPr>
        <p:spPr>
          <a:xfrm flipV="1">
            <a:off x="6562800" y="6948000"/>
            <a:ext cx="0" cy="1800000"/>
          </a:xfrm>
          <a:prstGeom prst="line">
            <a:avLst/>
          </a:prstGeom>
          <a:ln w="12700">
            <a:solidFill>
              <a:srgbClr val="466976"/>
            </a:solidFill>
          </a:ln>
          <a:effectLst/>
        </p:spPr>
      </p:cxnSp>
      <p:sp>
        <p:nvSpPr>
          <p:cNvPr id="140" name="Oval 139"/>
          <p:cNvSpPr/>
          <p:nvPr/>
        </p:nvSpPr>
        <p:spPr>
          <a:xfrm>
            <a:off x="6526800" y="8532000"/>
            <a:ext cx="72000" cy="720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3240000" y="8568000"/>
            <a:ext cx="0" cy="79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7560000" y="8568000"/>
            <a:ext cx="0" cy="79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3240000" y="9360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3204000" y="93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 flipV="1">
            <a:off x="7524000" y="93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46" name="TextBox 145"/>
          <p:cNvSpPr txBox="1"/>
          <p:nvPr/>
        </p:nvSpPr>
        <p:spPr>
          <a:xfrm>
            <a:off x="4860000" y="918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324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40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3240000" y="8928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320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 flipV="1">
            <a:off x="40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2" name="TextBox 151"/>
          <p:cNvSpPr txBox="1"/>
          <p:nvPr/>
        </p:nvSpPr>
        <p:spPr>
          <a:xfrm>
            <a:off x="3105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40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>
            <a:off x="67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4050000" y="8928000"/>
            <a:ext cx="27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40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 flipV="1">
            <a:off x="67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8" name="TextBox 157"/>
          <p:cNvSpPr txBox="1"/>
          <p:nvPr/>
        </p:nvSpPr>
        <p:spPr>
          <a:xfrm>
            <a:off x="4860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1500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67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>
            <a:off x="756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6750000" y="8928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67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 flipV="1">
            <a:off x="752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64" name="TextBox 163"/>
          <p:cNvSpPr txBox="1"/>
          <p:nvPr/>
        </p:nvSpPr>
        <p:spPr>
          <a:xfrm>
            <a:off x="6615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65" name="Connector 164"/>
          <p:cNvCxnSpPr/>
          <p:nvPr/>
        </p:nvCxnSpPr>
        <p:spPr>
          <a:xfrm flipH="1">
            <a:off x="2304000" y="8568000"/>
            <a:ext cx="936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H="1">
            <a:off x="2304000" y="2977199"/>
            <a:ext cx="936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 flipV="1">
            <a:off x="2304000" y="2977199"/>
            <a:ext cx="0" cy="559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2268000" y="85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 flipV="1">
            <a:off x="2268000" y="294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70" name="TextBox 169"/>
          <p:cNvSpPr txBox="1"/>
          <p:nvPr/>
        </p:nvSpPr>
        <p:spPr>
          <a:xfrm>
            <a:off x="1872000" y="5772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171" name="Connector 170"/>
          <p:cNvCxnSpPr/>
          <p:nvPr/>
        </p:nvCxnSpPr>
        <p:spPr>
          <a:xfrm flipH="1">
            <a:off x="2808000" y="856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H="1">
            <a:off x="2808000" y="775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 flipV="1">
            <a:off x="2808000" y="7758000"/>
            <a:ext cx="0" cy="81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2772000" y="85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 flipV="1">
            <a:off x="2772000" y="772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76" name="TextBox 175"/>
          <p:cNvSpPr txBox="1"/>
          <p:nvPr/>
        </p:nvSpPr>
        <p:spPr>
          <a:xfrm>
            <a:off x="2376000" y="8163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77" name="Connector 176"/>
          <p:cNvCxnSpPr/>
          <p:nvPr/>
        </p:nvCxnSpPr>
        <p:spPr>
          <a:xfrm flipH="1">
            <a:off x="2808000" y="775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H="1">
            <a:off x="2808000" y="65628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 flipV="1">
            <a:off x="2808000" y="65628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2772000" y="772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 flipV="1">
            <a:off x="2772000" y="65268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82" name="TextBox 181"/>
          <p:cNvSpPr txBox="1"/>
          <p:nvPr/>
        </p:nvSpPr>
        <p:spPr>
          <a:xfrm>
            <a:off x="2376000" y="71604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83" name="Connector 182"/>
          <p:cNvCxnSpPr/>
          <p:nvPr/>
        </p:nvCxnSpPr>
        <p:spPr>
          <a:xfrm flipH="1">
            <a:off x="2808000" y="65628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H="1">
            <a:off x="2808000" y="53676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 flipV="1">
            <a:off x="2808000" y="53676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2772000" y="65268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 flipV="1">
            <a:off x="2772000" y="53316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88" name="TextBox 187"/>
          <p:cNvSpPr txBox="1"/>
          <p:nvPr/>
        </p:nvSpPr>
        <p:spPr>
          <a:xfrm>
            <a:off x="2376000" y="59652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89" name="Connector 188"/>
          <p:cNvCxnSpPr/>
          <p:nvPr/>
        </p:nvCxnSpPr>
        <p:spPr>
          <a:xfrm flipH="1">
            <a:off x="2808000" y="53676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H="1">
            <a:off x="2808000" y="41724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 flipV="1">
            <a:off x="2808000" y="41724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2772000" y="53316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 flipV="1">
            <a:off x="2772000" y="413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94" name="TextBox 193"/>
          <p:cNvSpPr txBox="1"/>
          <p:nvPr/>
        </p:nvSpPr>
        <p:spPr>
          <a:xfrm>
            <a:off x="2376000" y="4770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95" name="Connector 194"/>
          <p:cNvCxnSpPr/>
          <p:nvPr/>
        </p:nvCxnSpPr>
        <p:spPr>
          <a:xfrm flipH="1">
            <a:off x="2808000" y="41724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H="1">
            <a:off x="2808000" y="2977199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 flipV="1">
            <a:off x="2808000" y="2977199"/>
            <a:ext cx="0" cy="11952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2772000" y="413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 flipV="1">
            <a:off x="2772000" y="294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0" name="TextBox 199"/>
          <p:cNvSpPr txBox="1"/>
          <p:nvPr/>
        </p:nvSpPr>
        <p:spPr>
          <a:xfrm>
            <a:off x="2376000" y="35748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201" name="Connector 200"/>
          <p:cNvCxnSpPr/>
          <p:nvPr/>
        </p:nvCxnSpPr>
        <p:spPr>
          <a:xfrm flipV="1">
            <a:off x="324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369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3240000" y="2725199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320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 flipV="1">
            <a:off x="365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6" name="TextBox 205"/>
          <p:cNvSpPr txBox="1"/>
          <p:nvPr/>
        </p:nvSpPr>
        <p:spPr>
          <a:xfrm>
            <a:off x="2925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07" name="Connector 206"/>
          <p:cNvCxnSpPr/>
          <p:nvPr/>
        </p:nvCxnSpPr>
        <p:spPr>
          <a:xfrm flipV="1">
            <a:off x="369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711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3690000" y="2725199"/>
            <a:ext cx="34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365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 flipV="1">
            <a:off x="707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2" name="TextBox 211"/>
          <p:cNvSpPr txBox="1"/>
          <p:nvPr/>
        </p:nvSpPr>
        <p:spPr>
          <a:xfrm>
            <a:off x="4860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1900</a:t>
            </a:r>
          </a:p>
        </p:txBody>
      </p:sp>
      <p:cxnSp>
        <p:nvCxnSpPr>
          <p:cNvPr id="213" name="Connector 212"/>
          <p:cNvCxnSpPr/>
          <p:nvPr/>
        </p:nvCxnSpPr>
        <p:spPr>
          <a:xfrm flipV="1">
            <a:off x="711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756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7110000" y="2725199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707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 flipV="1">
            <a:off x="752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8" name="TextBox 217"/>
          <p:cNvSpPr txBox="1"/>
          <p:nvPr/>
        </p:nvSpPr>
        <p:spPr>
          <a:xfrm>
            <a:off x="6795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369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>
            <a:off x="450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3690000" y="57852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365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 flipV="1">
            <a:off x="446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24" name="TextBox 223"/>
          <p:cNvSpPr txBox="1"/>
          <p:nvPr/>
        </p:nvSpPr>
        <p:spPr>
          <a:xfrm>
            <a:off x="3555000" y="56052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25" name="Connector 224"/>
          <p:cNvCxnSpPr/>
          <p:nvPr/>
        </p:nvCxnSpPr>
        <p:spPr>
          <a:xfrm>
            <a:off x="630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>
            <a:off x="711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6300000" y="57852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626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 flipV="1">
            <a:off x="707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0" name="TextBox 229"/>
          <p:cNvSpPr txBox="1"/>
          <p:nvPr/>
        </p:nvSpPr>
        <p:spPr>
          <a:xfrm>
            <a:off x="6165000" y="56052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31" name="Connector 230"/>
          <p:cNvCxnSpPr/>
          <p:nvPr/>
        </p:nvCxnSpPr>
        <p:spPr>
          <a:xfrm>
            <a:off x="6300000" y="4687200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>
            <a:off x="6300000" y="3427199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 flipV="1">
            <a:off x="6660000" y="3427199"/>
            <a:ext cx="0" cy="12600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6624000" y="465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 flipV="1">
            <a:off x="6624000" y="339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6" name="TextBox 235"/>
          <p:cNvSpPr txBox="1"/>
          <p:nvPr/>
        </p:nvSpPr>
        <p:spPr>
          <a:xfrm>
            <a:off x="6228000" y="4057199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700</a:t>
            </a:r>
          </a:p>
        </p:txBody>
      </p:sp>
      <p:sp>
        <p:nvSpPr>
          <p:cNvPr id="237" name="Oval 236"/>
          <p:cNvSpPr/>
          <p:nvPr/>
        </p:nvSpPr>
        <p:spPr>
          <a:xfrm>
            <a:off x="3193200" y="8521200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312000" y="8388000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A</a:t>
            </a:r>
          </a:p>
        </p:txBody>
      </p:sp>
      <p:sp>
        <p:nvSpPr>
          <p:cNvPr id="239" name="Oval 238"/>
          <p:cNvSpPr/>
          <p:nvPr/>
        </p:nvSpPr>
        <p:spPr>
          <a:xfrm>
            <a:off x="7513200" y="8521200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7632000" y="8388000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B</a:t>
            </a:r>
          </a:p>
        </p:txBody>
      </p:sp>
      <p:sp>
        <p:nvSpPr>
          <p:cNvPr id="241" name="Oval 240"/>
          <p:cNvSpPr/>
          <p:nvPr/>
        </p:nvSpPr>
        <p:spPr>
          <a:xfrm>
            <a:off x="7513200" y="2930399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7632000" y="2797199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C</a:t>
            </a:r>
          </a:p>
        </p:txBody>
      </p:sp>
      <p:sp>
        <p:nvSpPr>
          <p:cNvPr id="243" name="Oval 242"/>
          <p:cNvSpPr/>
          <p:nvPr/>
        </p:nvSpPr>
        <p:spPr>
          <a:xfrm>
            <a:off x="3193200" y="2930399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3312000" y="2797199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D</a:t>
            </a:r>
          </a:p>
        </p:txBody>
      </p:sp>
      <p:cxnSp>
        <p:nvCxnSpPr>
          <p:cNvPr id="245" name="Connector 244"/>
          <p:cNvCxnSpPr/>
          <p:nvPr/>
        </p:nvCxnSpPr>
        <p:spPr>
          <a:xfrm flipH="1" flipV="1">
            <a:off x="1368000" y="4932000"/>
            <a:ext cx="2277000" cy="396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246" name="TextBox 245"/>
          <p:cNvSpPr txBox="1"/>
          <p:nvPr/>
        </p:nvSpPr>
        <p:spPr>
          <a:xfrm>
            <a:off x="1368000" y="5004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250 DEEP DISPLAY</a:t>
            </a:r>
          </a:p>
        </p:txBody>
      </p:sp>
      <p:cxnSp>
        <p:nvCxnSpPr>
          <p:cNvPr id="247" name="Connector 246"/>
          <p:cNvCxnSpPr/>
          <p:nvPr/>
        </p:nvCxnSpPr>
        <p:spPr>
          <a:xfrm flipV="1">
            <a:off x="5580000" y="5040000"/>
            <a:ext cx="2916000" cy="108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248" name="TextBox 247"/>
          <p:cNvSpPr txBox="1"/>
          <p:nvPr/>
        </p:nvSpPr>
        <p:spPr>
          <a:xfrm>
            <a:off x="8496000" y="5112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1000 × 450 COUNTER</a:t>
            </a:r>
          </a:p>
        </p:txBody>
      </p:sp>
      <p:cxnSp>
        <p:nvCxnSpPr>
          <p:cNvPr id="249" name="Connector 248"/>
          <p:cNvCxnSpPr/>
          <p:nvPr/>
        </p:nvCxnSpPr>
        <p:spPr>
          <a:xfrm flipV="1">
            <a:off x="6562800" y="8388000"/>
            <a:ext cx="1933200" cy="180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250" name="TextBox 249"/>
          <p:cNvSpPr txBox="1"/>
          <p:nvPr/>
        </p:nvSpPr>
        <p:spPr>
          <a:xfrm>
            <a:off x="8496000" y="8460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PIVOT GLASS DOOR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92000" y="2160000"/>
            <a:ext cx="216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SET-OUT DATUMS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792000" y="2592000"/>
            <a:ext cx="2160000" cy="154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A  0 / 0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B  2400 / 0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C  2400 / 3106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D  0 / 3106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8136000" y="2880000"/>
            <a:ext cx="2088000" cy="86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N ↓ STOREFRONT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ASSUMED #23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792000" y="7488000"/>
            <a:ext cx="2232000" cy="90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Wall bands graphic only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Thickness TBC #26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Envelope TBC #4</a:t>
            </a:r>
          </a:p>
        </p:txBody>
      </p:sp>
      <p:cxnSp>
        <p:nvCxnSpPr>
          <p:cNvPr id="257" name="Connector 256"/>
          <p:cNvCxnSpPr/>
          <p:nvPr/>
        </p:nvCxnSpPr>
        <p:spPr>
          <a:xfrm>
            <a:off x="3240000" y="961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>
            <a:off x="32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41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>
            <a:off x="50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61" name="TextBox 260"/>
          <p:cNvSpPr txBox="1"/>
          <p:nvPr/>
        </p:nvSpPr>
        <p:spPr>
          <a:xfrm>
            <a:off x="3240000" y="968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3240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4005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4" name="Connector 263"/>
          <p:cNvCxnSpPr/>
          <p:nvPr/>
        </p:nvCxnSpPr>
        <p:spPr>
          <a:xfrm>
            <a:off x="3285000" y="8118000"/>
            <a:ext cx="720000" cy="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sp>
        <p:nvSpPr>
          <p:cNvPr id="265" name="Rectangle 264"/>
          <p:cNvSpPr/>
          <p:nvPr/>
        </p:nvSpPr>
        <p:spPr>
          <a:xfrm>
            <a:off x="6750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7515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6795000" y="8118000"/>
            <a:ext cx="720000" cy="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sp>
        <p:nvSpPr>
          <p:cNvPr id="268" name="Rectangle 267"/>
          <p:cNvSpPr/>
          <p:nvPr/>
        </p:nvSpPr>
        <p:spPr>
          <a:xfrm>
            <a:off x="369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454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621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706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4500000" y="5461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4500000" y="4687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264000" y="5461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6264000" y="4687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6" name="Connector 275"/>
          <p:cNvCxnSpPr/>
          <p:nvPr/>
        </p:nvCxnSpPr>
        <p:spPr>
          <a:xfrm flipV="1">
            <a:off x="4500000" y="43632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 flipV="1">
            <a:off x="6300000" y="43632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>
            <a:off x="4500000" y="43632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 flipV="1">
            <a:off x="4464000" y="4327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264000" y="4327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1" name="TextBox 280"/>
          <p:cNvSpPr txBox="1"/>
          <p:nvPr/>
        </p:nvSpPr>
        <p:spPr>
          <a:xfrm>
            <a:off x="4860000" y="4183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1000</a:t>
            </a:r>
          </a:p>
        </p:txBody>
      </p:sp>
      <p:cxnSp>
        <p:nvCxnSpPr>
          <p:cNvPr id="282" name="Connector 281"/>
          <p:cNvCxnSpPr/>
          <p:nvPr/>
        </p:nvCxnSpPr>
        <p:spPr>
          <a:xfrm>
            <a:off x="6300000" y="5497200"/>
            <a:ext cx="61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>
            <a:off x="6300000" y="4687200"/>
            <a:ext cx="61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6912000" y="4687200"/>
            <a:ext cx="0" cy="81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 flipV="1">
            <a:off x="6876000" y="546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6876000" y="465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7" name="TextBox 286"/>
          <p:cNvSpPr txBox="1"/>
          <p:nvPr/>
        </p:nvSpPr>
        <p:spPr>
          <a:xfrm>
            <a:off x="6480000" y="50922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8136000" y="4248000"/>
            <a:ext cx="2232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COUNTER FRAME</a:t>
            </a:r>
          </a:p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20 × 20 black steel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792000" y="6444000"/>
            <a:ext cx="2088000" cy="64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STREET-FACING DISPLAY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Dashed line: shelf above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Solid return toward interior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324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3242880" y="77158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364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3647880" y="77158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324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3242880" y="65431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364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647880" y="65431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324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3242880" y="53479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364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3647880" y="53479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324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3242880" y="41527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364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3647880" y="41527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324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3242880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364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647880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711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7112879" y="77158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751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7517879" y="77158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711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7112879" y="65431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51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7517879" y="65431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711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7112879" y="53479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751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7517879" y="53479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711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7112879" y="41527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751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7517879" y="41527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711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7112879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751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7517879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369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3692880" y="3385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369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3692880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454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4547880" y="3385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454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4547880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621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6212879" y="3385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621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6212879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706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7067879" y="3385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706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7067879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10800000" y="2052000"/>
            <a:ext cx="378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REAR / SIDE JUNCTION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10800000" y="2340000"/>
            <a:ext cx="378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LOCAL PLAN 1:5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10800000" y="2844000"/>
            <a:ext cx="1800000" cy="3600000"/>
          </a:xfrm>
          <a:prstGeom prst="rect">
            <a:avLst/>
          </a:prstGeom>
          <a:solidFill>
            <a:srgbClr val="E5DE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2600000" y="2844000"/>
            <a:ext cx="1800000" cy="1800000"/>
          </a:xfrm>
          <a:prstGeom prst="rect">
            <a:avLst/>
          </a:prstGeom>
          <a:solidFill>
            <a:srgbClr val="E5DE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800000" y="2844000"/>
            <a:ext cx="18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811520" y="2855519"/>
            <a:ext cx="15696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2420000" y="2844000"/>
            <a:ext cx="18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2431520" y="2855519"/>
            <a:ext cx="15696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2600000" y="4464000"/>
            <a:ext cx="18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2611520" y="4475520"/>
            <a:ext cx="15696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2600000" y="2844000"/>
            <a:ext cx="18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2611520" y="2855519"/>
            <a:ext cx="15696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8" name="Connector 357"/>
          <p:cNvCxnSpPr/>
          <p:nvPr/>
        </p:nvCxnSpPr>
        <p:spPr>
          <a:xfrm flipV="1">
            <a:off x="12420000" y="3024000"/>
            <a:ext cx="0" cy="3420000"/>
          </a:xfrm>
          <a:prstGeom prst="line">
            <a:avLst/>
          </a:prstGeom>
          <a:ln w="10160">
            <a:solidFill>
              <a:srgbClr val="9A825A"/>
            </a:solidFill>
            <a:prstDash val="dash"/>
          </a:ln>
          <a:effectLst/>
        </p:spPr>
      </p:cxnSp>
      <p:cxnSp>
        <p:nvCxnSpPr>
          <p:cNvPr id="359" name="Connector 358"/>
          <p:cNvCxnSpPr/>
          <p:nvPr/>
        </p:nvCxnSpPr>
        <p:spPr>
          <a:xfrm>
            <a:off x="12780000" y="4644000"/>
            <a:ext cx="1620000" cy="0"/>
          </a:xfrm>
          <a:prstGeom prst="line">
            <a:avLst/>
          </a:prstGeom>
          <a:ln w="10160">
            <a:solidFill>
              <a:srgbClr val="9A825A"/>
            </a:solidFill>
            <a:prstDash val="dash"/>
          </a:ln>
          <a:effectLst/>
        </p:spPr>
      </p:cxnSp>
      <p:cxnSp>
        <p:nvCxnSpPr>
          <p:cNvPr id="360" name="Connector 359"/>
          <p:cNvCxnSpPr/>
          <p:nvPr/>
        </p:nvCxnSpPr>
        <p:spPr>
          <a:xfrm>
            <a:off x="10800000" y="644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1" name="Connector 360"/>
          <p:cNvCxnSpPr/>
          <p:nvPr/>
        </p:nvCxnSpPr>
        <p:spPr>
          <a:xfrm>
            <a:off x="12600000" y="644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2" name="Connector 361"/>
          <p:cNvCxnSpPr/>
          <p:nvPr/>
        </p:nvCxnSpPr>
        <p:spPr>
          <a:xfrm>
            <a:off x="10800000" y="6696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63" name="Connector 362"/>
          <p:cNvCxnSpPr/>
          <p:nvPr/>
        </p:nvCxnSpPr>
        <p:spPr>
          <a:xfrm flipV="1">
            <a:off x="10764000" y="666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64" name="Connector 363"/>
          <p:cNvCxnSpPr/>
          <p:nvPr/>
        </p:nvCxnSpPr>
        <p:spPr>
          <a:xfrm flipV="1">
            <a:off x="12564000" y="666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65" name="TextBox 364"/>
          <p:cNvSpPr txBox="1"/>
          <p:nvPr/>
        </p:nvSpPr>
        <p:spPr>
          <a:xfrm>
            <a:off x="11160000" y="651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366" name="Connector 365"/>
          <p:cNvCxnSpPr/>
          <p:nvPr/>
        </p:nvCxnSpPr>
        <p:spPr>
          <a:xfrm flipV="1">
            <a:off x="12600000" y="259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7" name="Connector 366"/>
          <p:cNvCxnSpPr/>
          <p:nvPr/>
        </p:nvCxnSpPr>
        <p:spPr>
          <a:xfrm flipV="1">
            <a:off x="14400000" y="259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8" name="Connector 367"/>
          <p:cNvCxnSpPr/>
          <p:nvPr/>
        </p:nvCxnSpPr>
        <p:spPr>
          <a:xfrm>
            <a:off x="12600000" y="2592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69" name="Connector 368"/>
          <p:cNvCxnSpPr/>
          <p:nvPr/>
        </p:nvCxnSpPr>
        <p:spPr>
          <a:xfrm flipV="1">
            <a:off x="12564000" y="25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70" name="Connector 369"/>
          <p:cNvCxnSpPr/>
          <p:nvPr/>
        </p:nvCxnSpPr>
        <p:spPr>
          <a:xfrm flipV="1">
            <a:off x="14364000" y="25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71" name="TextBox 370"/>
          <p:cNvSpPr txBox="1"/>
          <p:nvPr/>
        </p:nvSpPr>
        <p:spPr>
          <a:xfrm>
            <a:off x="12960000" y="241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372" name="Connector 371"/>
          <p:cNvCxnSpPr/>
          <p:nvPr/>
        </p:nvCxnSpPr>
        <p:spPr>
          <a:xfrm>
            <a:off x="14400000" y="4644000"/>
            <a:ext cx="25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73" name="Connector 372"/>
          <p:cNvCxnSpPr/>
          <p:nvPr/>
        </p:nvCxnSpPr>
        <p:spPr>
          <a:xfrm>
            <a:off x="14400000" y="2844000"/>
            <a:ext cx="25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74" name="Connector 373"/>
          <p:cNvCxnSpPr/>
          <p:nvPr/>
        </p:nvCxnSpPr>
        <p:spPr>
          <a:xfrm flipV="1">
            <a:off x="14652000" y="2844000"/>
            <a:ext cx="0" cy="180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75" name="Connector 374"/>
          <p:cNvCxnSpPr/>
          <p:nvPr/>
        </p:nvCxnSpPr>
        <p:spPr>
          <a:xfrm flipV="1">
            <a:off x="14616000" y="460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76" name="Connector 375"/>
          <p:cNvCxnSpPr/>
          <p:nvPr/>
        </p:nvCxnSpPr>
        <p:spPr>
          <a:xfrm flipV="1">
            <a:off x="14616000" y="280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77" name="TextBox 376"/>
          <p:cNvSpPr txBox="1"/>
          <p:nvPr/>
        </p:nvSpPr>
        <p:spPr>
          <a:xfrm>
            <a:off x="14220000" y="3744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10800000" y="6840000"/>
            <a:ext cx="3780000" cy="68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25 × 25 × 1.6 SHS / 250-deep units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Rear bay continues right; no overlap</a:t>
            </a:r>
          </a:p>
        </p:txBody>
      </p:sp>
      <p:cxnSp>
        <p:nvCxnSpPr>
          <p:cNvPr id="379" name="Connector 378"/>
          <p:cNvCxnSpPr/>
          <p:nvPr/>
        </p:nvCxnSpPr>
        <p:spPr>
          <a:xfrm>
            <a:off x="14328000" y="4608000"/>
            <a:ext cx="144000" cy="144000"/>
          </a:xfrm>
          <a:prstGeom prst="line">
            <a:avLst/>
          </a:prstGeom>
          <a:ln w="7620">
            <a:solidFill>
              <a:srgbClr val="252725"/>
            </a:solidFill>
          </a:ln>
          <a:effectLst/>
        </p:spPr>
      </p:cxnSp>
      <p:cxnSp>
        <p:nvCxnSpPr>
          <p:cNvPr id="380" name="Connector 379"/>
          <p:cNvCxnSpPr/>
          <p:nvPr/>
        </p:nvCxnSpPr>
        <p:spPr>
          <a:xfrm>
            <a:off x="14328000" y="4716000"/>
            <a:ext cx="144000" cy="144000"/>
          </a:xfrm>
          <a:prstGeom prst="line">
            <a:avLst/>
          </a:prstGeom>
          <a:ln w="7620">
            <a:solidFill>
              <a:srgbClr val="252725"/>
            </a:solidFill>
          </a:ln>
          <a:effectLst/>
        </p:spPr>
      </p:cxnSp>
      <p:sp>
        <p:nvSpPr>
          <p:cNvPr id="381" name="TextBox 380"/>
          <p:cNvSpPr txBox="1"/>
          <p:nvPr/>
        </p:nvSpPr>
        <p:spPr>
          <a:xfrm>
            <a:off x="10800000" y="7812000"/>
            <a:ext cx="378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DOOR EDGE / PIVOT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0800000" y="8100000"/>
            <a:ext cx="378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LOCAL PLAN 1:2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11160000" y="9468000"/>
            <a:ext cx="2700000" cy="2160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3932000" y="9234000"/>
            <a:ext cx="450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3960800" y="9262800"/>
            <a:ext cx="392400" cy="39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6" name="Connector 385"/>
          <p:cNvCxnSpPr/>
          <p:nvPr/>
        </p:nvCxnSpPr>
        <p:spPr>
          <a:xfrm flipV="1">
            <a:off x="12060000" y="8694000"/>
            <a:ext cx="0" cy="117000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sp>
        <p:nvSpPr>
          <p:cNvPr id="387" name="Oval 386"/>
          <p:cNvSpPr/>
          <p:nvPr/>
        </p:nvSpPr>
        <p:spPr>
          <a:xfrm>
            <a:off x="12006000" y="9522000"/>
            <a:ext cx="108000" cy="108000"/>
          </a:xfrm>
          <a:prstGeom prst="ellipse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8" name="Connector 387"/>
          <p:cNvCxnSpPr/>
          <p:nvPr/>
        </p:nvCxnSpPr>
        <p:spPr>
          <a:xfrm flipV="1">
            <a:off x="12060000" y="9144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9" name="Connector 388"/>
          <p:cNvCxnSpPr/>
          <p:nvPr/>
        </p:nvCxnSpPr>
        <p:spPr>
          <a:xfrm flipV="1">
            <a:off x="13860000" y="9144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0" name="Connector 389"/>
          <p:cNvCxnSpPr/>
          <p:nvPr/>
        </p:nvCxnSpPr>
        <p:spPr>
          <a:xfrm>
            <a:off x="12060000" y="9144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1" name="Connector 390"/>
          <p:cNvCxnSpPr/>
          <p:nvPr/>
        </p:nvCxnSpPr>
        <p:spPr>
          <a:xfrm flipV="1">
            <a:off x="12024000" y="910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2" name="Connector 391"/>
          <p:cNvCxnSpPr/>
          <p:nvPr/>
        </p:nvCxnSpPr>
        <p:spPr>
          <a:xfrm flipV="1">
            <a:off x="13824000" y="910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3" name="TextBox 392"/>
          <p:cNvSpPr txBox="1"/>
          <p:nvPr/>
        </p:nvSpPr>
        <p:spPr>
          <a:xfrm>
            <a:off x="12420000" y="896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394" name="Connector 393"/>
          <p:cNvCxnSpPr/>
          <p:nvPr/>
        </p:nvCxnSpPr>
        <p:spPr>
          <a:xfrm>
            <a:off x="13860000" y="968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5" name="Connector 394"/>
          <p:cNvCxnSpPr/>
          <p:nvPr/>
        </p:nvCxnSpPr>
        <p:spPr>
          <a:xfrm>
            <a:off x="13932000" y="968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6" name="Connector 395"/>
          <p:cNvCxnSpPr/>
          <p:nvPr/>
        </p:nvCxnSpPr>
        <p:spPr>
          <a:xfrm>
            <a:off x="13860000" y="9936000"/>
            <a:ext cx="72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7" name="Connector 396"/>
          <p:cNvCxnSpPr/>
          <p:nvPr/>
        </p:nvCxnSpPr>
        <p:spPr>
          <a:xfrm flipV="1">
            <a:off x="13824000" y="99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8" name="Connector 397"/>
          <p:cNvCxnSpPr/>
          <p:nvPr/>
        </p:nvCxnSpPr>
        <p:spPr>
          <a:xfrm flipV="1">
            <a:off x="13896000" y="99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9" name="TextBox 398"/>
          <p:cNvSpPr txBox="1"/>
          <p:nvPr/>
        </p:nvSpPr>
        <p:spPr>
          <a:xfrm>
            <a:off x="13356000" y="975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10800000" y="10152000"/>
            <a:ext cx="378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12 glass / 4 gap / 25 SHS · pivot fittings TBC #16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Ceiling / lighting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Reflected ceiling plan · lighting, display footprints and dimensional coordination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internal-envelope"/>
          <p:cNvSpPr/>
          <p:nvPr/>
        </p:nvSpPr>
        <p:spPr>
          <a:xfrm>
            <a:off x="2700000" y="2977199"/>
            <a:ext cx="4320000" cy="55908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00000" y="2977199"/>
            <a:ext cx="450000" cy="47808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70000" y="2977199"/>
            <a:ext cx="450000" cy="47808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00000" y="7758000"/>
            <a:ext cx="810000" cy="8100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0000" y="7758000"/>
            <a:ext cx="810000" cy="8100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60000" y="4687200"/>
            <a:ext cx="1800000" cy="8100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3870000" y="3787199"/>
            <a:ext cx="0" cy="3970801"/>
          </a:xfrm>
          <a:prstGeom prst="line">
            <a:avLst/>
          </a:prstGeom>
          <a:ln w="25400">
            <a:solidFill>
              <a:srgbClr val="252725"/>
            </a:solidFill>
          </a:ln>
          <a:effectLst/>
        </p:spPr>
      </p:cxnSp>
      <p:sp>
        <p:nvSpPr>
          <p:cNvPr id="26" name="Rectangle 25"/>
          <p:cNvSpPr/>
          <p:nvPr/>
        </p:nvSpPr>
        <p:spPr>
          <a:xfrm>
            <a:off x="3819600" y="738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3636000" y="730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3819600" y="630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3636000" y="622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0" name="Rectangle 29"/>
          <p:cNvSpPr/>
          <p:nvPr/>
        </p:nvSpPr>
        <p:spPr>
          <a:xfrm>
            <a:off x="3819600" y="522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 flipV="1">
            <a:off x="3636000" y="514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2" name="Rectangle 31"/>
          <p:cNvSpPr/>
          <p:nvPr/>
        </p:nvSpPr>
        <p:spPr>
          <a:xfrm>
            <a:off x="3819600" y="414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3636000" y="406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5850000" y="3787199"/>
            <a:ext cx="0" cy="3970801"/>
          </a:xfrm>
          <a:prstGeom prst="line">
            <a:avLst/>
          </a:prstGeom>
          <a:ln w="25400">
            <a:solidFill>
              <a:srgbClr val="252725"/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5799600" y="738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5850000" y="730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7" name="Rectangle 36"/>
          <p:cNvSpPr/>
          <p:nvPr/>
        </p:nvSpPr>
        <p:spPr>
          <a:xfrm>
            <a:off x="5799600" y="630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5850000" y="622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9" name="Rectangle 38"/>
          <p:cNvSpPr/>
          <p:nvPr/>
        </p:nvSpPr>
        <p:spPr>
          <a:xfrm>
            <a:off x="5799600" y="522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5850000" y="514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41" name="Rectangle 40"/>
          <p:cNvSpPr/>
          <p:nvPr/>
        </p:nvSpPr>
        <p:spPr>
          <a:xfrm>
            <a:off x="5799600" y="414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5850000" y="406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43" name="Oval 42"/>
          <p:cNvSpPr/>
          <p:nvPr/>
        </p:nvSpPr>
        <p:spPr>
          <a:xfrm>
            <a:off x="3898800" y="8101800"/>
            <a:ext cx="122400" cy="1224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3870000" y="8163000"/>
            <a:ext cx="180000" cy="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45" name="Oval 44"/>
          <p:cNvSpPr/>
          <p:nvPr/>
        </p:nvSpPr>
        <p:spPr>
          <a:xfrm>
            <a:off x="4798800" y="8101800"/>
            <a:ext cx="122400" cy="1224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4770000" y="8163000"/>
            <a:ext cx="180000" cy="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47" name="Oval 46"/>
          <p:cNvSpPr/>
          <p:nvPr/>
        </p:nvSpPr>
        <p:spPr>
          <a:xfrm>
            <a:off x="5698800" y="8101800"/>
            <a:ext cx="122400" cy="1224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5670000" y="8163000"/>
            <a:ext cx="180000" cy="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3096000" y="2977199"/>
            <a:ext cx="0" cy="4780801"/>
          </a:xfrm>
          <a:prstGeom prst="line">
            <a:avLst/>
          </a:prstGeom>
          <a:ln w="12700">
            <a:solidFill>
              <a:srgbClr val="9A825A"/>
            </a:solidFill>
            <a:prstDash val="dash"/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6624000" y="2977199"/>
            <a:ext cx="0" cy="4780801"/>
          </a:xfrm>
          <a:prstGeom prst="line">
            <a:avLst/>
          </a:prstGeom>
          <a:ln w="12700">
            <a:solidFill>
              <a:srgbClr val="9A825A"/>
            </a:solidFill>
            <a:prstDash val="dash"/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270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387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2700000" y="2689199"/>
            <a:ext cx="117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266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 flipV="1">
            <a:off x="383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2745000" y="2509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650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387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585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3870000" y="2689199"/>
            <a:ext cx="19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383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 flipV="1">
            <a:off x="581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4320000" y="2509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1100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585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702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5850000" y="2689199"/>
            <a:ext cx="117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581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 flipV="1">
            <a:off x="698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5895000" y="2509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650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2160000" y="8568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H="1">
            <a:off x="2160000" y="2977199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 flipV="1">
            <a:off x="2160000" y="2977199"/>
            <a:ext cx="0" cy="559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2124000" y="85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 flipV="1">
            <a:off x="2124000" y="294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74" name="TextBox 73"/>
          <p:cNvSpPr txBox="1"/>
          <p:nvPr/>
        </p:nvSpPr>
        <p:spPr>
          <a:xfrm>
            <a:off x="1728000" y="5772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3870000" y="7758000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>
            <a:off x="3870000" y="3787199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4230000" y="3787199"/>
            <a:ext cx="0" cy="397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4194000" y="772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4194000" y="375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80" name="TextBox 79"/>
          <p:cNvSpPr txBox="1"/>
          <p:nvPr/>
        </p:nvSpPr>
        <p:spPr>
          <a:xfrm>
            <a:off x="3798000" y="5772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2206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2700000" y="8568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7020000" y="8568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2700000" y="9072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266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698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4320000" y="889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87" name="Connector 86"/>
          <p:cNvCxnSpPr/>
          <p:nvPr/>
        </p:nvCxnSpPr>
        <p:spPr>
          <a:xfrm flipV="1">
            <a:off x="5850000" y="3780000"/>
            <a:ext cx="1746000" cy="468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88" name="Oval 87"/>
          <p:cNvSpPr/>
          <p:nvPr/>
        </p:nvSpPr>
        <p:spPr>
          <a:xfrm>
            <a:off x="5826600" y="4224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68000" y="3636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BLACK TRACK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Adjustable spot heads</a:t>
            </a:r>
          </a:p>
        </p:txBody>
      </p:sp>
      <p:cxnSp>
        <p:nvCxnSpPr>
          <p:cNvPr id="90" name="Connector 89"/>
          <p:cNvCxnSpPr/>
          <p:nvPr/>
        </p:nvCxnSpPr>
        <p:spPr>
          <a:xfrm flipV="1">
            <a:off x="6624000" y="5184000"/>
            <a:ext cx="972000" cy="684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91" name="Oval 90"/>
          <p:cNvSpPr/>
          <p:nvPr/>
        </p:nvSpPr>
        <p:spPr>
          <a:xfrm>
            <a:off x="6600600" y="5844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668000" y="5040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SHELF LEDs BELOW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3000 K concealed light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5760000" y="8028000"/>
            <a:ext cx="1836000" cy="135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94" name="Oval 93"/>
          <p:cNvSpPr/>
          <p:nvPr/>
        </p:nvSpPr>
        <p:spPr>
          <a:xfrm>
            <a:off x="5736600" y="8139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668000" y="7884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ENTRANCE DOWNLIGHTS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Three approved positions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700000" y="952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2700000" y="948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3600000" y="948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4500000" y="948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2700000" y="959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800000" y="2052000"/>
            <a:ext cx="378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UNIT HEAD / CEILING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00000" y="2340000"/>
            <a:ext cx="378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1:5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160000" y="3060000"/>
            <a:ext cx="180000" cy="28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171520" y="3240000"/>
            <a:ext cx="156960" cy="27000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780000" y="3060000"/>
            <a:ext cx="180000" cy="28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2791520" y="3240000"/>
            <a:ext cx="156960" cy="27000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160000" y="3060000"/>
            <a:ext cx="180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1340000" y="3071519"/>
            <a:ext cx="144000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160000" y="5918400"/>
            <a:ext cx="1800000" cy="216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2938400" y="5918400"/>
            <a:ext cx="216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268000" y="5940000"/>
            <a:ext cx="144000" cy="14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279520" y="5951520"/>
            <a:ext cx="120960" cy="120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11052000" y="3060000"/>
            <a:ext cx="216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12866400" y="5796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 flipV="1">
            <a:off x="12866400" y="5508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12866400" y="5220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 flipV="1">
            <a:off x="12866400" y="4932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12866400" y="4644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 flipV="1">
            <a:off x="12866400" y="4356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12866400" y="4068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 flipV="1">
            <a:off x="12866400" y="3780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12866400" y="3492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 flipV="1">
            <a:off x="12866400" y="3204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11160000" y="273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 flipV="1">
            <a:off x="12960000" y="273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>
            <a:off x="11160000" y="2736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 flipV="1">
            <a:off x="11124000" y="27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12924000" y="27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31" name="TextBox 130"/>
          <p:cNvSpPr txBox="1"/>
          <p:nvPr/>
        </p:nvSpPr>
        <p:spPr>
          <a:xfrm>
            <a:off x="11520000" y="255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12960000" y="5940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12960000" y="3060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13284000" y="3060000"/>
            <a:ext cx="0" cy="28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 flipV="1">
            <a:off x="13248000" y="590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13248000" y="30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37" name="TextBox 136"/>
          <p:cNvSpPr txBox="1"/>
          <p:nvPr/>
        </p:nvSpPr>
        <p:spPr>
          <a:xfrm>
            <a:off x="12852000" y="4500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800000" y="6480000"/>
            <a:ext cx="3780000" cy="82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2600 ceiling / frame datum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Mesh zone 2200–2600 at front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Wall fixings TBC #16; no gypsum fixing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224000" y="7920000"/>
            <a:ext cx="4536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FOLDED TRAY / LIGHT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224000" y="8208000"/>
            <a:ext cx="4536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1:2</a:t>
            </a:r>
          </a:p>
        </p:txBody>
      </p:sp>
      <p:sp>
        <p:nvSpPr>
          <p:cNvPr id="141" name="GEOM:active-tray"/>
          <p:cNvSpPr/>
          <p:nvPr/>
        </p:nvSpPr>
        <p:spPr>
          <a:xfrm>
            <a:off x="10224000" y="9306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4670000" y="9306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GEOM:active-support"/>
          <p:cNvSpPr/>
          <p:nvPr/>
        </p:nvSpPr>
        <p:spPr>
          <a:xfrm>
            <a:off x="10494000" y="9360000"/>
            <a:ext cx="360000" cy="36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522800" y="9388800"/>
            <a:ext cx="302400" cy="30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>
            <a:off x="14364000" y="9540000"/>
            <a:ext cx="270000" cy="0"/>
          </a:xfrm>
          <a:prstGeom prst="line">
            <a:avLst/>
          </a:prstGeom>
          <a:ln w="16510">
            <a:solidFill>
              <a:srgbClr val="9A825A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10224000" y="8982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 flipV="1">
            <a:off x="14724000" y="8982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10224000" y="8982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 flipV="1">
            <a:off x="10188000" y="894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14688000" y="894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1" name="TextBox 150"/>
          <p:cNvSpPr txBox="1"/>
          <p:nvPr/>
        </p:nvSpPr>
        <p:spPr>
          <a:xfrm>
            <a:off x="11934000" y="880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224000" y="9936000"/>
            <a:ext cx="4500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folded tray · 25 front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× 1.6 support · LED profile TBC #16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Storefront / external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Developed storefront · street-facing displays, glazed entrance and halo-lit brand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storefront-envelope"/>
          <p:cNvSpPr/>
          <p:nvPr/>
        </p:nvSpPr>
        <p:spPr>
          <a:xfrm>
            <a:off x="2340000" y="2772000"/>
            <a:ext cx="4320000" cy="576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40000" y="2772000"/>
            <a:ext cx="4320000" cy="10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0" y="2904321"/>
            <a:ext cx="1800000" cy="815357"/>
          </a:xfrm>
          <a:prstGeom prst="rect">
            <a:avLst/>
          </a:prstGeom>
          <a:effectLst/>
        </p:spPr>
      </p:pic>
      <p:sp>
        <p:nvSpPr>
          <p:cNvPr id="22" name="Rectangle 21"/>
          <p:cNvSpPr/>
          <p:nvPr/>
        </p:nvSpPr>
        <p:spPr>
          <a:xfrm>
            <a:off x="3150000" y="7452000"/>
            <a:ext cx="540000" cy="1080000"/>
          </a:xfrm>
          <a:prstGeom prst="rect">
            <a:avLst/>
          </a:prstGeom>
          <a:noFill/>
          <a:ln w="8890">
            <a:solidFill>
              <a:srgbClr val="D7D0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150000" y="745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3150000" y="673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3150000" y="601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3150000" y="529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3150000" y="457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5310000" y="7452000"/>
            <a:ext cx="540000" cy="1080000"/>
          </a:xfrm>
          <a:prstGeom prst="rect">
            <a:avLst/>
          </a:prstGeom>
          <a:noFill/>
          <a:ln w="8890">
            <a:solidFill>
              <a:srgbClr val="D7D0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10000" y="745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5310000" y="673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5310000" y="601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5310000" y="529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5310000" y="457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sp>
        <p:nvSpPr>
          <p:cNvPr id="34" name="Rectangle 33"/>
          <p:cNvSpPr/>
          <p:nvPr/>
        </p:nvSpPr>
        <p:spPr>
          <a:xfrm>
            <a:off x="3600000" y="6912000"/>
            <a:ext cx="1800000" cy="1620000"/>
          </a:xfrm>
          <a:prstGeom prst="rect">
            <a:avLst/>
          </a:prstGeom>
          <a:noFill/>
          <a:ln w="8890">
            <a:solidFill>
              <a:srgbClr val="D7D0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40000" y="3852000"/>
            <a:ext cx="81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40000" y="3852000"/>
            <a:ext cx="810000" cy="720000"/>
          </a:xfrm>
          <a:prstGeom prst="rect">
            <a:avLst/>
          </a:prstGeom>
          <a:solidFill>
            <a:srgbClr val="B6AD9A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2340000" y="3852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2340000" y="4500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2340000" y="3852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2340000" y="4428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2340000" y="3852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2340000" y="4356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2340000" y="3852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2340000" y="4284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2340000" y="385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2340000" y="421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 flipV="1">
            <a:off x="2340000" y="3852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>
            <a:off x="2340000" y="4140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2340000" y="3852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2340000" y="4068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2340000" y="3852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2340000" y="3996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 flipV="1">
            <a:off x="2340000" y="3852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>
            <a:off x="2340000" y="3924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 flipV="1">
            <a:off x="234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>
            <a:off x="234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 flipV="1">
            <a:off x="237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>
            <a:off x="237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 flipV="1">
            <a:off x="241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>
            <a:off x="241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 flipV="1">
            <a:off x="244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>
            <a:off x="244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 flipV="1">
            <a:off x="248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>
            <a:off x="248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 flipV="1">
            <a:off x="252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>
            <a:off x="252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 flipV="1">
            <a:off x="255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>
            <a:off x="255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 flipV="1">
            <a:off x="259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>
            <a:off x="259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 flipV="1">
            <a:off x="262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262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 flipV="1">
            <a:off x="266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266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 flipV="1">
            <a:off x="270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>
            <a:off x="270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273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>
            <a:off x="273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277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>
            <a:off x="277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 flipV="1">
            <a:off x="2808000" y="3888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2808000" y="3852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 flipV="1">
            <a:off x="2844000" y="3960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>
            <a:off x="2844000" y="3852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2880000" y="403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>
            <a:off x="2880000" y="385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 flipV="1">
            <a:off x="2916000" y="4104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>
            <a:off x="2916000" y="3852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 flipV="1">
            <a:off x="2952000" y="4176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>
            <a:off x="2952000" y="3852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 flipV="1">
            <a:off x="2988000" y="4248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>
            <a:off x="2988000" y="3852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 flipV="1">
            <a:off x="3024000" y="4320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>
            <a:off x="3024000" y="3852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 flipV="1">
            <a:off x="3060000" y="439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>
            <a:off x="3060000" y="385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 flipV="1">
            <a:off x="3096000" y="4464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>
            <a:off x="3096000" y="3852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 flipV="1">
            <a:off x="3132000" y="4536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3132000" y="3852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sp>
        <p:nvSpPr>
          <p:cNvPr id="101" name="Rectangle 100"/>
          <p:cNvSpPr/>
          <p:nvPr/>
        </p:nvSpPr>
        <p:spPr>
          <a:xfrm>
            <a:off x="2340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105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340000" y="38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340000" y="74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2385000" y="749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06" name="Rectangle 105"/>
          <p:cNvSpPr/>
          <p:nvPr/>
        </p:nvSpPr>
        <p:spPr>
          <a:xfrm>
            <a:off x="2484000" y="72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508300" y="72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2498400" y="73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09" name="Rectangle 108"/>
          <p:cNvSpPr/>
          <p:nvPr/>
        </p:nvSpPr>
        <p:spPr>
          <a:xfrm>
            <a:off x="2880000" y="72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910132" y="71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2894400" y="73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12" name="Rectangle 111"/>
          <p:cNvSpPr/>
          <p:nvPr/>
        </p:nvSpPr>
        <p:spPr>
          <a:xfrm>
            <a:off x="2340000" y="673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385000" y="677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14" name="Rectangle 113"/>
          <p:cNvSpPr/>
          <p:nvPr/>
        </p:nvSpPr>
        <p:spPr>
          <a:xfrm>
            <a:off x="2484000" y="651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514132" y="647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2498400" y="663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17" name="Rectangle 116"/>
          <p:cNvSpPr/>
          <p:nvPr/>
        </p:nvSpPr>
        <p:spPr>
          <a:xfrm>
            <a:off x="2880000" y="653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901384" y="650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2894400" y="664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20" name="Rectangle 119"/>
          <p:cNvSpPr/>
          <p:nvPr/>
        </p:nvSpPr>
        <p:spPr>
          <a:xfrm>
            <a:off x="2340000" y="601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2385000" y="605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22" name="Rectangle 121"/>
          <p:cNvSpPr/>
          <p:nvPr/>
        </p:nvSpPr>
        <p:spPr>
          <a:xfrm>
            <a:off x="2484000" y="581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505384" y="578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2498400" y="592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25" name="Rectangle 124"/>
          <p:cNvSpPr/>
          <p:nvPr/>
        </p:nvSpPr>
        <p:spPr>
          <a:xfrm>
            <a:off x="2880000" y="58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904300" y="58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2894400" y="59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28" name="Rectangle 127"/>
          <p:cNvSpPr/>
          <p:nvPr/>
        </p:nvSpPr>
        <p:spPr>
          <a:xfrm>
            <a:off x="2340000" y="529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2385000" y="533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30" name="Rectangle 129"/>
          <p:cNvSpPr/>
          <p:nvPr/>
        </p:nvSpPr>
        <p:spPr>
          <a:xfrm>
            <a:off x="2484000" y="511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508300" y="508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2498400" y="521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33" name="Rectangle 132"/>
          <p:cNvSpPr/>
          <p:nvPr/>
        </p:nvSpPr>
        <p:spPr>
          <a:xfrm>
            <a:off x="2880000" y="50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910132" y="50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>
            <a:off x="2894400" y="51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36" name="Rectangle 135"/>
          <p:cNvSpPr/>
          <p:nvPr/>
        </p:nvSpPr>
        <p:spPr>
          <a:xfrm>
            <a:off x="2340000" y="457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>
            <a:off x="2385000" y="461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38" name="Rectangle 137"/>
          <p:cNvSpPr/>
          <p:nvPr/>
        </p:nvSpPr>
        <p:spPr>
          <a:xfrm>
            <a:off x="5850000" y="3852000"/>
            <a:ext cx="81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850000" y="3852000"/>
            <a:ext cx="810000" cy="720000"/>
          </a:xfrm>
          <a:prstGeom prst="rect">
            <a:avLst/>
          </a:prstGeom>
          <a:solidFill>
            <a:srgbClr val="B6AD9A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 flipV="1">
            <a:off x="5850000" y="3852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5850000" y="4500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5850000" y="3852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5850000" y="4428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5850000" y="3852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5850000" y="4356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5850000" y="3852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5850000" y="4284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5850000" y="385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5850000" y="421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5850000" y="3852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5850000" y="4140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V="1">
            <a:off x="5850000" y="3852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5850000" y="4068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5850000" y="3852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5850000" y="3996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5850000" y="3852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5850000" y="3924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585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585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 flipV="1">
            <a:off x="588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588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592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592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V="1">
            <a:off x="595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595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599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599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603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603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 flipV="1">
            <a:off x="606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606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610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610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613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613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617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617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621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621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624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>
            <a:off x="624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628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628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6318000" y="3888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6318000" y="3852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6354000" y="3960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6354000" y="3852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6390000" y="403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6390000" y="385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6426000" y="4104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6426000" y="3852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6462000" y="4176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6462000" y="3852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6498000" y="4248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6498000" y="3852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6534000" y="4320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6534000" y="3852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6570000" y="439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6570000" y="385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6606000" y="4464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6606000" y="3852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6642000" y="4536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6642000" y="3852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sp>
        <p:nvSpPr>
          <p:cNvPr id="204" name="Rectangle 203"/>
          <p:cNvSpPr/>
          <p:nvPr/>
        </p:nvSpPr>
        <p:spPr>
          <a:xfrm>
            <a:off x="5850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615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50000" y="38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50000" y="74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>
            <a:off x="5895000" y="749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09" name="Rectangle 208"/>
          <p:cNvSpPr/>
          <p:nvPr/>
        </p:nvSpPr>
        <p:spPr>
          <a:xfrm>
            <a:off x="5994000" y="72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018300" y="72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1" name="Connector 210"/>
          <p:cNvCxnSpPr/>
          <p:nvPr/>
        </p:nvCxnSpPr>
        <p:spPr>
          <a:xfrm>
            <a:off x="6008400" y="73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12" name="Rectangle 211"/>
          <p:cNvSpPr/>
          <p:nvPr/>
        </p:nvSpPr>
        <p:spPr>
          <a:xfrm>
            <a:off x="6390000" y="72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0132" y="71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>
            <a:off x="6404400" y="73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15" name="Rectangle 214"/>
          <p:cNvSpPr/>
          <p:nvPr/>
        </p:nvSpPr>
        <p:spPr>
          <a:xfrm>
            <a:off x="5850000" y="673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6" name="Connector 215"/>
          <p:cNvCxnSpPr/>
          <p:nvPr/>
        </p:nvCxnSpPr>
        <p:spPr>
          <a:xfrm>
            <a:off x="5895000" y="677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17" name="Rectangle 216"/>
          <p:cNvSpPr/>
          <p:nvPr/>
        </p:nvSpPr>
        <p:spPr>
          <a:xfrm>
            <a:off x="5994000" y="651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024132" y="647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9" name="Connector 218"/>
          <p:cNvCxnSpPr/>
          <p:nvPr/>
        </p:nvCxnSpPr>
        <p:spPr>
          <a:xfrm>
            <a:off x="6008400" y="663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20" name="Rectangle 219"/>
          <p:cNvSpPr/>
          <p:nvPr/>
        </p:nvSpPr>
        <p:spPr>
          <a:xfrm>
            <a:off x="6390000" y="653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411384" y="650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2" name="Connector 221"/>
          <p:cNvCxnSpPr/>
          <p:nvPr/>
        </p:nvCxnSpPr>
        <p:spPr>
          <a:xfrm>
            <a:off x="6404400" y="664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23" name="Rectangle 222"/>
          <p:cNvSpPr/>
          <p:nvPr/>
        </p:nvSpPr>
        <p:spPr>
          <a:xfrm>
            <a:off x="5850000" y="601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4" name="Connector 223"/>
          <p:cNvCxnSpPr/>
          <p:nvPr/>
        </p:nvCxnSpPr>
        <p:spPr>
          <a:xfrm>
            <a:off x="5895000" y="605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25" name="Rectangle 224"/>
          <p:cNvSpPr/>
          <p:nvPr/>
        </p:nvSpPr>
        <p:spPr>
          <a:xfrm>
            <a:off x="5994000" y="581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6015384" y="578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7" name="Connector 226"/>
          <p:cNvCxnSpPr/>
          <p:nvPr/>
        </p:nvCxnSpPr>
        <p:spPr>
          <a:xfrm>
            <a:off x="6008400" y="592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28" name="Rectangle 227"/>
          <p:cNvSpPr/>
          <p:nvPr/>
        </p:nvSpPr>
        <p:spPr>
          <a:xfrm>
            <a:off x="6390000" y="58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414300" y="58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0" name="Connector 229"/>
          <p:cNvCxnSpPr/>
          <p:nvPr/>
        </p:nvCxnSpPr>
        <p:spPr>
          <a:xfrm>
            <a:off x="6404400" y="59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31" name="Rectangle 230"/>
          <p:cNvSpPr/>
          <p:nvPr/>
        </p:nvSpPr>
        <p:spPr>
          <a:xfrm>
            <a:off x="5850000" y="529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2" name="Connector 231"/>
          <p:cNvCxnSpPr/>
          <p:nvPr/>
        </p:nvCxnSpPr>
        <p:spPr>
          <a:xfrm>
            <a:off x="5895000" y="533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33" name="Rectangle 232"/>
          <p:cNvSpPr/>
          <p:nvPr/>
        </p:nvSpPr>
        <p:spPr>
          <a:xfrm>
            <a:off x="5994000" y="511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6018300" y="508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5" name="Connector 234"/>
          <p:cNvCxnSpPr/>
          <p:nvPr/>
        </p:nvCxnSpPr>
        <p:spPr>
          <a:xfrm>
            <a:off x="6008400" y="521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36" name="Rectangle 235"/>
          <p:cNvSpPr/>
          <p:nvPr/>
        </p:nvSpPr>
        <p:spPr>
          <a:xfrm>
            <a:off x="6390000" y="50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420132" y="50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8" name="Connector 237"/>
          <p:cNvCxnSpPr/>
          <p:nvPr/>
        </p:nvCxnSpPr>
        <p:spPr>
          <a:xfrm>
            <a:off x="6404400" y="51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39" name="Rectangle 238"/>
          <p:cNvSpPr/>
          <p:nvPr/>
        </p:nvSpPr>
        <p:spPr>
          <a:xfrm>
            <a:off x="5850000" y="457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0" name="Connector 239"/>
          <p:cNvCxnSpPr/>
          <p:nvPr/>
        </p:nvCxnSpPr>
        <p:spPr>
          <a:xfrm>
            <a:off x="5895000" y="461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41" name="Rectangle 240"/>
          <p:cNvSpPr/>
          <p:nvPr/>
        </p:nvSpPr>
        <p:spPr>
          <a:xfrm>
            <a:off x="3157200" y="3870000"/>
            <a:ext cx="878400" cy="46440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GEOM:door-leaf"/>
          <p:cNvSpPr/>
          <p:nvPr/>
        </p:nvSpPr>
        <p:spPr>
          <a:xfrm>
            <a:off x="4042800" y="3870000"/>
            <a:ext cx="1800000" cy="46440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3" name="Connector 242"/>
          <p:cNvCxnSpPr/>
          <p:nvPr/>
        </p:nvCxnSpPr>
        <p:spPr>
          <a:xfrm flipV="1">
            <a:off x="4194000" y="6282000"/>
            <a:ext cx="0" cy="540000"/>
          </a:xfrm>
          <a:prstGeom prst="line">
            <a:avLst/>
          </a:prstGeom>
          <a:ln w="16510">
            <a:solidFill>
              <a:srgbClr val="252725"/>
            </a:solidFill>
          </a:ln>
          <a:effectLst/>
        </p:spPr>
      </p:cxnSp>
      <p:sp>
        <p:nvSpPr>
          <p:cNvPr id="244" name="Rectangle 243"/>
          <p:cNvSpPr/>
          <p:nvPr/>
        </p:nvSpPr>
        <p:spPr>
          <a:xfrm>
            <a:off x="5598000" y="8442000"/>
            <a:ext cx="162000" cy="45000"/>
          </a:xfrm>
          <a:prstGeom prst="rect">
            <a:avLst/>
          </a:prstGeom>
          <a:solidFill>
            <a:srgbClr val="77797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5598000" y="3915000"/>
            <a:ext cx="162000" cy="45000"/>
          </a:xfrm>
          <a:prstGeom prst="rect">
            <a:avLst/>
          </a:prstGeom>
          <a:solidFill>
            <a:srgbClr val="77797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6" name="Connector 245"/>
          <p:cNvCxnSpPr/>
          <p:nvPr/>
        </p:nvCxnSpPr>
        <p:spPr>
          <a:xfrm>
            <a:off x="2340000" y="8532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6660000" y="8532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>
            <a:off x="2340000" y="9036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 flipV="1">
            <a:off x="2304000" y="90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V="1">
            <a:off x="6624000" y="90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51" name="TextBox 250"/>
          <p:cNvSpPr txBox="1"/>
          <p:nvPr/>
        </p:nvSpPr>
        <p:spPr>
          <a:xfrm>
            <a:off x="3960000" y="885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252" name="Connector 251"/>
          <p:cNvCxnSpPr/>
          <p:nvPr/>
        </p:nvCxnSpPr>
        <p:spPr>
          <a:xfrm>
            <a:off x="234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31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>
            <a:off x="2340000" y="8784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 flipV="1">
            <a:off x="230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 flipV="1">
            <a:off x="31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57" name="TextBox 256"/>
          <p:cNvSpPr txBox="1"/>
          <p:nvPr/>
        </p:nvSpPr>
        <p:spPr>
          <a:xfrm>
            <a:off x="2205000" y="860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31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58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>
            <a:off x="3150000" y="8784000"/>
            <a:ext cx="27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 flipV="1">
            <a:off x="31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 flipV="1">
            <a:off x="58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63" name="TextBox 262"/>
          <p:cNvSpPr txBox="1"/>
          <p:nvPr/>
        </p:nvSpPr>
        <p:spPr>
          <a:xfrm>
            <a:off x="3960000" y="860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1500</a:t>
            </a:r>
          </a:p>
        </p:txBody>
      </p:sp>
      <p:cxnSp>
        <p:nvCxnSpPr>
          <p:cNvPr id="264" name="Connector 263"/>
          <p:cNvCxnSpPr/>
          <p:nvPr/>
        </p:nvCxnSpPr>
        <p:spPr>
          <a:xfrm>
            <a:off x="58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666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>
            <a:off x="5850000" y="8784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 flipV="1">
            <a:off x="58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662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69" name="TextBox 268"/>
          <p:cNvSpPr txBox="1"/>
          <p:nvPr/>
        </p:nvSpPr>
        <p:spPr>
          <a:xfrm>
            <a:off x="5715000" y="860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70" name="Connector 269"/>
          <p:cNvCxnSpPr/>
          <p:nvPr/>
        </p:nvCxnSpPr>
        <p:spPr>
          <a:xfrm flipH="1">
            <a:off x="1872000" y="853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 flipH="1">
            <a:off x="1872000" y="277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1872000" y="2772000"/>
            <a:ext cx="0" cy="576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 flipV="1">
            <a:off x="1836000" y="84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1836000" y="27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75" name="TextBox 274"/>
          <p:cNvSpPr txBox="1"/>
          <p:nvPr/>
        </p:nvSpPr>
        <p:spPr>
          <a:xfrm>
            <a:off x="1440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3200</a:t>
            </a:r>
          </a:p>
        </p:txBody>
      </p:sp>
      <p:cxnSp>
        <p:nvCxnSpPr>
          <p:cNvPr id="276" name="Connector 275"/>
          <p:cNvCxnSpPr/>
          <p:nvPr/>
        </p:nvCxnSpPr>
        <p:spPr>
          <a:xfrm>
            <a:off x="6660000" y="38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>
            <a:off x="6660000" y="27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 flipV="1">
            <a:off x="6984000" y="2772000"/>
            <a:ext cx="0" cy="10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 flipV="1">
            <a:off x="6948000" y="38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948000" y="27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1" name="TextBox 280"/>
          <p:cNvSpPr txBox="1"/>
          <p:nvPr/>
        </p:nvSpPr>
        <p:spPr>
          <a:xfrm>
            <a:off x="6552000" y="331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600</a:t>
            </a:r>
          </a:p>
        </p:txBody>
      </p:sp>
      <p:cxnSp>
        <p:nvCxnSpPr>
          <p:cNvPr id="282" name="Connector 281"/>
          <p:cNvCxnSpPr/>
          <p:nvPr/>
        </p:nvCxnSpPr>
        <p:spPr>
          <a:xfrm flipV="1">
            <a:off x="2745000" y="5076000"/>
            <a:ext cx="4635000" cy="396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283" name="Oval 282"/>
          <p:cNvSpPr/>
          <p:nvPr/>
        </p:nvSpPr>
        <p:spPr>
          <a:xfrm>
            <a:off x="2721600" y="5448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7452000" y="4932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FOLDED BLACK SHELF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Warm concealed light</a:t>
            </a:r>
          </a:p>
        </p:txBody>
      </p:sp>
      <p:cxnSp>
        <p:nvCxnSpPr>
          <p:cNvPr id="285" name="Connector 284"/>
          <p:cNvCxnSpPr/>
          <p:nvPr/>
        </p:nvCxnSpPr>
        <p:spPr>
          <a:xfrm>
            <a:off x="5040000" y="5652000"/>
            <a:ext cx="2340000" cy="324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286" name="Oval 285"/>
          <p:cNvSpPr/>
          <p:nvPr/>
        </p:nvSpPr>
        <p:spPr>
          <a:xfrm>
            <a:off x="5016600" y="5628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7452000" y="5832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CLEAR TOUGHENED GLASS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12 mm; interior visible beyond</a:t>
            </a:r>
          </a:p>
        </p:txBody>
      </p:sp>
      <p:cxnSp>
        <p:nvCxnSpPr>
          <p:cNvPr id="288" name="Connector 287"/>
          <p:cNvCxnSpPr/>
          <p:nvPr/>
        </p:nvCxnSpPr>
        <p:spPr>
          <a:xfrm flipV="1">
            <a:off x="4860000" y="2988000"/>
            <a:ext cx="2520000" cy="324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289" name="Oval 288"/>
          <p:cNvSpPr/>
          <p:nvPr/>
        </p:nvSpPr>
        <p:spPr>
          <a:xfrm>
            <a:off x="4836600" y="3288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7452000" y="2844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HALO-LIT BRAND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1000 wide; 25 stand-offs</a:t>
            </a:r>
          </a:p>
        </p:txBody>
      </p:sp>
      <p:cxnSp>
        <p:nvCxnSpPr>
          <p:cNvPr id="293" name="Connector 292"/>
          <p:cNvCxnSpPr/>
          <p:nvPr/>
        </p:nvCxnSpPr>
        <p:spPr>
          <a:xfrm>
            <a:off x="2340000" y="9396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>
            <a:off x="2340000" y="9360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3240000" y="9360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>
            <a:off x="4140000" y="9360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97" name="TextBox 296"/>
          <p:cNvSpPr txBox="1"/>
          <p:nvPr/>
        </p:nvSpPr>
        <p:spPr>
          <a:xfrm>
            <a:off x="2340000" y="9468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cxnSp>
        <p:nvCxnSpPr>
          <p:cNvPr id="298" name="Connector 297"/>
          <p:cNvCxnSpPr/>
          <p:nvPr/>
        </p:nvCxnSpPr>
        <p:spPr>
          <a:xfrm flipV="1">
            <a:off x="5850000" y="3096000"/>
            <a:ext cx="4734000" cy="1116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99" name="Connector 298"/>
          <p:cNvCxnSpPr/>
          <p:nvPr/>
        </p:nvCxnSpPr>
        <p:spPr>
          <a:xfrm>
            <a:off x="10584000" y="3096000"/>
            <a:ext cx="1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00" name="Oval 299"/>
          <p:cNvSpPr/>
          <p:nvPr/>
        </p:nvSpPr>
        <p:spPr>
          <a:xfrm>
            <a:off x="5830200" y="4192200"/>
            <a:ext cx="39600" cy="396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10872000" y="2988000"/>
            <a:ext cx="3708000" cy="25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SHS FRAME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0872000" y="3240000"/>
            <a:ext cx="3708000" cy="61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25 × 25 × 1.6 main steel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0908000" y="5940000"/>
            <a:ext cx="3708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HALO LETTER / BACKING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0908000" y="6228000"/>
            <a:ext cx="370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STAND-OFF SECTION 1:2</a:t>
            </a:r>
          </a:p>
        </p:txBody>
      </p:sp>
      <p:cxnSp>
        <p:nvCxnSpPr>
          <p:cNvPr id="305" name="Connector 304"/>
          <p:cNvCxnSpPr/>
          <p:nvPr/>
        </p:nvCxnSpPr>
        <p:spPr>
          <a:xfrm flipV="1">
            <a:off x="11160000" y="7074000"/>
            <a:ext cx="0" cy="1350000"/>
          </a:xfrm>
          <a:prstGeom prst="line">
            <a:avLst/>
          </a:prstGeom>
          <a:ln w="7620">
            <a:solidFill>
              <a:srgbClr val="737871"/>
            </a:solidFill>
          </a:ln>
          <a:effectLst/>
        </p:spPr>
      </p:cxnSp>
      <p:cxnSp>
        <p:nvCxnSpPr>
          <p:cNvPr id="306" name="Connector 305"/>
          <p:cNvCxnSpPr/>
          <p:nvPr/>
        </p:nvCxnSpPr>
        <p:spPr>
          <a:xfrm flipV="1">
            <a:off x="11610000" y="7074000"/>
            <a:ext cx="0" cy="135000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>
            <a:off x="11160000" y="7794000"/>
            <a:ext cx="450000" cy="0"/>
          </a:xfrm>
          <a:prstGeom prst="line">
            <a:avLst/>
          </a:prstGeom>
          <a:ln w="7620">
            <a:solidFill>
              <a:srgbClr val="252725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 flipV="1">
            <a:off x="11160000" y="6786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 flipV="1">
            <a:off x="11610000" y="6786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>
            <a:off x="11160000" y="6786000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 flipV="1">
            <a:off x="11124000" y="675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12" name="Connector 311"/>
          <p:cNvCxnSpPr/>
          <p:nvPr/>
        </p:nvCxnSpPr>
        <p:spPr>
          <a:xfrm flipV="1">
            <a:off x="11574000" y="675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13" name="TextBox 312"/>
          <p:cNvSpPr txBox="1"/>
          <p:nvPr/>
        </p:nvSpPr>
        <p:spPr>
          <a:xfrm>
            <a:off x="10845000" y="660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0908000" y="8892000"/>
            <a:ext cx="3708000" cy="93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25 stand-off · halo behind black letters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Backing / wall support / drivers TBC #16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Rear focal wall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Rear focal wall · developed shelving + owner-directed counter front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internal-envelope"/>
          <p:cNvSpPr/>
          <p:nvPr/>
        </p:nvSpPr>
        <p:spPr>
          <a:xfrm>
            <a:off x="2340000" y="3312000"/>
            <a:ext cx="4320000" cy="4680000"/>
          </a:xfrm>
          <a:prstGeom prst="rect">
            <a:avLst/>
          </a:prstGeom>
          <a:solidFill>
            <a:srgbClr val="F0E8DA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40000" y="3312000"/>
            <a:ext cx="45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312000"/>
            <a:ext cx="45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1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90000" y="3312000"/>
            <a:ext cx="90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90000" y="7812000"/>
            <a:ext cx="900000" cy="180000"/>
          </a:xfrm>
          <a:prstGeom prst="rect">
            <a:avLst/>
          </a:prstGeom>
          <a:solidFill>
            <a:srgbClr val="42454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90000" y="6912000"/>
            <a:ext cx="900000" cy="900000"/>
          </a:xfrm>
          <a:prstGeom prst="rect">
            <a:avLst/>
          </a:prstGeom>
          <a:solidFill>
            <a:srgbClr val="DAD3C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3240000" y="6957000"/>
            <a:ext cx="0" cy="837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2790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4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90000" y="33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90000" y="69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2835000" y="695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33" name="Rectangle 32"/>
          <p:cNvSpPr/>
          <p:nvPr/>
        </p:nvSpPr>
        <p:spPr>
          <a:xfrm>
            <a:off x="2934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58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2948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" name="Rectangle 35"/>
          <p:cNvSpPr/>
          <p:nvPr/>
        </p:nvSpPr>
        <p:spPr>
          <a:xfrm>
            <a:off x="3420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50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3434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9" name="Rectangle 38"/>
          <p:cNvSpPr/>
          <p:nvPr/>
        </p:nvSpPr>
        <p:spPr>
          <a:xfrm>
            <a:off x="2790000" y="619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835000" y="623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41" name="Rectangle 40"/>
          <p:cNvSpPr/>
          <p:nvPr/>
        </p:nvSpPr>
        <p:spPr>
          <a:xfrm>
            <a:off x="29340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9641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29484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44" name="Rectangle 43"/>
          <p:cNvSpPr/>
          <p:nvPr/>
        </p:nvSpPr>
        <p:spPr>
          <a:xfrm>
            <a:off x="34200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413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4344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47" name="Rectangle 46"/>
          <p:cNvSpPr/>
          <p:nvPr/>
        </p:nvSpPr>
        <p:spPr>
          <a:xfrm>
            <a:off x="2790000" y="547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835000" y="551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49" name="Rectangle 48"/>
          <p:cNvSpPr/>
          <p:nvPr/>
        </p:nvSpPr>
        <p:spPr>
          <a:xfrm>
            <a:off x="2934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55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2948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52" name="Rectangle 51"/>
          <p:cNvSpPr/>
          <p:nvPr/>
        </p:nvSpPr>
        <p:spPr>
          <a:xfrm>
            <a:off x="3420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44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3434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55" name="Rectangle 54"/>
          <p:cNvSpPr/>
          <p:nvPr/>
        </p:nvSpPr>
        <p:spPr>
          <a:xfrm>
            <a:off x="2790000" y="475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2835000" y="479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57" name="Rectangle 56"/>
          <p:cNvSpPr/>
          <p:nvPr/>
        </p:nvSpPr>
        <p:spPr>
          <a:xfrm>
            <a:off x="29340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583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29484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60" name="Rectangle 59"/>
          <p:cNvSpPr/>
          <p:nvPr/>
        </p:nvSpPr>
        <p:spPr>
          <a:xfrm>
            <a:off x="34200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501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34344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63" name="Rectangle 62"/>
          <p:cNvSpPr/>
          <p:nvPr/>
        </p:nvSpPr>
        <p:spPr>
          <a:xfrm>
            <a:off x="2790000" y="403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2835000" y="407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65" name="Rectangle 64"/>
          <p:cNvSpPr/>
          <p:nvPr/>
        </p:nvSpPr>
        <p:spPr>
          <a:xfrm>
            <a:off x="5310000" y="3312000"/>
            <a:ext cx="90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10000" y="7812000"/>
            <a:ext cx="900000" cy="180000"/>
          </a:xfrm>
          <a:prstGeom prst="rect">
            <a:avLst/>
          </a:prstGeom>
          <a:solidFill>
            <a:srgbClr val="42454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10000" y="6912000"/>
            <a:ext cx="900000" cy="900000"/>
          </a:xfrm>
          <a:prstGeom prst="rect">
            <a:avLst/>
          </a:prstGeom>
          <a:solidFill>
            <a:srgbClr val="DAD3C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5760000" y="6957000"/>
            <a:ext cx="0" cy="837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69" name="Rectangle 68"/>
          <p:cNvSpPr/>
          <p:nvPr/>
        </p:nvSpPr>
        <p:spPr>
          <a:xfrm>
            <a:off x="5310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6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310000" y="33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310000" y="69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5355000" y="695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74" name="Rectangle 73"/>
          <p:cNvSpPr/>
          <p:nvPr/>
        </p:nvSpPr>
        <p:spPr>
          <a:xfrm>
            <a:off x="5454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78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5468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77" name="Rectangle 76"/>
          <p:cNvSpPr/>
          <p:nvPr/>
        </p:nvSpPr>
        <p:spPr>
          <a:xfrm>
            <a:off x="5940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70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5954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80" name="Rectangle 79"/>
          <p:cNvSpPr/>
          <p:nvPr/>
        </p:nvSpPr>
        <p:spPr>
          <a:xfrm>
            <a:off x="5310000" y="619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5355000" y="623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82" name="Rectangle 81"/>
          <p:cNvSpPr/>
          <p:nvPr/>
        </p:nvSpPr>
        <p:spPr>
          <a:xfrm>
            <a:off x="54540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841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54684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85" name="Rectangle 84"/>
          <p:cNvSpPr/>
          <p:nvPr/>
        </p:nvSpPr>
        <p:spPr>
          <a:xfrm>
            <a:off x="59400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9613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59544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88" name="Rectangle 87"/>
          <p:cNvSpPr/>
          <p:nvPr/>
        </p:nvSpPr>
        <p:spPr>
          <a:xfrm>
            <a:off x="5310000" y="547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5355000" y="551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90" name="Rectangle 89"/>
          <p:cNvSpPr/>
          <p:nvPr/>
        </p:nvSpPr>
        <p:spPr>
          <a:xfrm>
            <a:off x="5454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75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5468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93" name="Rectangle 92"/>
          <p:cNvSpPr/>
          <p:nvPr/>
        </p:nvSpPr>
        <p:spPr>
          <a:xfrm>
            <a:off x="5940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964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5954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96" name="Rectangle 95"/>
          <p:cNvSpPr/>
          <p:nvPr/>
        </p:nvSpPr>
        <p:spPr>
          <a:xfrm>
            <a:off x="5310000" y="475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5355000" y="479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98" name="Rectangle 97"/>
          <p:cNvSpPr/>
          <p:nvPr/>
        </p:nvSpPr>
        <p:spPr>
          <a:xfrm>
            <a:off x="54540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4783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54684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01" name="Rectangle 100"/>
          <p:cNvSpPr/>
          <p:nvPr/>
        </p:nvSpPr>
        <p:spPr>
          <a:xfrm>
            <a:off x="59400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9701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59544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04" name="Rectangle 103"/>
          <p:cNvSpPr/>
          <p:nvPr/>
        </p:nvSpPr>
        <p:spPr>
          <a:xfrm>
            <a:off x="5310000" y="403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5355000" y="407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pic>
        <p:nvPicPr>
          <p:cNvPr id="106" name="Picture 10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0" y="4327392"/>
            <a:ext cx="1080000" cy="489214"/>
          </a:xfrm>
          <a:prstGeom prst="rect">
            <a:avLst/>
          </a:prstGeom>
          <a:effectLst/>
        </p:spPr>
      </p:pic>
      <p:sp>
        <p:nvSpPr>
          <p:cNvPr id="107" name="GEOM:counter-elevation"/>
          <p:cNvSpPr/>
          <p:nvPr/>
        </p:nvSpPr>
        <p:spPr>
          <a:xfrm>
            <a:off x="3600000" y="6372000"/>
            <a:ext cx="1800000" cy="1620000"/>
          </a:xfrm>
          <a:prstGeom prst="rect">
            <a:avLst/>
          </a:prstGeom>
          <a:solidFill>
            <a:srgbClr val="D9CBB4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636000" y="6444000"/>
            <a:ext cx="594000" cy="1449000"/>
          </a:xfrm>
          <a:prstGeom prst="rect">
            <a:avLst/>
          </a:prstGeom>
          <a:solidFill>
            <a:srgbClr val="B6AD9A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 flipV="1">
            <a:off x="3636000" y="6444000"/>
            <a:ext cx="900" cy="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>
            <a:off x="3636000" y="7891200"/>
            <a:ext cx="900" cy="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 flipV="1">
            <a:off x="3636000" y="6444000"/>
            <a:ext cx="36900" cy="7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>
            <a:off x="3636000" y="7819200"/>
            <a:ext cx="36900" cy="7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 flipV="1">
            <a:off x="3636000" y="6444000"/>
            <a:ext cx="72900" cy="14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>
            <a:off x="3636000" y="7747200"/>
            <a:ext cx="72900" cy="14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 flipV="1">
            <a:off x="3636000" y="6444000"/>
            <a:ext cx="108900" cy="21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>
            <a:off x="3636000" y="7675200"/>
            <a:ext cx="108900" cy="21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 flipV="1">
            <a:off x="3636000" y="6444000"/>
            <a:ext cx="144900" cy="28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>
            <a:off x="3636000" y="7603200"/>
            <a:ext cx="144900" cy="28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 flipV="1">
            <a:off x="3636000" y="6444000"/>
            <a:ext cx="180900" cy="36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>
            <a:off x="3636000" y="7531200"/>
            <a:ext cx="180900" cy="36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 flipV="1">
            <a:off x="3636000" y="6444000"/>
            <a:ext cx="216900" cy="43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>
            <a:off x="3636000" y="7459200"/>
            <a:ext cx="216900" cy="43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 flipV="1">
            <a:off x="3636000" y="6444000"/>
            <a:ext cx="252900" cy="50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>
            <a:off x="3636000" y="7387200"/>
            <a:ext cx="252900" cy="50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 flipV="1">
            <a:off x="3636000" y="6444000"/>
            <a:ext cx="288900" cy="57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>
            <a:off x="3636000" y="7315200"/>
            <a:ext cx="288900" cy="57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 flipV="1">
            <a:off x="3636000" y="6444000"/>
            <a:ext cx="324900" cy="64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>
            <a:off x="3636000" y="7243200"/>
            <a:ext cx="324900" cy="64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 flipV="1">
            <a:off x="3636000" y="6444000"/>
            <a:ext cx="360900" cy="72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>
            <a:off x="3636000" y="7171200"/>
            <a:ext cx="360900" cy="72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 flipV="1">
            <a:off x="3636000" y="6444000"/>
            <a:ext cx="396900" cy="79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>
            <a:off x="3636000" y="7099200"/>
            <a:ext cx="396900" cy="79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 flipV="1">
            <a:off x="3636000" y="6444000"/>
            <a:ext cx="432900" cy="86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>
            <a:off x="3636000" y="7027200"/>
            <a:ext cx="432900" cy="86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 flipV="1">
            <a:off x="3636000" y="6444000"/>
            <a:ext cx="468900" cy="93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>
            <a:off x="3636000" y="6955200"/>
            <a:ext cx="468900" cy="93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 flipV="1">
            <a:off x="3636000" y="6444000"/>
            <a:ext cx="504900" cy="100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>
            <a:off x="3636000" y="6883200"/>
            <a:ext cx="504900" cy="100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 flipV="1">
            <a:off x="3636000" y="6444000"/>
            <a:ext cx="540900" cy="108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>
            <a:off x="3636000" y="6811200"/>
            <a:ext cx="540900" cy="108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 flipV="1">
            <a:off x="3636000" y="6444000"/>
            <a:ext cx="576900" cy="115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3636000" y="6739200"/>
            <a:ext cx="576900" cy="115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 flipV="1">
            <a:off x="3636000" y="6481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>
            <a:off x="3636000" y="6667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 flipV="1">
            <a:off x="3636000" y="6553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>
            <a:off x="3636000" y="6595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 flipV="1">
            <a:off x="3636000" y="6625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3636000" y="6523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 flipV="1">
            <a:off x="3636000" y="6697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>
            <a:off x="3636000" y="6451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 flipV="1">
            <a:off x="3668400" y="6769800"/>
            <a:ext cx="561600" cy="112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>
            <a:off x="3668400" y="6444000"/>
            <a:ext cx="561600" cy="112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 flipV="1">
            <a:off x="3704400" y="6841800"/>
            <a:ext cx="525600" cy="105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>
            <a:off x="3704400" y="6444000"/>
            <a:ext cx="525600" cy="105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 flipV="1">
            <a:off x="3740400" y="6913800"/>
            <a:ext cx="489600" cy="97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>
            <a:off x="3740400" y="6444000"/>
            <a:ext cx="489600" cy="97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 flipV="1">
            <a:off x="3776400" y="6985800"/>
            <a:ext cx="453600" cy="90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>
            <a:off x="3776400" y="6444000"/>
            <a:ext cx="453600" cy="90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 flipV="1">
            <a:off x="3812400" y="7057800"/>
            <a:ext cx="417600" cy="83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>
            <a:off x="3812400" y="6444000"/>
            <a:ext cx="417600" cy="83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 flipV="1">
            <a:off x="3848400" y="7129800"/>
            <a:ext cx="381600" cy="76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>
            <a:off x="3848400" y="6444000"/>
            <a:ext cx="381600" cy="76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 flipV="1">
            <a:off x="3884400" y="7201800"/>
            <a:ext cx="345600" cy="69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>
            <a:off x="3884400" y="6444000"/>
            <a:ext cx="345600" cy="69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 flipV="1">
            <a:off x="3920400" y="7273800"/>
            <a:ext cx="309600" cy="61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>
            <a:off x="3920400" y="6444000"/>
            <a:ext cx="309600" cy="61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 flipV="1">
            <a:off x="3956400" y="7345800"/>
            <a:ext cx="273600" cy="54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>
            <a:off x="3956400" y="6444000"/>
            <a:ext cx="273600" cy="54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 flipV="1">
            <a:off x="3992400" y="7417800"/>
            <a:ext cx="237600" cy="47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>
            <a:off x="3992400" y="6444000"/>
            <a:ext cx="237600" cy="47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 flipV="1">
            <a:off x="4028400" y="7489800"/>
            <a:ext cx="201600" cy="40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>
            <a:off x="4028400" y="6444000"/>
            <a:ext cx="201600" cy="40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 flipV="1">
            <a:off x="4064400" y="7561800"/>
            <a:ext cx="165600" cy="33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>
            <a:off x="4064400" y="6444000"/>
            <a:ext cx="165600" cy="33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 flipV="1">
            <a:off x="4100400" y="7633800"/>
            <a:ext cx="129600" cy="25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>
            <a:off x="4100400" y="6444000"/>
            <a:ext cx="129600" cy="25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 flipV="1">
            <a:off x="4136400" y="7705800"/>
            <a:ext cx="93600" cy="18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>
            <a:off x="4136400" y="6444000"/>
            <a:ext cx="93600" cy="18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 flipV="1">
            <a:off x="4172400" y="7777800"/>
            <a:ext cx="57600" cy="11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>
            <a:off x="4172400" y="6444000"/>
            <a:ext cx="57600" cy="11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 flipV="1">
            <a:off x="4208400" y="7849800"/>
            <a:ext cx="21600" cy="4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>
            <a:off x="4208400" y="6444000"/>
            <a:ext cx="21600" cy="4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sp>
        <p:nvSpPr>
          <p:cNvPr id="183" name="Rectangle 182"/>
          <p:cNvSpPr/>
          <p:nvPr/>
        </p:nvSpPr>
        <p:spPr>
          <a:xfrm>
            <a:off x="3600000" y="6408000"/>
            <a:ext cx="36000" cy="1548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212000" y="6408000"/>
            <a:ext cx="36000" cy="1548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364000" y="6408000"/>
            <a:ext cx="36000" cy="1548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600000" y="7920000"/>
            <a:ext cx="1800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600000" y="6408000"/>
            <a:ext cx="1800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600000" y="6372000"/>
            <a:ext cx="1800000" cy="36000"/>
          </a:xfrm>
          <a:prstGeom prst="rect">
            <a:avLst/>
          </a:prstGeom>
          <a:solidFill>
            <a:srgbClr val="EEE7DB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>
            <a:off x="2340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>
            <a:off x="6660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2340000" y="8604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2304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 flipV="1">
            <a:off x="6624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94" name="TextBox 193"/>
          <p:cNvSpPr txBox="1"/>
          <p:nvPr/>
        </p:nvSpPr>
        <p:spPr>
          <a:xfrm>
            <a:off x="39600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3600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>
            <a:off x="5400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3600000" y="8280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3564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 flipV="1">
            <a:off x="5364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0" name="TextBox 199"/>
          <p:cNvSpPr txBox="1"/>
          <p:nvPr/>
        </p:nvSpPr>
        <p:spPr>
          <a:xfrm>
            <a:off x="39600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1000</a:t>
            </a:r>
          </a:p>
        </p:txBody>
      </p:sp>
      <p:cxnSp>
        <p:nvCxnSpPr>
          <p:cNvPr id="201" name="Connector 200"/>
          <p:cNvCxnSpPr/>
          <p:nvPr/>
        </p:nvCxnSpPr>
        <p:spPr>
          <a:xfrm flipH="1">
            <a:off x="1872000" y="799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H="1">
            <a:off x="1872000" y="331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 flipV="1">
            <a:off x="1872000" y="3312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1836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 flipV="1">
            <a:off x="1836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6" name="TextBox 205"/>
          <p:cNvSpPr txBox="1"/>
          <p:nvPr/>
        </p:nvSpPr>
        <p:spPr>
          <a:xfrm>
            <a:off x="1440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207" name="Connector 206"/>
          <p:cNvCxnSpPr/>
          <p:nvPr/>
        </p:nvCxnSpPr>
        <p:spPr>
          <a:xfrm flipV="1">
            <a:off x="234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27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2340000" y="2988000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230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 flipV="1">
            <a:off x="27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2" name="TextBox 211"/>
          <p:cNvSpPr txBox="1"/>
          <p:nvPr/>
        </p:nvSpPr>
        <p:spPr>
          <a:xfrm>
            <a:off x="2025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13" name="Connector 212"/>
          <p:cNvCxnSpPr/>
          <p:nvPr/>
        </p:nvCxnSpPr>
        <p:spPr>
          <a:xfrm flipV="1">
            <a:off x="27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36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2790000" y="2988000"/>
            <a:ext cx="9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27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 flipV="1">
            <a:off x="36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8" name="TextBox 217"/>
          <p:cNvSpPr txBox="1"/>
          <p:nvPr/>
        </p:nvSpPr>
        <p:spPr>
          <a:xfrm>
            <a:off x="2700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219" name="Connector 218"/>
          <p:cNvCxnSpPr/>
          <p:nvPr/>
        </p:nvCxnSpPr>
        <p:spPr>
          <a:xfrm flipV="1">
            <a:off x="36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53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3690000" y="2988000"/>
            <a:ext cx="16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36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 flipV="1">
            <a:off x="52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24" name="TextBox 223"/>
          <p:cNvSpPr txBox="1"/>
          <p:nvPr/>
        </p:nvSpPr>
        <p:spPr>
          <a:xfrm>
            <a:off x="3960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900</a:t>
            </a:r>
          </a:p>
        </p:txBody>
      </p:sp>
      <p:cxnSp>
        <p:nvCxnSpPr>
          <p:cNvPr id="225" name="Connector 224"/>
          <p:cNvCxnSpPr/>
          <p:nvPr/>
        </p:nvCxnSpPr>
        <p:spPr>
          <a:xfrm flipV="1">
            <a:off x="53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62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5310000" y="2988000"/>
            <a:ext cx="9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52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 flipV="1">
            <a:off x="61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0" name="TextBox 229"/>
          <p:cNvSpPr txBox="1"/>
          <p:nvPr/>
        </p:nvSpPr>
        <p:spPr>
          <a:xfrm>
            <a:off x="5220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231" name="Connector 230"/>
          <p:cNvCxnSpPr/>
          <p:nvPr/>
        </p:nvCxnSpPr>
        <p:spPr>
          <a:xfrm flipV="1">
            <a:off x="62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666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6210000" y="2988000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61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 flipV="1">
            <a:off x="662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6" name="TextBox 235"/>
          <p:cNvSpPr txBox="1"/>
          <p:nvPr/>
        </p:nvSpPr>
        <p:spPr>
          <a:xfrm>
            <a:off x="5895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37" name="Connector 236"/>
          <p:cNvCxnSpPr/>
          <p:nvPr/>
        </p:nvCxnSpPr>
        <p:spPr>
          <a:xfrm>
            <a:off x="5400000" y="7992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>
            <a:off x="5400000" y="6372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 flipV="1">
            <a:off x="5688000" y="6372000"/>
            <a:ext cx="0" cy="16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V="1">
            <a:off x="5652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 flipV="1">
            <a:off x="5652000" y="63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42" name="TextBox 241"/>
          <p:cNvSpPr txBox="1"/>
          <p:nvPr/>
        </p:nvSpPr>
        <p:spPr>
          <a:xfrm>
            <a:off x="5256000" y="718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900</a:t>
            </a:r>
          </a:p>
        </p:txBody>
      </p:sp>
      <p:cxnSp>
        <p:nvCxnSpPr>
          <p:cNvPr id="243" name="Connector 242"/>
          <p:cNvCxnSpPr/>
          <p:nvPr/>
        </p:nvCxnSpPr>
        <p:spPr>
          <a:xfrm flipV="1">
            <a:off x="5850000" y="4716000"/>
            <a:ext cx="1566000" cy="756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244" name="Oval 243"/>
          <p:cNvSpPr/>
          <p:nvPr/>
        </p:nvSpPr>
        <p:spPr>
          <a:xfrm>
            <a:off x="5826600" y="5448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7488000" y="4572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BLACK TRAY / WARM LED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25 downstand; 250 depth</a:t>
            </a:r>
          </a:p>
        </p:txBody>
      </p:sp>
      <p:cxnSp>
        <p:nvCxnSpPr>
          <p:cNvPr id="246" name="Connector 245"/>
          <p:cNvCxnSpPr/>
          <p:nvPr/>
        </p:nvCxnSpPr>
        <p:spPr>
          <a:xfrm flipV="1">
            <a:off x="4500000" y="3708000"/>
            <a:ext cx="2916000" cy="864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247" name="Oval 246"/>
          <p:cNvSpPr/>
          <p:nvPr/>
        </p:nvSpPr>
        <p:spPr>
          <a:xfrm>
            <a:off x="4476600" y="4548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7488000" y="3564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UNLIT BLACK LOGO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600 wide; centre 1900</a:t>
            </a:r>
          </a:p>
        </p:txBody>
      </p:sp>
      <p:cxnSp>
        <p:nvCxnSpPr>
          <p:cNvPr id="251" name="Connector 250"/>
          <p:cNvCxnSpPr/>
          <p:nvPr/>
        </p:nvCxnSpPr>
        <p:spPr>
          <a:xfrm>
            <a:off x="2340000" y="925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>
            <a:off x="2340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3240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>
            <a:off x="4140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55" name="TextBox 254"/>
          <p:cNvSpPr txBox="1"/>
          <p:nvPr/>
        </p:nvSpPr>
        <p:spPr>
          <a:xfrm>
            <a:off x="2340000" y="932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cxnSp>
        <p:nvCxnSpPr>
          <p:cNvPr id="256" name="Connector 255"/>
          <p:cNvCxnSpPr/>
          <p:nvPr/>
        </p:nvCxnSpPr>
        <p:spPr>
          <a:xfrm>
            <a:off x="3636000" y="7182000"/>
            <a:ext cx="3492000" cy="198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7" name="Connector 256"/>
          <p:cNvCxnSpPr/>
          <p:nvPr/>
        </p:nvCxnSpPr>
        <p:spPr>
          <a:xfrm>
            <a:off x="7128000" y="7380000"/>
            <a:ext cx="1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58" name="Oval 257"/>
          <p:cNvSpPr/>
          <p:nvPr/>
        </p:nvSpPr>
        <p:spPr>
          <a:xfrm>
            <a:off x="3616200" y="7162200"/>
            <a:ext cx="39600" cy="396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7416000" y="7272000"/>
            <a:ext cx="2700000" cy="25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COUNTER MESH / SOLID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7416000" y="7524000"/>
            <a:ext cx="2700000" cy="61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Owner render direction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Panel split / top thickness TBC #16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0224000" y="2304000"/>
            <a:ext cx="4536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REAR SHELF / FRAME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0224000" y="2592000"/>
            <a:ext cx="4536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1:2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10224000" y="4302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4670000" y="4302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0494000" y="4356000"/>
            <a:ext cx="360000" cy="36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0522800" y="4384800"/>
            <a:ext cx="302400" cy="30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14364000" y="4536000"/>
            <a:ext cx="270000" cy="0"/>
          </a:xfrm>
          <a:prstGeom prst="line">
            <a:avLst/>
          </a:prstGeom>
          <a:ln w="16510">
            <a:solidFill>
              <a:srgbClr val="9A825A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10224000" y="397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 flipV="1">
            <a:off x="14724000" y="397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>
            <a:off x="10224000" y="3978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 flipV="1">
            <a:off x="10188000" y="394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14688000" y="394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73" name="TextBox 272"/>
          <p:cNvSpPr txBox="1"/>
          <p:nvPr/>
        </p:nvSpPr>
        <p:spPr>
          <a:xfrm>
            <a:off x="11934000" y="379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0224000" y="4932000"/>
            <a:ext cx="4500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folded tray · 25 front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× 1.6 support · LED profile TBC #16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0872000" y="6984000"/>
            <a:ext cx="3708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COUNTER / FOOTPRINT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0872000" y="7272000"/>
            <a:ext cx="370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PLAN 1:10</a:t>
            </a:r>
          </a:p>
        </p:txBody>
      </p:sp>
      <p:sp>
        <p:nvSpPr>
          <p:cNvPr id="277" name="GEOM:active-counter-detail"/>
          <p:cNvSpPr/>
          <p:nvPr/>
        </p:nvSpPr>
        <p:spPr>
          <a:xfrm>
            <a:off x="10872000" y="7848000"/>
            <a:ext cx="3600000" cy="1620000"/>
          </a:xfrm>
          <a:prstGeom prst="rect">
            <a:avLst/>
          </a:prstGeom>
          <a:solidFill>
            <a:srgbClr val="D7CBB8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0872000" y="9396000"/>
            <a:ext cx="72000" cy="72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0872000" y="7848000"/>
            <a:ext cx="72000" cy="72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4400000" y="9396000"/>
            <a:ext cx="72000" cy="72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4400000" y="7848000"/>
            <a:ext cx="72000" cy="72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2" name="Connector 281"/>
          <p:cNvCxnSpPr/>
          <p:nvPr/>
        </p:nvCxnSpPr>
        <p:spPr>
          <a:xfrm flipV="1">
            <a:off x="10872000" y="7560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 flipV="1">
            <a:off x="14472000" y="7560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>
            <a:off x="10872000" y="7560000"/>
            <a:ext cx="36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 flipV="1">
            <a:off x="10836000" y="75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14436000" y="75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7" name="TextBox 286"/>
          <p:cNvSpPr txBox="1"/>
          <p:nvPr/>
        </p:nvSpPr>
        <p:spPr>
          <a:xfrm>
            <a:off x="12132000" y="738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1000</a:t>
            </a:r>
          </a:p>
        </p:txBody>
      </p:sp>
      <p:cxnSp>
        <p:nvCxnSpPr>
          <p:cNvPr id="288" name="Connector 287"/>
          <p:cNvCxnSpPr/>
          <p:nvPr/>
        </p:nvCxnSpPr>
        <p:spPr>
          <a:xfrm>
            <a:off x="14472000" y="9468000"/>
            <a:ext cx="14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9" name="Connector 288"/>
          <p:cNvCxnSpPr/>
          <p:nvPr/>
        </p:nvCxnSpPr>
        <p:spPr>
          <a:xfrm>
            <a:off x="14472000" y="7848000"/>
            <a:ext cx="14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90" name="Connector 289"/>
          <p:cNvCxnSpPr/>
          <p:nvPr/>
        </p:nvCxnSpPr>
        <p:spPr>
          <a:xfrm flipV="1">
            <a:off x="14616000" y="7848000"/>
            <a:ext cx="0" cy="16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 flipV="1">
            <a:off x="14580000" y="94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92" name="Connector 291"/>
          <p:cNvCxnSpPr/>
          <p:nvPr/>
        </p:nvCxnSpPr>
        <p:spPr>
          <a:xfrm flipV="1">
            <a:off x="14580000" y="781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93" name="TextBox 292"/>
          <p:cNvSpPr txBox="1"/>
          <p:nvPr/>
        </p:nvSpPr>
        <p:spPr>
          <a:xfrm>
            <a:off x="14184000" y="8658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0872000" y="10044000"/>
            <a:ext cx="3708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frame · front split TBC #16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Left display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Developed display elevation · interfaces + material codes · bottles indicative only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side-envelope"/>
          <p:cNvSpPr/>
          <p:nvPr/>
        </p:nvSpPr>
        <p:spPr>
          <a:xfrm>
            <a:off x="1836000" y="3312000"/>
            <a:ext cx="5590800" cy="4680000"/>
          </a:xfrm>
          <a:prstGeom prst="rect">
            <a:avLst/>
          </a:prstGeom>
          <a:solidFill>
            <a:srgbClr val="F1EBE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36000" y="3312000"/>
            <a:ext cx="81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81000" y="3357000"/>
            <a:ext cx="720000" cy="459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36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01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35000" y="4932000"/>
            <a:ext cx="684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SOLID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COLUMN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RETURN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DISPLAY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FACES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STREET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46000" y="7812000"/>
            <a:ext cx="4780800" cy="18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46000" y="6912000"/>
            <a:ext cx="4780800" cy="900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46000" y="3312000"/>
            <a:ext cx="4780800" cy="720000"/>
          </a:xfrm>
          <a:prstGeom prst="rect">
            <a:avLst/>
          </a:prstGeom>
          <a:solidFill>
            <a:srgbClr val="D3CCB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2646000" y="3312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2646000" y="3960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2646000" y="3312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2646000" y="3888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2646000" y="3312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2646000" y="3816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2646000" y="3312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2646000" y="3744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2646000" y="331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2646000" y="367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2646000" y="3312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2646000" y="3600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2646000" y="3312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2646000" y="3528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2646000" y="3312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2646000" y="3456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2646000" y="3312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2646000" y="3384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26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26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26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26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27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27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27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27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27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27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28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28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28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28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28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28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 flipV="1">
            <a:off x="29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29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29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29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30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30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30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30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30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30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31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31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 flipV="1">
            <a:off x="31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31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31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>
            <a:off x="31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32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>
            <a:off x="32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32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32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32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32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33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>
            <a:off x="33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33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>
            <a:off x="33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34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>
            <a:off x="34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34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34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34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34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35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>
            <a:off x="35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35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>
            <a:off x="35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35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35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36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36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36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36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36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5" name="Connector 104"/>
          <p:cNvCxnSpPr/>
          <p:nvPr/>
        </p:nvCxnSpPr>
        <p:spPr>
          <a:xfrm>
            <a:off x="36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37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>
            <a:off x="37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 flipV="1">
            <a:off x="37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>
            <a:off x="37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V="1">
            <a:off x="37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>
            <a:off x="37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 flipV="1">
            <a:off x="38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>
            <a:off x="38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 flipV="1">
            <a:off x="38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>
            <a:off x="38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39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>
            <a:off x="39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39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39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39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>
            <a:off x="39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40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>
            <a:off x="40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40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>
            <a:off x="40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40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40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 flipV="1">
            <a:off x="41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>
            <a:off x="41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41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41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 flipV="1">
            <a:off x="41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41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42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42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42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42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 flipV="1">
            <a:off x="43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43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 flipV="1">
            <a:off x="43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43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43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43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44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44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44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44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44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44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45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45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V="1">
            <a:off x="45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45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45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45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46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46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46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46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 flipV="1">
            <a:off x="46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46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47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47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V="1">
            <a:off x="47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47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48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48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48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48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 flipV="1">
            <a:off x="48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48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49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49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49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49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49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49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50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50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50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>
            <a:off x="50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50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50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51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51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51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51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52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52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52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52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52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52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53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53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53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53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53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53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54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54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54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54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54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>
            <a:off x="54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6" name="Connector 205"/>
          <p:cNvCxnSpPr/>
          <p:nvPr/>
        </p:nvCxnSpPr>
        <p:spPr>
          <a:xfrm flipV="1">
            <a:off x="55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7" name="Connector 206"/>
          <p:cNvCxnSpPr/>
          <p:nvPr/>
        </p:nvCxnSpPr>
        <p:spPr>
          <a:xfrm>
            <a:off x="55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55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55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55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>
            <a:off x="55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2" name="Connector 211"/>
          <p:cNvCxnSpPr/>
          <p:nvPr/>
        </p:nvCxnSpPr>
        <p:spPr>
          <a:xfrm flipV="1">
            <a:off x="56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3" name="Connector 212"/>
          <p:cNvCxnSpPr/>
          <p:nvPr/>
        </p:nvCxnSpPr>
        <p:spPr>
          <a:xfrm>
            <a:off x="56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56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56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57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>
            <a:off x="57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8" name="Connector 217"/>
          <p:cNvCxnSpPr/>
          <p:nvPr/>
        </p:nvCxnSpPr>
        <p:spPr>
          <a:xfrm flipV="1">
            <a:off x="57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9" name="Connector 218"/>
          <p:cNvCxnSpPr/>
          <p:nvPr/>
        </p:nvCxnSpPr>
        <p:spPr>
          <a:xfrm>
            <a:off x="57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57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57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58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>
            <a:off x="58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4" name="Connector 223"/>
          <p:cNvCxnSpPr/>
          <p:nvPr/>
        </p:nvCxnSpPr>
        <p:spPr>
          <a:xfrm flipV="1">
            <a:off x="58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5" name="Connector 224"/>
          <p:cNvCxnSpPr/>
          <p:nvPr/>
        </p:nvCxnSpPr>
        <p:spPr>
          <a:xfrm>
            <a:off x="58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58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58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59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>
            <a:off x="59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0" name="Connector 229"/>
          <p:cNvCxnSpPr/>
          <p:nvPr/>
        </p:nvCxnSpPr>
        <p:spPr>
          <a:xfrm flipV="1">
            <a:off x="59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1" name="Connector 230"/>
          <p:cNvCxnSpPr/>
          <p:nvPr/>
        </p:nvCxnSpPr>
        <p:spPr>
          <a:xfrm>
            <a:off x="59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59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59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60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>
            <a:off x="60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6" name="Connector 235"/>
          <p:cNvCxnSpPr/>
          <p:nvPr/>
        </p:nvCxnSpPr>
        <p:spPr>
          <a:xfrm flipV="1">
            <a:off x="60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7" name="Connector 236"/>
          <p:cNvCxnSpPr/>
          <p:nvPr/>
        </p:nvCxnSpPr>
        <p:spPr>
          <a:xfrm>
            <a:off x="60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 flipV="1">
            <a:off x="61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>
            <a:off x="61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V="1">
            <a:off x="61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>
            <a:off x="61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2" name="Connector 241"/>
          <p:cNvCxnSpPr/>
          <p:nvPr/>
        </p:nvCxnSpPr>
        <p:spPr>
          <a:xfrm flipV="1">
            <a:off x="61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3" name="Connector 242"/>
          <p:cNvCxnSpPr/>
          <p:nvPr/>
        </p:nvCxnSpPr>
        <p:spPr>
          <a:xfrm>
            <a:off x="61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4" name="Connector 243"/>
          <p:cNvCxnSpPr/>
          <p:nvPr/>
        </p:nvCxnSpPr>
        <p:spPr>
          <a:xfrm flipV="1">
            <a:off x="62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5" name="Connector 244"/>
          <p:cNvCxnSpPr/>
          <p:nvPr/>
        </p:nvCxnSpPr>
        <p:spPr>
          <a:xfrm>
            <a:off x="62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6" name="Connector 245"/>
          <p:cNvCxnSpPr/>
          <p:nvPr/>
        </p:nvCxnSpPr>
        <p:spPr>
          <a:xfrm flipV="1">
            <a:off x="62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62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 flipV="1">
            <a:off x="62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>
            <a:off x="62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V="1">
            <a:off x="63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1" name="Connector 250"/>
          <p:cNvCxnSpPr/>
          <p:nvPr/>
        </p:nvCxnSpPr>
        <p:spPr>
          <a:xfrm>
            <a:off x="63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 flipV="1">
            <a:off x="63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63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 flipV="1">
            <a:off x="63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>
            <a:off x="63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 flipV="1">
            <a:off x="64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7" name="Connector 256"/>
          <p:cNvCxnSpPr/>
          <p:nvPr/>
        </p:nvCxnSpPr>
        <p:spPr>
          <a:xfrm>
            <a:off x="64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 flipV="1">
            <a:off x="64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64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 flipV="1">
            <a:off x="64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>
            <a:off x="64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 flipV="1">
            <a:off x="65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3" name="Connector 262"/>
          <p:cNvCxnSpPr/>
          <p:nvPr/>
        </p:nvCxnSpPr>
        <p:spPr>
          <a:xfrm>
            <a:off x="65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4" name="Connector 263"/>
          <p:cNvCxnSpPr/>
          <p:nvPr/>
        </p:nvCxnSpPr>
        <p:spPr>
          <a:xfrm flipV="1">
            <a:off x="65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65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 flipV="1">
            <a:off x="66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>
            <a:off x="66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66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>
            <a:off x="66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 flipV="1">
            <a:off x="66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>
            <a:off x="66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67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>
            <a:off x="67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67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5" name="Connector 274"/>
          <p:cNvCxnSpPr/>
          <p:nvPr/>
        </p:nvCxnSpPr>
        <p:spPr>
          <a:xfrm>
            <a:off x="67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6" name="Connector 275"/>
          <p:cNvCxnSpPr/>
          <p:nvPr/>
        </p:nvCxnSpPr>
        <p:spPr>
          <a:xfrm flipV="1">
            <a:off x="67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>
            <a:off x="67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 flipV="1">
            <a:off x="68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>
            <a:off x="68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8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1" name="Connector 280"/>
          <p:cNvCxnSpPr/>
          <p:nvPr/>
        </p:nvCxnSpPr>
        <p:spPr>
          <a:xfrm>
            <a:off x="68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2" name="Connector 281"/>
          <p:cNvCxnSpPr/>
          <p:nvPr/>
        </p:nvCxnSpPr>
        <p:spPr>
          <a:xfrm flipV="1">
            <a:off x="68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>
            <a:off x="68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69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>
            <a:off x="69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69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7" name="Connector 286"/>
          <p:cNvCxnSpPr/>
          <p:nvPr/>
        </p:nvCxnSpPr>
        <p:spPr>
          <a:xfrm>
            <a:off x="69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8" name="Connector 287"/>
          <p:cNvCxnSpPr/>
          <p:nvPr/>
        </p:nvCxnSpPr>
        <p:spPr>
          <a:xfrm flipV="1">
            <a:off x="70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9" name="Connector 288"/>
          <p:cNvCxnSpPr/>
          <p:nvPr/>
        </p:nvCxnSpPr>
        <p:spPr>
          <a:xfrm>
            <a:off x="70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0" name="Connector 289"/>
          <p:cNvCxnSpPr/>
          <p:nvPr/>
        </p:nvCxnSpPr>
        <p:spPr>
          <a:xfrm flipV="1">
            <a:off x="70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>
            <a:off x="70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2" name="Connector 291"/>
          <p:cNvCxnSpPr/>
          <p:nvPr/>
        </p:nvCxnSpPr>
        <p:spPr>
          <a:xfrm flipV="1">
            <a:off x="7074000" y="33264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3" name="Connector 292"/>
          <p:cNvCxnSpPr/>
          <p:nvPr/>
        </p:nvCxnSpPr>
        <p:spPr>
          <a:xfrm>
            <a:off x="7074000" y="33120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 flipV="1">
            <a:off x="7110000" y="33984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7110000" y="33120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 flipV="1">
            <a:off x="7146000" y="34704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7" name="Connector 296"/>
          <p:cNvCxnSpPr/>
          <p:nvPr/>
        </p:nvCxnSpPr>
        <p:spPr>
          <a:xfrm>
            <a:off x="7146000" y="33120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8" name="Connector 297"/>
          <p:cNvCxnSpPr/>
          <p:nvPr/>
        </p:nvCxnSpPr>
        <p:spPr>
          <a:xfrm flipV="1">
            <a:off x="7182000" y="35424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9" name="Connector 298"/>
          <p:cNvCxnSpPr/>
          <p:nvPr/>
        </p:nvCxnSpPr>
        <p:spPr>
          <a:xfrm>
            <a:off x="7182000" y="33120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0" name="Connector 299"/>
          <p:cNvCxnSpPr/>
          <p:nvPr/>
        </p:nvCxnSpPr>
        <p:spPr>
          <a:xfrm flipV="1">
            <a:off x="7218000" y="36144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1" name="Connector 300"/>
          <p:cNvCxnSpPr/>
          <p:nvPr/>
        </p:nvCxnSpPr>
        <p:spPr>
          <a:xfrm>
            <a:off x="7218000" y="33120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2" name="Connector 301"/>
          <p:cNvCxnSpPr/>
          <p:nvPr/>
        </p:nvCxnSpPr>
        <p:spPr>
          <a:xfrm flipV="1">
            <a:off x="7254000" y="36864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3" name="Connector 302"/>
          <p:cNvCxnSpPr/>
          <p:nvPr/>
        </p:nvCxnSpPr>
        <p:spPr>
          <a:xfrm>
            <a:off x="7254000" y="33120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4" name="Connector 303"/>
          <p:cNvCxnSpPr/>
          <p:nvPr/>
        </p:nvCxnSpPr>
        <p:spPr>
          <a:xfrm flipV="1">
            <a:off x="7290000" y="37584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5" name="Connector 304"/>
          <p:cNvCxnSpPr/>
          <p:nvPr/>
        </p:nvCxnSpPr>
        <p:spPr>
          <a:xfrm>
            <a:off x="7290000" y="33120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6" name="Connector 305"/>
          <p:cNvCxnSpPr/>
          <p:nvPr/>
        </p:nvCxnSpPr>
        <p:spPr>
          <a:xfrm flipV="1">
            <a:off x="7326000" y="38304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>
            <a:off x="7326000" y="33120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 flipV="1">
            <a:off x="7362000" y="39024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>
            <a:off x="7362000" y="33120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 flipV="1">
            <a:off x="7398000" y="39744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>
            <a:off x="7398000" y="33120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sp>
        <p:nvSpPr>
          <p:cNvPr id="312" name="Rectangle 311"/>
          <p:cNvSpPr/>
          <p:nvPr/>
        </p:nvSpPr>
        <p:spPr>
          <a:xfrm>
            <a:off x="2646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38187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50139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62091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381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2646000" y="691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>
            <a:off x="2691000" y="695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19" name="Rectangle 318"/>
          <p:cNvSpPr/>
          <p:nvPr/>
        </p:nvSpPr>
        <p:spPr>
          <a:xfrm>
            <a:off x="2646000" y="619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>
            <a:off x="2691000" y="623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1" name="Rectangle 320"/>
          <p:cNvSpPr/>
          <p:nvPr/>
        </p:nvSpPr>
        <p:spPr>
          <a:xfrm>
            <a:off x="2646000" y="547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>
            <a:off x="2691000" y="551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3" name="Rectangle 322"/>
          <p:cNvSpPr/>
          <p:nvPr/>
        </p:nvSpPr>
        <p:spPr>
          <a:xfrm>
            <a:off x="2646000" y="475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>
            <a:off x="2691000" y="479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5" name="Rectangle 324"/>
          <p:cNvSpPr/>
          <p:nvPr/>
        </p:nvSpPr>
        <p:spPr>
          <a:xfrm>
            <a:off x="2646000" y="403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>
            <a:off x="2691000" y="407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327" name="Connector 326"/>
          <p:cNvCxnSpPr/>
          <p:nvPr/>
        </p:nvCxnSpPr>
        <p:spPr>
          <a:xfrm flipV="1">
            <a:off x="32436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28" name="Connector 327"/>
          <p:cNvCxnSpPr/>
          <p:nvPr/>
        </p:nvCxnSpPr>
        <p:spPr>
          <a:xfrm>
            <a:off x="31680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29" name="Rectangle 328"/>
          <p:cNvSpPr/>
          <p:nvPr/>
        </p:nvSpPr>
        <p:spPr>
          <a:xfrm>
            <a:off x="2916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2940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>
            <a:off x="2930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2" name="Rectangle 331"/>
          <p:cNvSpPr/>
          <p:nvPr/>
        </p:nvSpPr>
        <p:spPr>
          <a:xfrm>
            <a:off x="3087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3117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>
            <a:off x="3101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5" name="Rectangle 334"/>
          <p:cNvSpPr/>
          <p:nvPr/>
        </p:nvSpPr>
        <p:spPr>
          <a:xfrm>
            <a:off x="2916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2937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>
            <a:off x="2930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8" name="Rectangle 337"/>
          <p:cNvSpPr/>
          <p:nvPr/>
        </p:nvSpPr>
        <p:spPr>
          <a:xfrm>
            <a:off x="3087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3111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0" name="Connector 339"/>
          <p:cNvCxnSpPr/>
          <p:nvPr/>
        </p:nvCxnSpPr>
        <p:spPr>
          <a:xfrm>
            <a:off x="3101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41" name="Connector 340"/>
          <p:cNvCxnSpPr/>
          <p:nvPr/>
        </p:nvCxnSpPr>
        <p:spPr>
          <a:xfrm flipV="1">
            <a:off x="44388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42" name="Connector 341"/>
          <p:cNvCxnSpPr/>
          <p:nvPr/>
        </p:nvCxnSpPr>
        <p:spPr>
          <a:xfrm>
            <a:off x="43632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43" name="Rectangle 342"/>
          <p:cNvSpPr/>
          <p:nvPr/>
        </p:nvSpPr>
        <p:spPr>
          <a:xfrm>
            <a:off x="41112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41413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5" name="Connector 344"/>
          <p:cNvCxnSpPr/>
          <p:nvPr/>
        </p:nvCxnSpPr>
        <p:spPr>
          <a:xfrm>
            <a:off x="41256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6" name="Rectangle 345"/>
          <p:cNvSpPr/>
          <p:nvPr/>
        </p:nvSpPr>
        <p:spPr>
          <a:xfrm>
            <a:off x="42822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43035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8" name="Connector 347"/>
          <p:cNvCxnSpPr/>
          <p:nvPr/>
        </p:nvCxnSpPr>
        <p:spPr>
          <a:xfrm>
            <a:off x="42966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9" name="Rectangle 348"/>
          <p:cNvSpPr/>
          <p:nvPr/>
        </p:nvSpPr>
        <p:spPr>
          <a:xfrm>
            <a:off x="41112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41355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1" name="Connector 350"/>
          <p:cNvCxnSpPr/>
          <p:nvPr/>
        </p:nvCxnSpPr>
        <p:spPr>
          <a:xfrm>
            <a:off x="41256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52" name="Rectangle 351"/>
          <p:cNvSpPr/>
          <p:nvPr/>
        </p:nvSpPr>
        <p:spPr>
          <a:xfrm>
            <a:off x="42822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43123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4" name="Connector 353"/>
          <p:cNvCxnSpPr/>
          <p:nvPr/>
        </p:nvCxnSpPr>
        <p:spPr>
          <a:xfrm>
            <a:off x="42966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55" name="Connector 354"/>
          <p:cNvCxnSpPr/>
          <p:nvPr/>
        </p:nvCxnSpPr>
        <p:spPr>
          <a:xfrm flipV="1">
            <a:off x="56340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56" name="Connector 355"/>
          <p:cNvCxnSpPr/>
          <p:nvPr/>
        </p:nvCxnSpPr>
        <p:spPr>
          <a:xfrm>
            <a:off x="55584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57" name="Rectangle 356"/>
          <p:cNvSpPr/>
          <p:nvPr/>
        </p:nvSpPr>
        <p:spPr>
          <a:xfrm>
            <a:off x="53064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53307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9" name="Connector 358"/>
          <p:cNvCxnSpPr/>
          <p:nvPr/>
        </p:nvCxnSpPr>
        <p:spPr>
          <a:xfrm>
            <a:off x="53208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0" name="Rectangle 359"/>
          <p:cNvSpPr/>
          <p:nvPr/>
        </p:nvSpPr>
        <p:spPr>
          <a:xfrm>
            <a:off x="54774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55075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2" name="Connector 361"/>
          <p:cNvCxnSpPr/>
          <p:nvPr/>
        </p:nvCxnSpPr>
        <p:spPr>
          <a:xfrm>
            <a:off x="54918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3" name="Rectangle 362"/>
          <p:cNvSpPr/>
          <p:nvPr/>
        </p:nvSpPr>
        <p:spPr>
          <a:xfrm>
            <a:off x="53064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53277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5" name="Connector 364"/>
          <p:cNvCxnSpPr/>
          <p:nvPr/>
        </p:nvCxnSpPr>
        <p:spPr>
          <a:xfrm>
            <a:off x="53208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6" name="Rectangle 365"/>
          <p:cNvSpPr/>
          <p:nvPr/>
        </p:nvSpPr>
        <p:spPr>
          <a:xfrm>
            <a:off x="54774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55017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8" name="Connector 367"/>
          <p:cNvCxnSpPr/>
          <p:nvPr/>
        </p:nvCxnSpPr>
        <p:spPr>
          <a:xfrm>
            <a:off x="54918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69" name="Connector 368"/>
          <p:cNvCxnSpPr/>
          <p:nvPr/>
        </p:nvCxnSpPr>
        <p:spPr>
          <a:xfrm flipV="1">
            <a:off x="68292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70" name="Connector 369"/>
          <p:cNvCxnSpPr/>
          <p:nvPr/>
        </p:nvCxnSpPr>
        <p:spPr>
          <a:xfrm>
            <a:off x="67536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71" name="Rectangle 370"/>
          <p:cNvSpPr/>
          <p:nvPr/>
        </p:nvSpPr>
        <p:spPr>
          <a:xfrm>
            <a:off x="65016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6531731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3" name="Connector 372"/>
          <p:cNvCxnSpPr/>
          <p:nvPr/>
        </p:nvCxnSpPr>
        <p:spPr>
          <a:xfrm>
            <a:off x="65160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4" name="Rectangle 373"/>
          <p:cNvSpPr/>
          <p:nvPr/>
        </p:nvSpPr>
        <p:spPr>
          <a:xfrm>
            <a:off x="66726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66939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6" name="Connector 375"/>
          <p:cNvCxnSpPr/>
          <p:nvPr/>
        </p:nvCxnSpPr>
        <p:spPr>
          <a:xfrm>
            <a:off x="66870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7" name="Rectangle 376"/>
          <p:cNvSpPr/>
          <p:nvPr/>
        </p:nvSpPr>
        <p:spPr>
          <a:xfrm>
            <a:off x="65016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65259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9" name="Connector 378"/>
          <p:cNvCxnSpPr/>
          <p:nvPr/>
        </p:nvCxnSpPr>
        <p:spPr>
          <a:xfrm>
            <a:off x="65160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80" name="Rectangle 379"/>
          <p:cNvSpPr/>
          <p:nvPr/>
        </p:nvSpPr>
        <p:spPr>
          <a:xfrm>
            <a:off x="66726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6702731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2" name="Connector 381"/>
          <p:cNvCxnSpPr/>
          <p:nvPr/>
        </p:nvCxnSpPr>
        <p:spPr>
          <a:xfrm>
            <a:off x="66870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83" name="Connector 382"/>
          <p:cNvCxnSpPr/>
          <p:nvPr/>
        </p:nvCxnSpPr>
        <p:spPr>
          <a:xfrm>
            <a:off x="2691000" y="7893000"/>
            <a:ext cx="46908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384" name="Connector 383"/>
          <p:cNvCxnSpPr/>
          <p:nvPr/>
        </p:nvCxnSpPr>
        <p:spPr>
          <a:xfrm>
            <a:off x="1836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5" name="Connector 384"/>
          <p:cNvCxnSpPr/>
          <p:nvPr/>
        </p:nvCxnSpPr>
        <p:spPr>
          <a:xfrm>
            <a:off x="74268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6" name="Connector 385"/>
          <p:cNvCxnSpPr/>
          <p:nvPr/>
        </p:nvCxnSpPr>
        <p:spPr>
          <a:xfrm>
            <a:off x="1836000" y="8604000"/>
            <a:ext cx="55908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7" name="Connector 386"/>
          <p:cNvCxnSpPr/>
          <p:nvPr/>
        </p:nvCxnSpPr>
        <p:spPr>
          <a:xfrm flipV="1">
            <a:off x="1800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8" name="Connector 387"/>
          <p:cNvCxnSpPr/>
          <p:nvPr/>
        </p:nvCxnSpPr>
        <p:spPr>
          <a:xfrm flipV="1">
            <a:off x="73908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89" name="TextBox 388"/>
          <p:cNvSpPr txBox="1"/>
          <p:nvPr/>
        </p:nvSpPr>
        <p:spPr>
          <a:xfrm>
            <a:off x="40914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390" name="Connector 389"/>
          <p:cNvCxnSpPr/>
          <p:nvPr/>
        </p:nvCxnSpPr>
        <p:spPr>
          <a:xfrm flipH="1">
            <a:off x="1296000" y="799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1" name="Connector 390"/>
          <p:cNvCxnSpPr/>
          <p:nvPr/>
        </p:nvCxnSpPr>
        <p:spPr>
          <a:xfrm flipH="1">
            <a:off x="1296000" y="331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2" name="Connector 391"/>
          <p:cNvCxnSpPr/>
          <p:nvPr/>
        </p:nvCxnSpPr>
        <p:spPr>
          <a:xfrm flipV="1">
            <a:off x="1296000" y="3312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3" name="Connector 392"/>
          <p:cNvCxnSpPr/>
          <p:nvPr/>
        </p:nvCxnSpPr>
        <p:spPr>
          <a:xfrm flipV="1">
            <a:off x="1260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4" name="Connector 393"/>
          <p:cNvCxnSpPr/>
          <p:nvPr/>
        </p:nvCxnSpPr>
        <p:spPr>
          <a:xfrm flipV="1">
            <a:off x="1260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5" name="TextBox 394"/>
          <p:cNvSpPr txBox="1"/>
          <p:nvPr/>
        </p:nvSpPr>
        <p:spPr>
          <a:xfrm>
            <a:off x="864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396" name="Connector 395"/>
          <p:cNvCxnSpPr/>
          <p:nvPr/>
        </p:nvCxnSpPr>
        <p:spPr>
          <a:xfrm>
            <a:off x="2646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7" name="Connector 396"/>
          <p:cNvCxnSpPr/>
          <p:nvPr/>
        </p:nvCxnSpPr>
        <p:spPr>
          <a:xfrm>
            <a:off x="384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8" name="Connector 397"/>
          <p:cNvCxnSpPr/>
          <p:nvPr/>
        </p:nvCxnSpPr>
        <p:spPr>
          <a:xfrm>
            <a:off x="26460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9" name="Connector 398"/>
          <p:cNvCxnSpPr/>
          <p:nvPr/>
        </p:nvCxnSpPr>
        <p:spPr>
          <a:xfrm flipV="1">
            <a:off x="2610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0" name="Connector 399"/>
          <p:cNvCxnSpPr/>
          <p:nvPr/>
        </p:nvCxnSpPr>
        <p:spPr>
          <a:xfrm flipV="1">
            <a:off x="380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1" name="TextBox 400"/>
          <p:cNvSpPr txBox="1"/>
          <p:nvPr/>
        </p:nvSpPr>
        <p:spPr>
          <a:xfrm>
            <a:off x="27036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2" name="Connector 401"/>
          <p:cNvCxnSpPr/>
          <p:nvPr/>
        </p:nvCxnSpPr>
        <p:spPr>
          <a:xfrm>
            <a:off x="384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3" name="Connector 402"/>
          <p:cNvCxnSpPr/>
          <p:nvPr/>
        </p:nvCxnSpPr>
        <p:spPr>
          <a:xfrm>
            <a:off x="503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4" name="Connector 403"/>
          <p:cNvCxnSpPr/>
          <p:nvPr/>
        </p:nvCxnSpPr>
        <p:spPr>
          <a:xfrm>
            <a:off x="38412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5" name="Connector 404"/>
          <p:cNvCxnSpPr/>
          <p:nvPr/>
        </p:nvCxnSpPr>
        <p:spPr>
          <a:xfrm flipV="1">
            <a:off x="380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6" name="Connector 405"/>
          <p:cNvCxnSpPr/>
          <p:nvPr/>
        </p:nvCxnSpPr>
        <p:spPr>
          <a:xfrm flipV="1">
            <a:off x="500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7" name="TextBox 406"/>
          <p:cNvSpPr txBox="1"/>
          <p:nvPr/>
        </p:nvSpPr>
        <p:spPr>
          <a:xfrm>
            <a:off x="38988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8" name="Connector 407"/>
          <p:cNvCxnSpPr/>
          <p:nvPr/>
        </p:nvCxnSpPr>
        <p:spPr>
          <a:xfrm>
            <a:off x="503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9" name="Connector 408"/>
          <p:cNvCxnSpPr/>
          <p:nvPr/>
        </p:nvCxnSpPr>
        <p:spPr>
          <a:xfrm>
            <a:off x="623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0" name="Connector 409"/>
          <p:cNvCxnSpPr/>
          <p:nvPr/>
        </p:nvCxnSpPr>
        <p:spPr>
          <a:xfrm>
            <a:off x="50364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1" name="Connector 410"/>
          <p:cNvCxnSpPr/>
          <p:nvPr/>
        </p:nvCxnSpPr>
        <p:spPr>
          <a:xfrm flipV="1">
            <a:off x="500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2" name="Connector 411"/>
          <p:cNvCxnSpPr/>
          <p:nvPr/>
        </p:nvCxnSpPr>
        <p:spPr>
          <a:xfrm flipV="1">
            <a:off x="619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3" name="TextBox 412"/>
          <p:cNvSpPr txBox="1"/>
          <p:nvPr/>
        </p:nvSpPr>
        <p:spPr>
          <a:xfrm>
            <a:off x="50940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14" name="Connector 413"/>
          <p:cNvCxnSpPr/>
          <p:nvPr/>
        </p:nvCxnSpPr>
        <p:spPr>
          <a:xfrm>
            <a:off x="623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5" name="Connector 414"/>
          <p:cNvCxnSpPr/>
          <p:nvPr/>
        </p:nvCxnSpPr>
        <p:spPr>
          <a:xfrm>
            <a:off x="74268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6" name="Connector 415"/>
          <p:cNvCxnSpPr/>
          <p:nvPr/>
        </p:nvCxnSpPr>
        <p:spPr>
          <a:xfrm>
            <a:off x="62316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7" name="Connector 416"/>
          <p:cNvCxnSpPr/>
          <p:nvPr/>
        </p:nvCxnSpPr>
        <p:spPr>
          <a:xfrm flipV="1">
            <a:off x="619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8" name="Connector 417"/>
          <p:cNvCxnSpPr/>
          <p:nvPr/>
        </p:nvCxnSpPr>
        <p:spPr>
          <a:xfrm flipV="1">
            <a:off x="73908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9" name="TextBox 418"/>
          <p:cNvSpPr txBox="1"/>
          <p:nvPr/>
        </p:nvSpPr>
        <p:spPr>
          <a:xfrm>
            <a:off x="62892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7426800" y="79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1" name="Connector 420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2" name="Connector 421"/>
          <p:cNvCxnSpPr/>
          <p:nvPr/>
        </p:nvCxnSpPr>
        <p:spPr>
          <a:xfrm flipV="1">
            <a:off x="7750800" y="7812000"/>
            <a:ext cx="0" cy="1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3" name="Connector 422"/>
          <p:cNvCxnSpPr/>
          <p:nvPr/>
        </p:nvCxnSpPr>
        <p:spPr>
          <a:xfrm flipV="1">
            <a:off x="77148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4" name="Connector 423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25" name="TextBox 424"/>
          <p:cNvSpPr txBox="1"/>
          <p:nvPr/>
        </p:nvSpPr>
        <p:spPr>
          <a:xfrm>
            <a:off x="7318800" y="790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7" name="Connector 426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8" name="Connector 427"/>
          <p:cNvCxnSpPr/>
          <p:nvPr/>
        </p:nvCxnSpPr>
        <p:spPr>
          <a:xfrm flipV="1">
            <a:off x="7750800" y="6912000"/>
            <a:ext cx="0" cy="90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9" name="Connector 428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0" name="Connector 429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1" name="TextBox 430"/>
          <p:cNvSpPr txBox="1"/>
          <p:nvPr/>
        </p:nvSpPr>
        <p:spPr>
          <a:xfrm>
            <a:off x="7318800" y="736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3" name="Connector 432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4" name="Connector 433"/>
          <p:cNvCxnSpPr/>
          <p:nvPr/>
        </p:nvCxnSpPr>
        <p:spPr>
          <a:xfrm flipV="1">
            <a:off x="7750800" y="619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5" name="Connector 434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6" name="Connector 435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7" name="TextBox 436"/>
          <p:cNvSpPr txBox="1"/>
          <p:nvPr/>
        </p:nvSpPr>
        <p:spPr>
          <a:xfrm>
            <a:off x="7318800" y="65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38" name="Connector 437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9" name="Connector 438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0" name="Connector 439"/>
          <p:cNvCxnSpPr/>
          <p:nvPr/>
        </p:nvCxnSpPr>
        <p:spPr>
          <a:xfrm flipV="1">
            <a:off x="7750800" y="547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1" name="Connector 440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2" name="Connector 441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3" name="TextBox 442"/>
          <p:cNvSpPr txBox="1"/>
          <p:nvPr/>
        </p:nvSpPr>
        <p:spPr>
          <a:xfrm>
            <a:off x="7318800" y="583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44" name="Connector 443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5" name="Connector 444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6" name="Connector 445"/>
          <p:cNvCxnSpPr/>
          <p:nvPr/>
        </p:nvCxnSpPr>
        <p:spPr>
          <a:xfrm flipV="1">
            <a:off x="7750800" y="475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7" name="Connector 446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8" name="Connector 447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9" name="TextBox 448"/>
          <p:cNvSpPr txBox="1"/>
          <p:nvPr/>
        </p:nvSpPr>
        <p:spPr>
          <a:xfrm>
            <a:off x="7318800" y="511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0" name="Connector 449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1" name="Connector 450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2" name="Connector 451"/>
          <p:cNvCxnSpPr/>
          <p:nvPr/>
        </p:nvCxnSpPr>
        <p:spPr>
          <a:xfrm flipV="1">
            <a:off x="7750800" y="403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3" name="Connector 452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4" name="Connector 453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55" name="TextBox 454"/>
          <p:cNvSpPr txBox="1"/>
          <p:nvPr/>
        </p:nvSpPr>
        <p:spPr>
          <a:xfrm>
            <a:off x="7318800" y="439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6" name="Connector 455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7" name="Connector 456"/>
          <p:cNvCxnSpPr/>
          <p:nvPr/>
        </p:nvCxnSpPr>
        <p:spPr>
          <a:xfrm>
            <a:off x="7426800" y="33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8" name="Connector 457"/>
          <p:cNvCxnSpPr/>
          <p:nvPr/>
        </p:nvCxnSpPr>
        <p:spPr>
          <a:xfrm flipV="1">
            <a:off x="7750800" y="331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9" name="Connector 458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0" name="Connector 459"/>
          <p:cNvCxnSpPr/>
          <p:nvPr/>
        </p:nvCxnSpPr>
        <p:spPr>
          <a:xfrm flipV="1">
            <a:off x="77148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61" name="TextBox 460"/>
          <p:cNvSpPr txBox="1"/>
          <p:nvPr/>
        </p:nvSpPr>
        <p:spPr>
          <a:xfrm>
            <a:off x="7318800" y="367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62" name="Connector 461"/>
          <p:cNvCxnSpPr/>
          <p:nvPr/>
        </p:nvCxnSpPr>
        <p:spPr>
          <a:xfrm flipV="1">
            <a:off x="5036400" y="3456000"/>
            <a:ext cx="3099600" cy="216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3" name="TextBox 462"/>
          <p:cNvSpPr txBox="1"/>
          <p:nvPr/>
        </p:nvSpPr>
        <p:spPr>
          <a:xfrm>
            <a:off x="8136000" y="3528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EXPANDED METAL MESH</a:t>
            </a:r>
          </a:p>
        </p:txBody>
      </p:sp>
      <p:cxnSp>
        <p:nvCxnSpPr>
          <p:cNvPr id="464" name="Connector 463"/>
          <p:cNvCxnSpPr/>
          <p:nvPr/>
        </p:nvCxnSpPr>
        <p:spPr>
          <a:xfrm flipV="1">
            <a:off x="6066000" y="5004000"/>
            <a:ext cx="2070000" cy="486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5" name="TextBox 464"/>
          <p:cNvSpPr txBox="1"/>
          <p:nvPr/>
        </p:nvSpPr>
        <p:spPr>
          <a:xfrm>
            <a:off x="8136000" y="5076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BLACK TRAY / WARM LED</a:t>
            </a:r>
          </a:p>
        </p:txBody>
      </p:sp>
      <p:cxnSp>
        <p:nvCxnSpPr>
          <p:cNvPr id="466" name="Connector 465"/>
          <p:cNvCxnSpPr/>
          <p:nvPr/>
        </p:nvCxnSpPr>
        <p:spPr>
          <a:xfrm flipV="1">
            <a:off x="5036400" y="7524000"/>
            <a:ext cx="3099600" cy="198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7" name="TextBox 466"/>
          <p:cNvSpPr txBox="1"/>
          <p:nvPr/>
        </p:nvSpPr>
        <p:spPr>
          <a:xfrm>
            <a:off x="8136000" y="7596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RECESSED PLINTH / BASE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792000" y="2196000"/>
            <a:ext cx="936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9A825A"/>
                </a:solidFill>
                <a:latin typeface="Liberation Sans"/>
              </a:defRPr>
            </a:pPr>
            <a:r>
              <a:t>BLACK STEEL  /  NEUTRAL PPC  /  EXPANDED MESH  /  3000 K LED</a:t>
            </a:r>
          </a:p>
        </p:txBody>
      </p:sp>
      <p:cxnSp>
        <p:nvCxnSpPr>
          <p:cNvPr id="480" name="Connector 479"/>
          <p:cNvCxnSpPr/>
          <p:nvPr/>
        </p:nvCxnSpPr>
        <p:spPr>
          <a:xfrm>
            <a:off x="1836000" y="925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481" name="Connector 480"/>
          <p:cNvCxnSpPr/>
          <p:nvPr/>
        </p:nvCxnSpPr>
        <p:spPr>
          <a:xfrm>
            <a:off x="18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2" name="Connector 481"/>
          <p:cNvCxnSpPr/>
          <p:nvPr/>
        </p:nvCxnSpPr>
        <p:spPr>
          <a:xfrm>
            <a:off x="27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3" name="Connector 482"/>
          <p:cNvCxnSpPr/>
          <p:nvPr/>
        </p:nvCxnSpPr>
        <p:spPr>
          <a:xfrm>
            <a:off x="36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484" name="TextBox 483"/>
          <p:cNvSpPr txBox="1"/>
          <p:nvPr/>
        </p:nvSpPr>
        <p:spPr>
          <a:xfrm>
            <a:off x="1836000" y="932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4212000" y="8964000"/>
            <a:ext cx="612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INDICATIVE BOTTLES · NOT A STOCK / CAPACITY SCHEDULE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10224000" y="2340000"/>
            <a:ext cx="4536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SHELF / FRONT EDGE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10224000" y="2628000"/>
            <a:ext cx="4536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1:2</a:t>
            </a:r>
          </a:p>
        </p:txBody>
      </p:sp>
      <p:sp>
        <p:nvSpPr>
          <p:cNvPr id="488" name="Rectangle 487"/>
          <p:cNvSpPr/>
          <p:nvPr/>
        </p:nvSpPr>
        <p:spPr>
          <a:xfrm>
            <a:off x="10224000" y="4050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14670000" y="4050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10494000" y="4104000"/>
            <a:ext cx="360000" cy="36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10522800" y="4132800"/>
            <a:ext cx="302400" cy="30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>
            <a:off x="14364000" y="4284000"/>
            <a:ext cx="270000" cy="0"/>
          </a:xfrm>
          <a:prstGeom prst="line">
            <a:avLst/>
          </a:prstGeom>
          <a:ln w="16510">
            <a:solidFill>
              <a:srgbClr val="9A825A"/>
            </a:solidFill>
          </a:ln>
          <a:effectLst/>
        </p:spPr>
      </p:cxnSp>
      <p:cxnSp>
        <p:nvCxnSpPr>
          <p:cNvPr id="493" name="Connector 492"/>
          <p:cNvCxnSpPr/>
          <p:nvPr/>
        </p:nvCxnSpPr>
        <p:spPr>
          <a:xfrm flipV="1">
            <a:off x="10224000" y="372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4" name="Connector 493"/>
          <p:cNvCxnSpPr/>
          <p:nvPr/>
        </p:nvCxnSpPr>
        <p:spPr>
          <a:xfrm flipV="1">
            <a:off x="14724000" y="372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5" name="Connector 494"/>
          <p:cNvCxnSpPr/>
          <p:nvPr/>
        </p:nvCxnSpPr>
        <p:spPr>
          <a:xfrm>
            <a:off x="10224000" y="3726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6" name="Connector 495"/>
          <p:cNvCxnSpPr/>
          <p:nvPr/>
        </p:nvCxnSpPr>
        <p:spPr>
          <a:xfrm flipV="1">
            <a:off x="10188000" y="369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7" name="Connector 496"/>
          <p:cNvCxnSpPr/>
          <p:nvPr/>
        </p:nvCxnSpPr>
        <p:spPr>
          <a:xfrm flipV="1">
            <a:off x="14688000" y="369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98" name="TextBox 497"/>
          <p:cNvSpPr txBox="1"/>
          <p:nvPr/>
        </p:nvSpPr>
        <p:spPr>
          <a:xfrm>
            <a:off x="11934000" y="354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10224000" y="4680000"/>
            <a:ext cx="4500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folded tray · 25 front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× 1.6 support · LED profile TBC #16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10980000" y="6372000"/>
            <a:ext cx="360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CABINET / PLINTH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10980000" y="6660000"/>
            <a:ext cx="360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1:5</a:t>
            </a:r>
          </a:p>
        </p:txBody>
      </p:sp>
      <p:sp>
        <p:nvSpPr>
          <p:cNvPr id="502" name="Rectangle 501"/>
          <p:cNvSpPr/>
          <p:nvPr/>
        </p:nvSpPr>
        <p:spPr>
          <a:xfrm>
            <a:off x="11340000" y="6912000"/>
            <a:ext cx="1800000" cy="1872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11340000" y="8784000"/>
            <a:ext cx="1440000" cy="72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4" name="Connector 503"/>
          <p:cNvCxnSpPr/>
          <p:nvPr/>
        </p:nvCxnSpPr>
        <p:spPr>
          <a:xfrm>
            <a:off x="12780000" y="9072000"/>
            <a:ext cx="3240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505" name="Connector 504"/>
          <p:cNvCxnSpPr/>
          <p:nvPr/>
        </p:nvCxnSpPr>
        <p:spPr>
          <a:xfrm>
            <a:off x="12780000" y="950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6" name="Connector 505"/>
          <p:cNvCxnSpPr/>
          <p:nvPr/>
        </p:nvCxnSpPr>
        <p:spPr>
          <a:xfrm>
            <a:off x="13140000" y="950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7" name="Connector 506"/>
          <p:cNvCxnSpPr/>
          <p:nvPr/>
        </p:nvCxnSpPr>
        <p:spPr>
          <a:xfrm>
            <a:off x="12780000" y="9792000"/>
            <a:ext cx="36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8" name="Connector 507"/>
          <p:cNvCxnSpPr/>
          <p:nvPr/>
        </p:nvCxnSpPr>
        <p:spPr>
          <a:xfrm flipV="1">
            <a:off x="12744000" y="97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9" name="Connector 508"/>
          <p:cNvCxnSpPr/>
          <p:nvPr/>
        </p:nvCxnSpPr>
        <p:spPr>
          <a:xfrm flipV="1">
            <a:off x="13104000" y="97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0" name="TextBox 509"/>
          <p:cNvSpPr txBox="1"/>
          <p:nvPr/>
        </p:nvSpPr>
        <p:spPr>
          <a:xfrm>
            <a:off x="12420000" y="961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</a:t>
            </a:r>
          </a:p>
        </p:txBody>
      </p:sp>
      <p:cxnSp>
        <p:nvCxnSpPr>
          <p:cNvPr id="511" name="Connector 510"/>
          <p:cNvCxnSpPr/>
          <p:nvPr/>
        </p:nvCxnSpPr>
        <p:spPr>
          <a:xfrm>
            <a:off x="13140000" y="950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2" name="Connector 511"/>
          <p:cNvCxnSpPr/>
          <p:nvPr/>
        </p:nvCxnSpPr>
        <p:spPr>
          <a:xfrm>
            <a:off x="13140000" y="878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3" name="Connector 512"/>
          <p:cNvCxnSpPr/>
          <p:nvPr/>
        </p:nvCxnSpPr>
        <p:spPr>
          <a:xfrm flipV="1">
            <a:off x="13428000" y="8784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4" name="Connector 513"/>
          <p:cNvCxnSpPr/>
          <p:nvPr/>
        </p:nvCxnSpPr>
        <p:spPr>
          <a:xfrm flipV="1">
            <a:off x="13392000" y="94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5" name="Connector 514"/>
          <p:cNvCxnSpPr/>
          <p:nvPr/>
        </p:nvCxnSpPr>
        <p:spPr>
          <a:xfrm flipV="1">
            <a:off x="13392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6" name="TextBox 515"/>
          <p:cNvSpPr txBox="1"/>
          <p:nvPr/>
        </p:nvSpPr>
        <p:spPr>
          <a:xfrm>
            <a:off x="12996000" y="9144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10980000" y="10116000"/>
            <a:ext cx="378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100 high · 50 recess · warm toe-kick 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Right display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Developed display elevation · interfaces + material codes · bottles indicative only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side-envelope"/>
          <p:cNvSpPr/>
          <p:nvPr/>
        </p:nvSpPr>
        <p:spPr>
          <a:xfrm>
            <a:off x="1836000" y="3312000"/>
            <a:ext cx="5590800" cy="4680000"/>
          </a:xfrm>
          <a:prstGeom prst="rect">
            <a:avLst/>
          </a:prstGeom>
          <a:solidFill>
            <a:srgbClr val="F1EBE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16800" y="3312000"/>
            <a:ext cx="81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61800" y="3357000"/>
            <a:ext cx="720000" cy="459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16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81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15800" y="4932000"/>
            <a:ext cx="684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SOLID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COLUMN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RETURN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DISPLAY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FACES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STREET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36000" y="7812000"/>
            <a:ext cx="4780800" cy="18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36000" y="6912000"/>
            <a:ext cx="4780800" cy="900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36000" y="3312000"/>
            <a:ext cx="4780800" cy="720000"/>
          </a:xfrm>
          <a:prstGeom prst="rect">
            <a:avLst/>
          </a:prstGeom>
          <a:solidFill>
            <a:srgbClr val="D3CCB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1836000" y="3312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1836000" y="3960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1836000" y="3312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1836000" y="3888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1836000" y="3312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1836000" y="3816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836000" y="3312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1836000" y="3744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1836000" y="331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1836000" y="367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1836000" y="3312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1836000" y="3600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1836000" y="3312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1836000" y="3528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1836000" y="3312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1836000" y="3456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1836000" y="3312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1836000" y="3384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18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18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18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18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19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19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19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19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19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19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20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20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20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20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20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20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 flipV="1">
            <a:off x="21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21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21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21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21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21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22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22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22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22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23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23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 flipV="1">
            <a:off x="23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23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23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>
            <a:off x="23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24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>
            <a:off x="24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24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24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24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24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25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>
            <a:off x="25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25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>
            <a:off x="25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25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>
            <a:off x="25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26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26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26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26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27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>
            <a:off x="27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27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>
            <a:off x="27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27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27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28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28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28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28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28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5" name="Connector 104"/>
          <p:cNvCxnSpPr/>
          <p:nvPr/>
        </p:nvCxnSpPr>
        <p:spPr>
          <a:xfrm>
            <a:off x="28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29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>
            <a:off x="29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 flipV="1">
            <a:off x="29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>
            <a:off x="29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V="1">
            <a:off x="29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>
            <a:off x="29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 flipV="1">
            <a:off x="30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>
            <a:off x="30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 flipV="1">
            <a:off x="30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>
            <a:off x="30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30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>
            <a:off x="30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31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31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31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>
            <a:off x="31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32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>
            <a:off x="32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32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>
            <a:off x="32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32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32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 flipV="1">
            <a:off x="33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>
            <a:off x="33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33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33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 flipV="1">
            <a:off x="33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33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34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34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34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34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 flipV="1">
            <a:off x="34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34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 flipV="1">
            <a:off x="35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35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35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35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36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36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36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36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36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36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37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37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V="1">
            <a:off x="37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37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37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37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38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38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38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38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 flipV="1">
            <a:off x="38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38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39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39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V="1">
            <a:off x="39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39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39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39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40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40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 flipV="1">
            <a:off x="40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40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41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41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41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41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41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41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42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42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42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>
            <a:off x="42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42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42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43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43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43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43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43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43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44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44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44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44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45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45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45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45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45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45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46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46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46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46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46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>
            <a:off x="46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6" name="Connector 205"/>
          <p:cNvCxnSpPr/>
          <p:nvPr/>
        </p:nvCxnSpPr>
        <p:spPr>
          <a:xfrm flipV="1">
            <a:off x="47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7" name="Connector 206"/>
          <p:cNvCxnSpPr/>
          <p:nvPr/>
        </p:nvCxnSpPr>
        <p:spPr>
          <a:xfrm>
            <a:off x="47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47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47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47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>
            <a:off x="47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2" name="Connector 211"/>
          <p:cNvCxnSpPr/>
          <p:nvPr/>
        </p:nvCxnSpPr>
        <p:spPr>
          <a:xfrm flipV="1">
            <a:off x="48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3" name="Connector 212"/>
          <p:cNvCxnSpPr/>
          <p:nvPr/>
        </p:nvCxnSpPr>
        <p:spPr>
          <a:xfrm>
            <a:off x="48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48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48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48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>
            <a:off x="48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8" name="Connector 217"/>
          <p:cNvCxnSpPr/>
          <p:nvPr/>
        </p:nvCxnSpPr>
        <p:spPr>
          <a:xfrm flipV="1">
            <a:off x="49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9" name="Connector 218"/>
          <p:cNvCxnSpPr/>
          <p:nvPr/>
        </p:nvCxnSpPr>
        <p:spPr>
          <a:xfrm>
            <a:off x="49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49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49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50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>
            <a:off x="50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4" name="Connector 223"/>
          <p:cNvCxnSpPr/>
          <p:nvPr/>
        </p:nvCxnSpPr>
        <p:spPr>
          <a:xfrm flipV="1">
            <a:off x="50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5" name="Connector 224"/>
          <p:cNvCxnSpPr/>
          <p:nvPr/>
        </p:nvCxnSpPr>
        <p:spPr>
          <a:xfrm>
            <a:off x="50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50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50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51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>
            <a:off x="51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0" name="Connector 229"/>
          <p:cNvCxnSpPr/>
          <p:nvPr/>
        </p:nvCxnSpPr>
        <p:spPr>
          <a:xfrm flipV="1">
            <a:off x="51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1" name="Connector 230"/>
          <p:cNvCxnSpPr/>
          <p:nvPr/>
        </p:nvCxnSpPr>
        <p:spPr>
          <a:xfrm>
            <a:off x="51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51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51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52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>
            <a:off x="52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6" name="Connector 235"/>
          <p:cNvCxnSpPr/>
          <p:nvPr/>
        </p:nvCxnSpPr>
        <p:spPr>
          <a:xfrm flipV="1">
            <a:off x="52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7" name="Connector 236"/>
          <p:cNvCxnSpPr/>
          <p:nvPr/>
        </p:nvCxnSpPr>
        <p:spPr>
          <a:xfrm>
            <a:off x="52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 flipV="1">
            <a:off x="52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>
            <a:off x="52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V="1">
            <a:off x="53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>
            <a:off x="53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2" name="Connector 241"/>
          <p:cNvCxnSpPr/>
          <p:nvPr/>
        </p:nvCxnSpPr>
        <p:spPr>
          <a:xfrm flipV="1">
            <a:off x="53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3" name="Connector 242"/>
          <p:cNvCxnSpPr/>
          <p:nvPr/>
        </p:nvCxnSpPr>
        <p:spPr>
          <a:xfrm>
            <a:off x="53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4" name="Connector 243"/>
          <p:cNvCxnSpPr/>
          <p:nvPr/>
        </p:nvCxnSpPr>
        <p:spPr>
          <a:xfrm flipV="1">
            <a:off x="54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5" name="Connector 244"/>
          <p:cNvCxnSpPr/>
          <p:nvPr/>
        </p:nvCxnSpPr>
        <p:spPr>
          <a:xfrm>
            <a:off x="54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6" name="Connector 245"/>
          <p:cNvCxnSpPr/>
          <p:nvPr/>
        </p:nvCxnSpPr>
        <p:spPr>
          <a:xfrm flipV="1">
            <a:off x="54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54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 flipV="1">
            <a:off x="54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>
            <a:off x="54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V="1">
            <a:off x="55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1" name="Connector 250"/>
          <p:cNvCxnSpPr/>
          <p:nvPr/>
        </p:nvCxnSpPr>
        <p:spPr>
          <a:xfrm>
            <a:off x="55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 flipV="1">
            <a:off x="55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55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 flipV="1">
            <a:off x="55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>
            <a:off x="55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 flipV="1">
            <a:off x="56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7" name="Connector 256"/>
          <p:cNvCxnSpPr/>
          <p:nvPr/>
        </p:nvCxnSpPr>
        <p:spPr>
          <a:xfrm>
            <a:off x="56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 flipV="1">
            <a:off x="56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56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 flipV="1">
            <a:off x="56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>
            <a:off x="56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 flipV="1">
            <a:off x="57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3" name="Connector 262"/>
          <p:cNvCxnSpPr/>
          <p:nvPr/>
        </p:nvCxnSpPr>
        <p:spPr>
          <a:xfrm>
            <a:off x="57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4" name="Connector 263"/>
          <p:cNvCxnSpPr/>
          <p:nvPr/>
        </p:nvCxnSpPr>
        <p:spPr>
          <a:xfrm flipV="1">
            <a:off x="57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57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 flipV="1">
            <a:off x="57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>
            <a:off x="57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58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>
            <a:off x="58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 flipV="1">
            <a:off x="58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>
            <a:off x="58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59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>
            <a:off x="59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59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5" name="Connector 274"/>
          <p:cNvCxnSpPr/>
          <p:nvPr/>
        </p:nvCxnSpPr>
        <p:spPr>
          <a:xfrm>
            <a:off x="59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6" name="Connector 275"/>
          <p:cNvCxnSpPr/>
          <p:nvPr/>
        </p:nvCxnSpPr>
        <p:spPr>
          <a:xfrm flipV="1">
            <a:off x="59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>
            <a:off x="59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 flipV="1">
            <a:off x="60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>
            <a:off x="60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0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1" name="Connector 280"/>
          <p:cNvCxnSpPr/>
          <p:nvPr/>
        </p:nvCxnSpPr>
        <p:spPr>
          <a:xfrm>
            <a:off x="60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2" name="Connector 281"/>
          <p:cNvCxnSpPr/>
          <p:nvPr/>
        </p:nvCxnSpPr>
        <p:spPr>
          <a:xfrm flipV="1">
            <a:off x="60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>
            <a:off x="60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61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>
            <a:off x="61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61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7" name="Connector 286"/>
          <p:cNvCxnSpPr/>
          <p:nvPr/>
        </p:nvCxnSpPr>
        <p:spPr>
          <a:xfrm>
            <a:off x="61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8" name="Connector 287"/>
          <p:cNvCxnSpPr/>
          <p:nvPr/>
        </p:nvCxnSpPr>
        <p:spPr>
          <a:xfrm flipV="1">
            <a:off x="61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9" name="Connector 288"/>
          <p:cNvCxnSpPr/>
          <p:nvPr/>
        </p:nvCxnSpPr>
        <p:spPr>
          <a:xfrm>
            <a:off x="61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0" name="Connector 289"/>
          <p:cNvCxnSpPr/>
          <p:nvPr/>
        </p:nvCxnSpPr>
        <p:spPr>
          <a:xfrm flipV="1">
            <a:off x="62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>
            <a:off x="62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2" name="Connector 291"/>
          <p:cNvCxnSpPr/>
          <p:nvPr/>
        </p:nvCxnSpPr>
        <p:spPr>
          <a:xfrm flipV="1">
            <a:off x="6264000" y="33264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3" name="Connector 292"/>
          <p:cNvCxnSpPr/>
          <p:nvPr/>
        </p:nvCxnSpPr>
        <p:spPr>
          <a:xfrm>
            <a:off x="6264000" y="33120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 flipV="1">
            <a:off x="6300000" y="33984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6300000" y="33120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 flipV="1">
            <a:off x="6336000" y="34704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7" name="Connector 296"/>
          <p:cNvCxnSpPr/>
          <p:nvPr/>
        </p:nvCxnSpPr>
        <p:spPr>
          <a:xfrm>
            <a:off x="6336000" y="33120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8" name="Connector 297"/>
          <p:cNvCxnSpPr/>
          <p:nvPr/>
        </p:nvCxnSpPr>
        <p:spPr>
          <a:xfrm flipV="1">
            <a:off x="6372000" y="35424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9" name="Connector 298"/>
          <p:cNvCxnSpPr/>
          <p:nvPr/>
        </p:nvCxnSpPr>
        <p:spPr>
          <a:xfrm>
            <a:off x="6372000" y="33120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0" name="Connector 299"/>
          <p:cNvCxnSpPr/>
          <p:nvPr/>
        </p:nvCxnSpPr>
        <p:spPr>
          <a:xfrm flipV="1">
            <a:off x="6408000" y="36144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1" name="Connector 300"/>
          <p:cNvCxnSpPr/>
          <p:nvPr/>
        </p:nvCxnSpPr>
        <p:spPr>
          <a:xfrm>
            <a:off x="6408000" y="33120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2" name="Connector 301"/>
          <p:cNvCxnSpPr/>
          <p:nvPr/>
        </p:nvCxnSpPr>
        <p:spPr>
          <a:xfrm flipV="1">
            <a:off x="6444000" y="36864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3" name="Connector 302"/>
          <p:cNvCxnSpPr/>
          <p:nvPr/>
        </p:nvCxnSpPr>
        <p:spPr>
          <a:xfrm>
            <a:off x="6444000" y="33120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4" name="Connector 303"/>
          <p:cNvCxnSpPr/>
          <p:nvPr/>
        </p:nvCxnSpPr>
        <p:spPr>
          <a:xfrm flipV="1">
            <a:off x="6480000" y="37584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5" name="Connector 304"/>
          <p:cNvCxnSpPr/>
          <p:nvPr/>
        </p:nvCxnSpPr>
        <p:spPr>
          <a:xfrm>
            <a:off x="6480000" y="33120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6" name="Connector 305"/>
          <p:cNvCxnSpPr/>
          <p:nvPr/>
        </p:nvCxnSpPr>
        <p:spPr>
          <a:xfrm flipV="1">
            <a:off x="6516000" y="38304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>
            <a:off x="6516000" y="33120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 flipV="1">
            <a:off x="6552000" y="39024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>
            <a:off x="6552000" y="33120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 flipV="1">
            <a:off x="6588000" y="39744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>
            <a:off x="6588000" y="33120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sp>
        <p:nvSpPr>
          <p:cNvPr id="312" name="Rectangle 311"/>
          <p:cNvSpPr/>
          <p:nvPr/>
        </p:nvSpPr>
        <p:spPr>
          <a:xfrm>
            <a:off x="1836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30087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42039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53991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6571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836000" y="691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>
            <a:off x="1881000" y="695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19" name="Rectangle 318"/>
          <p:cNvSpPr/>
          <p:nvPr/>
        </p:nvSpPr>
        <p:spPr>
          <a:xfrm>
            <a:off x="1836000" y="619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>
            <a:off x="1881000" y="623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1" name="Rectangle 320"/>
          <p:cNvSpPr/>
          <p:nvPr/>
        </p:nvSpPr>
        <p:spPr>
          <a:xfrm>
            <a:off x="1836000" y="547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>
            <a:off x="1881000" y="551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3" name="Rectangle 322"/>
          <p:cNvSpPr/>
          <p:nvPr/>
        </p:nvSpPr>
        <p:spPr>
          <a:xfrm>
            <a:off x="1836000" y="475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>
            <a:off x="1881000" y="479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5" name="Rectangle 324"/>
          <p:cNvSpPr/>
          <p:nvPr/>
        </p:nvSpPr>
        <p:spPr>
          <a:xfrm>
            <a:off x="1836000" y="403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>
            <a:off x="1881000" y="407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327" name="Connector 326"/>
          <p:cNvCxnSpPr/>
          <p:nvPr/>
        </p:nvCxnSpPr>
        <p:spPr>
          <a:xfrm flipV="1">
            <a:off x="24336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28" name="Connector 327"/>
          <p:cNvCxnSpPr/>
          <p:nvPr/>
        </p:nvCxnSpPr>
        <p:spPr>
          <a:xfrm>
            <a:off x="23580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29" name="Rectangle 328"/>
          <p:cNvSpPr/>
          <p:nvPr/>
        </p:nvSpPr>
        <p:spPr>
          <a:xfrm>
            <a:off x="2106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2130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>
            <a:off x="2120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2" name="Rectangle 331"/>
          <p:cNvSpPr/>
          <p:nvPr/>
        </p:nvSpPr>
        <p:spPr>
          <a:xfrm>
            <a:off x="2277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2307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>
            <a:off x="2291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5" name="Rectangle 334"/>
          <p:cNvSpPr/>
          <p:nvPr/>
        </p:nvSpPr>
        <p:spPr>
          <a:xfrm>
            <a:off x="2106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2127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>
            <a:off x="2120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8" name="Rectangle 337"/>
          <p:cNvSpPr/>
          <p:nvPr/>
        </p:nvSpPr>
        <p:spPr>
          <a:xfrm>
            <a:off x="2277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2301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0" name="Connector 339"/>
          <p:cNvCxnSpPr/>
          <p:nvPr/>
        </p:nvCxnSpPr>
        <p:spPr>
          <a:xfrm>
            <a:off x="2291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41" name="Connector 340"/>
          <p:cNvCxnSpPr/>
          <p:nvPr/>
        </p:nvCxnSpPr>
        <p:spPr>
          <a:xfrm flipV="1">
            <a:off x="36288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42" name="Connector 341"/>
          <p:cNvCxnSpPr/>
          <p:nvPr/>
        </p:nvCxnSpPr>
        <p:spPr>
          <a:xfrm>
            <a:off x="35532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43" name="Rectangle 342"/>
          <p:cNvSpPr/>
          <p:nvPr/>
        </p:nvSpPr>
        <p:spPr>
          <a:xfrm>
            <a:off x="33012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33313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5" name="Connector 344"/>
          <p:cNvCxnSpPr/>
          <p:nvPr/>
        </p:nvCxnSpPr>
        <p:spPr>
          <a:xfrm>
            <a:off x="33156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6" name="Rectangle 345"/>
          <p:cNvSpPr/>
          <p:nvPr/>
        </p:nvSpPr>
        <p:spPr>
          <a:xfrm>
            <a:off x="34722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34935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8" name="Connector 347"/>
          <p:cNvCxnSpPr/>
          <p:nvPr/>
        </p:nvCxnSpPr>
        <p:spPr>
          <a:xfrm>
            <a:off x="34866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9" name="Rectangle 348"/>
          <p:cNvSpPr/>
          <p:nvPr/>
        </p:nvSpPr>
        <p:spPr>
          <a:xfrm>
            <a:off x="33012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33255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1" name="Connector 350"/>
          <p:cNvCxnSpPr/>
          <p:nvPr/>
        </p:nvCxnSpPr>
        <p:spPr>
          <a:xfrm>
            <a:off x="33156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52" name="Rectangle 351"/>
          <p:cNvSpPr/>
          <p:nvPr/>
        </p:nvSpPr>
        <p:spPr>
          <a:xfrm>
            <a:off x="34722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35023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4" name="Connector 353"/>
          <p:cNvCxnSpPr/>
          <p:nvPr/>
        </p:nvCxnSpPr>
        <p:spPr>
          <a:xfrm>
            <a:off x="34866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55" name="Connector 354"/>
          <p:cNvCxnSpPr/>
          <p:nvPr/>
        </p:nvCxnSpPr>
        <p:spPr>
          <a:xfrm flipV="1">
            <a:off x="48240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56" name="Connector 355"/>
          <p:cNvCxnSpPr/>
          <p:nvPr/>
        </p:nvCxnSpPr>
        <p:spPr>
          <a:xfrm>
            <a:off x="47484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57" name="Rectangle 356"/>
          <p:cNvSpPr/>
          <p:nvPr/>
        </p:nvSpPr>
        <p:spPr>
          <a:xfrm>
            <a:off x="44964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45207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9" name="Connector 358"/>
          <p:cNvCxnSpPr/>
          <p:nvPr/>
        </p:nvCxnSpPr>
        <p:spPr>
          <a:xfrm>
            <a:off x="45108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0" name="Rectangle 359"/>
          <p:cNvSpPr/>
          <p:nvPr/>
        </p:nvSpPr>
        <p:spPr>
          <a:xfrm>
            <a:off x="46674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46975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2" name="Connector 361"/>
          <p:cNvCxnSpPr/>
          <p:nvPr/>
        </p:nvCxnSpPr>
        <p:spPr>
          <a:xfrm>
            <a:off x="46818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3" name="Rectangle 362"/>
          <p:cNvSpPr/>
          <p:nvPr/>
        </p:nvSpPr>
        <p:spPr>
          <a:xfrm>
            <a:off x="44964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45177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5" name="Connector 364"/>
          <p:cNvCxnSpPr/>
          <p:nvPr/>
        </p:nvCxnSpPr>
        <p:spPr>
          <a:xfrm>
            <a:off x="45108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6" name="Rectangle 365"/>
          <p:cNvSpPr/>
          <p:nvPr/>
        </p:nvSpPr>
        <p:spPr>
          <a:xfrm>
            <a:off x="46674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46917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8" name="Connector 367"/>
          <p:cNvCxnSpPr/>
          <p:nvPr/>
        </p:nvCxnSpPr>
        <p:spPr>
          <a:xfrm>
            <a:off x="46818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69" name="Connector 368"/>
          <p:cNvCxnSpPr/>
          <p:nvPr/>
        </p:nvCxnSpPr>
        <p:spPr>
          <a:xfrm flipV="1">
            <a:off x="60192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70" name="Connector 369"/>
          <p:cNvCxnSpPr/>
          <p:nvPr/>
        </p:nvCxnSpPr>
        <p:spPr>
          <a:xfrm>
            <a:off x="59436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71" name="Rectangle 370"/>
          <p:cNvSpPr/>
          <p:nvPr/>
        </p:nvSpPr>
        <p:spPr>
          <a:xfrm>
            <a:off x="56916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5721731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3" name="Connector 372"/>
          <p:cNvCxnSpPr/>
          <p:nvPr/>
        </p:nvCxnSpPr>
        <p:spPr>
          <a:xfrm>
            <a:off x="57060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4" name="Rectangle 373"/>
          <p:cNvSpPr/>
          <p:nvPr/>
        </p:nvSpPr>
        <p:spPr>
          <a:xfrm>
            <a:off x="58626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58839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6" name="Connector 375"/>
          <p:cNvCxnSpPr/>
          <p:nvPr/>
        </p:nvCxnSpPr>
        <p:spPr>
          <a:xfrm>
            <a:off x="58770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7" name="Rectangle 376"/>
          <p:cNvSpPr/>
          <p:nvPr/>
        </p:nvSpPr>
        <p:spPr>
          <a:xfrm>
            <a:off x="56916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7159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9" name="Connector 378"/>
          <p:cNvCxnSpPr/>
          <p:nvPr/>
        </p:nvCxnSpPr>
        <p:spPr>
          <a:xfrm>
            <a:off x="57060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80" name="Rectangle 379"/>
          <p:cNvSpPr/>
          <p:nvPr/>
        </p:nvSpPr>
        <p:spPr>
          <a:xfrm>
            <a:off x="58626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5892731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2" name="Connector 381"/>
          <p:cNvCxnSpPr/>
          <p:nvPr/>
        </p:nvCxnSpPr>
        <p:spPr>
          <a:xfrm>
            <a:off x="58770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83" name="Connector 382"/>
          <p:cNvCxnSpPr/>
          <p:nvPr/>
        </p:nvCxnSpPr>
        <p:spPr>
          <a:xfrm>
            <a:off x="1881000" y="7893000"/>
            <a:ext cx="46908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384" name="Connector 383"/>
          <p:cNvCxnSpPr/>
          <p:nvPr/>
        </p:nvCxnSpPr>
        <p:spPr>
          <a:xfrm>
            <a:off x="1836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5" name="Connector 384"/>
          <p:cNvCxnSpPr/>
          <p:nvPr/>
        </p:nvCxnSpPr>
        <p:spPr>
          <a:xfrm>
            <a:off x="74268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6" name="Connector 385"/>
          <p:cNvCxnSpPr/>
          <p:nvPr/>
        </p:nvCxnSpPr>
        <p:spPr>
          <a:xfrm>
            <a:off x="1836000" y="8604000"/>
            <a:ext cx="55908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7" name="Connector 386"/>
          <p:cNvCxnSpPr/>
          <p:nvPr/>
        </p:nvCxnSpPr>
        <p:spPr>
          <a:xfrm flipV="1">
            <a:off x="1800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8" name="Connector 387"/>
          <p:cNvCxnSpPr/>
          <p:nvPr/>
        </p:nvCxnSpPr>
        <p:spPr>
          <a:xfrm flipV="1">
            <a:off x="73908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89" name="TextBox 388"/>
          <p:cNvSpPr txBox="1"/>
          <p:nvPr/>
        </p:nvSpPr>
        <p:spPr>
          <a:xfrm>
            <a:off x="40914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390" name="Connector 389"/>
          <p:cNvCxnSpPr/>
          <p:nvPr/>
        </p:nvCxnSpPr>
        <p:spPr>
          <a:xfrm flipH="1">
            <a:off x="1296000" y="799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1" name="Connector 390"/>
          <p:cNvCxnSpPr/>
          <p:nvPr/>
        </p:nvCxnSpPr>
        <p:spPr>
          <a:xfrm flipH="1">
            <a:off x="1296000" y="331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2" name="Connector 391"/>
          <p:cNvCxnSpPr/>
          <p:nvPr/>
        </p:nvCxnSpPr>
        <p:spPr>
          <a:xfrm flipV="1">
            <a:off x="1296000" y="3312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3" name="Connector 392"/>
          <p:cNvCxnSpPr/>
          <p:nvPr/>
        </p:nvCxnSpPr>
        <p:spPr>
          <a:xfrm flipV="1">
            <a:off x="1260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4" name="Connector 393"/>
          <p:cNvCxnSpPr/>
          <p:nvPr/>
        </p:nvCxnSpPr>
        <p:spPr>
          <a:xfrm flipV="1">
            <a:off x="1260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5" name="TextBox 394"/>
          <p:cNvSpPr txBox="1"/>
          <p:nvPr/>
        </p:nvSpPr>
        <p:spPr>
          <a:xfrm>
            <a:off x="864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396" name="Connector 395"/>
          <p:cNvCxnSpPr/>
          <p:nvPr/>
        </p:nvCxnSpPr>
        <p:spPr>
          <a:xfrm>
            <a:off x="1836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7" name="Connector 396"/>
          <p:cNvCxnSpPr/>
          <p:nvPr/>
        </p:nvCxnSpPr>
        <p:spPr>
          <a:xfrm>
            <a:off x="303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8" name="Connector 397"/>
          <p:cNvCxnSpPr/>
          <p:nvPr/>
        </p:nvCxnSpPr>
        <p:spPr>
          <a:xfrm>
            <a:off x="18360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9" name="Connector 398"/>
          <p:cNvCxnSpPr/>
          <p:nvPr/>
        </p:nvCxnSpPr>
        <p:spPr>
          <a:xfrm flipV="1">
            <a:off x="1800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0" name="Connector 399"/>
          <p:cNvCxnSpPr/>
          <p:nvPr/>
        </p:nvCxnSpPr>
        <p:spPr>
          <a:xfrm flipV="1">
            <a:off x="299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1" name="TextBox 400"/>
          <p:cNvSpPr txBox="1"/>
          <p:nvPr/>
        </p:nvSpPr>
        <p:spPr>
          <a:xfrm>
            <a:off x="1893599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2" name="Connector 401"/>
          <p:cNvCxnSpPr/>
          <p:nvPr/>
        </p:nvCxnSpPr>
        <p:spPr>
          <a:xfrm>
            <a:off x="303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3" name="Connector 402"/>
          <p:cNvCxnSpPr/>
          <p:nvPr/>
        </p:nvCxnSpPr>
        <p:spPr>
          <a:xfrm>
            <a:off x="422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4" name="Connector 403"/>
          <p:cNvCxnSpPr/>
          <p:nvPr/>
        </p:nvCxnSpPr>
        <p:spPr>
          <a:xfrm>
            <a:off x="30312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5" name="Connector 404"/>
          <p:cNvCxnSpPr/>
          <p:nvPr/>
        </p:nvCxnSpPr>
        <p:spPr>
          <a:xfrm flipV="1">
            <a:off x="299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6" name="Connector 405"/>
          <p:cNvCxnSpPr/>
          <p:nvPr/>
        </p:nvCxnSpPr>
        <p:spPr>
          <a:xfrm flipV="1">
            <a:off x="419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7" name="TextBox 406"/>
          <p:cNvSpPr txBox="1"/>
          <p:nvPr/>
        </p:nvSpPr>
        <p:spPr>
          <a:xfrm>
            <a:off x="30888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8" name="Connector 407"/>
          <p:cNvCxnSpPr/>
          <p:nvPr/>
        </p:nvCxnSpPr>
        <p:spPr>
          <a:xfrm>
            <a:off x="422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9" name="Connector 408"/>
          <p:cNvCxnSpPr/>
          <p:nvPr/>
        </p:nvCxnSpPr>
        <p:spPr>
          <a:xfrm>
            <a:off x="542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0" name="Connector 409"/>
          <p:cNvCxnSpPr/>
          <p:nvPr/>
        </p:nvCxnSpPr>
        <p:spPr>
          <a:xfrm>
            <a:off x="42264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1" name="Connector 410"/>
          <p:cNvCxnSpPr/>
          <p:nvPr/>
        </p:nvCxnSpPr>
        <p:spPr>
          <a:xfrm flipV="1">
            <a:off x="419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2" name="Connector 411"/>
          <p:cNvCxnSpPr/>
          <p:nvPr/>
        </p:nvCxnSpPr>
        <p:spPr>
          <a:xfrm flipV="1">
            <a:off x="538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3" name="TextBox 412"/>
          <p:cNvSpPr txBox="1"/>
          <p:nvPr/>
        </p:nvSpPr>
        <p:spPr>
          <a:xfrm>
            <a:off x="42840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14" name="Connector 413"/>
          <p:cNvCxnSpPr/>
          <p:nvPr/>
        </p:nvCxnSpPr>
        <p:spPr>
          <a:xfrm>
            <a:off x="542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5" name="Connector 414"/>
          <p:cNvCxnSpPr/>
          <p:nvPr/>
        </p:nvCxnSpPr>
        <p:spPr>
          <a:xfrm>
            <a:off x="66168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6" name="Connector 415"/>
          <p:cNvCxnSpPr/>
          <p:nvPr/>
        </p:nvCxnSpPr>
        <p:spPr>
          <a:xfrm>
            <a:off x="54216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7" name="Connector 416"/>
          <p:cNvCxnSpPr/>
          <p:nvPr/>
        </p:nvCxnSpPr>
        <p:spPr>
          <a:xfrm flipV="1">
            <a:off x="538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8" name="Connector 417"/>
          <p:cNvCxnSpPr/>
          <p:nvPr/>
        </p:nvCxnSpPr>
        <p:spPr>
          <a:xfrm flipV="1">
            <a:off x="65808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9" name="TextBox 418"/>
          <p:cNvSpPr txBox="1"/>
          <p:nvPr/>
        </p:nvSpPr>
        <p:spPr>
          <a:xfrm>
            <a:off x="54792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7426800" y="79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1" name="Connector 420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2" name="Connector 421"/>
          <p:cNvCxnSpPr/>
          <p:nvPr/>
        </p:nvCxnSpPr>
        <p:spPr>
          <a:xfrm flipV="1">
            <a:off x="7750800" y="7812000"/>
            <a:ext cx="0" cy="1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3" name="Connector 422"/>
          <p:cNvCxnSpPr/>
          <p:nvPr/>
        </p:nvCxnSpPr>
        <p:spPr>
          <a:xfrm flipV="1">
            <a:off x="77148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4" name="Connector 423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25" name="TextBox 424"/>
          <p:cNvSpPr txBox="1"/>
          <p:nvPr/>
        </p:nvSpPr>
        <p:spPr>
          <a:xfrm>
            <a:off x="7318800" y="790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7" name="Connector 426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8" name="Connector 427"/>
          <p:cNvCxnSpPr/>
          <p:nvPr/>
        </p:nvCxnSpPr>
        <p:spPr>
          <a:xfrm flipV="1">
            <a:off x="7750800" y="6912000"/>
            <a:ext cx="0" cy="90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9" name="Connector 428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0" name="Connector 429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1" name="TextBox 430"/>
          <p:cNvSpPr txBox="1"/>
          <p:nvPr/>
        </p:nvSpPr>
        <p:spPr>
          <a:xfrm>
            <a:off x="7318800" y="736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3" name="Connector 432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4" name="Connector 433"/>
          <p:cNvCxnSpPr/>
          <p:nvPr/>
        </p:nvCxnSpPr>
        <p:spPr>
          <a:xfrm flipV="1">
            <a:off x="7750800" y="619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5" name="Connector 434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6" name="Connector 435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7" name="TextBox 436"/>
          <p:cNvSpPr txBox="1"/>
          <p:nvPr/>
        </p:nvSpPr>
        <p:spPr>
          <a:xfrm>
            <a:off x="7318800" y="65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38" name="Connector 437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9" name="Connector 438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0" name="Connector 439"/>
          <p:cNvCxnSpPr/>
          <p:nvPr/>
        </p:nvCxnSpPr>
        <p:spPr>
          <a:xfrm flipV="1">
            <a:off x="7750800" y="547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1" name="Connector 440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2" name="Connector 441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3" name="TextBox 442"/>
          <p:cNvSpPr txBox="1"/>
          <p:nvPr/>
        </p:nvSpPr>
        <p:spPr>
          <a:xfrm>
            <a:off x="7318800" y="583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44" name="Connector 443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5" name="Connector 444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6" name="Connector 445"/>
          <p:cNvCxnSpPr/>
          <p:nvPr/>
        </p:nvCxnSpPr>
        <p:spPr>
          <a:xfrm flipV="1">
            <a:off x="7750800" y="475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7" name="Connector 446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8" name="Connector 447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9" name="TextBox 448"/>
          <p:cNvSpPr txBox="1"/>
          <p:nvPr/>
        </p:nvSpPr>
        <p:spPr>
          <a:xfrm>
            <a:off x="7318800" y="511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0" name="Connector 449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1" name="Connector 450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2" name="Connector 451"/>
          <p:cNvCxnSpPr/>
          <p:nvPr/>
        </p:nvCxnSpPr>
        <p:spPr>
          <a:xfrm flipV="1">
            <a:off x="7750800" y="403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3" name="Connector 452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4" name="Connector 453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55" name="TextBox 454"/>
          <p:cNvSpPr txBox="1"/>
          <p:nvPr/>
        </p:nvSpPr>
        <p:spPr>
          <a:xfrm>
            <a:off x="7318800" y="439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6" name="Connector 455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7" name="Connector 456"/>
          <p:cNvCxnSpPr/>
          <p:nvPr/>
        </p:nvCxnSpPr>
        <p:spPr>
          <a:xfrm>
            <a:off x="7426800" y="33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8" name="Connector 457"/>
          <p:cNvCxnSpPr/>
          <p:nvPr/>
        </p:nvCxnSpPr>
        <p:spPr>
          <a:xfrm flipV="1">
            <a:off x="7750800" y="331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9" name="Connector 458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0" name="Connector 459"/>
          <p:cNvCxnSpPr/>
          <p:nvPr/>
        </p:nvCxnSpPr>
        <p:spPr>
          <a:xfrm flipV="1">
            <a:off x="77148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61" name="TextBox 460"/>
          <p:cNvSpPr txBox="1"/>
          <p:nvPr/>
        </p:nvSpPr>
        <p:spPr>
          <a:xfrm>
            <a:off x="7318800" y="367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62" name="Connector 461"/>
          <p:cNvCxnSpPr/>
          <p:nvPr/>
        </p:nvCxnSpPr>
        <p:spPr>
          <a:xfrm flipV="1">
            <a:off x="4226400" y="3456000"/>
            <a:ext cx="3909600" cy="216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3" name="TextBox 462"/>
          <p:cNvSpPr txBox="1"/>
          <p:nvPr/>
        </p:nvSpPr>
        <p:spPr>
          <a:xfrm>
            <a:off x="8136000" y="3528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EXPANDED METAL MESH</a:t>
            </a:r>
          </a:p>
        </p:txBody>
      </p:sp>
      <p:cxnSp>
        <p:nvCxnSpPr>
          <p:cNvPr id="464" name="Connector 463"/>
          <p:cNvCxnSpPr/>
          <p:nvPr/>
        </p:nvCxnSpPr>
        <p:spPr>
          <a:xfrm flipV="1">
            <a:off x="5256000" y="5004000"/>
            <a:ext cx="2880000" cy="486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5" name="TextBox 464"/>
          <p:cNvSpPr txBox="1"/>
          <p:nvPr/>
        </p:nvSpPr>
        <p:spPr>
          <a:xfrm>
            <a:off x="8136000" y="5076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BLACK TRAY / WARM LED</a:t>
            </a:r>
          </a:p>
        </p:txBody>
      </p:sp>
      <p:cxnSp>
        <p:nvCxnSpPr>
          <p:cNvPr id="466" name="Connector 465"/>
          <p:cNvCxnSpPr/>
          <p:nvPr/>
        </p:nvCxnSpPr>
        <p:spPr>
          <a:xfrm flipV="1">
            <a:off x="4226400" y="7524000"/>
            <a:ext cx="3909600" cy="198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7" name="TextBox 466"/>
          <p:cNvSpPr txBox="1"/>
          <p:nvPr/>
        </p:nvSpPr>
        <p:spPr>
          <a:xfrm>
            <a:off x="8136000" y="7596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RECESSED PLINTH / BASE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792000" y="2196000"/>
            <a:ext cx="936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9A825A"/>
                </a:solidFill>
                <a:latin typeface="Liberation Sans"/>
              </a:defRPr>
            </a:pPr>
            <a:r>
              <a:t>BLACK STEEL  /  NEUTRAL PPC  /  EXPANDED MESH  /  3000 K LED</a:t>
            </a:r>
          </a:p>
        </p:txBody>
      </p:sp>
      <p:cxnSp>
        <p:nvCxnSpPr>
          <p:cNvPr id="480" name="Connector 479"/>
          <p:cNvCxnSpPr/>
          <p:nvPr/>
        </p:nvCxnSpPr>
        <p:spPr>
          <a:xfrm>
            <a:off x="1836000" y="925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481" name="Connector 480"/>
          <p:cNvCxnSpPr/>
          <p:nvPr/>
        </p:nvCxnSpPr>
        <p:spPr>
          <a:xfrm>
            <a:off x="18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2" name="Connector 481"/>
          <p:cNvCxnSpPr/>
          <p:nvPr/>
        </p:nvCxnSpPr>
        <p:spPr>
          <a:xfrm>
            <a:off x="27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3" name="Connector 482"/>
          <p:cNvCxnSpPr/>
          <p:nvPr/>
        </p:nvCxnSpPr>
        <p:spPr>
          <a:xfrm>
            <a:off x="36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484" name="TextBox 483"/>
          <p:cNvSpPr txBox="1"/>
          <p:nvPr/>
        </p:nvSpPr>
        <p:spPr>
          <a:xfrm>
            <a:off x="1836000" y="932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4212000" y="8964000"/>
            <a:ext cx="612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INDICATIVE BOTTLES · NOT A STOCK / CAPACITY SCHEDULE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10224000" y="2340000"/>
            <a:ext cx="4536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SHELF / FRONT EDGE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10224000" y="2628000"/>
            <a:ext cx="4536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1:2</a:t>
            </a:r>
          </a:p>
        </p:txBody>
      </p:sp>
      <p:sp>
        <p:nvSpPr>
          <p:cNvPr id="488" name="Rectangle 487"/>
          <p:cNvSpPr/>
          <p:nvPr/>
        </p:nvSpPr>
        <p:spPr>
          <a:xfrm>
            <a:off x="10224000" y="4050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14670000" y="4050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10494000" y="4104000"/>
            <a:ext cx="360000" cy="36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10522800" y="4132800"/>
            <a:ext cx="302400" cy="30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>
            <a:off x="14364000" y="4284000"/>
            <a:ext cx="270000" cy="0"/>
          </a:xfrm>
          <a:prstGeom prst="line">
            <a:avLst/>
          </a:prstGeom>
          <a:ln w="16510">
            <a:solidFill>
              <a:srgbClr val="9A825A"/>
            </a:solidFill>
          </a:ln>
          <a:effectLst/>
        </p:spPr>
      </p:cxnSp>
      <p:cxnSp>
        <p:nvCxnSpPr>
          <p:cNvPr id="493" name="Connector 492"/>
          <p:cNvCxnSpPr/>
          <p:nvPr/>
        </p:nvCxnSpPr>
        <p:spPr>
          <a:xfrm flipV="1">
            <a:off x="10224000" y="372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4" name="Connector 493"/>
          <p:cNvCxnSpPr/>
          <p:nvPr/>
        </p:nvCxnSpPr>
        <p:spPr>
          <a:xfrm flipV="1">
            <a:off x="14724000" y="372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5" name="Connector 494"/>
          <p:cNvCxnSpPr/>
          <p:nvPr/>
        </p:nvCxnSpPr>
        <p:spPr>
          <a:xfrm>
            <a:off x="10224000" y="3726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6" name="Connector 495"/>
          <p:cNvCxnSpPr/>
          <p:nvPr/>
        </p:nvCxnSpPr>
        <p:spPr>
          <a:xfrm flipV="1">
            <a:off x="10188000" y="369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7" name="Connector 496"/>
          <p:cNvCxnSpPr/>
          <p:nvPr/>
        </p:nvCxnSpPr>
        <p:spPr>
          <a:xfrm flipV="1">
            <a:off x="14688000" y="369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98" name="TextBox 497"/>
          <p:cNvSpPr txBox="1"/>
          <p:nvPr/>
        </p:nvSpPr>
        <p:spPr>
          <a:xfrm>
            <a:off x="11934000" y="354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10224000" y="4680000"/>
            <a:ext cx="4500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folded tray · 25 front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× 1.6 support · LED profile TBC #16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10980000" y="6372000"/>
            <a:ext cx="360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CABINET / PLINTH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10980000" y="6660000"/>
            <a:ext cx="360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1:5</a:t>
            </a:r>
          </a:p>
        </p:txBody>
      </p:sp>
      <p:sp>
        <p:nvSpPr>
          <p:cNvPr id="502" name="Rectangle 501"/>
          <p:cNvSpPr/>
          <p:nvPr/>
        </p:nvSpPr>
        <p:spPr>
          <a:xfrm>
            <a:off x="11340000" y="6912000"/>
            <a:ext cx="1800000" cy="1872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11340000" y="8784000"/>
            <a:ext cx="1440000" cy="72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4" name="Connector 503"/>
          <p:cNvCxnSpPr/>
          <p:nvPr/>
        </p:nvCxnSpPr>
        <p:spPr>
          <a:xfrm>
            <a:off x="12780000" y="9072000"/>
            <a:ext cx="3240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505" name="Connector 504"/>
          <p:cNvCxnSpPr/>
          <p:nvPr/>
        </p:nvCxnSpPr>
        <p:spPr>
          <a:xfrm>
            <a:off x="12780000" y="950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6" name="Connector 505"/>
          <p:cNvCxnSpPr/>
          <p:nvPr/>
        </p:nvCxnSpPr>
        <p:spPr>
          <a:xfrm>
            <a:off x="13140000" y="950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7" name="Connector 506"/>
          <p:cNvCxnSpPr/>
          <p:nvPr/>
        </p:nvCxnSpPr>
        <p:spPr>
          <a:xfrm>
            <a:off x="12780000" y="9792000"/>
            <a:ext cx="36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8" name="Connector 507"/>
          <p:cNvCxnSpPr/>
          <p:nvPr/>
        </p:nvCxnSpPr>
        <p:spPr>
          <a:xfrm flipV="1">
            <a:off x="12744000" y="97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9" name="Connector 508"/>
          <p:cNvCxnSpPr/>
          <p:nvPr/>
        </p:nvCxnSpPr>
        <p:spPr>
          <a:xfrm flipV="1">
            <a:off x="13104000" y="97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0" name="TextBox 509"/>
          <p:cNvSpPr txBox="1"/>
          <p:nvPr/>
        </p:nvSpPr>
        <p:spPr>
          <a:xfrm>
            <a:off x="12420000" y="961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</a:t>
            </a:r>
          </a:p>
        </p:txBody>
      </p:sp>
      <p:cxnSp>
        <p:nvCxnSpPr>
          <p:cNvPr id="511" name="Connector 510"/>
          <p:cNvCxnSpPr/>
          <p:nvPr/>
        </p:nvCxnSpPr>
        <p:spPr>
          <a:xfrm>
            <a:off x="13140000" y="950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2" name="Connector 511"/>
          <p:cNvCxnSpPr/>
          <p:nvPr/>
        </p:nvCxnSpPr>
        <p:spPr>
          <a:xfrm>
            <a:off x="13140000" y="878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3" name="Connector 512"/>
          <p:cNvCxnSpPr/>
          <p:nvPr/>
        </p:nvCxnSpPr>
        <p:spPr>
          <a:xfrm flipV="1">
            <a:off x="13428000" y="8784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4" name="Connector 513"/>
          <p:cNvCxnSpPr/>
          <p:nvPr/>
        </p:nvCxnSpPr>
        <p:spPr>
          <a:xfrm flipV="1">
            <a:off x="13392000" y="94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5" name="Connector 514"/>
          <p:cNvCxnSpPr/>
          <p:nvPr/>
        </p:nvCxnSpPr>
        <p:spPr>
          <a:xfrm flipV="1">
            <a:off x="13392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6" name="TextBox 515"/>
          <p:cNvSpPr txBox="1"/>
          <p:nvPr/>
        </p:nvSpPr>
        <p:spPr>
          <a:xfrm>
            <a:off x="12996000" y="9144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10980000" y="10116000"/>
            <a:ext cx="378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100 high · 50 recess · warm toe-kick 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Spatial assembly / cutaway axonometric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Spatial cutaway · orthographic projection · direct material and interface annotations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pic>
        <p:nvPicPr>
          <p:cNvPr id="7" name="Picture 6" descr="axonometric_re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000" y="2052000"/>
            <a:ext cx="9216000" cy="7956000"/>
          </a:xfrm>
          <a:prstGeom prst="rect">
            <a:avLst/>
          </a:prstGeom>
          <a:effectLst/>
        </p:spPr>
      </p:pic>
      <p:cxnSp>
        <p:nvCxnSpPr>
          <p:cNvPr id="8" name="Connector 7"/>
          <p:cNvCxnSpPr/>
          <p:nvPr/>
        </p:nvCxnSpPr>
        <p:spPr>
          <a:xfrm flipH="1" flipV="1">
            <a:off x="3204000" y="2628000"/>
            <a:ext cx="1949972" cy="1634959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H="1">
            <a:off x="3024000" y="2628000"/>
            <a:ext cx="1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0" name="Oval 9"/>
          <p:cNvSpPr/>
          <p:nvPr/>
        </p:nvSpPr>
        <p:spPr>
          <a:xfrm>
            <a:off x="5134172" y="4243159"/>
            <a:ext cx="39600" cy="396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000" y="2520000"/>
            <a:ext cx="2232000" cy="25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EXPANDED MESH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2772000"/>
            <a:ext cx="2232000" cy="61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Upper infill 2200–2600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Approx. 20 × 40 diamonds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3204000" y="4500000"/>
            <a:ext cx="1244801" cy="1688994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 flipH="1">
            <a:off x="3024000" y="4500000"/>
            <a:ext cx="1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" name="Oval 14"/>
          <p:cNvSpPr/>
          <p:nvPr/>
        </p:nvSpPr>
        <p:spPr>
          <a:xfrm>
            <a:off x="4429001" y="6169194"/>
            <a:ext cx="39600" cy="396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4392000"/>
            <a:ext cx="2232000" cy="25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STEEL TRAYS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000" y="4644000"/>
            <a:ext cx="2232000" cy="61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250 depth · 3 mm steel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25 folded front downstand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3204000" y="6516000"/>
            <a:ext cx="1246126" cy="1067414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 flipH="1">
            <a:off x="3024000" y="6516000"/>
            <a:ext cx="1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" name="Oval 19"/>
          <p:cNvSpPr/>
          <p:nvPr/>
        </p:nvSpPr>
        <p:spPr>
          <a:xfrm>
            <a:off x="4430326" y="7563614"/>
            <a:ext cx="39600" cy="396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4000" y="6408000"/>
            <a:ext cx="2232000" cy="25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NEUTRAL BASE DOORS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000" y="6660000"/>
            <a:ext cx="2232000" cy="61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1.5 mm PPC steel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600 base incl. 100 plinth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204000" y="7914758"/>
            <a:ext cx="383617" cy="617242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 flipH="1">
            <a:off x="3024000" y="8532000"/>
            <a:ext cx="1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3567817" y="7894958"/>
            <a:ext cx="39600" cy="396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4000" y="8424000"/>
            <a:ext cx="2232000" cy="25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STREET DISPLAY CUT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000" y="8676000"/>
            <a:ext cx="2232000" cy="61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Upper column removed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1500 clear entrance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7016185" y="2340000"/>
            <a:ext cx="5079815" cy="1063078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12096000" y="2340000"/>
            <a:ext cx="1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0" name="Oval 29"/>
          <p:cNvSpPr/>
          <p:nvPr/>
        </p:nvSpPr>
        <p:spPr>
          <a:xfrm>
            <a:off x="6996385" y="3383278"/>
            <a:ext cx="39600" cy="396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84000" y="2232000"/>
            <a:ext cx="2232000" cy="25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CEILING TRACKS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84000" y="2484000"/>
            <a:ext cx="2232000" cy="61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Exploded above room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Installed at 2600 · 3000 K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Two tracks / four spots each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7367956" y="4212000"/>
            <a:ext cx="4728044" cy="38691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12096000" y="4212000"/>
            <a:ext cx="1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5" name="Oval 34"/>
          <p:cNvSpPr/>
          <p:nvPr/>
        </p:nvSpPr>
        <p:spPr>
          <a:xfrm>
            <a:off x="7348156" y="4579111"/>
            <a:ext cx="39600" cy="396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84000" y="4104000"/>
            <a:ext cx="2232000" cy="25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REAR BRAND WALL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84000" y="4356000"/>
            <a:ext cx="2232000" cy="61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Raw light plaster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600-wide unlit native logo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6510983" y="6408000"/>
            <a:ext cx="5585017" cy="1097964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12096000" y="6408000"/>
            <a:ext cx="1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" name="Oval 39"/>
          <p:cNvSpPr/>
          <p:nvPr/>
        </p:nvSpPr>
        <p:spPr>
          <a:xfrm>
            <a:off x="6491183" y="7486164"/>
            <a:ext cx="39600" cy="396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4000" y="6300000"/>
            <a:ext cx="2232000" cy="25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COUNTER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84000" y="6552000"/>
            <a:ext cx="2232000" cy="61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1000 × 450 × 900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Mesh left / neutral panel right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223337" y="7988872"/>
            <a:ext cx="4872663" cy="507128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12096000" y="8496000"/>
            <a:ext cx="1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5" name="Oval 44"/>
          <p:cNvSpPr/>
          <p:nvPr/>
        </p:nvSpPr>
        <p:spPr>
          <a:xfrm>
            <a:off x="7203537" y="7969072"/>
            <a:ext cx="39600" cy="396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384000" y="8388000"/>
            <a:ext cx="2232000" cy="25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NEAR-SIDE CUTAWAY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84000" y="8640000"/>
            <a:ext cx="2232000" cy="61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Upper joinery omitted at 600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Full run shown in elevations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2000" y="10152000"/>
            <a:ext cx="7308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ORTHOGRAPHIC CUTAWAY · NTS · ceiling plane removed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BORN FRAGRANCE | Architectural Interior Presentation</dc:title>
  <dc:subject>Client and consultant coordination; proposed technical details</dc:subject>
  <dc:creator>ChatGPT /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