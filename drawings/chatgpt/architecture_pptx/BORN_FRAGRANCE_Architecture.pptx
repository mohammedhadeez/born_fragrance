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Storefront, interior and display details · neutral material tones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7" name="VIEW:Storefront" descr="born-fragrance-shop-neutral.png"/>
          <p:cNvPicPr>
            <a:picLocks noChangeAspect="1"/>
          </p:cNvPicPr>
          <p:nvPr/>
        </p:nvPicPr>
        <p:blipFill>
          <a:blip r:embed="rId4"/>
          <a:srcRect l="6" r="49522" b="36061"/>
          <a:stretch>
            <a:fillRect/>
          </a:stretch>
        </p:blipFill>
        <p:spPr>
          <a:xfrm>
            <a:off x="612000" y="2088000"/>
            <a:ext cx="6660000" cy="738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9684000"/>
            <a:ext cx="6660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STOREFRONT / DESIGN INTENT</a:t>
            </a:r>
          </a:p>
        </p:txBody>
      </p:sp>
      <p:pic>
        <p:nvPicPr>
          <p:cNvPr id="9" name="VIEW:Interior" descr="born-fragrance-shop-neutral.png"/>
          <p:cNvPicPr>
            <a:picLocks noChangeAspect="1"/>
          </p:cNvPicPr>
          <p:nvPr/>
        </p:nvPicPr>
        <p:blipFill>
          <a:blip r:embed="rId4"/>
          <a:srcRect r="51902" t="64992" b="968"/>
          <a:stretch>
            <a:fillRect/>
          </a:stretch>
        </p:blipFill>
        <p:spPr>
          <a:xfrm>
            <a:off x="7776000" y="2088000"/>
            <a:ext cx="6804000" cy="421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6000" y="6516000"/>
            <a:ext cx="6804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INTERIOR / DISPLAY AND COUNTER</a:t>
            </a:r>
          </a:p>
        </p:txBody>
      </p:sp>
      <p:pic>
        <p:nvPicPr>
          <p:cNvPr id="11" name="VIEW:Mesh and lighting" descr="born-fragrance-shop-neutral.png"/>
          <p:cNvPicPr>
            <a:picLocks noChangeAspect="1"/>
          </p:cNvPicPr>
          <p:nvPr/>
        </p:nvPicPr>
        <p:blipFill>
          <a:blip r:embed="rId4"/>
          <a:srcRect l="52763" r="21220" b="64109"/>
          <a:stretch>
            <a:fillRect/>
          </a:stretch>
        </p:blipFill>
        <p:spPr>
          <a:xfrm>
            <a:off x="7776000" y="7164000"/>
            <a:ext cx="2148000" cy="259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6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MESH / LIGHT</a:t>
            </a:r>
          </a:p>
        </p:txBody>
      </p:sp>
      <p:pic>
        <p:nvPicPr>
          <p:cNvPr id="13" name="VIEW:Display frame" descr="born-fragrance-shop-neutral.png"/>
          <p:cNvPicPr>
            <a:picLocks noChangeAspect="1"/>
          </p:cNvPicPr>
          <p:nvPr/>
        </p:nvPicPr>
        <p:blipFill>
          <a:blip r:embed="rId4"/>
          <a:srcRect l="52871" r="27740" t="68638" b="4615"/>
          <a:stretch>
            <a:fillRect/>
          </a:stretch>
        </p:blipFill>
        <p:spPr>
          <a:xfrm>
            <a:off x="10104000" y="7164000"/>
            <a:ext cx="2148000" cy="259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04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DISPLAY FRAME</a:t>
            </a:r>
          </a:p>
        </p:txBody>
      </p:sp>
      <p:pic>
        <p:nvPicPr>
          <p:cNvPr id="15" name="VIEW:Plaster and shelf" descr="born-fragrance-shop-neutral.png"/>
          <p:cNvPicPr>
            <a:picLocks noChangeAspect="1"/>
          </p:cNvPicPr>
          <p:nvPr/>
        </p:nvPicPr>
        <p:blipFill>
          <a:blip r:embed="rId4"/>
          <a:srcRect l="78449" r="820" t="67713" b="3689"/>
          <a:stretch>
            <a:fillRect/>
          </a:stretch>
        </p:blipFill>
        <p:spPr>
          <a:xfrm>
            <a:off x="12432000" y="7164000"/>
            <a:ext cx="2148000" cy="25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32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PLASTER / SHELF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1" name="TextBox 260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4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00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>
            <a:off x="328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5" name="Rectangle 264"/>
          <p:cNvSpPr/>
          <p:nvPr/>
        </p:nvSpPr>
        <p:spPr>
          <a:xfrm>
            <a:off x="675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51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679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8" name="Rectangle 267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500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500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264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264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45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 flipV="1">
            <a:off x="63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>
            <a:off x="4500000" y="43632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44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2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4860000" y="4183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2" name="Connector 281"/>
          <p:cNvCxnSpPr/>
          <p:nvPr/>
        </p:nvCxnSpPr>
        <p:spPr>
          <a:xfrm>
            <a:off x="6300000" y="549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300000" y="468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12000" y="46872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6876000" y="546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876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6480000" y="5092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000" y="6444000"/>
            <a:ext cx="2088000" cy="6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STREET-FACING DISPLAY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Dashed line: shelf above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return toward interior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242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647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242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647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242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647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242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3647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324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6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112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517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112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517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7112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7517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7112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517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1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1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692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9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69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547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5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212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2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067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706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706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/ SIDE JUNCTION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1:5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10800000" y="2844000"/>
            <a:ext cx="1800000" cy="36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600000" y="2844000"/>
            <a:ext cx="1800000" cy="18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8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8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242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243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2600000" y="446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611520" y="4475520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26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6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8" name="Connector 357"/>
          <p:cNvCxnSpPr/>
          <p:nvPr/>
        </p:nvCxnSpPr>
        <p:spPr>
          <a:xfrm flipV="1">
            <a:off x="12420000" y="3024000"/>
            <a:ext cx="0" cy="342000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59" name="Connector 358"/>
          <p:cNvCxnSpPr/>
          <p:nvPr/>
        </p:nvCxnSpPr>
        <p:spPr>
          <a:xfrm>
            <a:off x="12780000" y="4644000"/>
            <a:ext cx="1620000" cy="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60" name="Connector 359"/>
          <p:cNvCxnSpPr/>
          <p:nvPr/>
        </p:nvCxnSpPr>
        <p:spPr>
          <a:xfrm>
            <a:off x="108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1" name="Connector 360"/>
          <p:cNvCxnSpPr/>
          <p:nvPr/>
        </p:nvCxnSpPr>
        <p:spPr>
          <a:xfrm>
            <a:off x="126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2" name="Connector 361"/>
          <p:cNvCxnSpPr/>
          <p:nvPr/>
        </p:nvCxnSpPr>
        <p:spPr>
          <a:xfrm>
            <a:off x="10800000" y="669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3" name="Connector 362"/>
          <p:cNvCxnSpPr/>
          <p:nvPr/>
        </p:nvCxnSpPr>
        <p:spPr>
          <a:xfrm flipV="1">
            <a:off x="107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4" name="Connector 363"/>
          <p:cNvCxnSpPr/>
          <p:nvPr/>
        </p:nvCxnSpPr>
        <p:spPr>
          <a:xfrm flipV="1">
            <a:off x="125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5" name="TextBox 364"/>
          <p:cNvSpPr txBox="1"/>
          <p:nvPr/>
        </p:nvSpPr>
        <p:spPr>
          <a:xfrm>
            <a:off x="11160000" y="651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66" name="Connector 365"/>
          <p:cNvCxnSpPr/>
          <p:nvPr/>
        </p:nvCxnSpPr>
        <p:spPr>
          <a:xfrm flipV="1">
            <a:off x="126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7" name="Connector 366"/>
          <p:cNvCxnSpPr/>
          <p:nvPr/>
        </p:nvCxnSpPr>
        <p:spPr>
          <a:xfrm flipV="1">
            <a:off x="144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8" name="Connector 367"/>
          <p:cNvCxnSpPr/>
          <p:nvPr/>
        </p:nvCxnSpPr>
        <p:spPr>
          <a:xfrm>
            <a:off x="12600000" y="2592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125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 flipV="1">
            <a:off x="143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1" name="TextBox 370"/>
          <p:cNvSpPr txBox="1"/>
          <p:nvPr/>
        </p:nvSpPr>
        <p:spPr>
          <a:xfrm>
            <a:off x="12960000" y="24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4400000" y="46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3" name="Connector 372"/>
          <p:cNvCxnSpPr/>
          <p:nvPr/>
        </p:nvCxnSpPr>
        <p:spPr>
          <a:xfrm>
            <a:off x="14400000" y="28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4" name="Connector 373"/>
          <p:cNvCxnSpPr/>
          <p:nvPr/>
        </p:nvCxnSpPr>
        <p:spPr>
          <a:xfrm flipV="1">
            <a:off x="14652000" y="2844000"/>
            <a:ext cx="0" cy="18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5" name="Connector 374"/>
          <p:cNvCxnSpPr/>
          <p:nvPr/>
        </p:nvCxnSpPr>
        <p:spPr>
          <a:xfrm flipV="1">
            <a:off x="14616000" y="46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6" name="Connector 375"/>
          <p:cNvCxnSpPr/>
          <p:nvPr/>
        </p:nvCxnSpPr>
        <p:spPr>
          <a:xfrm flipV="1">
            <a:off x="14616000" y="28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7" name="TextBox 376"/>
          <p:cNvSpPr txBox="1"/>
          <p:nvPr/>
        </p:nvSpPr>
        <p:spPr>
          <a:xfrm>
            <a:off x="14220000" y="37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0800000" y="6840000"/>
            <a:ext cx="3780000" cy="68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SHS / 250-deep units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Rear bay continues right; no overlap</a:t>
            </a:r>
          </a:p>
        </p:txBody>
      </p:sp>
      <p:cxnSp>
        <p:nvCxnSpPr>
          <p:cNvPr id="379" name="Connector 378"/>
          <p:cNvCxnSpPr/>
          <p:nvPr/>
        </p:nvCxnSpPr>
        <p:spPr>
          <a:xfrm>
            <a:off x="14328000" y="4608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80" name="Connector 379"/>
          <p:cNvCxnSpPr/>
          <p:nvPr/>
        </p:nvCxnSpPr>
        <p:spPr>
          <a:xfrm>
            <a:off x="14328000" y="4716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sp>
        <p:nvSpPr>
          <p:cNvPr id="381" name="TextBox 380"/>
          <p:cNvSpPr txBox="1"/>
          <p:nvPr/>
        </p:nvSpPr>
        <p:spPr>
          <a:xfrm>
            <a:off x="10800000" y="781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DOOR EDGE / PIVOT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800000" y="810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1:2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1160000" y="9468000"/>
            <a:ext cx="2700000" cy="216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932000" y="9234000"/>
            <a:ext cx="450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3960800" y="9262800"/>
            <a:ext cx="392400" cy="39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6" name="Connector 385"/>
          <p:cNvCxnSpPr/>
          <p:nvPr/>
        </p:nvCxnSpPr>
        <p:spPr>
          <a:xfrm flipV="1">
            <a:off x="12060000" y="8694000"/>
            <a:ext cx="0" cy="117000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2006000" y="9522000"/>
            <a:ext cx="108000" cy="108000"/>
          </a:xfrm>
          <a:prstGeom prst="ellipse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8" name="Connector 387"/>
          <p:cNvCxnSpPr/>
          <p:nvPr/>
        </p:nvCxnSpPr>
        <p:spPr>
          <a:xfrm flipV="1">
            <a:off x="120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38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>
            <a:off x="12060000" y="9144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V="1">
            <a:off x="120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38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3" name="TextBox 392"/>
          <p:cNvSpPr txBox="1"/>
          <p:nvPr/>
        </p:nvSpPr>
        <p:spPr>
          <a:xfrm>
            <a:off x="12420000" y="896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94" name="Connector 393"/>
          <p:cNvCxnSpPr/>
          <p:nvPr/>
        </p:nvCxnSpPr>
        <p:spPr>
          <a:xfrm>
            <a:off x="13860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>
            <a:off x="13932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>
            <a:off x="13860000" y="9936000"/>
            <a:ext cx="72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 flipV="1">
            <a:off x="13824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 flipV="1">
            <a:off x="13896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9" name="TextBox 398"/>
          <p:cNvSpPr txBox="1"/>
          <p:nvPr/>
        </p:nvSpPr>
        <p:spPr>
          <a:xfrm>
            <a:off x="13356000" y="97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800000" y="101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4 gap / 25 SHS · pivot fittings TBC #16</a:t>
            </a:r>
          </a:p>
        </p:txBody>
      </p:sp>
      <p:cxnSp>
        <p:nvCxnSpPr>
          <p:cNvPr id="401" name="LEADER:SIDE DISPLAY"/>
          <p:cNvCxnSpPr/>
          <p:nvPr/>
        </p:nvCxnSpPr>
        <p:spPr>
          <a:xfrm flipV="1">
            <a:off x="7515000" y="3780000"/>
            <a:ext cx="297000" cy="136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LEADER:SIDE DISPLAY"/>
          <p:cNvCxnSpPr/>
          <p:nvPr/>
        </p:nvCxnSpPr>
        <p:spPr>
          <a:xfrm>
            <a:off x="7812000" y="378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/>
          <p:cNvSpPr/>
          <p:nvPr/>
        </p:nvSpPr>
        <p:spPr>
          <a:xfrm>
            <a:off x="7497000" y="513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ANNOTATION:SIDE DISPLAY title"/>
          <p:cNvSpPr txBox="1"/>
          <p:nvPr/>
        </p:nvSpPr>
        <p:spPr>
          <a:xfrm>
            <a:off x="8136000" y="3708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SIDE DISPLAY</a:t>
            </a:r>
          </a:p>
        </p:txBody>
      </p:sp>
      <p:sp>
        <p:nvSpPr>
          <p:cNvPr id="405" name="ANNOTATION:SIDE DISPLAY description"/>
          <p:cNvSpPr txBox="1"/>
          <p:nvPr/>
        </p:nvSpPr>
        <p:spPr>
          <a:xfrm>
            <a:off x="8136000" y="3996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shelving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× 25 main steel frame</a:t>
            </a:r>
          </a:p>
        </p:txBody>
      </p:sp>
      <p:cxnSp>
        <p:nvCxnSpPr>
          <p:cNvPr id="406" name="LEADER:COUNTER / STEEL FRAME"/>
          <p:cNvCxnSpPr/>
          <p:nvPr/>
        </p:nvCxnSpPr>
        <p:spPr>
          <a:xfrm>
            <a:off x="6300000" y="4788000"/>
            <a:ext cx="1512000" cy="54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LEADER:COUNTER / STEEL FRAME"/>
          <p:cNvCxnSpPr/>
          <p:nvPr/>
        </p:nvCxnSpPr>
        <p:spPr>
          <a:xfrm>
            <a:off x="7812000" y="532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6282000" y="477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ANNOTATION:COUNTER / STEEL FRAME title"/>
          <p:cNvSpPr txBox="1"/>
          <p:nvPr/>
        </p:nvSpPr>
        <p:spPr>
          <a:xfrm>
            <a:off x="8136000" y="5256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/ STEEL FRAME</a:t>
            </a:r>
          </a:p>
        </p:txBody>
      </p:sp>
      <p:sp>
        <p:nvSpPr>
          <p:cNvPr id="410" name="ANNOTATION:COUNTER / STEEL FRAME description"/>
          <p:cNvSpPr txBox="1"/>
          <p:nvPr/>
        </p:nvSpPr>
        <p:spPr>
          <a:xfrm>
            <a:off x="8136000" y="5544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450 footprint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20 × 20 black steel</a:t>
            </a:r>
          </a:p>
        </p:txBody>
      </p:sp>
      <p:cxnSp>
        <p:nvCxnSpPr>
          <p:cNvPr id="411" name="LEADER:PIVOT GLASS DOOR"/>
          <p:cNvCxnSpPr/>
          <p:nvPr/>
        </p:nvCxnSpPr>
        <p:spPr>
          <a:xfrm>
            <a:off x="6570000" y="8568000"/>
            <a:ext cx="1278000" cy="10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LEADER:PIVOT GLASS DOOR"/>
          <p:cNvCxnSpPr/>
          <p:nvPr/>
        </p:nvCxnSpPr>
        <p:spPr>
          <a:xfrm flipH="1" flipV="1">
            <a:off x="7812000" y="8640000"/>
            <a:ext cx="36000" cy="3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LEADER:PIVOT GLASS DOOR"/>
          <p:cNvCxnSpPr/>
          <p:nvPr/>
        </p:nvCxnSpPr>
        <p:spPr>
          <a:xfrm>
            <a:off x="7812000" y="86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4" name="Oval 413"/>
          <p:cNvSpPr/>
          <p:nvPr/>
        </p:nvSpPr>
        <p:spPr>
          <a:xfrm>
            <a:off x="6552000" y="855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ANNOTATION:PIVOT GLASS DOOR title"/>
          <p:cNvSpPr txBox="1"/>
          <p:nvPr/>
        </p:nvSpPr>
        <p:spPr>
          <a:xfrm>
            <a:off x="8136000" y="8568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PIVOT GLASS DOOR</a:t>
            </a:r>
          </a:p>
        </p:txBody>
      </p:sp>
      <p:sp>
        <p:nvSpPr>
          <p:cNvPr id="416" name="ANNOTATION:PIVOT GLASS DOOR description"/>
          <p:cNvSpPr txBox="1"/>
          <p:nvPr/>
        </p:nvSpPr>
        <p:spPr>
          <a:xfrm>
            <a:off x="8136000" y="8856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1000-wide leaf · 12 glass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Inward opening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Reflected ceiling plan · lighting, display footprints and dimensional coordination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700000" y="2977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7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0" y="4687200"/>
            <a:ext cx="180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87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381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36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381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3636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0" name="Rectangle 29"/>
          <p:cNvSpPr/>
          <p:nvPr/>
        </p:nvSpPr>
        <p:spPr>
          <a:xfrm>
            <a:off x="381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3636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381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636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85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79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5850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579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5850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579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5850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579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850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3" name="Oval 42"/>
          <p:cNvSpPr/>
          <p:nvPr/>
        </p:nvSpPr>
        <p:spPr>
          <a:xfrm>
            <a:off x="38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8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47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56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6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3096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6624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70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0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66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74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3870000" y="2689199"/>
            <a:ext cx="19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320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1100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702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85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698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89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2160000" y="8568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>
            <a:off x="2160000" y="2977199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160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124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124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72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70000" y="7758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3870000" y="378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230000" y="3787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194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194000" y="375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379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70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702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70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66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69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432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700000" y="952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6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5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700000" y="959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UNIT HEAD / CEILING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16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17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78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79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60000" y="3060000"/>
            <a:ext cx="180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340000" y="3071519"/>
            <a:ext cx="144000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160000" y="591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938400" y="591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1268000" y="5940000"/>
            <a:ext cx="144000" cy="14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79520" y="5951520"/>
            <a:ext cx="120960" cy="120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1052000" y="3060000"/>
            <a:ext cx="21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12866400" y="579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12866400" y="550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12866400" y="522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12866400" y="493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12866400" y="464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12866400" y="435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12866400" y="406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12866400" y="378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12866400" y="349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12866400" y="320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111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129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11160000" y="273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111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129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520000" y="25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2960000" y="594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12960000" y="306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13284000" y="3060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13248000" y="59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13248000" y="30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12852000" y="450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800000" y="6480000"/>
            <a:ext cx="37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2600 ceiling / frame datum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zone 2200–2600 at front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Wall fixings TBC #16; no gypsum fixing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24000" y="792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FOLDED TRAY / LIGHT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224000" y="820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141" name="GEOM:active-tray"/>
          <p:cNvSpPr/>
          <p:nvPr/>
        </p:nvSpPr>
        <p:spPr>
          <a:xfrm>
            <a:off x="10224000" y="9306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670000" y="9306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GEOM:active-support"/>
          <p:cNvSpPr/>
          <p:nvPr/>
        </p:nvSpPr>
        <p:spPr>
          <a:xfrm>
            <a:off x="10494000" y="9360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522800" y="9388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4364000" y="9540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102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147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10224000" y="898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01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46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11934000" y="880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24000" y="9936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cxnSp>
        <p:nvCxnSpPr>
          <p:cNvPr id="153" name="LEADER:BLACK CEILING TRACK"/>
          <p:cNvCxnSpPr/>
          <p:nvPr/>
        </p:nvCxnSpPr>
        <p:spPr>
          <a:xfrm flipV="1">
            <a:off x="5850000" y="4104000"/>
            <a:ext cx="1494000" cy="68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LEADER:BLACK CEILING TRACK"/>
          <p:cNvCxnSpPr/>
          <p:nvPr/>
        </p:nvCxnSpPr>
        <p:spPr>
          <a:xfrm>
            <a:off x="7344000" y="410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5832000" y="477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ANNOTATION:BLACK CEILING TRACK title"/>
          <p:cNvSpPr txBox="1"/>
          <p:nvPr/>
        </p:nvSpPr>
        <p:spPr>
          <a:xfrm>
            <a:off x="7668000" y="4032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CEILING TRACK</a:t>
            </a:r>
          </a:p>
        </p:txBody>
      </p:sp>
      <p:sp>
        <p:nvSpPr>
          <p:cNvPr id="157" name="ANNOTATION:BLACK CEILING TRACK description"/>
          <p:cNvSpPr txBox="1"/>
          <p:nvPr/>
        </p:nvSpPr>
        <p:spPr>
          <a:xfrm>
            <a:off x="7668000" y="4320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Adjustable spot heads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3000 K warm white</a:t>
            </a:r>
          </a:p>
        </p:txBody>
      </p:sp>
      <p:cxnSp>
        <p:nvCxnSpPr>
          <p:cNvPr id="158" name="LEADER:CONCEALED SHELF LIGHT"/>
          <p:cNvCxnSpPr/>
          <p:nvPr/>
        </p:nvCxnSpPr>
        <p:spPr>
          <a:xfrm flipV="1">
            <a:off x="6624000" y="5688000"/>
            <a:ext cx="720000" cy="27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LEADER:CONCEALED SHELF LIGHT"/>
          <p:cNvCxnSpPr/>
          <p:nvPr/>
        </p:nvCxnSpPr>
        <p:spPr>
          <a:xfrm>
            <a:off x="7344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6606000" y="594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NNOTATION:CONCEALED SHELF LIGHT title"/>
          <p:cNvSpPr txBox="1"/>
          <p:nvPr/>
        </p:nvSpPr>
        <p:spPr>
          <a:xfrm>
            <a:off x="7668000" y="561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CONCEALED SHELF LIGHT</a:t>
            </a:r>
          </a:p>
        </p:txBody>
      </p:sp>
      <p:sp>
        <p:nvSpPr>
          <p:cNvPr id="162" name="ANNOTATION:CONCEALED SHELF LIGHT description"/>
          <p:cNvSpPr txBox="1"/>
          <p:nvPr/>
        </p:nvSpPr>
        <p:spPr>
          <a:xfrm>
            <a:off x="7668000" y="5904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LEDs below shelving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Shown dashed in ceiling plan</a:t>
            </a:r>
          </a:p>
        </p:txBody>
      </p:sp>
      <p:cxnSp>
        <p:nvCxnSpPr>
          <p:cNvPr id="163" name="LEADER:ENTRANCE DOWNLIGHTS"/>
          <p:cNvCxnSpPr/>
          <p:nvPr/>
        </p:nvCxnSpPr>
        <p:spPr>
          <a:xfrm>
            <a:off x="5760000" y="8163000"/>
            <a:ext cx="1584000" cy="45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LEADER:ENTRANCE DOWNLIGHTS"/>
          <p:cNvCxnSpPr/>
          <p:nvPr/>
        </p:nvCxnSpPr>
        <p:spPr>
          <a:xfrm>
            <a:off x="7344000" y="820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Oval 164"/>
          <p:cNvSpPr/>
          <p:nvPr/>
        </p:nvSpPr>
        <p:spPr>
          <a:xfrm>
            <a:off x="5742000" y="8145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ANNOTATION:ENTRANCE DOWNLIGHTS title"/>
          <p:cNvSpPr txBox="1"/>
          <p:nvPr/>
        </p:nvSpPr>
        <p:spPr>
          <a:xfrm>
            <a:off x="7668000" y="813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ENTRANCE DOWNLIGHTS</a:t>
            </a:r>
          </a:p>
        </p:txBody>
      </p:sp>
      <p:sp>
        <p:nvSpPr>
          <p:cNvPr id="167" name="ANNOTATION:ENTRANCE DOWNLIGHTS description"/>
          <p:cNvSpPr txBox="1"/>
          <p:nvPr/>
        </p:nvSpPr>
        <p:spPr>
          <a:xfrm>
            <a:off x="7668000" y="8424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Three approved positions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Final aiming on 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storefront · street-facing displays, glazed entrance and halo-lit brand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315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5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15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15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15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15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31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1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1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31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31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600000" y="6912000"/>
            <a:ext cx="1800000" cy="162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4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34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34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34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34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34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34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34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4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234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234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234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34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234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34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234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234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34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280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0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284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84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88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8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291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291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295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95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298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298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302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302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306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06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309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>
            <a:off x="309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313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13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234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4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34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38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248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0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49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9" name="Rectangle 108"/>
          <p:cNvSpPr/>
          <p:nvPr/>
        </p:nvSpPr>
        <p:spPr>
          <a:xfrm>
            <a:off x="288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91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89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234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238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14" name="Rectangle 113"/>
          <p:cNvSpPr/>
          <p:nvPr/>
        </p:nvSpPr>
        <p:spPr>
          <a:xfrm>
            <a:off x="248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51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49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288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0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89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0" name="Rectangle 119"/>
          <p:cNvSpPr/>
          <p:nvPr/>
        </p:nvSpPr>
        <p:spPr>
          <a:xfrm>
            <a:off x="234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238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22" name="Rectangle 121"/>
          <p:cNvSpPr/>
          <p:nvPr/>
        </p:nvSpPr>
        <p:spPr>
          <a:xfrm>
            <a:off x="248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0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249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5" name="Rectangle 124"/>
          <p:cNvSpPr/>
          <p:nvPr/>
        </p:nvSpPr>
        <p:spPr>
          <a:xfrm>
            <a:off x="288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0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289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8" name="Rectangle 127"/>
          <p:cNvSpPr/>
          <p:nvPr/>
        </p:nvSpPr>
        <p:spPr>
          <a:xfrm>
            <a:off x="234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238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0" name="Rectangle 129"/>
          <p:cNvSpPr/>
          <p:nvPr/>
        </p:nvSpPr>
        <p:spPr>
          <a:xfrm>
            <a:off x="248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0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249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3" name="Rectangle 132"/>
          <p:cNvSpPr/>
          <p:nvPr/>
        </p:nvSpPr>
        <p:spPr>
          <a:xfrm>
            <a:off x="288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1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289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6" name="Rectangle 135"/>
          <p:cNvSpPr/>
          <p:nvPr/>
        </p:nvSpPr>
        <p:spPr>
          <a:xfrm>
            <a:off x="234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238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8" name="Rectangle 13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5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585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85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585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85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585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585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585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585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85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85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585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85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585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585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585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85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585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585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631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631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635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635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639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639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642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42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646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646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649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649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653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653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657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657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660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660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664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664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204" name="Rectangle 203"/>
          <p:cNvSpPr/>
          <p:nvPr/>
        </p:nvSpPr>
        <p:spPr>
          <a:xfrm>
            <a:off x="585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1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85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85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89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09" name="Rectangle 208"/>
          <p:cNvSpPr/>
          <p:nvPr/>
        </p:nvSpPr>
        <p:spPr>
          <a:xfrm>
            <a:off x="599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01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1" name="Connector 210"/>
          <p:cNvCxnSpPr/>
          <p:nvPr/>
        </p:nvCxnSpPr>
        <p:spPr>
          <a:xfrm>
            <a:off x="600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2" name="Rectangle 211"/>
          <p:cNvSpPr/>
          <p:nvPr/>
        </p:nvSpPr>
        <p:spPr>
          <a:xfrm>
            <a:off x="639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42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40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5" name="Rectangle 214"/>
          <p:cNvSpPr/>
          <p:nvPr/>
        </p:nvSpPr>
        <p:spPr>
          <a:xfrm>
            <a:off x="585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Connector 215"/>
          <p:cNvCxnSpPr/>
          <p:nvPr/>
        </p:nvCxnSpPr>
        <p:spPr>
          <a:xfrm>
            <a:off x="589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17" name="Rectangle 216"/>
          <p:cNvSpPr/>
          <p:nvPr/>
        </p:nvSpPr>
        <p:spPr>
          <a:xfrm>
            <a:off x="599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2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Connector 218"/>
          <p:cNvCxnSpPr/>
          <p:nvPr/>
        </p:nvCxnSpPr>
        <p:spPr>
          <a:xfrm>
            <a:off x="600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0" name="Rectangle 219"/>
          <p:cNvSpPr/>
          <p:nvPr/>
        </p:nvSpPr>
        <p:spPr>
          <a:xfrm>
            <a:off x="639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1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Connector 221"/>
          <p:cNvCxnSpPr/>
          <p:nvPr/>
        </p:nvCxnSpPr>
        <p:spPr>
          <a:xfrm>
            <a:off x="640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3" name="Rectangle 222"/>
          <p:cNvSpPr/>
          <p:nvPr/>
        </p:nvSpPr>
        <p:spPr>
          <a:xfrm>
            <a:off x="585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589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25" name="Rectangle 224"/>
          <p:cNvSpPr/>
          <p:nvPr/>
        </p:nvSpPr>
        <p:spPr>
          <a:xfrm>
            <a:off x="599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01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7" name="Connector 226"/>
          <p:cNvCxnSpPr/>
          <p:nvPr/>
        </p:nvCxnSpPr>
        <p:spPr>
          <a:xfrm>
            <a:off x="600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8" name="Rectangle 227"/>
          <p:cNvSpPr/>
          <p:nvPr/>
        </p:nvSpPr>
        <p:spPr>
          <a:xfrm>
            <a:off x="639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41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0" name="Connector 229"/>
          <p:cNvCxnSpPr/>
          <p:nvPr/>
        </p:nvCxnSpPr>
        <p:spPr>
          <a:xfrm>
            <a:off x="640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1" name="Rectangle 230"/>
          <p:cNvSpPr/>
          <p:nvPr/>
        </p:nvSpPr>
        <p:spPr>
          <a:xfrm>
            <a:off x="585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589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33" name="Rectangle 232"/>
          <p:cNvSpPr/>
          <p:nvPr/>
        </p:nvSpPr>
        <p:spPr>
          <a:xfrm>
            <a:off x="599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01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600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6" name="Rectangle 235"/>
          <p:cNvSpPr/>
          <p:nvPr/>
        </p:nvSpPr>
        <p:spPr>
          <a:xfrm>
            <a:off x="639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42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640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9" name="Rectangle 238"/>
          <p:cNvSpPr/>
          <p:nvPr/>
        </p:nvSpPr>
        <p:spPr>
          <a:xfrm>
            <a:off x="585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0" name="Connector 239"/>
          <p:cNvCxnSpPr/>
          <p:nvPr/>
        </p:nvCxnSpPr>
        <p:spPr>
          <a:xfrm>
            <a:off x="589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41" name="Rectangle 240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4194000" y="6282000"/>
            <a:ext cx="0" cy="540000"/>
          </a:xfrm>
          <a:prstGeom prst="line">
            <a:avLst/>
          </a:prstGeom>
          <a:ln w="16510">
            <a:solidFill>
              <a:srgbClr val="252725"/>
            </a:solidFill>
          </a:ln>
          <a:effectLst/>
        </p:spPr>
      </p:cxnSp>
      <p:sp>
        <p:nvSpPr>
          <p:cNvPr id="244" name="Rectangle 243"/>
          <p:cNvSpPr/>
          <p:nvPr/>
        </p:nvSpPr>
        <p:spPr>
          <a:xfrm>
            <a:off x="5598000" y="8442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598000" y="3915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234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66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2340000" y="9036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230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62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1" name="TextBox 250"/>
          <p:cNvSpPr txBox="1"/>
          <p:nvPr/>
        </p:nvSpPr>
        <p:spPr>
          <a:xfrm>
            <a:off x="3960000" y="88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234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234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V="1">
            <a:off x="230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7" name="TextBox 256"/>
          <p:cNvSpPr txBox="1"/>
          <p:nvPr/>
        </p:nvSpPr>
        <p:spPr>
          <a:xfrm>
            <a:off x="220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3150000" y="8784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3" name="TextBox 262"/>
          <p:cNvSpPr txBox="1"/>
          <p:nvPr/>
        </p:nvSpPr>
        <p:spPr>
          <a:xfrm>
            <a:off x="3960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66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585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2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9" name="TextBox 268"/>
          <p:cNvSpPr txBox="1"/>
          <p:nvPr/>
        </p:nvSpPr>
        <p:spPr>
          <a:xfrm>
            <a:off x="571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70" name="Connector 269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5" name="TextBox 274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6660000" y="38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660000" y="27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984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6948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948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6552000" y="33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2340000" y="9396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3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>
            <a:off x="41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97" name="TextBox 296"/>
          <p:cNvSpPr txBox="1"/>
          <p:nvPr/>
        </p:nvSpPr>
        <p:spPr>
          <a:xfrm>
            <a:off x="2340000" y="9468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0908000" y="5940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HALO LETTER / BACKING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908000" y="6228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STAND-OFF SECTION 1:2</a:t>
            </a:r>
          </a:p>
        </p:txBody>
      </p:sp>
      <p:cxnSp>
        <p:nvCxnSpPr>
          <p:cNvPr id="305" name="Connector 304"/>
          <p:cNvCxnSpPr/>
          <p:nvPr/>
        </p:nvCxnSpPr>
        <p:spPr>
          <a:xfrm flipV="1">
            <a:off x="11160000" y="7074000"/>
            <a:ext cx="0" cy="1350000"/>
          </a:xfrm>
          <a:prstGeom prst="line">
            <a:avLst/>
          </a:prstGeom>
          <a:ln w="7620">
            <a:solidFill>
              <a:srgbClr val="737871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11610000" y="7074000"/>
            <a:ext cx="0" cy="135000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11160000" y="7794000"/>
            <a:ext cx="450000" cy="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1116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 flipV="1">
            <a:off x="1161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>
            <a:off x="11160000" y="6786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 flipV="1">
            <a:off x="1112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1157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13" name="TextBox 312"/>
          <p:cNvSpPr txBox="1"/>
          <p:nvPr/>
        </p:nvSpPr>
        <p:spPr>
          <a:xfrm>
            <a:off x="10845000" y="660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908000" y="8892000"/>
            <a:ext cx="3708000" cy="93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stand-off · halo behind black letters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Backing / wall support / drivers TBC #16</a:t>
            </a:r>
          </a:p>
        </p:txBody>
      </p:sp>
      <p:cxnSp>
        <p:nvCxnSpPr>
          <p:cNvPr id="315" name="LEADER:HALO-LIT BRAND"/>
          <p:cNvCxnSpPr/>
          <p:nvPr/>
        </p:nvCxnSpPr>
        <p:spPr>
          <a:xfrm flipV="1">
            <a:off x="4500000" y="2916000"/>
            <a:ext cx="2772000" cy="39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LEADER:HALO-LIT BRAND"/>
          <p:cNvCxnSpPr/>
          <p:nvPr/>
        </p:nvCxnSpPr>
        <p:spPr>
          <a:xfrm>
            <a:off x="7272000" y="291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Oval 316"/>
          <p:cNvSpPr/>
          <p:nvPr/>
        </p:nvSpPr>
        <p:spPr>
          <a:xfrm>
            <a:off x="4482000" y="329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ANNOTATION:HALO-LIT BRAND title"/>
          <p:cNvSpPr txBox="1"/>
          <p:nvPr/>
        </p:nvSpPr>
        <p:spPr>
          <a:xfrm>
            <a:off x="7596000" y="2844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HALO-LIT BRAND</a:t>
            </a:r>
          </a:p>
        </p:txBody>
      </p:sp>
      <p:sp>
        <p:nvSpPr>
          <p:cNvPr id="319" name="ANNOTATION:HALO-LIT BRAND description"/>
          <p:cNvSpPr txBox="1"/>
          <p:nvPr/>
        </p:nvSpPr>
        <p:spPr>
          <a:xfrm>
            <a:off x="7596000" y="3132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wide · 25 stand-offs</a:t>
            </a:r>
          </a:p>
        </p:txBody>
      </p:sp>
      <p:cxnSp>
        <p:nvCxnSpPr>
          <p:cNvPr id="320" name="LEADER:BLACK STEEL FRAME"/>
          <p:cNvCxnSpPr/>
          <p:nvPr/>
        </p:nvCxnSpPr>
        <p:spPr>
          <a:xfrm>
            <a:off x="6637500" y="4212000"/>
            <a:ext cx="6345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LEADER:BLACK STEEL FRAME"/>
          <p:cNvCxnSpPr/>
          <p:nvPr/>
        </p:nvCxnSpPr>
        <p:spPr>
          <a:xfrm>
            <a:off x="7272000" y="428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2" name="Oval 321"/>
          <p:cNvSpPr/>
          <p:nvPr/>
        </p:nvSpPr>
        <p:spPr>
          <a:xfrm>
            <a:off x="6619500" y="419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ANNOTATION:BLACK STEEL FRAME title"/>
          <p:cNvSpPr txBox="1"/>
          <p:nvPr/>
        </p:nvSpPr>
        <p:spPr>
          <a:xfrm>
            <a:off x="7596000" y="4212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FRAME</a:t>
            </a:r>
          </a:p>
        </p:txBody>
      </p:sp>
      <p:sp>
        <p:nvSpPr>
          <p:cNvPr id="324" name="ANNOTATION:BLACK STEEL FRAME description"/>
          <p:cNvSpPr txBox="1"/>
          <p:nvPr/>
        </p:nvSpPr>
        <p:spPr>
          <a:xfrm>
            <a:off x="7596000" y="4500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× 25 × 1.6 main SHS</a:t>
            </a:r>
          </a:p>
        </p:txBody>
      </p:sp>
      <p:cxnSp>
        <p:nvCxnSpPr>
          <p:cNvPr id="325" name="LEADER:FOLDED DISPLAY TRAY"/>
          <p:cNvCxnSpPr/>
          <p:nvPr/>
        </p:nvCxnSpPr>
        <p:spPr>
          <a:xfrm>
            <a:off x="6255000" y="5292000"/>
            <a:ext cx="1017000" cy="39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LEADER:FOLDED DISPLAY TRAY"/>
          <p:cNvCxnSpPr/>
          <p:nvPr/>
        </p:nvCxnSpPr>
        <p:spPr>
          <a:xfrm>
            <a:off x="7272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Oval 326"/>
          <p:cNvSpPr/>
          <p:nvPr/>
        </p:nvSpPr>
        <p:spPr>
          <a:xfrm>
            <a:off x="6237000" y="52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ANNOTATION:FOLDED DISPLAY TRAY title"/>
          <p:cNvSpPr txBox="1"/>
          <p:nvPr/>
        </p:nvSpPr>
        <p:spPr>
          <a:xfrm>
            <a:off x="7596000" y="5616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FOLDED DISPLAY TRAY</a:t>
            </a:r>
          </a:p>
        </p:txBody>
      </p:sp>
      <p:sp>
        <p:nvSpPr>
          <p:cNvPr id="329" name="ANNOTATION:FOLDED DISPLAY TRAY description"/>
          <p:cNvSpPr txBox="1"/>
          <p:nvPr/>
        </p:nvSpPr>
        <p:spPr>
          <a:xfrm>
            <a:off x="7596000" y="5904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concealed shelf light</a:t>
            </a:r>
          </a:p>
        </p:txBody>
      </p:sp>
      <p:cxnSp>
        <p:nvCxnSpPr>
          <p:cNvPr id="330" name="LEADER:CLEAR TOUGHENED GLASS"/>
          <p:cNvCxnSpPr/>
          <p:nvPr/>
        </p:nvCxnSpPr>
        <p:spPr>
          <a:xfrm>
            <a:off x="5400000" y="7092000"/>
            <a:ext cx="1872000" cy="14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LEADER:CLEAR TOUGHENED GLASS"/>
          <p:cNvCxnSpPr/>
          <p:nvPr/>
        </p:nvCxnSpPr>
        <p:spPr>
          <a:xfrm>
            <a:off x="7272000" y="723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Oval 331"/>
          <p:cNvSpPr/>
          <p:nvPr/>
        </p:nvSpPr>
        <p:spPr>
          <a:xfrm>
            <a:off x="5382000" y="70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ANNOTATION:CLEAR TOUGHENED GLASS title"/>
          <p:cNvSpPr txBox="1"/>
          <p:nvPr/>
        </p:nvSpPr>
        <p:spPr>
          <a:xfrm>
            <a:off x="7596000" y="7164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CLEAR TOUGHENED GLASS</a:t>
            </a:r>
          </a:p>
        </p:txBody>
      </p:sp>
      <p:sp>
        <p:nvSpPr>
          <p:cNvPr id="334" name="ANNOTATION:CLEAR TOUGHENED GLASS description"/>
          <p:cNvSpPr txBox="1"/>
          <p:nvPr/>
        </p:nvSpPr>
        <p:spPr>
          <a:xfrm>
            <a:off x="7596000" y="7452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12 mm · interior visible beyond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Rear focal wall · developed shelving + owner-directed counter front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340000" y="3312000"/>
            <a:ext cx="4320000" cy="4680000"/>
          </a:xfrm>
          <a:prstGeom prst="rect">
            <a:avLst/>
          </a:prstGeom>
          <a:solidFill>
            <a:srgbClr val="F0E8D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1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279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9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3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293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5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94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" name="Rectangle 35"/>
          <p:cNvSpPr/>
          <p:nvPr/>
        </p:nvSpPr>
        <p:spPr>
          <a:xfrm>
            <a:off x="342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43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279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3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293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6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94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342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4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3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279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83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293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5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94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342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4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43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279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83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293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5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4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0" name="Rectangle 59"/>
          <p:cNvSpPr/>
          <p:nvPr/>
        </p:nvSpPr>
        <p:spPr>
          <a:xfrm>
            <a:off x="342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5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43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279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83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531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1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576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531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6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1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535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545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46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594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7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95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531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535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545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8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46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5" name="Rectangle 84"/>
          <p:cNvSpPr/>
          <p:nvPr/>
        </p:nvSpPr>
        <p:spPr>
          <a:xfrm>
            <a:off x="594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6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95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531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535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0" name="Rectangle 89"/>
          <p:cNvSpPr/>
          <p:nvPr/>
        </p:nvSpPr>
        <p:spPr>
          <a:xfrm>
            <a:off x="545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7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46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3" name="Rectangle 92"/>
          <p:cNvSpPr/>
          <p:nvPr/>
        </p:nvSpPr>
        <p:spPr>
          <a:xfrm>
            <a:off x="594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6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595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6" name="Rectangle 95"/>
          <p:cNvSpPr/>
          <p:nvPr/>
        </p:nvSpPr>
        <p:spPr>
          <a:xfrm>
            <a:off x="531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35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545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7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46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594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97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95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4" name="Rectangle 103"/>
          <p:cNvSpPr/>
          <p:nvPr/>
        </p:nvSpPr>
        <p:spPr>
          <a:xfrm>
            <a:off x="531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535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327392"/>
            <a:ext cx="1080000" cy="489214"/>
          </a:xfrm>
          <a:prstGeom prst="rect">
            <a:avLst/>
          </a:prstGeom>
          <a:effectLst/>
        </p:spPr>
      </p:pic>
      <p:sp>
        <p:nvSpPr>
          <p:cNvPr id="107" name="GEOM:counter-elevation"/>
          <p:cNvSpPr/>
          <p:nvPr/>
        </p:nvSpPr>
        <p:spPr>
          <a:xfrm>
            <a:off x="3600000" y="6372000"/>
            <a:ext cx="1800000" cy="1620000"/>
          </a:xfrm>
          <a:prstGeom prst="rect">
            <a:avLst/>
          </a:prstGeom>
          <a:solidFill>
            <a:srgbClr val="D9CBB4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36000" y="6444000"/>
            <a:ext cx="594000" cy="1449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3636000" y="64440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3636000" y="78912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V="1">
            <a:off x="3636000" y="64440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>
            <a:off x="3636000" y="78192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3636000" y="64440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3636000" y="77472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V="1">
            <a:off x="3636000" y="64440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3636000" y="76752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3636000" y="64440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3636000" y="76032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3636000" y="64440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636000" y="75312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3636000" y="64440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636000" y="74592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3636000" y="64440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3636000" y="73872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3636000" y="64440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3636000" y="73152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3636000" y="64440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3636000" y="72432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3636000" y="64440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3636000" y="71712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3636000" y="64440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3636000" y="70992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3636000" y="64440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3636000" y="70272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3636000" y="64440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3636000" y="69552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3636000" y="64440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3636000" y="68832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3636000" y="64440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3636000" y="68112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3636000" y="64440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3636000" y="67392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3636000" y="6481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636000" y="6667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3636000" y="6553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3636000" y="6595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3636000" y="6625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3636000" y="6523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3636000" y="6697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3636000" y="6451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3668400" y="67698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3668400" y="64440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704400" y="68418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3704400" y="64440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3740400" y="69138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3740400" y="64440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3776400" y="69858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3776400" y="64440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V="1">
            <a:off x="3812400" y="70578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3812400" y="64440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3848400" y="71298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3848400" y="64440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3884400" y="72018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3884400" y="64440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3920400" y="72738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3920400" y="64440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3956400" y="73458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3956400" y="64440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3992400" y="74178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3992400" y="64440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4028400" y="74898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4028400" y="64440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4064400" y="75618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4064400" y="64440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4100400" y="76338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4100400" y="64440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4136400" y="77058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4136400" y="64440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4172400" y="77778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4172400" y="64440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4208400" y="78498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4208400" y="64440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83" name="Rectangle 182"/>
          <p:cNvSpPr/>
          <p:nvPr/>
        </p:nvSpPr>
        <p:spPr>
          <a:xfrm>
            <a:off x="3600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212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64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00000" y="7920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00000" y="6408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00000" y="6372000"/>
            <a:ext cx="1800000" cy="36000"/>
          </a:xfrm>
          <a:prstGeom prst="rect">
            <a:avLst/>
          </a:prstGeom>
          <a:solidFill>
            <a:srgbClr val="EEE7DB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234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66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2340000" y="860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30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662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39600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36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54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600000" y="8280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35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53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3960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01" name="Connector 200"/>
          <p:cNvCxnSpPr/>
          <p:nvPr/>
        </p:nvCxnSpPr>
        <p:spPr>
          <a:xfrm flipH="1">
            <a:off x="1872000" y="799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>
            <a:off x="1872000" y="331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872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1836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183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234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234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230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202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279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270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2988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96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25" name="Connector 224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31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522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666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621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589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37" name="Connector 236"/>
          <p:cNvCxnSpPr/>
          <p:nvPr/>
        </p:nvCxnSpPr>
        <p:spPr>
          <a:xfrm>
            <a:off x="5400000" y="799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>
            <a:off x="5400000" y="637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5688000" y="6372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652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 flipV="1">
            <a:off x="5652000" y="63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42" name="TextBox 241"/>
          <p:cNvSpPr txBox="1"/>
          <p:nvPr/>
        </p:nvSpPr>
        <p:spPr>
          <a:xfrm>
            <a:off x="5256000" y="718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2340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23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2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41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55" name="TextBox 254"/>
          <p:cNvSpPr txBox="1"/>
          <p:nvPr/>
        </p:nvSpPr>
        <p:spPr>
          <a:xfrm>
            <a:off x="2340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224000" y="2304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SHELF / FRAME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224000" y="2592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0224000" y="4302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670000" y="4302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0494000" y="4356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522800" y="4384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14364000" y="4536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102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 flipV="1">
            <a:off x="147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10224000" y="3978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V="1">
            <a:off x="101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46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3" name="TextBox 272"/>
          <p:cNvSpPr txBox="1"/>
          <p:nvPr/>
        </p:nvSpPr>
        <p:spPr>
          <a:xfrm>
            <a:off x="11934000" y="379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224000" y="4932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872000" y="6984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COUNTER / FOOTPRINT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872000" y="7272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PLAN 1:10</a:t>
            </a:r>
          </a:p>
        </p:txBody>
      </p:sp>
      <p:sp>
        <p:nvSpPr>
          <p:cNvPr id="277" name="GEOM:active-counter-detail"/>
          <p:cNvSpPr/>
          <p:nvPr/>
        </p:nvSpPr>
        <p:spPr>
          <a:xfrm>
            <a:off x="10872000" y="7848000"/>
            <a:ext cx="3600000" cy="1620000"/>
          </a:xfrm>
          <a:prstGeom prst="rect">
            <a:avLst/>
          </a:prstGeom>
          <a:solidFill>
            <a:srgbClr val="D7CBB8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872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872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4400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4400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2" name="Connector 281"/>
          <p:cNvCxnSpPr/>
          <p:nvPr/>
        </p:nvCxnSpPr>
        <p:spPr>
          <a:xfrm flipV="1">
            <a:off x="108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 flipV="1">
            <a:off x="144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>
            <a:off x="10872000" y="756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108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144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12132000" y="73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4472000" y="946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14472000" y="784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14616000" y="7848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 flipV="1">
            <a:off x="14580000" y="94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14580000" y="78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3" name="TextBox 292"/>
          <p:cNvSpPr txBox="1"/>
          <p:nvPr/>
        </p:nvSpPr>
        <p:spPr>
          <a:xfrm>
            <a:off x="14184000" y="865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72000" y="10044000"/>
            <a:ext cx="370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frame · front split TBC #16</a:t>
            </a:r>
          </a:p>
        </p:txBody>
      </p:sp>
      <p:cxnSp>
        <p:nvCxnSpPr>
          <p:cNvPr id="295" name="LEADER:UNLIT BLACK LOGO"/>
          <p:cNvCxnSpPr/>
          <p:nvPr/>
        </p:nvCxnSpPr>
        <p:spPr>
          <a:xfrm flipV="1">
            <a:off x="4500000" y="3744000"/>
            <a:ext cx="2772000" cy="70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LEADER:UNLIT BLACK LOGO"/>
          <p:cNvCxnSpPr/>
          <p:nvPr/>
        </p:nvCxnSpPr>
        <p:spPr>
          <a:xfrm>
            <a:off x="7272000" y="374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4482000" y="4428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NNOTATION:UNLIT BLACK LOGO title"/>
          <p:cNvSpPr txBox="1"/>
          <p:nvPr/>
        </p:nvSpPr>
        <p:spPr>
          <a:xfrm>
            <a:off x="7596000" y="36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UNLIT BLACK LOGO</a:t>
            </a:r>
          </a:p>
        </p:txBody>
      </p:sp>
      <p:sp>
        <p:nvSpPr>
          <p:cNvPr id="299" name="ANNOTATION:UNLIT BLACK LOGO description"/>
          <p:cNvSpPr txBox="1"/>
          <p:nvPr/>
        </p:nvSpPr>
        <p:spPr>
          <a:xfrm>
            <a:off x="7596000" y="3960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 wide · centre at 1900</a:t>
            </a:r>
          </a:p>
        </p:txBody>
      </p:sp>
      <p:cxnSp>
        <p:nvCxnSpPr>
          <p:cNvPr id="300" name="LEADER:BLACK TRAY / WARM LED"/>
          <p:cNvCxnSpPr/>
          <p:nvPr/>
        </p:nvCxnSpPr>
        <p:spPr>
          <a:xfrm>
            <a:off x="6165000" y="5472000"/>
            <a:ext cx="1107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LEADER:BLACK TRAY / WARM LED"/>
          <p:cNvCxnSpPr/>
          <p:nvPr/>
        </p:nvCxnSpPr>
        <p:spPr>
          <a:xfrm>
            <a:off x="7272000" y="547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Oval 301"/>
          <p:cNvSpPr/>
          <p:nvPr/>
        </p:nvSpPr>
        <p:spPr>
          <a:xfrm>
            <a:off x="6147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ANNOTATION:BLACK TRAY / WARM LED title"/>
          <p:cNvSpPr txBox="1"/>
          <p:nvPr/>
        </p:nvSpPr>
        <p:spPr>
          <a:xfrm>
            <a:off x="7596000" y="5400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sp>
        <p:nvSpPr>
          <p:cNvPr id="304" name="ANNOTATION:BLACK TRAY / WARM LED description"/>
          <p:cNvSpPr txBox="1"/>
          <p:nvPr/>
        </p:nvSpPr>
        <p:spPr>
          <a:xfrm>
            <a:off x="7596000" y="5688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· 25 downstand</a:t>
            </a:r>
          </a:p>
        </p:txBody>
      </p:sp>
      <p:cxnSp>
        <p:nvCxnSpPr>
          <p:cNvPr id="305" name="LEADER:COUNTER FRONT"/>
          <p:cNvCxnSpPr/>
          <p:nvPr/>
        </p:nvCxnSpPr>
        <p:spPr>
          <a:xfrm flipV="1">
            <a:off x="4194000" y="6588000"/>
            <a:ext cx="3078000" cy="5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LEADER:COUNTER FRONT"/>
          <p:cNvCxnSpPr/>
          <p:nvPr/>
        </p:nvCxnSpPr>
        <p:spPr>
          <a:xfrm>
            <a:off x="7272000" y="65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/>
          <p:cNvSpPr/>
          <p:nvPr/>
        </p:nvSpPr>
        <p:spPr>
          <a:xfrm>
            <a:off x="4176000" y="662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ANNOTATION:COUNTER FRONT title"/>
          <p:cNvSpPr txBox="1"/>
          <p:nvPr/>
        </p:nvSpPr>
        <p:spPr>
          <a:xfrm>
            <a:off x="7596000" y="651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FRONT</a:t>
            </a:r>
          </a:p>
        </p:txBody>
      </p:sp>
      <p:sp>
        <p:nvSpPr>
          <p:cNvPr id="309" name="ANNOTATION:COUNTER FRONT description"/>
          <p:cNvSpPr txBox="1"/>
          <p:nvPr/>
        </p:nvSpPr>
        <p:spPr>
          <a:xfrm>
            <a:off x="7596000" y="6804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Mesh left / neutral solid right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Panel split and top TBC #16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1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794000" y="790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794000" y="736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794000" y="655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794000" y="583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794000" y="511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794000" y="439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794000" y="367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836000" y="9936000"/>
            <a:ext cx="79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  <p:cxnSp>
        <p:nvCxnSpPr>
          <p:cNvPr id="518" name="LEADER:EXPANDED MESH"/>
          <p:cNvCxnSpPr/>
          <p:nvPr/>
        </p:nvCxnSpPr>
        <p:spPr>
          <a:xfrm flipV="1">
            <a:off x="7398000" y="3240000"/>
            <a:ext cx="810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LEADER:EXPANDED MESH"/>
          <p:cNvCxnSpPr/>
          <p:nvPr/>
        </p:nvCxnSpPr>
        <p:spPr>
          <a:xfrm>
            <a:off x="8208000" y="32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Oval 519"/>
          <p:cNvSpPr/>
          <p:nvPr/>
        </p:nvSpPr>
        <p:spPr>
          <a:xfrm>
            <a:off x="7380000" y="34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ANNOTATION:EXPANDED MESH title"/>
          <p:cNvSpPr txBox="1"/>
          <p:nvPr/>
        </p:nvSpPr>
        <p:spPr>
          <a:xfrm>
            <a:off x="8532000" y="316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22" name="ANNOTATION:EXPANDED MESH description"/>
          <p:cNvSpPr txBox="1"/>
          <p:nvPr/>
        </p:nvSpPr>
        <p:spPr>
          <a:xfrm>
            <a:off x="8532000" y="345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2200–2600</a:t>
            </a:r>
          </a:p>
        </p:txBody>
      </p:sp>
      <p:cxnSp>
        <p:nvCxnSpPr>
          <p:cNvPr id="523" name="LEADER:BLACK STEEL TRAY"/>
          <p:cNvCxnSpPr/>
          <p:nvPr/>
        </p:nvCxnSpPr>
        <p:spPr>
          <a:xfrm flipV="1">
            <a:off x="7398000" y="5400000"/>
            <a:ext cx="8100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LEADER:BLACK STEEL TRAY"/>
          <p:cNvCxnSpPr/>
          <p:nvPr/>
        </p:nvCxnSpPr>
        <p:spPr>
          <a:xfrm>
            <a:off x="8208000" y="540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Oval 524"/>
          <p:cNvSpPr/>
          <p:nvPr/>
        </p:nvSpPr>
        <p:spPr>
          <a:xfrm>
            <a:off x="7380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ANNOTATION:BLACK STEEL TRAY title"/>
          <p:cNvSpPr txBox="1"/>
          <p:nvPr/>
        </p:nvSpPr>
        <p:spPr>
          <a:xfrm>
            <a:off x="8532000" y="532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</a:t>
            </a:r>
          </a:p>
        </p:txBody>
      </p:sp>
      <p:sp>
        <p:nvSpPr>
          <p:cNvPr id="527" name="ANNOTATION:BLACK STEEL TRAY description"/>
          <p:cNvSpPr txBox="1"/>
          <p:nvPr/>
        </p:nvSpPr>
        <p:spPr>
          <a:xfrm>
            <a:off x="8532000" y="561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downstand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Concealed warm LED</a:t>
            </a:r>
          </a:p>
        </p:txBody>
      </p:sp>
      <p:cxnSp>
        <p:nvCxnSpPr>
          <p:cNvPr id="528" name="LEADER:RECESSED PLINTH"/>
          <p:cNvCxnSpPr/>
          <p:nvPr/>
        </p:nvCxnSpPr>
        <p:spPr>
          <a:xfrm flipV="1">
            <a:off x="7398000" y="7668000"/>
            <a:ext cx="810000" cy="279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LEADER:RECESSED PLINTH"/>
          <p:cNvCxnSpPr/>
          <p:nvPr/>
        </p:nvCxnSpPr>
        <p:spPr>
          <a:xfrm>
            <a:off x="8208000" y="76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Oval 529"/>
          <p:cNvSpPr/>
          <p:nvPr/>
        </p:nvSpPr>
        <p:spPr>
          <a:xfrm>
            <a:off x="7380000" y="7929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ANNOTATION:RECESSED PLINTH title"/>
          <p:cNvSpPr txBox="1"/>
          <p:nvPr/>
        </p:nvSpPr>
        <p:spPr>
          <a:xfrm>
            <a:off x="8532000" y="7596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RECESSED PLINTH</a:t>
            </a:r>
          </a:p>
        </p:txBody>
      </p:sp>
      <p:sp>
        <p:nvSpPr>
          <p:cNvPr id="532" name="ANNOTATION:RECESSED PLINTH description"/>
          <p:cNvSpPr txBox="1"/>
          <p:nvPr/>
        </p:nvSpPr>
        <p:spPr>
          <a:xfrm>
            <a:off x="8532000" y="7884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 high · 50 recess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toe-kick light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1836000" y="2520000"/>
            <a:ext cx="972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COLUMN RETURN</a:t>
            </a:r>
          </a:p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Display faces street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16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794000" y="790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794000" y="736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794000" y="655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794000" y="583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794000" y="511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794000" y="439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794000" y="367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836000" y="9936000"/>
            <a:ext cx="79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  <p:cxnSp>
        <p:nvCxnSpPr>
          <p:cNvPr id="518" name="LEADER:EXPANDED MESH"/>
          <p:cNvCxnSpPr/>
          <p:nvPr/>
        </p:nvCxnSpPr>
        <p:spPr>
          <a:xfrm flipV="1">
            <a:off x="6570000" y="3240000"/>
            <a:ext cx="1638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LEADER:EXPANDED MESH"/>
          <p:cNvCxnSpPr/>
          <p:nvPr/>
        </p:nvCxnSpPr>
        <p:spPr>
          <a:xfrm>
            <a:off x="8208000" y="32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Oval 519"/>
          <p:cNvSpPr/>
          <p:nvPr/>
        </p:nvSpPr>
        <p:spPr>
          <a:xfrm>
            <a:off x="6552000" y="34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ANNOTATION:EXPANDED MESH title"/>
          <p:cNvSpPr txBox="1"/>
          <p:nvPr/>
        </p:nvSpPr>
        <p:spPr>
          <a:xfrm>
            <a:off x="8532000" y="316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22" name="ANNOTATION:EXPANDED MESH description"/>
          <p:cNvSpPr txBox="1"/>
          <p:nvPr/>
        </p:nvSpPr>
        <p:spPr>
          <a:xfrm>
            <a:off x="8532000" y="345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2200–2600</a:t>
            </a:r>
          </a:p>
        </p:txBody>
      </p:sp>
      <p:cxnSp>
        <p:nvCxnSpPr>
          <p:cNvPr id="523" name="LEADER:BLACK STEEL TRAY"/>
          <p:cNvCxnSpPr/>
          <p:nvPr/>
        </p:nvCxnSpPr>
        <p:spPr>
          <a:xfrm flipV="1">
            <a:off x="6570000" y="5400000"/>
            <a:ext cx="16380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LEADER:BLACK STEEL TRAY"/>
          <p:cNvCxnSpPr/>
          <p:nvPr/>
        </p:nvCxnSpPr>
        <p:spPr>
          <a:xfrm>
            <a:off x="8208000" y="540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Oval 524"/>
          <p:cNvSpPr/>
          <p:nvPr/>
        </p:nvSpPr>
        <p:spPr>
          <a:xfrm>
            <a:off x="6552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ANNOTATION:BLACK STEEL TRAY title"/>
          <p:cNvSpPr txBox="1"/>
          <p:nvPr/>
        </p:nvSpPr>
        <p:spPr>
          <a:xfrm>
            <a:off x="8532000" y="532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</a:t>
            </a:r>
          </a:p>
        </p:txBody>
      </p:sp>
      <p:sp>
        <p:nvSpPr>
          <p:cNvPr id="527" name="ANNOTATION:BLACK STEEL TRAY description"/>
          <p:cNvSpPr txBox="1"/>
          <p:nvPr/>
        </p:nvSpPr>
        <p:spPr>
          <a:xfrm>
            <a:off x="8532000" y="561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downstand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Concealed warm LED</a:t>
            </a:r>
          </a:p>
        </p:txBody>
      </p:sp>
      <p:cxnSp>
        <p:nvCxnSpPr>
          <p:cNvPr id="528" name="LEADER:RECESSED PLINTH"/>
          <p:cNvCxnSpPr/>
          <p:nvPr/>
        </p:nvCxnSpPr>
        <p:spPr>
          <a:xfrm flipV="1">
            <a:off x="6570000" y="7668000"/>
            <a:ext cx="1638000" cy="279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LEADER:RECESSED PLINTH"/>
          <p:cNvCxnSpPr/>
          <p:nvPr/>
        </p:nvCxnSpPr>
        <p:spPr>
          <a:xfrm>
            <a:off x="8208000" y="76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Oval 529"/>
          <p:cNvSpPr/>
          <p:nvPr/>
        </p:nvSpPr>
        <p:spPr>
          <a:xfrm>
            <a:off x="6552000" y="7929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ANNOTATION:RECESSED PLINTH title"/>
          <p:cNvSpPr txBox="1"/>
          <p:nvPr/>
        </p:nvSpPr>
        <p:spPr>
          <a:xfrm>
            <a:off x="8532000" y="7596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RECESSED PLINTH</a:t>
            </a:r>
          </a:p>
        </p:txBody>
      </p:sp>
      <p:sp>
        <p:nvSpPr>
          <p:cNvPr id="532" name="ANNOTATION:RECESSED PLINTH description"/>
          <p:cNvSpPr txBox="1"/>
          <p:nvPr/>
        </p:nvSpPr>
        <p:spPr>
          <a:xfrm>
            <a:off x="8532000" y="7884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 high · 50 recess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toe-kick light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6616800" y="2520000"/>
            <a:ext cx="972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COLUMN RETURN</a:t>
            </a:r>
          </a:p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Display faces street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Spatial cutaway · orthographic projection · direct material and interface annotations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4932000" y="10152000"/>
            <a:ext cx="73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ORTHOGRAPHIC CUTAWAY · NTS · ceiling plane removed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4"/>
          <a:srcRect l="1758" r="32812" t="2036" b="2036"/>
          <a:stretch>
            <a:fillRect/>
          </a:stretch>
        </p:blipFill>
        <p:spPr>
          <a:xfrm>
            <a:off x="3960000" y="2052000"/>
            <a:ext cx="6285990" cy="7956000"/>
          </a:xfrm>
          <a:prstGeom prst="rect">
            <a:avLst/>
          </a:prstGeom>
        </p:spPr>
      </p:pic>
      <p:cxnSp>
        <p:nvCxnSpPr>
          <p:cNvPr id="50" name="LEADER:EXPANDED MESH"/>
          <p:cNvCxnSpPr/>
          <p:nvPr/>
        </p:nvCxnSpPr>
        <p:spPr>
          <a:xfrm flipH="1" flipV="1">
            <a:off x="3708000" y="3564000"/>
            <a:ext cx="2416102" cy="623943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EADER:EXPANDED MESH"/>
          <p:cNvCxnSpPr/>
          <p:nvPr/>
        </p:nvCxnSpPr>
        <p:spPr>
          <a:xfrm flipH="1">
            <a:off x="3492000" y="356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106102" y="4169943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ANNOTATION:EXPANDED MESH title"/>
          <p:cNvSpPr txBox="1"/>
          <p:nvPr/>
        </p:nvSpPr>
        <p:spPr>
          <a:xfrm>
            <a:off x="684000" y="3492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4" name="ANNOTATION:EXPANDED MESH description"/>
          <p:cNvSpPr txBox="1"/>
          <p:nvPr/>
        </p:nvSpPr>
        <p:spPr>
          <a:xfrm>
            <a:off x="684000" y="3780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 2200–2600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Approx. 20 × 40 diamonds</a:t>
            </a:r>
          </a:p>
        </p:txBody>
      </p:sp>
      <p:cxnSp>
        <p:nvCxnSpPr>
          <p:cNvPr id="55" name="LEADER:BLACK STEEL TRAYS"/>
          <p:cNvCxnSpPr/>
          <p:nvPr/>
        </p:nvCxnSpPr>
        <p:spPr>
          <a:xfrm flipH="1" flipV="1">
            <a:off x="3708000" y="5688000"/>
            <a:ext cx="1680995" cy="507743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EADER:BLACK STEEL TRAYS"/>
          <p:cNvCxnSpPr/>
          <p:nvPr/>
        </p:nvCxnSpPr>
        <p:spPr>
          <a:xfrm flipH="1">
            <a:off x="3492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370995" y="6177743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NNOTATION:BLACK STEEL TRAYS title"/>
          <p:cNvSpPr txBox="1"/>
          <p:nvPr/>
        </p:nvSpPr>
        <p:spPr>
          <a:xfrm>
            <a:off x="684000" y="5616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TRAYS</a:t>
            </a:r>
          </a:p>
        </p:txBody>
      </p:sp>
      <p:sp>
        <p:nvSpPr>
          <p:cNvPr id="59" name="ANNOTATION:BLACK STEEL TRAYS description"/>
          <p:cNvSpPr txBox="1"/>
          <p:nvPr/>
        </p:nvSpPr>
        <p:spPr>
          <a:xfrm>
            <a:off x="684000" y="5904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· 3 mm steel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front downstand</a:t>
            </a:r>
          </a:p>
        </p:txBody>
      </p:sp>
      <p:cxnSp>
        <p:nvCxnSpPr>
          <p:cNvPr id="60" name="LEADER:NEUTRAL BASE DOORS"/>
          <p:cNvCxnSpPr/>
          <p:nvPr/>
        </p:nvCxnSpPr>
        <p:spPr>
          <a:xfrm flipH="1" flipV="1">
            <a:off x="3708000" y="7524000"/>
            <a:ext cx="1682376" cy="12536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LEADER:NEUTRAL BASE DOORS"/>
          <p:cNvCxnSpPr/>
          <p:nvPr/>
        </p:nvCxnSpPr>
        <p:spPr>
          <a:xfrm flipH="1">
            <a:off x="3492000" y="752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372376" y="763136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NNOTATION:NEUTRAL BASE DOORS title"/>
          <p:cNvSpPr txBox="1"/>
          <p:nvPr/>
        </p:nvSpPr>
        <p:spPr>
          <a:xfrm>
            <a:off x="684000" y="7452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NEUTRAL BASE DOORS</a:t>
            </a:r>
          </a:p>
        </p:txBody>
      </p:sp>
      <p:sp>
        <p:nvSpPr>
          <p:cNvPr id="64" name="ANNOTATION:NEUTRAL BASE DOORS description"/>
          <p:cNvSpPr txBox="1"/>
          <p:nvPr/>
        </p:nvSpPr>
        <p:spPr>
          <a:xfrm>
            <a:off x="684000" y="7740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1.5 mm PPC steel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 base incl. 100 plinth</a:t>
            </a:r>
          </a:p>
        </p:txBody>
      </p:sp>
      <p:cxnSp>
        <p:nvCxnSpPr>
          <p:cNvPr id="65" name="LEADER:STREET DISPLAY CUT"/>
          <p:cNvCxnSpPr/>
          <p:nvPr/>
        </p:nvCxnSpPr>
        <p:spPr>
          <a:xfrm flipH="1">
            <a:off x="3708000" y="7994771"/>
            <a:ext cx="783251" cy="1041229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LEADER:STREET DISPLAY CUT"/>
          <p:cNvCxnSpPr/>
          <p:nvPr/>
        </p:nvCxnSpPr>
        <p:spPr>
          <a:xfrm flipH="1">
            <a:off x="3492000" y="903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4473251" y="7976771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ANNOTATION:STREET DISPLAY CUT title"/>
          <p:cNvSpPr txBox="1"/>
          <p:nvPr/>
        </p:nvSpPr>
        <p:spPr>
          <a:xfrm>
            <a:off x="684000" y="8964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STREET DISPLAY CUT</a:t>
            </a:r>
          </a:p>
        </p:txBody>
      </p:sp>
      <p:sp>
        <p:nvSpPr>
          <p:cNvPr id="69" name="ANNOTATION:STREET DISPLAY CUT description"/>
          <p:cNvSpPr txBox="1"/>
          <p:nvPr/>
        </p:nvSpPr>
        <p:spPr>
          <a:xfrm>
            <a:off x="684000" y="9252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column removed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1500 clear entrance</a:t>
            </a:r>
          </a:p>
        </p:txBody>
      </p:sp>
      <p:cxnSp>
        <p:nvCxnSpPr>
          <p:cNvPr id="70" name="LEADER:CEILING TRACKS"/>
          <p:cNvCxnSpPr/>
          <p:nvPr/>
        </p:nvCxnSpPr>
        <p:spPr>
          <a:xfrm flipV="1">
            <a:off x="8065372" y="2412000"/>
            <a:ext cx="2950628" cy="879557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EADER:CEILING TRACKS"/>
          <p:cNvCxnSpPr/>
          <p:nvPr/>
        </p:nvCxnSpPr>
        <p:spPr>
          <a:xfrm>
            <a:off x="11016000" y="241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8047372" y="3273557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NNOTATION:CEILING TRACKS title"/>
          <p:cNvSpPr txBox="1"/>
          <p:nvPr/>
        </p:nvSpPr>
        <p:spPr>
          <a:xfrm>
            <a:off x="11340000" y="234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CEILING TRACKS</a:t>
            </a:r>
          </a:p>
        </p:txBody>
      </p:sp>
      <p:sp>
        <p:nvSpPr>
          <p:cNvPr id="74" name="ANNOTATION:CEILING TRACKS description"/>
          <p:cNvSpPr txBox="1"/>
          <p:nvPr/>
        </p:nvSpPr>
        <p:spPr>
          <a:xfrm>
            <a:off x="11340000" y="2628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Exploded above room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Installed at 2600 · 3000 K</a:t>
            </a:r>
          </a:p>
        </p:txBody>
      </p:sp>
      <p:cxnSp>
        <p:nvCxnSpPr>
          <p:cNvPr id="75" name="LEADER:REAR BRAND WALL"/>
          <p:cNvCxnSpPr/>
          <p:nvPr/>
        </p:nvCxnSpPr>
        <p:spPr>
          <a:xfrm flipV="1">
            <a:off x="8432076" y="4428000"/>
            <a:ext cx="2583924" cy="110157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EADER:REAR BRAND WALL"/>
          <p:cNvCxnSpPr/>
          <p:nvPr/>
        </p:nvCxnSpPr>
        <p:spPr>
          <a:xfrm>
            <a:off x="11016000" y="442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414076" y="4520157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ANNOTATION:REAR BRAND WALL title"/>
          <p:cNvSpPr txBox="1"/>
          <p:nvPr/>
        </p:nvSpPr>
        <p:spPr>
          <a:xfrm>
            <a:off x="11340000" y="4356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REAR BRAND WALL</a:t>
            </a:r>
          </a:p>
        </p:txBody>
      </p:sp>
      <p:sp>
        <p:nvSpPr>
          <p:cNvPr id="79" name="ANNOTATION:REAR BRAND WALL description"/>
          <p:cNvSpPr txBox="1"/>
          <p:nvPr/>
        </p:nvSpPr>
        <p:spPr>
          <a:xfrm>
            <a:off x="11340000" y="4644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Light plaster finish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600-wide unlit native logo</a:t>
            </a:r>
          </a:p>
        </p:txBody>
      </p:sp>
      <p:cxnSp>
        <p:nvCxnSpPr>
          <p:cNvPr id="80" name="LEADER:COUNTER"/>
          <p:cNvCxnSpPr/>
          <p:nvPr/>
        </p:nvCxnSpPr>
        <p:spPr>
          <a:xfrm flipV="1">
            <a:off x="7538722" y="6984000"/>
            <a:ext cx="3477278" cy="584622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EADER:COUNTER"/>
          <p:cNvCxnSpPr/>
          <p:nvPr/>
        </p:nvCxnSpPr>
        <p:spPr>
          <a:xfrm>
            <a:off x="11016000" y="698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520722" y="7550622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ANNOTATION:COUNTER title"/>
          <p:cNvSpPr txBox="1"/>
          <p:nvPr/>
        </p:nvSpPr>
        <p:spPr>
          <a:xfrm>
            <a:off x="11340000" y="6912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</a:t>
            </a:r>
          </a:p>
        </p:txBody>
      </p:sp>
      <p:sp>
        <p:nvSpPr>
          <p:cNvPr id="84" name="ANNOTATION:COUNTER description"/>
          <p:cNvSpPr txBox="1"/>
          <p:nvPr/>
        </p:nvSpPr>
        <p:spPr>
          <a:xfrm>
            <a:off x="11340000" y="7200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450 × 900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Mesh left / neutral panel right</a:t>
            </a:r>
          </a:p>
        </p:txBody>
      </p:sp>
      <p:cxnSp>
        <p:nvCxnSpPr>
          <p:cNvPr id="85" name="LEADER:NEAR-SIDE CUTAWAY"/>
          <p:cNvCxnSpPr/>
          <p:nvPr/>
        </p:nvCxnSpPr>
        <p:spPr>
          <a:xfrm>
            <a:off x="8281318" y="8072031"/>
            <a:ext cx="2734682" cy="783969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EADER:NEAR-SIDE CUTAWAY"/>
          <p:cNvCxnSpPr/>
          <p:nvPr/>
        </p:nvCxnSpPr>
        <p:spPr>
          <a:xfrm>
            <a:off x="11016000" y="885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263318" y="8054031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ANNOTATION:NEAR-SIDE CUTAWAY title"/>
          <p:cNvSpPr txBox="1"/>
          <p:nvPr/>
        </p:nvSpPr>
        <p:spPr>
          <a:xfrm>
            <a:off x="11340000" y="8784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NEAR-SIDE CUTAWAY</a:t>
            </a:r>
          </a:p>
        </p:txBody>
      </p:sp>
      <p:sp>
        <p:nvSpPr>
          <p:cNvPr id="89" name="ANNOTATION:NEAR-SIDE CUTAWAY description"/>
          <p:cNvSpPr txBox="1"/>
          <p:nvPr/>
        </p:nvSpPr>
        <p:spPr>
          <a:xfrm>
            <a:off x="11340000" y="9072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joinery omitted at 600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Full run shown in elevations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